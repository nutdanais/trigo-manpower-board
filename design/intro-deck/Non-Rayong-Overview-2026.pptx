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Opening
Non-Rayong overview for January to September 2026: LCBTH, BANGN and AMATA.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Performance
Hours fell 19% in April, then climbed 44% to a record 36,653 h in September. Q3 is the strongest quarter at 100.9K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Site mix
Hours per mission = billable hours / distinct mission numbers (base number, ignoring monthly extension suffix). Per-piece units are pieces invoiced per unit of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Customers and hosts
Ford MVIP, MMTH Engine and Surtec Kariya together make up 71% of hours. The other 71 hosts share 14%.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Section: Cost reduction
Two slides: the supplier change and the 2026 drink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· Cost reduction: beverage supplier
Unit cost fell from 22.34 to 15.68 THB, and the monthly average from 80,899.75 to 64,983.03 THB. Cost per headcount trends down from August.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· Cost reduction: drink mix
Moving the mix toward electrolyte drinks, and adding herbal drinks and tea, targets 11.73 THB per unit. The 2025 figures still need a source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· Section: Operation excellence
Three slides: handheld OCR, the hybrid workflow and the poka-yoke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· Operation excellence: handheld OCR
Source: supplied shopfloor OCR example and mission inspection-time comparisons. Reading a serial drops from 8 to 10 seconds by hand to 1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· Operation excellence: hybrid workflow
Data captured on the shopfloor lands in Google Sheets and Drive. An offline Excel record covers gaps, and the administrator reconciles both before the customer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· Operation excellence: poka-yoke
Two controls stop bad data at capture, one tells the operator when a box is full, and the administrator reviews before release. Next: the two web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· The two apps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· Manpower: the daily board
Each card is a person, each column a mission with host, customer, shift and engineer. The tiles on top always add up: assigned plus leave plus standby equals total. The phone shows a forecast day being merged, one clash at a time: keep the carried-over plan or use the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· Manpower: planning ahead
Capacity compares demand per host with the people available. In the example, Wednesday 21/10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car body shop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600200"/>
            <a:ext cx="402921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856232"/>
            <a:ext cx="4546397" cy="120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10"/>
              </a:lnSpc>
              <a:buNone/>
            </a:pPr>
            <a:r>
              <a:rPr lang="en-US" sz="4030" spc="-20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Non-Rayong</a:t>
            </a:r>
            <a:endParaRPr lang="en-US" sz="4030" dirty="0"/>
          </a:p>
          <a:p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pPr algn="l" indent="0" marL="0">
              <a:lnSpc>
                <a:spcPts val="4110"/>
              </a:lnSpc>
              <a:buNone/>
            </a:pPr>
            <a:r>
              <a:rPr lang="en-US" sz="4030" b="1" spc="-202" kern="0" dirty="0">
                <a:solidFill>
                  <a:srgbClr val="619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2026.</a:t>
            </a:r>
            <a:endParaRPr lang="en-US" sz="403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065240"/>
            <a:ext cx="4133088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hours, site mix and customers, then cost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and operation excellence, across our three non-Rayong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sites.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585216" y="416052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</a:t>
            </a:r>
            <a:endParaRPr lang="en-US" sz="830" dirty="0"/>
          </a:p>
        </p:txBody>
      </p:sp>
      <p:sp>
        <p:nvSpPr>
          <p:cNvPr id="7" name="Text 4"/>
          <p:cNvSpPr txBox="1"/>
          <p:nvPr/>
        </p:nvSpPr>
        <p:spPr>
          <a:xfrm>
            <a:off x="1300734" y="416052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BANGN</a:t>
            </a:r>
            <a:endParaRPr lang="en-US" sz="830" dirty="0"/>
          </a:p>
        </p:txBody>
      </p:sp>
      <p:sp>
        <p:nvSpPr>
          <p:cNvPr id="8" name="Text 5"/>
          <p:cNvSpPr txBox="1"/>
          <p:nvPr/>
        </p:nvSpPr>
        <p:spPr>
          <a:xfrm>
            <a:off x="2016252" y="4160520"/>
            <a:ext cx="397490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spc="83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AMATA</a:t>
            </a:r>
            <a:endParaRPr lang="en-US" sz="8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cked bar chart of monthly service hours by site, with what happened and quarterly ho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set a record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54E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after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87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88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April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FA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dip.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03504" y="2048256"/>
            <a:ext cx="1657390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service hours by site</a:t>
            </a:r>
            <a:endParaRPr lang="en-US" sz="860" dirty="0"/>
          </a:p>
        </p:txBody>
      </p:sp>
      <p:sp>
        <p:nvSpPr>
          <p:cNvPr id="6" name="Text 3"/>
          <p:cNvSpPr txBox="1"/>
          <p:nvPr/>
        </p:nvSpPr>
        <p:spPr>
          <a:xfrm>
            <a:off x="4296108" y="2062401"/>
            <a:ext cx="30722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4836605" y="2062401"/>
            <a:ext cx="3439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411105" y="2062401"/>
            <a:ext cx="3183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2066544"/>
            <a:ext cx="245900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HAPPENED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245352" y="2295001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C85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995160" y="2274999"/>
            <a:ext cx="1725564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low vs Mar, 25,440 h; LCBTH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−29%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245352" y="2783062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763060"/>
            <a:ext cx="1725564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to Sep: 25,440 h to a record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36,653 h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6245352" y="3251121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176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995160" y="3298269"/>
            <a:ext cx="1649212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FTE in Sep vs 141 Jan–Aug avg</a:t>
            </a:r>
            <a:endParaRPr lang="en-US" sz="760" dirty="0"/>
          </a:p>
        </p:txBody>
      </p:sp>
      <p:sp>
        <p:nvSpPr>
          <p:cNvPr id="16" name="Text 13"/>
          <p:cNvSpPr txBox="1"/>
          <p:nvPr/>
        </p:nvSpPr>
        <p:spPr>
          <a:xfrm>
            <a:off x="6245352" y="3699177"/>
            <a:ext cx="245900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QUARTERLY SERVICE HOURS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6245352" y="3907631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7973568" y="3907631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88.0K h</a:t>
            </a:r>
            <a:endParaRPr lang="en-US" sz="720" dirty="0"/>
          </a:p>
        </p:txBody>
      </p:sp>
      <p:sp>
        <p:nvSpPr>
          <p:cNvPr id="19" name="Text 16"/>
          <p:cNvSpPr txBox="1"/>
          <p:nvPr/>
        </p:nvSpPr>
        <p:spPr>
          <a:xfrm>
            <a:off x="6245352" y="4104227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7973568" y="4104227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82.7K h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6245352" y="4300823"/>
            <a:ext cx="237012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720" dirty="0"/>
          </a:p>
        </p:txBody>
      </p:sp>
      <p:sp>
        <p:nvSpPr>
          <p:cNvPr id="22" name="Text 19"/>
          <p:cNvSpPr txBox="1"/>
          <p:nvPr/>
        </p:nvSpPr>
        <p:spPr>
          <a:xfrm>
            <a:off x="7973568" y="4300823"/>
            <a:ext cx="5925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100.9K h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nut of service-hour share and a stats card per s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 MIX · JAN–SEP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leads hours;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752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BANGN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D7D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leads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09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missions.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387706" y="2816352"/>
            <a:ext cx="1876349" cy="285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730" b="1" spc="-6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271.7k</a:t>
            </a:r>
            <a:endParaRPr lang="en-US" sz="1730" dirty="0"/>
          </a:p>
        </p:txBody>
      </p:sp>
      <p:sp>
        <p:nvSpPr>
          <p:cNvPr id="6" name="Text 3"/>
          <p:cNvSpPr txBox="1"/>
          <p:nvPr/>
        </p:nvSpPr>
        <p:spPr>
          <a:xfrm>
            <a:off x="387706" y="3035808"/>
            <a:ext cx="187634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hrs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4041648"/>
            <a:ext cx="278058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1263301" y="4041648"/>
            <a:ext cx="291174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1770650" y="4041648"/>
            <a:ext cx="260158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20" dirty="0"/>
          </a:p>
        </p:txBody>
      </p:sp>
      <p:sp>
        <p:nvSpPr>
          <p:cNvPr id="10" name="Text 7"/>
          <p:cNvSpPr txBox="1"/>
          <p:nvPr/>
        </p:nvSpPr>
        <p:spPr>
          <a:xfrm>
            <a:off x="2724912" y="2029968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</a:t>
            </a:r>
            <a:endParaRPr lang="en-US" sz="830" dirty="0"/>
          </a:p>
        </p:txBody>
      </p:sp>
      <p:sp>
        <p:nvSpPr>
          <p:cNvPr id="11" name="Text 8"/>
          <p:cNvSpPr txBox="1"/>
          <p:nvPr/>
        </p:nvSpPr>
        <p:spPr>
          <a:xfrm>
            <a:off x="2633472" y="2223707"/>
            <a:ext cx="6030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12" name="Text 9"/>
          <p:cNvSpPr txBox="1"/>
          <p:nvPr/>
        </p:nvSpPr>
        <p:spPr>
          <a:xfrm>
            <a:off x="3952065" y="2223707"/>
            <a:ext cx="35351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188,739</a:t>
            </a:r>
            <a:endParaRPr lang="en-US" sz="710" dirty="0"/>
          </a:p>
        </p:txBody>
      </p:sp>
      <p:sp>
        <p:nvSpPr>
          <p:cNvPr id="13" name="Text 10"/>
          <p:cNvSpPr txBox="1"/>
          <p:nvPr/>
        </p:nvSpPr>
        <p:spPr>
          <a:xfrm>
            <a:off x="2633472" y="2434447"/>
            <a:ext cx="64576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14" name="Text 11"/>
          <p:cNvSpPr txBox="1"/>
          <p:nvPr/>
        </p:nvSpPr>
        <p:spPr>
          <a:xfrm>
            <a:off x="4016645" y="2434447"/>
            <a:ext cx="28376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69.5%</a:t>
            </a:r>
            <a:endParaRPr lang="en-US" sz="710" dirty="0"/>
          </a:p>
        </p:txBody>
      </p:sp>
      <p:sp>
        <p:nvSpPr>
          <p:cNvPr id="15" name="Text 12"/>
          <p:cNvSpPr txBox="1"/>
          <p:nvPr/>
        </p:nvSpPr>
        <p:spPr>
          <a:xfrm>
            <a:off x="2633472" y="2645188"/>
            <a:ext cx="48019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16" name="Text 13"/>
          <p:cNvSpPr txBox="1"/>
          <p:nvPr/>
        </p:nvSpPr>
        <p:spPr>
          <a:xfrm>
            <a:off x="4160663" y="2645188"/>
            <a:ext cx="12822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10" dirty="0"/>
          </a:p>
        </p:txBody>
      </p:sp>
      <p:sp>
        <p:nvSpPr>
          <p:cNvPr id="17" name="Text 14"/>
          <p:cNvSpPr txBox="1"/>
          <p:nvPr/>
        </p:nvSpPr>
        <p:spPr>
          <a:xfrm>
            <a:off x="2633472" y="2855928"/>
            <a:ext cx="38684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18" name="Text 15"/>
          <p:cNvSpPr txBox="1"/>
          <p:nvPr/>
        </p:nvSpPr>
        <p:spPr>
          <a:xfrm>
            <a:off x="4176093" y="2855928"/>
            <a:ext cx="11156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710" dirty="0"/>
          </a:p>
        </p:txBody>
      </p:sp>
      <p:sp>
        <p:nvSpPr>
          <p:cNvPr id="19" name="Text 16"/>
          <p:cNvSpPr txBox="1"/>
          <p:nvPr/>
        </p:nvSpPr>
        <p:spPr>
          <a:xfrm>
            <a:off x="2633472" y="3066669"/>
            <a:ext cx="69499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20" name="Text 17"/>
          <p:cNvSpPr txBox="1"/>
          <p:nvPr/>
        </p:nvSpPr>
        <p:spPr>
          <a:xfrm>
            <a:off x="4029361" y="3066669"/>
            <a:ext cx="27003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2,483</a:t>
            </a:r>
            <a:endParaRPr lang="en-US" sz="710" dirty="0"/>
          </a:p>
        </p:txBody>
      </p:sp>
      <p:sp>
        <p:nvSpPr>
          <p:cNvPr id="21" name="Text 18"/>
          <p:cNvSpPr txBox="1"/>
          <p:nvPr/>
        </p:nvSpPr>
        <p:spPr>
          <a:xfrm>
            <a:off x="2633472" y="3277410"/>
            <a:ext cx="65764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22" name="Text 19"/>
          <p:cNvSpPr txBox="1"/>
          <p:nvPr/>
        </p:nvSpPr>
        <p:spPr>
          <a:xfrm>
            <a:off x="4021217" y="3277410"/>
            <a:ext cx="27882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2,004</a:t>
            </a:r>
            <a:endParaRPr lang="en-US" sz="710" dirty="0"/>
          </a:p>
        </p:txBody>
      </p:sp>
      <p:sp>
        <p:nvSpPr>
          <p:cNvPr id="23" name="Text 20"/>
          <p:cNvSpPr txBox="1"/>
          <p:nvPr/>
        </p:nvSpPr>
        <p:spPr>
          <a:xfrm>
            <a:off x="2633472" y="3488150"/>
            <a:ext cx="66736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24" name="Text 21"/>
          <p:cNvSpPr txBox="1"/>
          <p:nvPr/>
        </p:nvSpPr>
        <p:spPr>
          <a:xfrm>
            <a:off x="4028646" y="3488150"/>
            <a:ext cx="27080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5,985</a:t>
            </a:r>
            <a:endParaRPr lang="en-US" sz="710" dirty="0"/>
          </a:p>
        </p:txBody>
      </p:sp>
      <p:sp>
        <p:nvSpPr>
          <p:cNvPr id="25" name="Text 22"/>
          <p:cNvSpPr txBox="1"/>
          <p:nvPr/>
        </p:nvSpPr>
        <p:spPr>
          <a:xfrm>
            <a:off x="2633472" y="3698891"/>
            <a:ext cx="76164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26" name="Text 23"/>
          <p:cNvSpPr txBox="1"/>
          <p:nvPr/>
        </p:nvSpPr>
        <p:spPr>
          <a:xfrm>
            <a:off x="4037076" y="3698891"/>
            <a:ext cx="26170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10" dirty="0"/>
          </a:p>
        </p:txBody>
      </p:sp>
      <p:sp>
        <p:nvSpPr>
          <p:cNvPr id="27" name="Text 24"/>
          <p:cNvSpPr txBox="1"/>
          <p:nvPr/>
        </p:nvSpPr>
        <p:spPr>
          <a:xfrm>
            <a:off x="2587752" y="4026789"/>
            <a:ext cx="187634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 = scale</a:t>
            </a:r>
            <a:endParaRPr lang="en-US" sz="730" dirty="0"/>
          </a:p>
        </p:txBody>
      </p:sp>
      <p:sp>
        <p:nvSpPr>
          <p:cNvPr id="28" name="Text 25"/>
          <p:cNvSpPr txBox="1"/>
          <p:nvPr/>
        </p:nvSpPr>
        <p:spPr>
          <a:xfrm>
            <a:off x="2587752" y="4198811"/>
            <a:ext cx="1963217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+ AutoAlliance + Mitsubishi port/plant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inspection. ~2,500 hrs per mission; only 10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hosts.</a:t>
            </a:r>
            <a:endParaRPr lang="en-US" sz="660" dirty="0"/>
          </a:p>
        </p:txBody>
      </p:sp>
      <p:sp>
        <p:nvSpPr>
          <p:cNvPr id="29" name="Text 26"/>
          <p:cNvSpPr txBox="1"/>
          <p:nvPr/>
        </p:nvSpPr>
        <p:spPr>
          <a:xfrm>
            <a:off x="4846320" y="2029968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BANGN</a:t>
            </a:r>
            <a:endParaRPr lang="en-US" sz="83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2223707"/>
            <a:ext cx="60302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31" name="Text 28"/>
          <p:cNvSpPr txBox="1"/>
          <p:nvPr/>
        </p:nvSpPr>
        <p:spPr>
          <a:xfrm>
            <a:off x="6092904" y="2223707"/>
            <a:ext cx="33252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54,235</a:t>
            </a:r>
            <a:endParaRPr lang="en-US" sz="710" dirty="0"/>
          </a:p>
        </p:txBody>
      </p:sp>
      <p:sp>
        <p:nvSpPr>
          <p:cNvPr id="32" name="Text 29"/>
          <p:cNvSpPr txBox="1"/>
          <p:nvPr/>
        </p:nvSpPr>
        <p:spPr>
          <a:xfrm>
            <a:off x="4754880" y="2434447"/>
            <a:ext cx="64576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33" name="Text 30"/>
          <p:cNvSpPr txBox="1"/>
          <p:nvPr/>
        </p:nvSpPr>
        <p:spPr>
          <a:xfrm>
            <a:off x="6127480" y="2434447"/>
            <a:ext cx="29518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20.0%</a:t>
            </a:r>
            <a:endParaRPr lang="en-US" sz="710" dirty="0"/>
          </a:p>
        </p:txBody>
      </p:sp>
      <p:sp>
        <p:nvSpPr>
          <p:cNvPr id="34" name="Text 31"/>
          <p:cNvSpPr txBox="1"/>
          <p:nvPr/>
        </p:nvSpPr>
        <p:spPr>
          <a:xfrm>
            <a:off x="4754880" y="2645188"/>
            <a:ext cx="480197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35" name="Text 32"/>
          <p:cNvSpPr txBox="1"/>
          <p:nvPr/>
        </p:nvSpPr>
        <p:spPr>
          <a:xfrm>
            <a:off x="6284928" y="2645188"/>
            <a:ext cx="12514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71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2855928"/>
            <a:ext cx="38684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37" name="Text 34"/>
          <p:cNvSpPr txBox="1"/>
          <p:nvPr/>
        </p:nvSpPr>
        <p:spPr>
          <a:xfrm>
            <a:off x="6246352" y="2855928"/>
            <a:ext cx="166804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710" dirty="0"/>
          </a:p>
        </p:txBody>
      </p:sp>
      <p:sp>
        <p:nvSpPr>
          <p:cNvPr id="38" name="Text 35"/>
          <p:cNvSpPr txBox="1"/>
          <p:nvPr/>
        </p:nvSpPr>
        <p:spPr>
          <a:xfrm>
            <a:off x="4754880" y="3066669"/>
            <a:ext cx="694990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39" name="Text 36"/>
          <p:cNvSpPr txBox="1"/>
          <p:nvPr/>
        </p:nvSpPr>
        <p:spPr>
          <a:xfrm>
            <a:off x="6239637" y="3066669"/>
            <a:ext cx="174056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387</a:t>
            </a:r>
            <a:endParaRPr lang="en-US" sz="710" dirty="0"/>
          </a:p>
        </p:txBody>
      </p:sp>
      <p:sp>
        <p:nvSpPr>
          <p:cNvPr id="40" name="Text 37"/>
          <p:cNvSpPr txBox="1"/>
          <p:nvPr/>
        </p:nvSpPr>
        <p:spPr>
          <a:xfrm>
            <a:off x="4754880" y="3277410"/>
            <a:ext cx="657648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41" name="Text 38"/>
          <p:cNvSpPr txBox="1"/>
          <p:nvPr/>
        </p:nvSpPr>
        <p:spPr>
          <a:xfrm>
            <a:off x="6161484" y="3277410"/>
            <a:ext cx="258461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710" dirty="0"/>
          </a:p>
        </p:txBody>
      </p:sp>
      <p:sp>
        <p:nvSpPr>
          <p:cNvPr id="42" name="Text 39"/>
          <p:cNvSpPr txBox="1"/>
          <p:nvPr/>
        </p:nvSpPr>
        <p:spPr>
          <a:xfrm>
            <a:off x="4754880" y="3488150"/>
            <a:ext cx="66736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43" name="Text 40"/>
          <p:cNvSpPr txBox="1"/>
          <p:nvPr/>
        </p:nvSpPr>
        <p:spPr>
          <a:xfrm>
            <a:off x="6095048" y="3488150"/>
            <a:ext cx="330213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23,533</a:t>
            </a:r>
            <a:endParaRPr lang="en-US" sz="710" dirty="0"/>
          </a:p>
        </p:txBody>
      </p:sp>
      <p:sp>
        <p:nvSpPr>
          <p:cNvPr id="44" name="Text 41"/>
          <p:cNvSpPr txBox="1"/>
          <p:nvPr/>
        </p:nvSpPr>
        <p:spPr>
          <a:xfrm>
            <a:off x="4754880" y="3698891"/>
            <a:ext cx="761649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45" name="Text 42"/>
          <p:cNvSpPr txBox="1"/>
          <p:nvPr/>
        </p:nvSpPr>
        <p:spPr>
          <a:xfrm>
            <a:off x="6165342" y="3698891"/>
            <a:ext cx="254295" cy="18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2E7F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+96%</a:t>
            </a:r>
            <a:endParaRPr lang="en-US" sz="710" dirty="0"/>
          </a:p>
        </p:txBody>
      </p:sp>
      <p:sp>
        <p:nvSpPr>
          <p:cNvPr id="46" name="Text 43"/>
          <p:cNvSpPr txBox="1"/>
          <p:nvPr/>
        </p:nvSpPr>
        <p:spPr>
          <a:xfrm>
            <a:off x="4709160" y="4026789"/>
            <a:ext cx="1876349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breadth</a:t>
            </a:r>
            <a:endParaRPr lang="en-US" sz="730" dirty="0"/>
          </a:p>
        </p:txBody>
      </p:sp>
      <p:sp>
        <p:nvSpPr>
          <p:cNvPr id="47" name="Text 44"/>
          <p:cNvSpPr txBox="1"/>
          <p:nvPr/>
        </p:nvSpPr>
        <p:spPr>
          <a:xfrm>
            <a:off x="4709160" y="4198811"/>
            <a:ext cx="1963217" cy="38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 missions, 53 customers, 70% of per-piece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units. Many short sorting jobs (~390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hrs/mission).</a:t>
            </a:r>
            <a:endParaRPr lang="en-US" sz="660" dirty="0"/>
          </a:p>
        </p:txBody>
      </p:sp>
      <p:sp>
        <p:nvSpPr>
          <p:cNvPr id="48" name="Text 45"/>
          <p:cNvSpPr txBox="1"/>
          <p:nvPr/>
        </p:nvSpPr>
        <p:spPr>
          <a:xfrm>
            <a:off x="6967728" y="2035826"/>
            <a:ext cx="386225" cy="13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830" b="1" spc="66" kern="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AMATA</a:t>
            </a:r>
            <a:endParaRPr lang="en-US" sz="830" dirty="0"/>
          </a:p>
        </p:txBody>
      </p:sp>
      <p:sp>
        <p:nvSpPr>
          <p:cNvPr id="49" name="Text 46"/>
          <p:cNvSpPr txBox="1"/>
          <p:nvPr/>
        </p:nvSpPr>
        <p:spPr>
          <a:xfrm>
            <a:off x="6876288" y="2235422"/>
            <a:ext cx="603024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</a:t>
            </a:r>
            <a:endParaRPr lang="en-US" sz="710" dirty="0"/>
          </a:p>
        </p:txBody>
      </p:sp>
      <p:sp>
        <p:nvSpPr>
          <p:cNvPr id="50" name="Text 47"/>
          <p:cNvSpPr txBox="1"/>
          <p:nvPr/>
        </p:nvSpPr>
        <p:spPr>
          <a:xfrm>
            <a:off x="8227600" y="2235422"/>
            <a:ext cx="318177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28,687</a:t>
            </a:r>
            <a:endParaRPr lang="en-US" sz="710" dirty="0"/>
          </a:p>
        </p:txBody>
      </p:sp>
      <p:sp>
        <p:nvSpPr>
          <p:cNvPr id="51" name="Text 48"/>
          <p:cNvSpPr txBox="1"/>
          <p:nvPr/>
        </p:nvSpPr>
        <p:spPr>
          <a:xfrm>
            <a:off x="6876288" y="2457879"/>
            <a:ext cx="645766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hours</a:t>
            </a:r>
            <a:endParaRPr lang="en-US" sz="710" dirty="0"/>
          </a:p>
        </p:txBody>
      </p:sp>
      <p:sp>
        <p:nvSpPr>
          <p:cNvPr id="52" name="Text 49"/>
          <p:cNvSpPr txBox="1"/>
          <p:nvPr/>
        </p:nvSpPr>
        <p:spPr>
          <a:xfrm>
            <a:off x="8275463" y="2457879"/>
            <a:ext cx="266485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710" dirty="0"/>
          </a:p>
        </p:txBody>
      </p:sp>
      <p:sp>
        <p:nvSpPr>
          <p:cNvPr id="53" name="Text 50"/>
          <p:cNvSpPr txBox="1"/>
          <p:nvPr/>
        </p:nvSpPr>
        <p:spPr>
          <a:xfrm>
            <a:off x="6876288" y="2680335"/>
            <a:ext cx="480197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</a:t>
            </a:r>
            <a:endParaRPr lang="en-US" sz="710" dirty="0"/>
          </a:p>
        </p:txBody>
      </p:sp>
      <p:sp>
        <p:nvSpPr>
          <p:cNvPr id="54" name="Text 51"/>
          <p:cNvSpPr txBox="1"/>
          <p:nvPr/>
        </p:nvSpPr>
        <p:spPr>
          <a:xfrm>
            <a:off x="8426768" y="2680335"/>
            <a:ext cx="103076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710" dirty="0"/>
          </a:p>
        </p:txBody>
      </p:sp>
      <p:sp>
        <p:nvSpPr>
          <p:cNvPr id="55" name="Text 52"/>
          <p:cNvSpPr txBox="1"/>
          <p:nvPr/>
        </p:nvSpPr>
        <p:spPr>
          <a:xfrm>
            <a:off x="6876288" y="2902791"/>
            <a:ext cx="386843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710" dirty="0"/>
          </a:p>
        </p:txBody>
      </p:sp>
      <p:sp>
        <p:nvSpPr>
          <p:cNvPr id="56" name="Text 53"/>
          <p:cNvSpPr txBox="1"/>
          <p:nvPr/>
        </p:nvSpPr>
        <p:spPr>
          <a:xfrm>
            <a:off x="8405765" y="2902791"/>
            <a:ext cx="125759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710" dirty="0"/>
          </a:p>
        </p:txBody>
      </p:sp>
      <p:sp>
        <p:nvSpPr>
          <p:cNvPr id="57" name="Text 54"/>
          <p:cNvSpPr txBox="1"/>
          <p:nvPr/>
        </p:nvSpPr>
        <p:spPr>
          <a:xfrm>
            <a:off x="6876288" y="3125248"/>
            <a:ext cx="694990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/ mission</a:t>
            </a:r>
            <a:endParaRPr lang="en-US" sz="710" dirty="0"/>
          </a:p>
        </p:txBody>
      </p:sp>
      <p:sp>
        <p:nvSpPr>
          <p:cNvPr id="58" name="Text 55"/>
          <p:cNvSpPr txBox="1"/>
          <p:nvPr/>
        </p:nvSpPr>
        <p:spPr>
          <a:xfrm>
            <a:off x="8363617" y="3125248"/>
            <a:ext cx="171279" cy="192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637</a:t>
            </a:r>
            <a:endParaRPr lang="en-US" sz="710" dirty="0"/>
          </a:p>
        </p:txBody>
      </p:sp>
      <p:sp>
        <p:nvSpPr>
          <p:cNvPr id="59" name="Text 56"/>
          <p:cNvSpPr txBox="1"/>
          <p:nvPr/>
        </p:nvSpPr>
        <p:spPr>
          <a:xfrm>
            <a:off x="6876288" y="3347704"/>
            <a:ext cx="657648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 fee days</a:t>
            </a:r>
            <a:endParaRPr lang="en-US" sz="710" dirty="0"/>
          </a:p>
        </p:txBody>
      </p:sp>
      <p:sp>
        <p:nvSpPr>
          <p:cNvPr id="60" name="Text 57"/>
          <p:cNvSpPr txBox="1"/>
          <p:nvPr/>
        </p:nvSpPr>
        <p:spPr>
          <a:xfrm>
            <a:off x="8354901" y="3347704"/>
            <a:ext cx="180691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663</a:t>
            </a:r>
            <a:endParaRPr lang="en-US" sz="710" dirty="0"/>
          </a:p>
        </p:txBody>
      </p:sp>
      <p:sp>
        <p:nvSpPr>
          <p:cNvPr id="61" name="Text 58"/>
          <p:cNvSpPr txBox="1"/>
          <p:nvPr/>
        </p:nvSpPr>
        <p:spPr>
          <a:xfrm>
            <a:off x="6876288" y="3570303"/>
            <a:ext cx="667369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Per-piece units</a:t>
            </a:r>
            <a:endParaRPr lang="en-US" sz="710" dirty="0"/>
          </a:p>
        </p:txBody>
      </p:sp>
      <p:sp>
        <p:nvSpPr>
          <p:cNvPr id="62" name="Text 59"/>
          <p:cNvSpPr txBox="1"/>
          <p:nvPr/>
        </p:nvSpPr>
        <p:spPr>
          <a:xfrm>
            <a:off x="8297609" y="3570303"/>
            <a:ext cx="242567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4,160</a:t>
            </a:r>
            <a:endParaRPr lang="en-US" sz="710" dirty="0"/>
          </a:p>
        </p:txBody>
      </p:sp>
      <p:sp>
        <p:nvSpPr>
          <p:cNvPr id="63" name="Text 60"/>
          <p:cNvSpPr txBox="1"/>
          <p:nvPr/>
        </p:nvSpPr>
        <p:spPr>
          <a:xfrm>
            <a:off x="6876288" y="3792903"/>
            <a:ext cx="761649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vs Jan hours</a:t>
            </a:r>
            <a:endParaRPr lang="en-US" sz="710" dirty="0"/>
          </a:p>
        </p:txBody>
      </p:sp>
      <p:sp>
        <p:nvSpPr>
          <p:cNvPr id="64" name="Text 61"/>
          <p:cNvSpPr txBox="1"/>
          <p:nvPr/>
        </p:nvSpPr>
        <p:spPr>
          <a:xfrm>
            <a:off x="8282321" y="3792903"/>
            <a:ext cx="259078" cy="19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+35%</a:t>
            </a:r>
            <a:endParaRPr lang="en-US" sz="710" dirty="0"/>
          </a:p>
        </p:txBody>
      </p:sp>
      <p:sp>
        <p:nvSpPr>
          <p:cNvPr id="65" name="Text 62"/>
          <p:cNvSpPr txBox="1"/>
          <p:nvPr/>
        </p:nvSpPr>
        <p:spPr>
          <a:xfrm>
            <a:off x="6830568" y="4132659"/>
            <a:ext cx="1876349" cy="193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 = growth</a:t>
            </a:r>
            <a:endParaRPr lang="en-US" sz="730" dirty="0"/>
          </a:p>
        </p:txBody>
      </p:sp>
      <p:sp>
        <p:nvSpPr>
          <p:cNvPr id="66" name="Text 63"/>
          <p:cNvSpPr txBox="1"/>
          <p:nvPr/>
        </p:nvSpPr>
        <p:spPr>
          <a:xfrm>
            <a:off x="6830568" y="4310539"/>
            <a:ext cx="1963217" cy="276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up 96% from Jan to Sep, the fastest</a:t>
            </a:r>
            <a:endParaRPr lang="en-US" sz="660" dirty="0"/>
          </a:p>
          <a:p>
            <a:pPr algn="l" indent="0" marL="0">
              <a:lnSpc>
                <a:spcPts val="930"/>
              </a:lnSpc>
              <a:buNone/>
            </a:pPr>
            <a:r>
              <a:rPr lang="en-US" sz="6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of the three sites.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rizontal bar chart of service hours by host, with host highligh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CUSTOMERS &amp; HOSTS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major hosts account for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71%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E5F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328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service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89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hours.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603504" y="2048256"/>
            <a:ext cx="2265506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hours by host and site, Jan–Sep</a:t>
            </a:r>
            <a:endParaRPr lang="en-US" sz="860" dirty="0"/>
          </a:p>
        </p:txBody>
      </p:sp>
      <p:sp>
        <p:nvSpPr>
          <p:cNvPr id="6" name="Text 3"/>
          <p:cNvSpPr txBox="1"/>
          <p:nvPr/>
        </p:nvSpPr>
        <p:spPr>
          <a:xfrm>
            <a:off x="4478988" y="2062401"/>
            <a:ext cx="30722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LCBTH</a:t>
            </a:r>
            <a:endParaRPr lang="en-US" sz="720" dirty="0"/>
          </a:p>
        </p:txBody>
      </p:sp>
      <p:sp>
        <p:nvSpPr>
          <p:cNvPr id="7" name="Text 4"/>
          <p:cNvSpPr txBox="1"/>
          <p:nvPr/>
        </p:nvSpPr>
        <p:spPr>
          <a:xfrm>
            <a:off x="5019485" y="2062401"/>
            <a:ext cx="3439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BANGN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593985" y="2062401"/>
            <a:ext cx="318331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AMATA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428232" y="2066544"/>
            <a:ext cx="226149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 HIGHLIGHTS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428232" y="2362152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068312" y="2274999"/>
            <a:ext cx="1642902" cy="443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Ford MVIP activity: 138.4K h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Ford and Auto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Alliance plants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428232" y="2984516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68312" y="2897362"/>
            <a:ext cx="1642902" cy="443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at MMTH Engine: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host, 38.1K h; TMBP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11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6428232" y="3539728"/>
            <a:ext cx="59253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4.5×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7068312" y="3519726"/>
            <a:ext cx="1642902" cy="308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Yusen Logistic growth: 331 h in</a:t>
            </a:r>
            <a:endParaRPr lang="en-US" sz="760" dirty="0"/>
          </a:p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→ 1,488 h in Sep</a:t>
            </a:r>
            <a:endParaRPr lang="en-US" sz="7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Cost reduction, coin stacks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92024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NON-RAYONG OVERVIEW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194560"/>
            <a:ext cx="4147718" cy="7758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700"/>
              </a:lnSpc>
              <a:buNone/>
            </a:pPr>
            <a:r>
              <a:rPr lang="en-US" sz="4610" spc="-2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318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reduction.</a:t>
            </a:r>
            <a:endParaRPr lang="en-US" sz="46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974229"/>
            <a:ext cx="3719779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beverage supplier, and a 2026 drink mix that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lowers the cost per unit.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vious and current supplier unit cost, with a monthly total cost and cost per headcount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REDUCTION / BEVERAGE SUPPLIER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change reduced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34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unit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77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289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89C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30%.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52505"/>
            <a:ext cx="8887968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purchase cost, with the monthly operating trend kept in view.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603504" y="2313432"/>
            <a:ext cx="2646639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PREVIOUS SUPPLIER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603504" y="2448735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22.34 THB / unit</a:t>
            </a:r>
            <a:endParaRPr lang="en-US" sz="1580" dirty="0"/>
          </a:p>
        </p:txBody>
      </p:sp>
      <p:sp>
        <p:nvSpPr>
          <p:cNvPr id="8" name="Text 5"/>
          <p:cNvSpPr txBox="1"/>
          <p:nvPr/>
        </p:nvSpPr>
        <p:spPr>
          <a:xfrm>
            <a:off x="603504" y="2797064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80,899.75 THB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603504" y="3304556"/>
            <a:ext cx="2646639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6E93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SUPPLIER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603504" y="3439859"/>
            <a:ext cx="2646639" cy="405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80" b="1" spc="-48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15.68 THB / unit</a:t>
            </a:r>
            <a:endParaRPr lang="en-US" sz="158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3788188"/>
            <a:ext cx="26466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avg. 64,983.03 THB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666744" y="2322576"/>
            <a:ext cx="1362822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 and cost / HC</a:t>
            </a:r>
            <a:endParaRPr lang="en-US" sz="860" dirty="0"/>
          </a:p>
        </p:txBody>
      </p:sp>
      <p:sp>
        <p:nvSpPr>
          <p:cNvPr id="13" name="Text 10"/>
          <p:cNvSpPr txBox="1"/>
          <p:nvPr/>
        </p:nvSpPr>
        <p:spPr>
          <a:xfrm>
            <a:off x="5990320" y="2336721"/>
            <a:ext cx="77584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supplier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6964728" y="2336721"/>
            <a:ext cx="72723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supplier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7894130" y="2336721"/>
            <a:ext cx="698076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/ HC, right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3666744" y="4500991"/>
            <a:ext cx="5263652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sequence as supplied · Supplier change from Aug onward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everage allocation 2025 against 2026, with expected cost per un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REDUCTION / BEVERAGE DISTRIBUTION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drink mix targets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54D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47.5%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A77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lower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A8D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unit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D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52505"/>
            <a:ext cx="8887968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Redistribute the beverage mix and introduce herbal drinks and tea.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621792" y="2372868"/>
            <a:ext cx="1481328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BEVERAGE ALLOCATION</a:t>
            </a:r>
            <a:endParaRPr lang="en-US" sz="650" dirty="0"/>
          </a:p>
        </p:txBody>
      </p:sp>
      <p:sp>
        <p:nvSpPr>
          <p:cNvPr id="7" name="Text 4"/>
          <p:cNvSpPr txBox="1"/>
          <p:nvPr/>
        </p:nvSpPr>
        <p:spPr>
          <a:xfrm>
            <a:off x="2139696" y="2372868"/>
            <a:ext cx="168871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Y2025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3849624" y="2372868"/>
            <a:ext cx="1688714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Y2026</a:t>
            </a:r>
            <a:endParaRPr lang="en-US" sz="6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99611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Electrolyte drink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3530870" y="2603183"/>
            <a:ext cx="18624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1" name="Text 8"/>
          <p:cNvSpPr txBox="1"/>
          <p:nvPr/>
        </p:nvSpPr>
        <p:spPr>
          <a:xfrm>
            <a:off x="5207937" y="2603183"/>
            <a:ext cx="22173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883503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drink</a:t>
            </a:r>
            <a:endParaRPr lang="en-US" sz="790" dirty="0"/>
          </a:p>
        </p:txBody>
      </p:sp>
      <p:sp>
        <p:nvSpPr>
          <p:cNvPr id="13" name="Text 10"/>
          <p:cNvSpPr txBox="1"/>
          <p:nvPr/>
        </p:nvSpPr>
        <p:spPr>
          <a:xfrm>
            <a:off x="3507296" y="2887075"/>
            <a:ext cx="21170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760" dirty="0"/>
          </a:p>
        </p:txBody>
      </p:sp>
      <p:sp>
        <p:nvSpPr>
          <p:cNvPr id="14" name="Text 11"/>
          <p:cNvSpPr txBox="1"/>
          <p:nvPr/>
        </p:nvSpPr>
        <p:spPr>
          <a:xfrm>
            <a:off x="5235797" y="2887075"/>
            <a:ext cx="191647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endParaRPr lang="en-US" sz="760" dirty="0"/>
          </a:p>
        </p:txBody>
      </p:sp>
      <p:sp>
        <p:nvSpPr>
          <p:cNvPr id="15" name="Text 12"/>
          <p:cNvSpPr txBox="1"/>
          <p:nvPr/>
        </p:nvSpPr>
        <p:spPr>
          <a:xfrm>
            <a:off x="621792" y="3167396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drink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3530870" y="3170968"/>
            <a:ext cx="186246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760" dirty="0"/>
          </a:p>
        </p:txBody>
      </p:sp>
      <p:sp>
        <p:nvSpPr>
          <p:cNvPr id="17" name="Text 14"/>
          <p:cNvSpPr txBox="1"/>
          <p:nvPr/>
        </p:nvSpPr>
        <p:spPr>
          <a:xfrm>
            <a:off x="5230654" y="3170968"/>
            <a:ext cx="197202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76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3451289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drink coffee</a:t>
            </a:r>
            <a:endParaRPr lang="en-US" sz="790" dirty="0"/>
          </a:p>
        </p:txBody>
      </p:sp>
      <p:sp>
        <p:nvSpPr>
          <p:cNvPr id="19" name="Text 16"/>
          <p:cNvSpPr txBox="1"/>
          <p:nvPr/>
        </p:nvSpPr>
        <p:spPr>
          <a:xfrm>
            <a:off x="3568303" y="3454860"/>
            <a:ext cx="145818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760" dirty="0"/>
          </a:p>
        </p:txBody>
      </p:sp>
      <p:sp>
        <p:nvSpPr>
          <p:cNvPr id="20" name="Text 17"/>
          <p:cNvSpPr txBox="1"/>
          <p:nvPr/>
        </p:nvSpPr>
        <p:spPr>
          <a:xfrm>
            <a:off x="5281660" y="3454860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1" name="Text 18"/>
          <p:cNvSpPr txBox="1"/>
          <p:nvPr/>
        </p:nvSpPr>
        <p:spPr>
          <a:xfrm>
            <a:off x="621792" y="3735181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Herbal drink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2" name="Text 19"/>
          <p:cNvSpPr txBox="1"/>
          <p:nvPr/>
        </p:nvSpPr>
        <p:spPr>
          <a:xfrm>
            <a:off x="3663029" y="3738753"/>
            <a:ext cx="4351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3" name="Text 20"/>
          <p:cNvSpPr txBox="1"/>
          <p:nvPr/>
        </p:nvSpPr>
        <p:spPr>
          <a:xfrm>
            <a:off x="5281660" y="3738753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621792" y="4019074"/>
            <a:ext cx="1481328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</a:t>
            </a:r>
            <a:pPr algn="l" indent="0" marL="0">
              <a:lnSpc>
                <a:spcPts val="1230"/>
              </a:lnSpc>
              <a:buNone/>
            </a:pPr>
            <a:r>
              <a:rPr lang="en-US" sz="79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New</a:t>
            </a:r>
            <a:endParaRPr lang="en-US" sz="790" dirty="0"/>
          </a:p>
        </p:txBody>
      </p:sp>
      <p:sp>
        <p:nvSpPr>
          <p:cNvPr id="25" name="Text 22"/>
          <p:cNvSpPr txBox="1"/>
          <p:nvPr/>
        </p:nvSpPr>
        <p:spPr>
          <a:xfrm>
            <a:off x="3663029" y="4022646"/>
            <a:ext cx="43514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760" dirty="0"/>
          </a:p>
        </p:txBody>
      </p:sp>
      <p:sp>
        <p:nvSpPr>
          <p:cNvPr id="26" name="Text 23"/>
          <p:cNvSpPr txBox="1"/>
          <p:nvPr/>
        </p:nvSpPr>
        <p:spPr>
          <a:xfrm>
            <a:off x="5281660" y="4022646"/>
            <a:ext cx="142115" cy="193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760" dirty="0"/>
          </a:p>
        </p:txBody>
      </p:sp>
      <p:sp>
        <p:nvSpPr>
          <p:cNvPr id="27" name="Text 24"/>
          <p:cNvSpPr txBox="1"/>
          <p:nvPr/>
        </p:nvSpPr>
        <p:spPr>
          <a:xfrm>
            <a:off x="6016752" y="2340864"/>
            <a:ext cx="2705892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 COST / UNIT</a:t>
            </a:r>
            <a:endParaRPr lang="en-US" sz="650" dirty="0"/>
          </a:p>
        </p:txBody>
      </p:sp>
      <p:sp>
        <p:nvSpPr>
          <p:cNvPr id="28" name="Text 25"/>
          <p:cNvSpPr txBox="1"/>
          <p:nvPr/>
        </p:nvSpPr>
        <p:spPr>
          <a:xfrm>
            <a:off x="6016752" y="2549319"/>
            <a:ext cx="2705892" cy="546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10"/>
              </a:lnSpc>
              <a:buNone/>
            </a:pPr>
            <a:r>
              <a:rPr lang="en-US" sz="3310" b="1" spc="-16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11.73</a:t>
            </a:r>
            <a:endParaRPr lang="en-US" sz="3310" dirty="0"/>
          </a:p>
        </p:txBody>
      </p:sp>
      <p:sp>
        <p:nvSpPr>
          <p:cNvPr id="29" name="Text 26"/>
          <p:cNvSpPr txBox="1"/>
          <p:nvPr/>
        </p:nvSpPr>
        <p:spPr>
          <a:xfrm>
            <a:off x="6016752" y="2997375"/>
            <a:ext cx="2705892" cy="202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/ unit</a:t>
            </a:r>
            <a:endParaRPr lang="en-US" sz="790" dirty="0"/>
          </a:p>
        </p:txBody>
      </p:sp>
      <p:sp>
        <p:nvSpPr>
          <p:cNvPr id="30" name="Text 27"/>
          <p:cNvSpPr txBox="1"/>
          <p:nvPr/>
        </p:nvSpPr>
        <p:spPr>
          <a:xfrm>
            <a:off x="6016752" y="3262979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10.61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766560" y="3310128"/>
            <a:ext cx="1896100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THB saved per unit</a:t>
            </a:r>
            <a:endParaRPr lang="en-US" sz="760" dirty="0"/>
          </a:p>
        </p:txBody>
      </p:sp>
      <p:sp>
        <p:nvSpPr>
          <p:cNvPr id="32" name="Text 29"/>
          <p:cNvSpPr txBox="1"/>
          <p:nvPr/>
        </p:nvSpPr>
        <p:spPr>
          <a:xfrm>
            <a:off x="6016752" y="3711035"/>
            <a:ext cx="711037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47.5%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766560" y="3758184"/>
            <a:ext cx="1896100" cy="17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7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2025</a:t>
            </a:r>
            <a:endParaRPr lang="en-US" sz="76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4681728"/>
            <a:ext cx="8887968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check required: 2025 electrolyte allocation is 21% in the table but 18% in the source pie. 2025 table totals 103%; all supplied allocations are retained pending confirmation.</a:t>
            </a:r>
            <a:endParaRPr lang="en-US" sz="6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ection: Operation excellence, inspection camera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92024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NON-RAYONG OVERVIEW 2026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194560"/>
            <a:ext cx="4339742" cy="1372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00"/>
              </a:lnSpc>
              <a:buNone/>
            </a:pPr>
            <a:r>
              <a:rPr lang="en-US" sz="4610" spc="-2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</a:t>
            </a:r>
            <a:endParaRPr lang="en-US" sz="4610" dirty="0"/>
          </a:p>
          <a:p>
            <a:pPr algn="l" indent="0" marL="0">
              <a:lnSpc>
                <a:spcPts val="4700"/>
              </a:lnSpc>
              <a:buNone/>
            </a:pPr>
            <a:r>
              <a:rPr lang="en-US" sz="4610" b="1" spc="-230" kern="0" dirty="0">
                <a:solidFill>
                  <a:srgbClr val="318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excellence.</a:t>
            </a:r>
            <a:endParaRPr lang="en-US" sz="46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571018"/>
            <a:ext cx="3719779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OCR, a hybrid online and offline workflow,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four poka-yoke controls.</a:t>
            </a:r>
            <a:endParaRPr lang="en-US" sz="10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andheld OCR: manual 8 to 10 seconds against 1 second, mission table and a shopfloor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541178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HANDHELD OCR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5992978" cy="707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replaces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C9E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manual</a:t>
            </a:r>
            <a:endParaRPr lang="en-US" sz="2380" dirty="0"/>
          </a:p>
          <a:p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C5B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serial-number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78C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recording.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60258"/>
            <a:ext cx="5727802" cy="222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part serials with handheld OCR and automatically record inspection data in Google Sheets.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670048"/>
            <a:ext cx="1327640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8–10 sec</a:t>
            </a:r>
            <a:endParaRPr lang="en-US" sz="24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026664"/>
            <a:ext cx="1327640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MANUAL</a:t>
            </a:r>
            <a:endParaRPr lang="en-US" sz="650" dirty="0"/>
          </a:p>
        </p:txBody>
      </p:sp>
      <p:sp>
        <p:nvSpPr>
          <p:cNvPr id="8" name="Text 5"/>
          <p:cNvSpPr txBox="1"/>
          <p:nvPr/>
        </p:nvSpPr>
        <p:spPr>
          <a:xfrm>
            <a:off x="2363153" y="2670048"/>
            <a:ext cx="1118248" cy="404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2450" b="1" spc="-98" kern="0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2450" dirty="0"/>
          </a:p>
        </p:txBody>
      </p:sp>
      <p:sp>
        <p:nvSpPr>
          <p:cNvPr id="9" name="Text 6"/>
          <p:cNvSpPr txBox="1"/>
          <p:nvPr/>
        </p:nvSpPr>
        <p:spPr>
          <a:xfrm>
            <a:off x="2363153" y="3026664"/>
            <a:ext cx="1118248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OCR + AUTO RECORD</a:t>
            </a:r>
            <a:endParaRPr lang="en-US" sz="650" dirty="0"/>
          </a:p>
        </p:txBody>
      </p:sp>
      <p:sp>
        <p:nvSpPr>
          <p:cNvPr id="10" name="Text 7"/>
          <p:cNvSpPr txBox="1"/>
          <p:nvPr/>
        </p:nvSpPr>
        <p:spPr>
          <a:xfrm>
            <a:off x="3819192" y="2688336"/>
            <a:ext cx="1436888" cy="356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2160" b="1" spc="-8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−87.5–90%</a:t>
            </a:r>
            <a:endParaRPr lang="en-US" sz="2160" dirty="0"/>
          </a:p>
        </p:txBody>
      </p:sp>
      <p:sp>
        <p:nvSpPr>
          <p:cNvPr id="11" name="Text 8"/>
          <p:cNvSpPr txBox="1"/>
          <p:nvPr/>
        </p:nvSpPr>
        <p:spPr>
          <a:xfrm>
            <a:off x="3819192" y="3008376"/>
            <a:ext cx="1436888" cy="128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50" spc="91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PER SERIAL</a:t>
            </a:r>
            <a:endParaRPr lang="en-US" sz="650" dirty="0"/>
          </a:p>
        </p:txBody>
      </p:sp>
      <p:sp>
        <p:nvSpPr>
          <p:cNvPr id="12" name="Text 9"/>
          <p:cNvSpPr txBox="1"/>
          <p:nvPr/>
        </p:nvSpPr>
        <p:spPr>
          <a:xfrm>
            <a:off x="603504" y="3430715"/>
            <a:ext cx="1283818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MISSION</a:t>
            </a:r>
            <a:endParaRPr lang="en-US" sz="610" dirty="0"/>
          </a:p>
        </p:txBody>
      </p:sp>
      <p:sp>
        <p:nvSpPr>
          <p:cNvPr id="13" name="Text 10"/>
          <p:cNvSpPr txBox="1"/>
          <p:nvPr/>
        </p:nvSpPr>
        <p:spPr>
          <a:xfrm>
            <a:off x="1883664" y="3430715"/>
            <a:ext cx="1264067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MARKING</a:t>
            </a:r>
            <a:endParaRPr lang="en-US" sz="610" dirty="0"/>
          </a:p>
        </p:txBody>
      </p:sp>
      <p:sp>
        <p:nvSpPr>
          <p:cNvPr id="14" name="Text 11"/>
          <p:cNvSpPr txBox="1"/>
          <p:nvPr/>
        </p:nvSpPr>
        <p:spPr>
          <a:xfrm>
            <a:off x="3145536" y="3430715"/>
            <a:ext cx="641909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MANUAL</a:t>
            </a:r>
            <a:endParaRPr lang="en-US" sz="610" dirty="0"/>
          </a:p>
        </p:txBody>
      </p:sp>
      <p:sp>
        <p:nvSpPr>
          <p:cNvPr id="15" name="Text 12"/>
          <p:cNvSpPr txBox="1"/>
          <p:nvPr/>
        </p:nvSpPr>
        <p:spPr>
          <a:xfrm>
            <a:off x="3831336" y="3430715"/>
            <a:ext cx="929945" cy="21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OCR + AUTO</a:t>
            </a:r>
            <a:endParaRPr lang="en-US" sz="610" dirty="0"/>
          </a:p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endParaRPr lang="en-US" sz="610" dirty="0"/>
          </a:p>
        </p:txBody>
      </p:sp>
      <p:sp>
        <p:nvSpPr>
          <p:cNvPr id="16" name="Text 13"/>
          <p:cNvSpPr txBox="1"/>
          <p:nvPr/>
        </p:nvSpPr>
        <p:spPr>
          <a:xfrm>
            <a:off x="4745736" y="3430715"/>
            <a:ext cx="740664" cy="214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0"/>
              </a:lnSpc>
              <a:buNone/>
            </a:pPr>
            <a:r>
              <a:rPr lang="en-US" sz="610" spc="73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SAVED</a:t>
            </a:r>
            <a:endParaRPr lang="en-US" sz="610" dirty="0"/>
          </a:p>
        </p:txBody>
      </p:sp>
      <p:sp>
        <p:nvSpPr>
          <p:cNvPr id="17" name="Text 14"/>
          <p:cNvSpPr txBox="1"/>
          <p:nvPr/>
        </p:nvSpPr>
        <p:spPr>
          <a:xfrm>
            <a:off x="603504" y="3702749"/>
            <a:ext cx="1283818" cy="20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LCBTH.26.0005</a:t>
            </a:r>
            <a:endParaRPr lang="en-US" sz="710" dirty="0"/>
          </a:p>
        </p:txBody>
      </p:sp>
      <p:sp>
        <p:nvSpPr>
          <p:cNvPr id="18" name="Text 15"/>
          <p:cNvSpPr txBox="1"/>
          <p:nvPr/>
        </p:nvSpPr>
        <p:spPr>
          <a:xfrm>
            <a:off x="1883664" y="3702749"/>
            <a:ext cx="126406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19" name="Text 16"/>
          <p:cNvSpPr txBox="1"/>
          <p:nvPr/>
        </p:nvSpPr>
        <p:spPr>
          <a:xfrm>
            <a:off x="3145536" y="3702749"/>
            <a:ext cx="641909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20" name="Text 17"/>
          <p:cNvSpPr txBox="1"/>
          <p:nvPr/>
        </p:nvSpPr>
        <p:spPr>
          <a:xfrm>
            <a:off x="3831336" y="3702749"/>
            <a:ext cx="88879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1" name="Text 18"/>
          <p:cNvSpPr txBox="1"/>
          <p:nvPr/>
        </p:nvSpPr>
        <p:spPr>
          <a:xfrm>
            <a:off x="4718304" y="3702749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−87.5%</a:t>
            </a:r>
            <a:endParaRPr lang="en-US" sz="730" dirty="0"/>
          </a:p>
        </p:txBody>
      </p:sp>
      <p:sp>
        <p:nvSpPr>
          <p:cNvPr id="22" name="Text 19"/>
          <p:cNvSpPr txBox="1"/>
          <p:nvPr/>
        </p:nvSpPr>
        <p:spPr>
          <a:xfrm>
            <a:off x="603504" y="3951351"/>
            <a:ext cx="1283818" cy="20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LCBTH.26.0002</a:t>
            </a:r>
            <a:endParaRPr lang="en-US" sz="710" dirty="0"/>
          </a:p>
        </p:txBody>
      </p:sp>
      <p:sp>
        <p:nvSpPr>
          <p:cNvPr id="23" name="Text 20"/>
          <p:cNvSpPr txBox="1"/>
          <p:nvPr/>
        </p:nvSpPr>
        <p:spPr>
          <a:xfrm>
            <a:off x="1883664" y="3951351"/>
            <a:ext cx="126406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</a:t>
            </a:r>
            <a:endParaRPr lang="en-US" sz="730" dirty="0"/>
          </a:p>
        </p:txBody>
      </p:sp>
      <p:sp>
        <p:nvSpPr>
          <p:cNvPr id="24" name="Text 21"/>
          <p:cNvSpPr txBox="1"/>
          <p:nvPr/>
        </p:nvSpPr>
        <p:spPr>
          <a:xfrm>
            <a:off x="3145536" y="3951351"/>
            <a:ext cx="641909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sec</a:t>
            </a:r>
            <a:endParaRPr lang="en-US" sz="730" dirty="0"/>
          </a:p>
        </p:txBody>
      </p:sp>
      <p:sp>
        <p:nvSpPr>
          <p:cNvPr id="25" name="Text 22"/>
          <p:cNvSpPr txBox="1"/>
          <p:nvPr/>
        </p:nvSpPr>
        <p:spPr>
          <a:xfrm>
            <a:off x="3831336" y="3951351"/>
            <a:ext cx="88879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26" name="Text 23"/>
          <p:cNvSpPr txBox="1"/>
          <p:nvPr/>
        </p:nvSpPr>
        <p:spPr>
          <a:xfrm>
            <a:off x="4718304" y="3951351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−87.5%</a:t>
            </a:r>
            <a:endParaRPr lang="en-US" sz="730" dirty="0"/>
          </a:p>
        </p:txBody>
      </p:sp>
      <p:sp>
        <p:nvSpPr>
          <p:cNvPr id="27" name="Text 24"/>
          <p:cNvSpPr txBox="1"/>
          <p:nvPr/>
        </p:nvSpPr>
        <p:spPr>
          <a:xfrm>
            <a:off x="603504" y="4199954"/>
            <a:ext cx="1283818" cy="20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LCBTH.26.0027</a:t>
            </a:r>
            <a:endParaRPr lang="en-US" sz="710" dirty="0"/>
          </a:p>
        </p:txBody>
      </p:sp>
      <p:sp>
        <p:nvSpPr>
          <p:cNvPr id="28" name="Text 25"/>
          <p:cNvSpPr txBox="1"/>
          <p:nvPr/>
        </p:nvSpPr>
        <p:spPr>
          <a:xfrm>
            <a:off x="1883664" y="4199954"/>
            <a:ext cx="126406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Stamped</a:t>
            </a:r>
            <a:endParaRPr lang="en-US" sz="730" dirty="0"/>
          </a:p>
        </p:txBody>
      </p:sp>
      <p:sp>
        <p:nvSpPr>
          <p:cNvPr id="29" name="Text 26"/>
          <p:cNvSpPr txBox="1"/>
          <p:nvPr/>
        </p:nvSpPr>
        <p:spPr>
          <a:xfrm>
            <a:off x="3145536" y="4199954"/>
            <a:ext cx="641909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sec</a:t>
            </a:r>
            <a:endParaRPr lang="en-US" sz="730" dirty="0"/>
          </a:p>
        </p:txBody>
      </p:sp>
      <p:sp>
        <p:nvSpPr>
          <p:cNvPr id="30" name="Text 27"/>
          <p:cNvSpPr txBox="1"/>
          <p:nvPr/>
        </p:nvSpPr>
        <p:spPr>
          <a:xfrm>
            <a:off x="3831336" y="4199954"/>
            <a:ext cx="88879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31" name="Text 28"/>
          <p:cNvSpPr txBox="1"/>
          <p:nvPr/>
        </p:nvSpPr>
        <p:spPr>
          <a:xfrm>
            <a:off x="4718304" y="4199954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−90%</a:t>
            </a:r>
            <a:endParaRPr lang="en-US" sz="730" dirty="0"/>
          </a:p>
        </p:txBody>
      </p:sp>
      <p:sp>
        <p:nvSpPr>
          <p:cNvPr id="32" name="Text 29"/>
          <p:cNvSpPr txBox="1"/>
          <p:nvPr/>
        </p:nvSpPr>
        <p:spPr>
          <a:xfrm>
            <a:off x="603504" y="4448556"/>
            <a:ext cx="1283818" cy="20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10" dirty="0">
                <a:solidFill>
                  <a:srgbClr val="06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LCBTH.26.0007</a:t>
            </a:r>
            <a:endParaRPr lang="en-US" sz="710" dirty="0"/>
          </a:p>
        </p:txBody>
      </p:sp>
      <p:sp>
        <p:nvSpPr>
          <p:cNvPr id="33" name="Text 30"/>
          <p:cNvSpPr txBox="1"/>
          <p:nvPr/>
        </p:nvSpPr>
        <p:spPr>
          <a:xfrm>
            <a:off x="1883664" y="4448556"/>
            <a:ext cx="126406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Embossed</a:t>
            </a:r>
            <a:endParaRPr lang="en-US" sz="730" dirty="0"/>
          </a:p>
        </p:txBody>
      </p:sp>
      <p:sp>
        <p:nvSpPr>
          <p:cNvPr id="34" name="Text 31"/>
          <p:cNvSpPr txBox="1"/>
          <p:nvPr/>
        </p:nvSpPr>
        <p:spPr>
          <a:xfrm>
            <a:off x="3145536" y="4448556"/>
            <a:ext cx="641909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sec</a:t>
            </a:r>
            <a:endParaRPr lang="en-US" sz="730" dirty="0"/>
          </a:p>
        </p:txBody>
      </p:sp>
      <p:sp>
        <p:nvSpPr>
          <p:cNvPr id="35" name="Text 32"/>
          <p:cNvSpPr txBox="1"/>
          <p:nvPr/>
        </p:nvSpPr>
        <p:spPr>
          <a:xfrm>
            <a:off x="3831336" y="4448556"/>
            <a:ext cx="888797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6E93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sec</a:t>
            </a:r>
            <a:endParaRPr lang="en-US" sz="730" dirty="0"/>
          </a:p>
        </p:txBody>
      </p:sp>
      <p:sp>
        <p:nvSpPr>
          <p:cNvPr id="36" name="Text 33"/>
          <p:cNvSpPr txBox="1"/>
          <p:nvPr/>
        </p:nvSpPr>
        <p:spPr>
          <a:xfrm>
            <a:off x="4718304" y="4448556"/>
            <a:ext cx="740664" cy="2062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−88.9%</a:t>
            </a:r>
            <a:endParaRPr lang="en-US" sz="730" dirty="0"/>
          </a:p>
        </p:txBody>
      </p:sp>
      <p:sp>
        <p:nvSpPr>
          <p:cNvPr id="37" name="Text 34"/>
          <p:cNvSpPr txBox="1"/>
          <p:nvPr/>
        </p:nvSpPr>
        <p:spPr>
          <a:xfrm>
            <a:off x="603504" y="4722876"/>
            <a:ext cx="5214275" cy="165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 peen / stamped / embossed · Barcode / Data Matrix · Internal configuration; supplied mission comparisons.</a:t>
            </a:r>
            <a:endParaRPr lang="en-US" sz="650" dirty="0"/>
          </a:p>
        </p:txBody>
      </p:sp>
      <p:sp>
        <p:nvSpPr>
          <p:cNvPr id="38" name="Text 35"/>
          <p:cNvSpPr txBox="1"/>
          <p:nvPr/>
        </p:nvSpPr>
        <p:spPr>
          <a:xfrm>
            <a:off x="7752255" y="4754880"/>
            <a:ext cx="1009309" cy="1842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2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 OCR in use</a:t>
            </a:r>
            <a:endParaRPr lang="en-US" sz="720" dirty="0"/>
          </a:p>
        </p:txBody>
      </p:sp>
      <p:sp>
        <p:nvSpPr>
          <p:cNvPr id="39" name="Text 36"/>
          <p:cNvSpPr txBox="1"/>
          <p:nvPr/>
        </p:nvSpPr>
        <p:spPr>
          <a:xfrm>
            <a:off x="7339632" y="4896612"/>
            <a:ext cx="1454942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KEYENCE BT-A1000 · LCBTH.26.0005</a:t>
            </a:r>
            <a:endParaRPr lang="en-US" sz="6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ybrid workflow from shopfloor to customer report, with an offline Excel p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HYBRID WORKFLOW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9299448" cy="707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hybrid workflow connects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A9D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shopfloor</a:t>
            </a:r>
            <a:endParaRPr lang="en-US" sz="2380" dirty="0"/>
          </a:p>
          <a:p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34A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E5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B78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customer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4E8F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reports.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60258"/>
            <a:ext cx="8887968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cloud records + offline Excel support → administrator review → customer report.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57607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Shopfloor</a:t>
            </a:r>
            <a:endParaRPr lang="en-US" sz="940" dirty="0"/>
          </a:p>
        </p:txBody>
      </p:sp>
      <p:sp>
        <p:nvSpPr>
          <p:cNvPr id="7" name="Text 4"/>
          <p:cNvSpPr txBox="1"/>
          <p:nvPr/>
        </p:nvSpPr>
        <p:spPr>
          <a:xfrm>
            <a:off x="57607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Handheld OCR / QR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57607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 + Good / NG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226771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Sheets</a:t>
            </a:r>
            <a:endParaRPr lang="en-US" sz="940" dirty="0"/>
          </a:p>
        </p:txBody>
      </p:sp>
      <p:sp>
        <p:nvSpPr>
          <p:cNvPr id="10" name="Text 7"/>
          <p:cNvSpPr txBox="1"/>
          <p:nvPr/>
        </p:nvSpPr>
        <p:spPr>
          <a:xfrm>
            <a:off x="226771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Auto-record data</a:t>
            </a:r>
            <a:endParaRPr lang="en-US" sz="720" dirty="0"/>
          </a:p>
        </p:txBody>
      </p:sp>
      <p:sp>
        <p:nvSpPr>
          <p:cNvPr id="11" name="Text 8"/>
          <p:cNvSpPr txBox="1"/>
          <p:nvPr/>
        </p:nvSpPr>
        <p:spPr>
          <a:xfrm>
            <a:off x="226771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access</a:t>
            </a:r>
            <a:endParaRPr lang="en-US" sz="720" dirty="0"/>
          </a:p>
        </p:txBody>
      </p:sp>
      <p:sp>
        <p:nvSpPr>
          <p:cNvPr id="12" name="Text 9"/>
          <p:cNvSpPr txBox="1"/>
          <p:nvPr/>
        </p:nvSpPr>
        <p:spPr>
          <a:xfrm>
            <a:off x="395935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Drive</a:t>
            </a:r>
            <a:endParaRPr lang="en-US" sz="940" dirty="0"/>
          </a:p>
        </p:txBody>
      </p:sp>
      <p:sp>
        <p:nvSpPr>
          <p:cNvPr id="13" name="Text 10"/>
          <p:cNvSpPr txBox="1"/>
          <p:nvPr/>
        </p:nvSpPr>
        <p:spPr>
          <a:xfrm>
            <a:off x="395935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online files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395935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access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565099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</a:t>
            </a:r>
            <a:endParaRPr lang="en-US" sz="940" dirty="0"/>
          </a:p>
        </p:txBody>
      </p:sp>
      <p:sp>
        <p:nvSpPr>
          <p:cNvPr id="16" name="Text 13"/>
          <p:cNvSpPr txBox="1"/>
          <p:nvPr/>
        </p:nvSpPr>
        <p:spPr>
          <a:xfrm>
            <a:off x="565099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online data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565099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Excel</a:t>
            </a:r>
            <a:endParaRPr lang="en-US" sz="72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049524"/>
            <a:ext cx="1313444" cy="2394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40" b="1" spc="-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</a:t>
            </a:r>
            <a:endParaRPr lang="en-US" sz="940" dirty="0"/>
          </a:p>
        </p:txBody>
      </p:sp>
      <p:sp>
        <p:nvSpPr>
          <p:cNvPr id="19" name="Text 16"/>
          <p:cNvSpPr txBox="1"/>
          <p:nvPr/>
        </p:nvSpPr>
        <p:spPr>
          <a:xfrm>
            <a:off x="7342632" y="3265694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results</a:t>
            </a:r>
            <a:endParaRPr lang="en-US" sz="720" dirty="0"/>
          </a:p>
        </p:txBody>
      </p:sp>
      <p:sp>
        <p:nvSpPr>
          <p:cNvPr id="20" name="Text 17"/>
          <p:cNvSpPr txBox="1"/>
          <p:nvPr/>
        </p:nvSpPr>
        <p:spPr>
          <a:xfrm>
            <a:off x="7342632" y="3421142"/>
            <a:ext cx="1313444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2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final report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3703320" y="4291679"/>
            <a:ext cx="1148338" cy="221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offline</a:t>
            </a:r>
            <a:endParaRPr lang="en-US" sz="860" dirty="0"/>
          </a:p>
        </p:txBody>
      </p:sp>
      <p:sp>
        <p:nvSpPr>
          <p:cNvPr id="22" name="Text 19"/>
          <p:cNvSpPr txBox="1"/>
          <p:nvPr/>
        </p:nvSpPr>
        <p:spPr>
          <a:xfrm>
            <a:off x="3703320" y="4461701"/>
            <a:ext cx="1148338" cy="174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6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serial + status record</a:t>
            </a:r>
            <a:endParaRPr lang="en-US" sz="680" dirty="0"/>
          </a:p>
        </p:txBody>
      </p:sp>
      <p:sp>
        <p:nvSpPr>
          <p:cNvPr id="23" name="Text 20"/>
          <p:cNvSpPr txBox="1"/>
          <p:nvPr/>
        </p:nvSpPr>
        <p:spPr>
          <a:xfrm>
            <a:off x="6400800" y="4224528"/>
            <a:ext cx="1580083" cy="1523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0"/>
              </a:lnSpc>
              <a:buNone/>
            </a:pPr>
            <a:r>
              <a:rPr lang="en-US" sz="6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offline and online records</a:t>
            </a:r>
            <a:endParaRPr lang="en-US" sz="68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4785312"/>
            <a:ext cx="4179197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OCR capture and MMTH hybrid workflow. Generic icons denote functions, not product logos.</a:t>
            </a:r>
            <a:endParaRPr lang="en-US" sz="6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ur poka-yoke contro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52144"/>
            <a:ext cx="857195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 EXCELLENCE / POKA-YOKE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44168"/>
            <a:ext cx="8887968" cy="400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380" spc="-119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controls protect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144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2D7E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inspection</a:t>
            </a:r>
            <a:pPr algn="l" indent="0" marL="0">
              <a:lnSpc>
                <a:spcPts val="2420"/>
              </a:lnSpc>
              <a:buNone/>
            </a:pPr>
            <a:r>
              <a:rPr lang="en-US" sz="2380" b="1" spc="-119" kern="0" dirty="0">
                <a:solidFill>
                  <a:srgbClr val="689D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record.</a:t>
            </a:r>
            <a:endParaRPr lang="en-US" sz="238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52505"/>
            <a:ext cx="8887968" cy="240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7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+ voice guidance at capture. Administrator review before customer reporting.</a:t>
            </a:r>
            <a:endParaRPr lang="en-US" sz="97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part / serial</a:t>
            </a:r>
            <a:endParaRPr lang="en-US" sz="1040" dirty="0"/>
          </a:p>
        </p:txBody>
      </p:sp>
      <p:sp>
        <p:nvSpPr>
          <p:cNvPr id="7" name="Text 4"/>
          <p:cNvSpPr txBox="1"/>
          <p:nvPr/>
        </p:nvSpPr>
        <p:spPr>
          <a:xfrm>
            <a:off x="115214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against customer list / production plan. Warn on mismatch.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5358384" y="2471595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scan</a:t>
            </a:r>
            <a:endParaRPr lang="en-US" sz="1040" dirty="0"/>
          </a:p>
        </p:txBody>
      </p:sp>
      <p:sp>
        <p:nvSpPr>
          <p:cNvPr id="9" name="Text 6"/>
          <p:cNvSpPr txBox="1"/>
          <p:nvPr/>
        </p:nvSpPr>
        <p:spPr>
          <a:xfrm>
            <a:off x="5358384" y="2704481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out repeated scans. Prevent duplicate counting.</a:t>
            </a:r>
            <a:endParaRPr lang="en-US" sz="79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3355562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box</a:t>
            </a:r>
            <a:endParaRPr lang="en-US" sz="104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3588449"/>
            <a:ext cx="3416930" cy="189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+ popup notification when target quantity is reached.</a:t>
            </a:r>
            <a:endParaRPr lang="en-US" sz="790" dirty="0"/>
          </a:p>
        </p:txBody>
      </p:sp>
      <p:sp>
        <p:nvSpPr>
          <p:cNvPr id="12" name="Text 9"/>
          <p:cNvSpPr txBox="1"/>
          <p:nvPr/>
        </p:nvSpPr>
        <p:spPr>
          <a:xfrm>
            <a:off x="5358384" y="3282696"/>
            <a:ext cx="3416930" cy="2671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4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&amp; release</a:t>
            </a:r>
            <a:endParaRPr lang="en-US" sz="1040" dirty="0"/>
          </a:p>
        </p:txBody>
      </p:sp>
      <p:sp>
        <p:nvSpPr>
          <p:cNvPr id="13" name="Text 10"/>
          <p:cNvSpPr txBox="1"/>
          <p:nvPr/>
        </p:nvSpPr>
        <p:spPr>
          <a:xfrm>
            <a:off x="5358384" y="3515582"/>
            <a:ext cx="3575121" cy="335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Administrator checks offline + online records before submitting the</a:t>
            </a:r>
            <a:endParaRPr lang="en-US" sz="79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79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report.</a:t>
            </a:r>
            <a:endParaRPr lang="en-US" sz="790" dirty="0"/>
          </a:p>
        </p:txBody>
      </p:sp>
      <p:sp>
        <p:nvSpPr>
          <p:cNvPr id="14" name="Text 11"/>
          <p:cNvSpPr txBox="1"/>
          <p:nvPr/>
        </p:nvSpPr>
        <p:spPr>
          <a:xfrm>
            <a:off x="603504" y="4407408"/>
            <a:ext cx="8571951" cy="187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 data: Customer • Material • Batch • Order | Missions 04, 29, 31 · Internal configuration + Text-to-Speech support shopfloor use.</a:t>
            </a:r>
            <a:endParaRPr lang="en-US" sz="73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785312"/>
            <a:ext cx="3838337" cy="156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610" dirty="0">
                <a:solidFill>
                  <a:srgbClr val="7A8C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supplied error-prevention workflow. Next: two web apps supporting Non-Rayong operations.</a:t>
            </a:r>
            <a:endParaRPr lang="en-US" sz="6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QUALITY SOLUTION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63040"/>
            <a:ext cx="4339742" cy="16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1F62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609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day.</a:t>
            </a:r>
            <a:endParaRPr lang="en-US" sz="374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00673"/>
            <a:ext cx="392643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 System tracks tools, parts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consumables. Both run in the browser and on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45379" y="4106513"/>
            <a:ext cx="86673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2014395" y="4106513"/>
            <a:ext cx="962400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3371993" y="4106513"/>
            <a:ext cx="741127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79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74539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203143" cy="1199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185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509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board.</a:t>
            </a:r>
            <a:endParaRPr lang="en-US" sz="28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63619"/>
            <a:ext cx="3203143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 missions, leave or standby, and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sees the same plan, live.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346486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888915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457414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628739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052792"/>
            <a:ext cx="2727838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4621292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337926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823106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26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392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tomorrow.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1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ENGINEERS</a:t>
            </a:r>
            <a:endParaRPr lang="en-US" sz="68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MANAGEMENT</a:t>
            </a:r>
            <a:endParaRPr lang="en-US" sz="68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94290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409798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A5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593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view.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1076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67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E9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589467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3014663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43985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865054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75334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3178540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60373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4028932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1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041660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513125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1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D5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4C8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minute.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1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64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E7E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49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263140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2688336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1123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6808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427018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285221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276267"/>
            <a:ext cx="3141147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384476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23917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719779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 before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C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589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63140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688336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13532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38728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27018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52214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77410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02606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1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YOUR PHONE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44752"/>
            <a:ext cx="3616452" cy="943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3170" spc="-158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 in</a:t>
            </a:r>
            <a:endParaRPr lang="en-US" sz="3170" dirty="0"/>
          </a:p>
          <a:p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1854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5090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pocket.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430018"/>
            <a:ext cx="36164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browser like a native app. No app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needed.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248406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7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31038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7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54650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7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84982"/>
            <a:ext cx="3151480" cy="3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</a:t>
            </a:r>
            <a:endParaRPr lang="en-US" sz="86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67614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091226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533567" y="1865376"/>
            <a:ext cx="1307581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6899862" y="1865376"/>
            <a:ext cx="1450004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220" dirty="0"/>
          </a:p>
        </p:txBody>
      </p:sp>
      <p:sp>
        <p:nvSpPr>
          <p:cNvPr id="14" name="Text 11"/>
          <p:cNvSpPr txBox="1"/>
          <p:nvPr/>
        </p:nvSpPr>
        <p:spPr>
          <a:xfrm>
            <a:off x="5409819" y="4389120"/>
            <a:ext cx="1074426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790" dirty="0"/>
          </a:p>
        </p:txBody>
      </p:sp>
      <p:sp>
        <p:nvSpPr>
          <p:cNvPr id="15" name="Text 12"/>
          <p:cNvSpPr txBox="1"/>
          <p:nvPr/>
        </p:nvSpPr>
        <p:spPr>
          <a:xfrm>
            <a:off x="6871145" y="4389120"/>
            <a:ext cx="661043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4225911" y="3761327"/>
            <a:ext cx="18258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trigoth-manpowerboard.netlify.app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6825630" y="3761327"/>
            <a:ext cx="14912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trigoth-inventory.pages.dev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Non-Rayong overview 2026</dc:title>
  <dc:subject>PptxGenJS Presentation</dc:subject>
  <dc:creator>TRIGO Quality Services Thailand</dc:creator>
  <cp:lastModifiedBy>TRIGO Quality Services Thailand</cp:lastModifiedBy>
  <cp:revision>1</cp:revision>
  <dcterms:created xsi:type="dcterms:W3CDTF">2026-10-16T18:02:56Z</dcterms:created>
  <dcterms:modified xsi:type="dcterms:W3CDTF">2026-10-16T18:02:56Z</dcterms:modified>
</cp:coreProperties>
</file>