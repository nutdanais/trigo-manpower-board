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Opening
Non-Rayong overview for January to September 2026: LCBTH, BANGN and AMATA.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Performance
Hours fell 19% in April, then climbed 44% to a record 36,653 h in September. Q3 is the strongest quarter at 100.9K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Site mix
Hours per mission = billable hours / distinct mission numbers (base number, ignoring monthly extension suffix). Per-piece units are pieces invoiced per unit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Customers and hosts
Ford MVIP, MMTH Engine and Surtec Kariya together make up 71% of hours. The other 71 hosts share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Section: Cost reduction
Two slides: the supplier change and the 2026 drink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Cost reduction: beverage supplier
Unit cost fell from 22.34 to 15.68 THB, and the monthly average from 80,899.75 to 64,983.03 THB. Cost per headcount trends down from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Cost reduction: drink mix
Moving the mix toward electrolyte drinks, and adding herbal drinks and tea, targets 11.73 THB per unit. Against the current supplier's 15.68 THB, that saves 3.95 THB per unit, 25.2%. Together with the supplier change (22.34 to 15.68 THB), the unit cost falls from 22.34 to 11.73 THB, which is 10.61 THB or 47.5% below 2025. The 2025 figures still need a source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Section: Operation excellence
Three slides: handheld OCR, the hybrid workflow and the poka-yoke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Operation excellence: handheld OCR
Source: supplied shopfloor OCR example and mission inspection-time comparisons. Reading a serial drops from 8 to 10 seconds by hand to 1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Operation excellence: hybrid workflow
Data captured on the shopfloor lands in Google Sheets and Drive. An offline Excel record covers gaps, and the administrator reconciles both before the customer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Operation excellence: poka-yoke
Two controls stop bad data at capture, one tells the operator when a box is full, and the administrator reviews before release. Next: the two web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Section: The two apps
The last section moves from the numbers to the tools behind them. Two web apps support the Non-Rayong sites: the Manpower Board for planning people and missions, and the Inventory and Quality System for tools, parts and consumables. Both run in the browser and on a phone. First the Manpower Board, then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The two apps
Two internal tools, built for our sites. Same sign-in domain, same look, both installable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Manpower: the daily board
Each card is a person, each column a mission with host, customer, shift and engineer. The tiles on top always add up: assigned plus leave plus standby equals total. The phone shows a forecast day being merged, one clash at a time: keep the carried-over plan or use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Manpower: planning ahead
Capacity compares demand per host with the people available. In the example, Wednesday 21/10 needs 40 against 36, so it shows 4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Manpower: what managers see
Overview answers "is everyone placed?" first, then the numbers. Every chart has the exact figures on hover.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Inventory: the system
Rayong and Amata warehouses, one at a time or both. The dashboard opens on what needs attention: out of stock, calibration overdue, returns late, parts aged over 60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 Inventory: consumables
Each item shows what is on hand against its safety stock, one gauge per warehouse, so the short warehouse is named instead of hidden in a total. Predicted run-out and spike flags come from the last 30 days: a spike means at least 1.5 times the usual rate, and the filter shows items that run out within 14 days. Every row has an Add to cart button, and nothing is submitted until check-out. Deliveries are received and counts recorded from the buttons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 Inventory: the engineer's day
The same flow works for consumables (issue from stock) and customer parts (deliveries in and out). Camera scanning works in Chrome and Edge; a handheld scanner works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 Inventory: customer parts
Parts are tracked by the customer's part number, mission number and responsible engineer. A delivery due today shows on the To-Do list and in the bell until someone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On your phone
New accounts are approved once by an admin. After installing, the app opens full screen from the home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jp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jpg"/><Relationship Id="rId8" Type="http://schemas.openxmlformats.org/officeDocument/2006/relationships/image" Target="../media/image-14-8.jp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jp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jp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1.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jpg"/><Relationship Id="rId7" Type="http://schemas.openxmlformats.org/officeDocument/2006/relationships/image" Target="../media/image-18-7.jp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600200"/>
            <a:ext cx="935646"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JAN–SEP 2026</a:t>
            </a:r>
            <a:endParaRPr lang="en-US" sz="720" dirty="0"/>
          </a:p>
        </p:txBody>
      </p:sp>
      <p:sp>
        <p:nvSpPr>
          <p:cNvPr id="5" name="Gradient shape"/>
          <p:cNvSpPr/>
          <p:nvPr/>
        </p:nvSpPr>
        <p:spPr>
          <a:xfrm>
            <a:off x="457200" y="163586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856232"/>
            <a:ext cx="3915947" cy="1201108"/>
          </a:xfrm>
          <a:prstGeom prst="rect">
            <a:avLst/>
          </a:prstGeom>
          <a:noFill/>
          <a:ln/>
        </p:spPr>
        <p:txBody>
          <a:bodyPr wrap="square" lIns="0" tIns="0" rIns="0" bIns="0" rtlCol="0" anchor="t"/>
          <a:lstStyle/>
          <a:p>
            <a:pPr algn="l" indent="0" marL="0">
              <a:lnSpc>
                <a:spcPts val="4110"/>
              </a:lnSpc>
              <a:buNone/>
            </a:pPr>
            <a:r>
              <a:rPr lang="en-US" sz="4030" spc="-202" kern="0" dirty="0">
                <a:solidFill>
                  <a:srgbClr val="062A44"/>
                </a:solidFill>
                <a:latin typeface="Arial" pitchFamily="34" charset="0"/>
                <a:ea typeface="Arial" pitchFamily="34" charset="-122"/>
                <a:cs typeface="Arial" pitchFamily="34" charset="-120"/>
              </a:rPr>
              <a:t>Non-Rayong</a:t>
            </a:r>
            <a:endParaRPr lang="en-US" sz="4030" dirty="0"/>
          </a:p>
          <a:p>
            <a:pPr algn="l" indent="0" marL="0">
              <a:lnSpc>
                <a:spcPts val="4110"/>
              </a:lnSpc>
              <a:buNone/>
            </a:pPr>
            <a:r>
              <a:rPr lang="en-US" sz="4030" b="1" spc="-202" kern="0" dirty="0">
                <a:solidFill>
                  <a:srgbClr val="0E4064"/>
                </a:solidFill>
                <a:latin typeface="Arial" pitchFamily="34" charset="0"/>
                <a:ea typeface="Arial" pitchFamily="34" charset="-122"/>
                <a:cs typeface="Arial" pitchFamily="34" charset="-120"/>
              </a:rPr>
              <a:t>o</a:t>
            </a:r>
            <a:pPr algn="l" indent="0" marL="0">
              <a:lnSpc>
                <a:spcPts val="4110"/>
              </a:lnSpc>
              <a:buNone/>
            </a:pPr>
            <a:r>
              <a:rPr lang="en-US" sz="4030" b="1" spc="-202" kern="0" dirty="0">
                <a:solidFill>
                  <a:srgbClr val="144B72"/>
                </a:solidFill>
                <a:latin typeface="Arial" pitchFamily="34" charset="0"/>
                <a:ea typeface="Arial" pitchFamily="34" charset="-122"/>
                <a:cs typeface="Arial" pitchFamily="34" charset="-120"/>
              </a:rPr>
              <a:t>v</a:t>
            </a:r>
            <a:pPr algn="l" indent="0" marL="0">
              <a:lnSpc>
                <a:spcPts val="4110"/>
              </a:lnSpc>
              <a:buNone/>
            </a:pPr>
            <a:r>
              <a:rPr lang="en-US" sz="4030" b="1" spc="-202" kern="0" dirty="0">
                <a:solidFill>
                  <a:srgbClr val="195681"/>
                </a:solidFill>
                <a:latin typeface="Arial" pitchFamily="34" charset="0"/>
                <a:ea typeface="Arial" pitchFamily="34" charset="-122"/>
                <a:cs typeface="Arial" pitchFamily="34" charset="-120"/>
              </a:rPr>
              <a:t>e</a:t>
            </a:r>
            <a:pPr algn="l" indent="0" marL="0">
              <a:lnSpc>
                <a:spcPts val="4110"/>
              </a:lnSpc>
              <a:buNone/>
            </a:pPr>
            <a:r>
              <a:rPr lang="en-US" sz="4030" b="1" spc="-202" kern="0" dirty="0">
                <a:solidFill>
                  <a:srgbClr val="1E5F8E"/>
                </a:solidFill>
                <a:latin typeface="Arial" pitchFamily="34" charset="0"/>
                <a:ea typeface="Arial" pitchFamily="34" charset="-122"/>
                <a:cs typeface="Arial" pitchFamily="34" charset="-120"/>
              </a:rPr>
              <a:t>r</a:t>
            </a:r>
            <a:pPr algn="l" indent="0" marL="0">
              <a:lnSpc>
                <a:spcPts val="4110"/>
              </a:lnSpc>
              <a:buNone/>
            </a:pPr>
            <a:r>
              <a:rPr lang="en-US" sz="4030" b="1" spc="-202" kern="0" dirty="0">
                <a:solidFill>
                  <a:srgbClr val="23699A"/>
                </a:solidFill>
                <a:latin typeface="Arial" pitchFamily="34" charset="0"/>
                <a:ea typeface="Arial" pitchFamily="34" charset="-122"/>
                <a:cs typeface="Arial" pitchFamily="34" charset="-120"/>
              </a:rPr>
              <a:t>v</a:t>
            </a:r>
            <a:pPr algn="l" indent="0" marL="0">
              <a:lnSpc>
                <a:spcPts val="4110"/>
              </a:lnSpc>
              <a:buNone/>
            </a:pPr>
            <a:r>
              <a:rPr lang="en-US" sz="4030" b="1" spc="-202" kern="0" dirty="0">
                <a:solidFill>
                  <a:srgbClr val="2770A5"/>
                </a:solidFill>
                <a:latin typeface="Arial" pitchFamily="34" charset="0"/>
                <a:ea typeface="Arial" pitchFamily="34" charset="-122"/>
                <a:cs typeface="Arial" pitchFamily="34" charset="-120"/>
              </a:rPr>
              <a:t>i</a:t>
            </a:r>
            <a:pPr algn="l" indent="0" marL="0">
              <a:lnSpc>
                <a:spcPts val="4110"/>
              </a:lnSpc>
              <a:buNone/>
            </a:pPr>
            <a:r>
              <a:rPr lang="en-US" sz="4030" b="1" spc="-202" kern="0" dirty="0">
                <a:solidFill>
                  <a:srgbClr val="2B78AF"/>
                </a:solidFill>
                <a:latin typeface="Arial" pitchFamily="34" charset="0"/>
                <a:ea typeface="Arial" pitchFamily="34" charset="-122"/>
                <a:cs typeface="Arial" pitchFamily="34" charset="-120"/>
              </a:rPr>
              <a:t>e</a:t>
            </a:r>
            <a:pPr algn="l" indent="0" marL="0">
              <a:lnSpc>
                <a:spcPts val="4110"/>
              </a:lnSpc>
              <a:buNone/>
            </a:pPr>
            <a:r>
              <a:rPr lang="en-US" sz="4030" b="1" spc="-202" kern="0" dirty="0">
                <a:solidFill>
                  <a:srgbClr val="3683A9"/>
                </a:solidFill>
                <a:latin typeface="Arial" pitchFamily="34" charset="0"/>
                <a:ea typeface="Arial" pitchFamily="34" charset="-122"/>
                <a:cs typeface="Arial" pitchFamily="34" charset="-120"/>
              </a:rPr>
              <a:t>w</a:t>
            </a:r>
            <a:pPr algn="l" indent="0" marL="0">
              <a:lnSpc>
                <a:spcPts val="4110"/>
              </a:lnSpc>
              <a:buNone/>
            </a:pPr>
            <a:r>
              <a:rPr lang="en-US" sz="4030" b="1" spc="-202" kern="0" dirty="0">
                <a:solidFill>
                  <a:srgbClr val="4A8D81"/>
                </a:solidFill>
                <a:latin typeface="Arial" pitchFamily="34" charset="0"/>
                <a:ea typeface="Arial" pitchFamily="34" charset="-122"/>
                <a:cs typeface="Arial" pitchFamily="34" charset="-120"/>
              </a:rPr>
              <a:t> 2</a:t>
            </a:r>
            <a:pPr algn="l" indent="0" marL="0">
              <a:lnSpc>
                <a:spcPts val="4110"/>
              </a:lnSpc>
              <a:buNone/>
            </a:pPr>
            <a:r>
              <a:rPr lang="en-US" sz="4030" b="1" spc="-202" kern="0" dirty="0">
                <a:solidFill>
                  <a:srgbClr val="599565"/>
                </a:solidFill>
                <a:latin typeface="Arial" pitchFamily="34" charset="0"/>
                <a:ea typeface="Arial" pitchFamily="34" charset="-122"/>
                <a:cs typeface="Arial" pitchFamily="34" charset="-120"/>
              </a:rPr>
              <a:t>0</a:t>
            </a:r>
            <a:pPr algn="l" indent="0" marL="0">
              <a:lnSpc>
                <a:spcPts val="4110"/>
              </a:lnSpc>
              <a:buNone/>
            </a:pPr>
            <a:r>
              <a:rPr lang="en-US" sz="4030" b="1" spc="-202" kern="0" dirty="0">
                <a:solidFill>
                  <a:srgbClr val="679C49"/>
                </a:solidFill>
                <a:latin typeface="Arial" pitchFamily="34" charset="0"/>
                <a:ea typeface="Arial" pitchFamily="34" charset="-122"/>
                <a:cs typeface="Arial" pitchFamily="34" charset="-120"/>
              </a:rPr>
              <a:t>2</a:t>
            </a:r>
            <a:pPr algn="l" indent="0" marL="0">
              <a:lnSpc>
                <a:spcPts val="4110"/>
              </a:lnSpc>
              <a:buNone/>
            </a:pPr>
            <a:r>
              <a:rPr lang="en-US" sz="4030" b="1" spc="-202" kern="0" dirty="0">
                <a:solidFill>
                  <a:srgbClr val="74A32F"/>
                </a:solidFill>
                <a:latin typeface="Arial" pitchFamily="34" charset="0"/>
                <a:ea typeface="Arial" pitchFamily="34" charset="-122"/>
                <a:cs typeface="Arial" pitchFamily="34" charset="-120"/>
              </a:rPr>
              <a:t>6</a:t>
            </a:r>
            <a:pPr algn="l" indent="0" marL="0">
              <a:lnSpc>
                <a:spcPts val="4110"/>
              </a:lnSpc>
              <a:buNone/>
            </a:pPr>
            <a:r>
              <a:rPr lang="en-US" sz="4030" b="1" spc="-202" kern="0" dirty="0">
                <a:solidFill>
                  <a:srgbClr val="7DA71E"/>
                </a:solidFill>
                <a:latin typeface="Arial" pitchFamily="34" charset="0"/>
                <a:ea typeface="Arial" pitchFamily="34" charset="-122"/>
                <a:cs typeface="Arial" pitchFamily="34" charset="-120"/>
              </a:rPr>
              <a:t>.</a:t>
            </a:r>
            <a:endParaRPr lang="en-US" sz="4030" dirty="0"/>
          </a:p>
        </p:txBody>
      </p:sp>
      <p:sp>
        <p:nvSpPr>
          <p:cNvPr id="7" name="Text 4"/>
          <p:cNvSpPr txBox="1"/>
          <p:nvPr/>
        </p:nvSpPr>
        <p:spPr>
          <a:xfrm>
            <a:off x="457200" y="3065240"/>
            <a:ext cx="4111725" cy="678942"/>
          </a:xfrm>
          <a:prstGeom prst="rect">
            <a:avLst/>
          </a:prstGeom>
          <a:noFill/>
          <a:ln/>
        </p:spPr>
        <p:txBody>
          <a:bodyPr wrap="square" lIns="0" tIns="0" rIns="0" bIns="0" rtlCol="0" anchor="t"/>
          <a:lstStyle/>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Service hours, site mix and customers, then cost</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reduction and operation excellence, across our three non-Rayong</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sites.</a:t>
            </a:r>
            <a:endParaRPr lang="en-US" sz="1080" dirty="0"/>
          </a:p>
        </p:txBody>
      </p:sp>
      <p:sp>
        <p:nvSpPr>
          <p:cNvPr id="8" name="Text 5"/>
          <p:cNvSpPr txBox="1"/>
          <p:nvPr/>
        </p:nvSpPr>
        <p:spPr>
          <a:xfrm>
            <a:off x="585216" y="4160520"/>
            <a:ext cx="423139" cy="105156"/>
          </a:xfrm>
          <a:prstGeom prst="rect">
            <a:avLst/>
          </a:prstGeom>
          <a:noFill/>
          <a:ln/>
        </p:spPr>
        <p:txBody>
          <a:bodyPr wrap="none" lIns="0" tIns="0" rIns="0" bIns="0" rtlCol="0" anchor="ctr"/>
          <a:lstStyle/>
          <a:p>
            <a:pPr algn="l" indent="0" marL="0">
              <a:lnSpc>
                <a:spcPts val="830"/>
              </a:lnSpc>
              <a:buNone/>
            </a:pPr>
            <a:r>
              <a:rPr lang="en-US" sz="830" spc="83" kern="0" dirty="0">
                <a:solidFill>
                  <a:srgbClr val="062A44"/>
                </a:solidFill>
                <a:latin typeface="Courier New" pitchFamily="34" charset="0"/>
                <a:ea typeface="Courier New" pitchFamily="34" charset="-122"/>
                <a:cs typeface="Courier New" pitchFamily="34" charset="-120"/>
              </a:rPr>
              <a:t>LCBTH</a:t>
            </a:r>
            <a:endParaRPr lang="en-US" sz="830" dirty="0"/>
          </a:p>
        </p:txBody>
      </p:sp>
      <p:sp>
        <p:nvSpPr>
          <p:cNvPr id="9" name="Shape 6"/>
          <p:cNvSpPr/>
          <p:nvPr/>
        </p:nvSpPr>
        <p:spPr>
          <a:xfrm>
            <a:off x="457200" y="4171950"/>
            <a:ext cx="82296" cy="82296"/>
          </a:xfrm>
          <a:prstGeom prst="roundRect">
            <a:avLst>
              <a:gd name="adj" fmla="val 27778"/>
            </a:avLst>
          </a:prstGeom>
          <a:solidFill>
            <a:srgbClr val="A3B3C1"/>
          </a:solidFill>
          <a:ln/>
        </p:spPr>
      </p:sp>
      <p:sp>
        <p:nvSpPr>
          <p:cNvPr id="10" name="Text 7"/>
          <p:cNvSpPr txBox="1"/>
          <p:nvPr/>
        </p:nvSpPr>
        <p:spPr>
          <a:xfrm>
            <a:off x="1300734" y="4160520"/>
            <a:ext cx="423139" cy="105156"/>
          </a:xfrm>
          <a:prstGeom prst="rect">
            <a:avLst/>
          </a:prstGeom>
          <a:noFill/>
          <a:ln/>
        </p:spPr>
        <p:txBody>
          <a:bodyPr wrap="none" lIns="0" tIns="0" rIns="0" bIns="0" rtlCol="0" anchor="ctr"/>
          <a:lstStyle/>
          <a:p>
            <a:pPr algn="l" indent="0" marL="0">
              <a:lnSpc>
                <a:spcPts val="830"/>
              </a:lnSpc>
              <a:buNone/>
            </a:pPr>
            <a:r>
              <a:rPr lang="en-US" sz="830" spc="83" kern="0" dirty="0">
                <a:solidFill>
                  <a:srgbClr val="062A44"/>
                </a:solidFill>
                <a:latin typeface="Courier New" pitchFamily="34" charset="0"/>
                <a:ea typeface="Courier New" pitchFamily="34" charset="-122"/>
                <a:cs typeface="Courier New" pitchFamily="34" charset="-120"/>
              </a:rPr>
              <a:t>BANGN</a:t>
            </a:r>
            <a:endParaRPr lang="en-US" sz="830" dirty="0"/>
          </a:p>
        </p:txBody>
      </p:sp>
      <p:sp>
        <p:nvSpPr>
          <p:cNvPr id="11" name="Shape 8"/>
          <p:cNvSpPr/>
          <p:nvPr/>
        </p:nvSpPr>
        <p:spPr>
          <a:xfrm>
            <a:off x="1172718" y="4171950"/>
            <a:ext cx="82296" cy="82296"/>
          </a:xfrm>
          <a:prstGeom prst="roundRect">
            <a:avLst>
              <a:gd name="adj" fmla="val 27778"/>
            </a:avLst>
          </a:prstGeom>
          <a:solidFill>
            <a:srgbClr val="97C21D"/>
          </a:solidFill>
          <a:ln/>
        </p:spPr>
      </p:sp>
      <p:sp>
        <p:nvSpPr>
          <p:cNvPr id="12" name="Text 9"/>
          <p:cNvSpPr txBox="1"/>
          <p:nvPr/>
        </p:nvSpPr>
        <p:spPr>
          <a:xfrm>
            <a:off x="2016252" y="4160520"/>
            <a:ext cx="423139" cy="105156"/>
          </a:xfrm>
          <a:prstGeom prst="rect">
            <a:avLst/>
          </a:prstGeom>
          <a:noFill/>
          <a:ln/>
        </p:spPr>
        <p:txBody>
          <a:bodyPr wrap="none" lIns="0" tIns="0" rIns="0" bIns="0" rtlCol="0" anchor="ctr"/>
          <a:lstStyle/>
          <a:p>
            <a:pPr algn="l" indent="0" marL="0">
              <a:lnSpc>
                <a:spcPts val="830"/>
              </a:lnSpc>
              <a:buNone/>
            </a:pPr>
            <a:r>
              <a:rPr lang="en-US" sz="830" spc="83" kern="0" dirty="0">
                <a:solidFill>
                  <a:srgbClr val="062A44"/>
                </a:solidFill>
                <a:latin typeface="Courier New" pitchFamily="34" charset="0"/>
                <a:ea typeface="Courier New" pitchFamily="34" charset="-122"/>
                <a:cs typeface="Courier New" pitchFamily="34" charset="-120"/>
              </a:rPr>
              <a:t>AMATA</a:t>
            </a:r>
            <a:endParaRPr lang="en-US" sz="830" dirty="0"/>
          </a:p>
        </p:txBody>
      </p:sp>
      <p:sp>
        <p:nvSpPr>
          <p:cNvPr id="13" name="Shape 10"/>
          <p:cNvSpPr/>
          <p:nvPr/>
        </p:nvSpPr>
        <p:spPr>
          <a:xfrm>
            <a:off x="1888236" y="4171950"/>
            <a:ext cx="82296" cy="82296"/>
          </a:xfrm>
          <a:prstGeom prst="roundRect">
            <a:avLst>
              <a:gd name="adj" fmla="val 27778"/>
            </a:avLst>
          </a:prstGeom>
          <a:solidFill>
            <a:srgbClr val="0B3A5C"/>
          </a:solidFill>
          <a:ln/>
        </p:spPr>
      </p:sp>
      <p:sp>
        <p:nvSpPr>
          <p:cNvPr id="14" name="Gradient shape"/>
          <p:cNvSpPr/>
          <p:nvPr/>
        </p:nvSpPr>
        <p:spPr>
          <a:xfrm>
            <a:off x="4931688" y="1089153"/>
            <a:ext cx="3576271" cy="3576271"/>
          </a:xfrm>
          <a:prstGeom prst="ellipse">
            <a:avLst/>
          </a:prstGeom>
          <a:gradFill rotWithShape="1">
            <a:gsLst>
              <a:gs pos="0">
                <a:srgbClr val="E3F0FB"/>
              </a:gs>
              <a:gs pos="100000">
                <a:srgbClr val="E3F0FB">
                  <a:alpha val="0"/>
                </a:srgbClr>
              </a:gs>
            </a:gsLst>
            <a:path path="circle">
              <a:fillToRect l="50000" t="50000" r="50000" b="50000"/>
            </a:path>
          </a:gradFill>
          <a:ln/>
        </p:spPr>
      </p:sp>
      <p:sp>
        <p:nvSpPr>
          <p:cNvPr id="15" name="Shape 12"/>
          <p:cNvSpPr/>
          <p:nvPr/>
        </p:nvSpPr>
        <p:spPr>
          <a:xfrm>
            <a:off x="6228086" y="1884873"/>
            <a:ext cx="1510975" cy="1037119"/>
          </a:xfrm>
          <a:custGeom>
            <a:avLst/>
            <a:gdLst/>
            <a:ahLst/>
            <a:cxnLst/>
            <a:rect l="l" t="t" r="r" b="b"/>
            <a:pathLst>
              <a:path w="1510975" h="1037119">
                <a:moveTo>
                  <a:pt x="0" y="1037119"/>
                </a:moveTo>
                <a:lnTo>
                  <a:pt x="11029" y="1029548"/>
                </a:lnTo>
                <a:lnTo>
                  <a:pt x="22058" y="1021978"/>
                </a:lnTo>
                <a:lnTo>
                  <a:pt x="33087" y="1014408"/>
                </a:lnTo>
                <a:lnTo>
                  <a:pt x="44116" y="1006838"/>
                </a:lnTo>
                <a:lnTo>
                  <a:pt x="55145" y="999268"/>
                </a:lnTo>
                <a:lnTo>
                  <a:pt x="66174" y="991697"/>
                </a:lnTo>
                <a:lnTo>
                  <a:pt x="77203" y="984127"/>
                </a:lnTo>
                <a:lnTo>
                  <a:pt x="88232" y="976557"/>
                </a:lnTo>
                <a:lnTo>
                  <a:pt x="99261" y="968987"/>
                </a:lnTo>
                <a:lnTo>
                  <a:pt x="110290" y="961416"/>
                </a:lnTo>
                <a:lnTo>
                  <a:pt x="121319" y="953846"/>
                </a:lnTo>
                <a:lnTo>
                  <a:pt x="132348" y="946276"/>
                </a:lnTo>
                <a:lnTo>
                  <a:pt x="143377" y="938706"/>
                </a:lnTo>
                <a:lnTo>
                  <a:pt x="154406" y="931136"/>
                </a:lnTo>
                <a:lnTo>
                  <a:pt x="165435" y="923566"/>
                </a:lnTo>
                <a:lnTo>
                  <a:pt x="176464" y="915995"/>
                </a:lnTo>
                <a:lnTo>
                  <a:pt x="187493" y="908425"/>
                </a:lnTo>
                <a:lnTo>
                  <a:pt x="198522" y="900855"/>
                </a:lnTo>
                <a:lnTo>
                  <a:pt x="209551" y="893285"/>
                </a:lnTo>
                <a:lnTo>
                  <a:pt x="220580" y="885714"/>
                </a:lnTo>
                <a:lnTo>
                  <a:pt x="231609" y="878144"/>
                </a:lnTo>
                <a:lnTo>
                  <a:pt x="242638" y="870574"/>
                </a:lnTo>
                <a:lnTo>
                  <a:pt x="253667" y="863004"/>
                </a:lnTo>
                <a:lnTo>
                  <a:pt x="264696" y="855434"/>
                </a:lnTo>
                <a:lnTo>
                  <a:pt x="275725" y="847863"/>
                </a:lnTo>
                <a:lnTo>
                  <a:pt x="286754" y="840293"/>
                </a:lnTo>
                <a:lnTo>
                  <a:pt x="297783" y="832723"/>
                </a:lnTo>
                <a:lnTo>
                  <a:pt x="308812" y="825153"/>
                </a:lnTo>
                <a:lnTo>
                  <a:pt x="319841" y="817583"/>
                </a:lnTo>
                <a:lnTo>
                  <a:pt x="330870" y="810012"/>
                </a:lnTo>
                <a:lnTo>
                  <a:pt x="341899" y="802442"/>
                </a:lnTo>
                <a:lnTo>
                  <a:pt x="352928" y="794872"/>
                </a:lnTo>
                <a:lnTo>
                  <a:pt x="363957" y="787302"/>
                </a:lnTo>
                <a:lnTo>
                  <a:pt x="374987" y="779731"/>
                </a:lnTo>
                <a:lnTo>
                  <a:pt x="386015" y="772161"/>
                </a:lnTo>
                <a:lnTo>
                  <a:pt x="397044" y="764591"/>
                </a:lnTo>
                <a:lnTo>
                  <a:pt x="408073" y="757021"/>
                </a:lnTo>
                <a:lnTo>
                  <a:pt x="419102" y="749451"/>
                </a:lnTo>
                <a:lnTo>
                  <a:pt x="430132" y="741880"/>
                </a:lnTo>
                <a:lnTo>
                  <a:pt x="441160" y="734310"/>
                </a:lnTo>
                <a:lnTo>
                  <a:pt x="452189" y="726740"/>
                </a:lnTo>
                <a:lnTo>
                  <a:pt x="463218" y="719170"/>
                </a:lnTo>
                <a:lnTo>
                  <a:pt x="474247" y="711600"/>
                </a:lnTo>
                <a:lnTo>
                  <a:pt x="485277" y="704030"/>
                </a:lnTo>
                <a:lnTo>
                  <a:pt x="496306" y="696459"/>
                </a:lnTo>
                <a:lnTo>
                  <a:pt x="507334" y="688889"/>
                </a:lnTo>
                <a:lnTo>
                  <a:pt x="518363" y="681319"/>
                </a:lnTo>
                <a:lnTo>
                  <a:pt x="529392" y="673749"/>
                </a:lnTo>
                <a:lnTo>
                  <a:pt x="540422" y="666178"/>
                </a:lnTo>
                <a:lnTo>
                  <a:pt x="551451" y="658608"/>
                </a:lnTo>
                <a:lnTo>
                  <a:pt x="562479" y="651038"/>
                </a:lnTo>
                <a:lnTo>
                  <a:pt x="573509" y="643468"/>
                </a:lnTo>
                <a:lnTo>
                  <a:pt x="584538" y="635898"/>
                </a:lnTo>
                <a:lnTo>
                  <a:pt x="595567" y="628327"/>
                </a:lnTo>
                <a:lnTo>
                  <a:pt x="606596" y="620757"/>
                </a:lnTo>
                <a:lnTo>
                  <a:pt x="617625" y="613187"/>
                </a:lnTo>
                <a:lnTo>
                  <a:pt x="628654" y="605617"/>
                </a:lnTo>
                <a:lnTo>
                  <a:pt x="639683" y="598046"/>
                </a:lnTo>
                <a:lnTo>
                  <a:pt x="650712" y="590476"/>
                </a:lnTo>
                <a:lnTo>
                  <a:pt x="661741" y="582906"/>
                </a:lnTo>
                <a:lnTo>
                  <a:pt x="672770" y="575336"/>
                </a:lnTo>
                <a:lnTo>
                  <a:pt x="683799" y="567766"/>
                </a:lnTo>
                <a:lnTo>
                  <a:pt x="694828" y="560195"/>
                </a:lnTo>
                <a:lnTo>
                  <a:pt x="705857" y="552625"/>
                </a:lnTo>
                <a:lnTo>
                  <a:pt x="716886" y="545055"/>
                </a:lnTo>
                <a:lnTo>
                  <a:pt x="727915" y="537485"/>
                </a:lnTo>
                <a:lnTo>
                  <a:pt x="738944" y="529915"/>
                </a:lnTo>
                <a:lnTo>
                  <a:pt x="749973" y="522344"/>
                </a:lnTo>
                <a:lnTo>
                  <a:pt x="761002" y="514774"/>
                </a:lnTo>
                <a:lnTo>
                  <a:pt x="772031" y="507204"/>
                </a:lnTo>
                <a:lnTo>
                  <a:pt x="783060" y="499634"/>
                </a:lnTo>
                <a:lnTo>
                  <a:pt x="794089" y="492064"/>
                </a:lnTo>
                <a:lnTo>
                  <a:pt x="805118" y="484493"/>
                </a:lnTo>
                <a:lnTo>
                  <a:pt x="816147" y="476923"/>
                </a:lnTo>
                <a:lnTo>
                  <a:pt x="827176" y="469353"/>
                </a:lnTo>
                <a:lnTo>
                  <a:pt x="838205" y="461783"/>
                </a:lnTo>
                <a:lnTo>
                  <a:pt x="849234" y="454213"/>
                </a:lnTo>
                <a:lnTo>
                  <a:pt x="860263" y="446642"/>
                </a:lnTo>
                <a:lnTo>
                  <a:pt x="871292" y="439072"/>
                </a:lnTo>
                <a:lnTo>
                  <a:pt x="882321" y="431502"/>
                </a:lnTo>
                <a:lnTo>
                  <a:pt x="893350" y="423932"/>
                </a:lnTo>
                <a:lnTo>
                  <a:pt x="904379" y="416361"/>
                </a:lnTo>
                <a:lnTo>
                  <a:pt x="915408" y="408791"/>
                </a:lnTo>
                <a:lnTo>
                  <a:pt x="926437" y="401221"/>
                </a:lnTo>
                <a:lnTo>
                  <a:pt x="937466" y="393651"/>
                </a:lnTo>
                <a:lnTo>
                  <a:pt x="948495" y="386081"/>
                </a:lnTo>
                <a:lnTo>
                  <a:pt x="959524" y="378510"/>
                </a:lnTo>
                <a:lnTo>
                  <a:pt x="970553" y="370940"/>
                </a:lnTo>
                <a:lnTo>
                  <a:pt x="981582" y="363370"/>
                </a:lnTo>
                <a:lnTo>
                  <a:pt x="992611" y="355800"/>
                </a:lnTo>
                <a:lnTo>
                  <a:pt x="1003640" y="348230"/>
                </a:lnTo>
                <a:lnTo>
                  <a:pt x="1014669" y="340659"/>
                </a:lnTo>
                <a:lnTo>
                  <a:pt x="1025698" y="333089"/>
                </a:lnTo>
                <a:lnTo>
                  <a:pt x="1036727" y="325519"/>
                </a:lnTo>
                <a:lnTo>
                  <a:pt x="1047756" y="317949"/>
                </a:lnTo>
                <a:lnTo>
                  <a:pt x="1058785" y="310379"/>
                </a:lnTo>
                <a:lnTo>
                  <a:pt x="1069814" y="302808"/>
                </a:lnTo>
                <a:lnTo>
                  <a:pt x="1080843" y="295238"/>
                </a:lnTo>
                <a:lnTo>
                  <a:pt x="1091872" y="287668"/>
                </a:lnTo>
                <a:lnTo>
                  <a:pt x="1102901" y="280098"/>
                </a:lnTo>
                <a:lnTo>
                  <a:pt x="1113930" y="272528"/>
                </a:lnTo>
                <a:lnTo>
                  <a:pt x="1124959" y="264957"/>
                </a:lnTo>
                <a:lnTo>
                  <a:pt x="1135988" y="257387"/>
                </a:lnTo>
                <a:lnTo>
                  <a:pt x="1147017" y="249817"/>
                </a:lnTo>
                <a:lnTo>
                  <a:pt x="1158046" y="242247"/>
                </a:lnTo>
                <a:lnTo>
                  <a:pt x="1169075" y="234676"/>
                </a:lnTo>
                <a:lnTo>
                  <a:pt x="1180104" y="227106"/>
                </a:lnTo>
                <a:lnTo>
                  <a:pt x="1191133" y="219536"/>
                </a:lnTo>
                <a:lnTo>
                  <a:pt x="1202162" y="211966"/>
                </a:lnTo>
                <a:lnTo>
                  <a:pt x="1213191" y="204396"/>
                </a:lnTo>
                <a:lnTo>
                  <a:pt x="1224220" y="196825"/>
                </a:lnTo>
                <a:lnTo>
                  <a:pt x="1235249" y="189255"/>
                </a:lnTo>
                <a:lnTo>
                  <a:pt x="1246278" y="181685"/>
                </a:lnTo>
                <a:lnTo>
                  <a:pt x="1257307" y="174115"/>
                </a:lnTo>
                <a:lnTo>
                  <a:pt x="1268336" y="166545"/>
                </a:lnTo>
                <a:lnTo>
                  <a:pt x="1279365" y="158974"/>
                </a:lnTo>
                <a:lnTo>
                  <a:pt x="1290394" y="151404"/>
                </a:lnTo>
                <a:lnTo>
                  <a:pt x="1301423" y="143834"/>
                </a:lnTo>
                <a:lnTo>
                  <a:pt x="1312452" y="136264"/>
                </a:lnTo>
                <a:lnTo>
                  <a:pt x="1323481" y="128694"/>
                </a:lnTo>
                <a:lnTo>
                  <a:pt x="1334510" y="121123"/>
                </a:lnTo>
                <a:lnTo>
                  <a:pt x="1345539" y="113553"/>
                </a:lnTo>
                <a:lnTo>
                  <a:pt x="1356568" y="105983"/>
                </a:lnTo>
                <a:lnTo>
                  <a:pt x="1367597" y="98413"/>
                </a:lnTo>
                <a:lnTo>
                  <a:pt x="1378626" y="90843"/>
                </a:lnTo>
                <a:lnTo>
                  <a:pt x="1389656" y="83272"/>
                </a:lnTo>
                <a:lnTo>
                  <a:pt x="1400685" y="75702"/>
                </a:lnTo>
                <a:lnTo>
                  <a:pt x="1411714" y="68132"/>
                </a:lnTo>
                <a:lnTo>
                  <a:pt x="1422742" y="60562"/>
                </a:lnTo>
                <a:lnTo>
                  <a:pt x="1433771" y="52991"/>
                </a:lnTo>
                <a:lnTo>
                  <a:pt x="1444801" y="45421"/>
                </a:lnTo>
                <a:lnTo>
                  <a:pt x="1455830" y="37851"/>
                </a:lnTo>
                <a:lnTo>
                  <a:pt x="1466859" y="30281"/>
                </a:lnTo>
                <a:lnTo>
                  <a:pt x="1477888" y="22711"/>
                </a:lnTo>
                <a:lnTo>
                  <a:pt x="1488916" y="15140"/>
                </a:lnTo>
                <a:lnTo>
                  <a:pt x="1499946" y="7570"/>
                </a:lnTo>
                <a:lnTo>
                  <a:pt x="1510975" y="0"/>
                </a:lnTo>
              </a:path>
            </a:pathLst>
          </a:custGeom>
          <a:ln w="13411">
            <a:solidFill>
              <a:srgbClr val="2E7FB8">
                <a:alpha val="35000"/>
              </a:srgbClr>
            </a:solidFill>
            <a:prstDash val="sysDash"/>
          </a:ln>
        </p:spPr>
      </p:sp>
      <p:sp>
        <p:nvSpPr>
          <p:cNvPr id="16" name="Shape 13"/>
          <p:cNvSpPr/>
          <p:nvPr/>
        </p:nvSpPr>
        <p:spPr>
          <a:xfrm>
            <a:off x="6228086" y="2921992"/>
            <a:ext cx="1439449" cy="822542"/>
          </a:xfrm>
          <a:custGeom>
            <a:avLst/>
            <a:gdLst/>
            <a:ahLst/>
            <a:cxnLst/>
            <a:rect l="l" t="t" r="r" b="b"/>
            <a:pathLst>
              <a:path w="1439449" h="822542">
                <a:moveTo>
                  <a:pt x="0" y="0"/>
                </a:moveTo>
                <a:lnTo>
                  <a:pt x="11609" y="6633"/>
                </a:lnTo>
                <a:lnTo>
                  <a:pt x="23217" y="13267"/>
                </a:lnTo>
                <a:lnTo>
                  <a:pt x="34825" y="19900"/>
                </a:lnTo>
                <a:lnTo>
                  <a:pt x="46434" y="26534"/>
                </a:lnTo>
                <a:lnTo>
                  <a:pt x="58042" y="33167"/>
                </a:lnTo>
                <a:lnTo>
                  <a:pt x="69651" y="39800"/>
                </a:lnTo>
                <a:lnTo>
                  <a:pt x="81259" y="46434"/>
                </a:lnTo>
                <a:lnTo>
                  <a:pt x="92868" y="53067"/>
                </a:lnTo>
                <a:lnTo>
                  <a:pt x="104476" y="59701"/>
                </a:lnTo>
                <a:lnTo>
                  <a:pt x="116085" y="66334"/>
                </a:lnTo>
                <a:lnTo>
                  <a:pt x="127693" y="72967"/>
                </a:lnTo>
                <a:lnTo>
                  <a:pt x="139302" y="79601"/>
                </a:lnTo>
                <a:lnTo>
                  <a:pt x="150910" y="86234"/>
                </a:lnTo>
                <a:lnTo>
                  <a:pt x="162519" y="92868"/>
                </a:lnTo>
                <a:lnTo>
                  <a:pt x="174127" y="99501"/>
                </a:lnTo>
                <a:lnTo>
                  <a:pt x="185735" y="106135"/>
                </a:lnTo>
                <a:lnTo>
                  <a:pt x="197344" y="112768"/>
                </a:lnTo>
                <a:lnTo>
                  <a:pt x="208952" y="119401"/>
                </a:lnTo>
                <a:lnTo>
                  <a:pt x="220561" y="126035"/>
                </a:lnTo>
                <a:lnTo>
                  <a:pt x="232169" y="132668"/>
                </a:lnTo>
                <a:lnTo>
                  <a:pt x="243778" y="139302"/>
                </a:lnTo>
                <a:lnTo>
                  <a:pt x="255386" y="145935"/>
                </a:lnTo>
                <a:lnTo>
                  <a:pt x="266995" y="152568"/>
                </a:lnTo>
                <a:lnTo>
                  <a:pt x="278603" y="159202"/>
                </a:lnTo>
                <a:lnTo>
                  <a:pt x="290212" y="165835"/>
                </a:lnTo>
                <a:lnTo>
                  <a:pt x="301820" y="172468"/>
                </a:lnTo>
                <a:lnTo>
                  <a:pt x="313428" y="179102"/>
                </a:lnTo>
                <a:lnTo>
                  <a:pt x="325037" y="185735"/>
                </a:lnTo>
                <a:lnTo>
                  <a:pt x="336645" y="192369"/>
                </a:lnTo>
                <a:lnTo>
                  <a:pt x="348254" y="199002"/>
                </a:lnTo>
                <a:lnTo>
                  <a:pt x="359862" y="205636"/>
                </a:lnTo>
                <a:lnTo>
                  <a:pt x="371471" y="212269"/>
                </a:lnTo>
                <a:lnTo>
                  <a:pt x="383079" y="218902"/>
                </a:lnTo>
                <a:lnTo>
                  <a:pt x="394688" y="225536"/>
                </a:lnTo>
                <a:lnTo>
                  <a:pt x="406296" y="232169"/>
                </a:lnTo>
                <a:lnTo>
                  <a:pt x="417905" y="238803"/>
                </a:lnTo>
                <a:lnTo>
                  <a:pt x="429513" y="245436"/>
                </a:lnTo>
                <a:lnTo>
                  <a:pt x="441122" y="252069"/>
                </a:lnTo>
                <a:lnTo>
                  <a:pt x="452730" y="258703"/>
                </a:lnTo>
                <a:lnTo>
                  <a:pt x="464338" y="265336"/>
                </a:lnTo>
                <a:lnTo>
                  <a:pt x="475947" y="271970"/>
                </a:lnTo>
                <a:lnTo>
                  <a:pt x="487555" y="278603"/>
                </a:lnTo>
                <a:lnTo>
                  <a:pt x="499164" y="285236"/>
                </a:lnTo>
                <a:lnTo>
                  <a:pt x="510772" y="291870"/>
                </a:lnTo>
                <a:lnTo>
                  <a:pt x="522381" y="298503"/>
                </a:lnTo>
                <a:lnTo>
                  <a:pt x="533989" y="305137"/>
                </a:lnTo>
                <a:lnTo>
                  <a:pt x="545598" y="311770"/>
                </a:lnTo>
                <a:lnTo>
                  <a:pt x="557206" y="318403"/>
                </a:lnTo>
                <a:lnTo>
                  <a:pt x="568815" y="325037"/>
                </a:lnTo>
                <a:lnTo>
                  <a:pt x="580423" y="331670"/>
                </a:lnTo>
                <a:lnTo>
                  <a:pt x="592032" y="338304"/>
                </a:lnTo>
                <a:lnTo>
                  <a:pt x="603640" y="344937"/>
                </a:lnTo>
                <a:lnTo>
                  <a:pt x="615248" y="351570"/>
                </a:lnTo>
                <a:lnTo>
                  <a:pt x="626857" y="358204"/>
                </a:lnTo>
                <a:lnTo>
                  <a:pt x="638465" y="364837"/>
                </a:lnTo>
                <a:lnTo>
                  <a:pt x="650074" y="371471"/>
                </a:lnTo>
                <a:lnTo>
                  <a:pt x="661682" y="378104"/>
                </a:lnTo>
                <a:lnTo>
                  <a:pt x="673291" y="384738"/>
                </a:lnTo>
                <a:lnTo>
                  <a:pt x="684899" y="391371"/>
                </a:lnTo>
                <a:lnTo>
                  <a:pt x="696508" y="398004"/>
                </a:lnTo>
                <a:lnTo>
                  <a:pt x="708116" y="404638"/>
                </a:lnTo>
                <a:lnTo>
                  <a:pt x="719725" y="411271"/>
                </a:lnTo>
                <a:lnTo>
                  <a:pt x="731333" y="417905"/>
                </a:lnTo>
                <a:lnTo>
                  <a:pt x="742941" y="424538"/>
                </a:lnTo>
                <a:lnTo>
                  <a:pt x="754550" y="431171"/>
                </a:lnTo>
                <a:lnTo>
                  <a:pt x="766158" y="437805"/>
                </a:lnTo>
                <a:lnTo>
                  <a:pt x="777767" y="444438"/>
                </a:lnTo>
                <a:lnTo>
                  <a:pt x="789375" y="451072"/>
                </a:lnTo>
                <a:lnTo>
                  <a:pt x="800984" y="457705"/>
                </a:lnTo>
                <a:lnTo>
                  <a:pt x="812592" y="464338"/>
                </a:lnTo>
                <a:lnTo>
                  <a:pt x="824201" y="470972"/>
                </a:lnTo>
                <a:lnTo>
                  <a:pt x="835809" y="477605"/>
                </a:lnTo>
                <a:lnTo>
                  <a:pt x="847418" y="484239"/>
                </a:lnTo>
                <a:lnTo>
                  <a:pt x="859026" y="490872"/>
                </a:lnTo>
                <a:lnTo>
                  <a:pt x="870635" y="497505"/>
                </a:lnTo>
                <a:lnTo>
                  <a:pt x="882243" y="504139"/>
                </a:lnTo>
                <a:lnTo>
                  <a:pt x="893851" y="510772"/>
                </a:lnTo>
                <a:lnTo>
                  <a:pt x="905460" y="517406"/>
                </a:lnTo>
                <a:lnTo>
                  <a:pt x="917068" y="524039"/>
                </a:lnTo>
                <a:lnTo>
                  <a:pt x="928677" y="530672"/>
                </a:lnTo>
                <a:lnTo>
                  <a:pt x="940285" y="537306"/>
                </a:lnTo>
                <a:lnTo>
                  <a:pt x="951894" y="543939"/>
                </a:lnTo>
                <a:lnTo>
                  <a:pt x="963502" y="550573"/>
                </a:lnTo>
                <a:lnTo>
                  <a:pt x="975111" y="557206"/>
                </a:lnTo>
                <a:lnTo>
                  <a:pt x="986719" y="563840"/>
                </a:lnTo>
                <a:lnTo>
                  <a:pt x="998328" y="570473"/>
                </a:lnTo>
                <a:lnTo>
                  <a:pt x="1009936" y="577106"/>
                </a:lnTo>
                <a:lnTo>
                  <a:pt x="1021544" y="583740"/>
                </a:lnTo>
                <a:lnTo>
                  <a:pt x="1033153" y="590373"/>
                </a:lnTo>
                <a:lnTo>
                  <a:pt x="1044761" y="597007"/>
                </a:lnTo>
                <a:lnTo>
                  <a:pt x="1056370" y="603640"/>
                </a:lnTo>
                <a:lnTo>
                  <a:pt x="1067978" y="610273"/>
                </a:lnTo>
                <a:lnTo>
                  <a:pt x="1079587" y="616907"/>
                </a:lnTo>
                <a:lnTo>
                  <a:pt x="1091195" y="623540"/>
                </a:lnTo>
                <a:lnTo>
                  <a:pt x="1102804" y="630174"/>
                </a:lnTo>
                <a:lnTo>
                  <a:pt x="1114412" y="636807"/>
                </a:lnTo>
                <a:lnTo>
                  <a:pt x="1126021" y="643440"/>
                </a:lnTo>
                <a:lnTo>
                  <a:pt x="1137629" y="650074"/>
                </a:lnTo>
                <a:lnTo>
                  <a:pt x="1149238" y="656707"/>
                </a:lnTo>
                <a:lnTo>
                  <a:pt x="1160846" y="663341"/>
                </a:lnTo>
                <a:lnTo>
                  <a:pt x="1172454" y="669974"/>
                </a:lnTo>
                <a:lnTo>
                  <a:pt x="1184063" y="676608"/>
                </a:lnTo>
                <a:lnTo>
                  <a:pt x="1195672" y="683241"/>
                </a:lnTo>
                <a:lnTo>
                  <a:pt x="1207280" y="689874"/>
                </a:lnTo>
                <a:lnTo>
                  <a:pt x="1218888" y="696508"/>
                </a:lnTo>
                <a:lnTo>
                  <a:pt x="1230497" y="703141"/>
                </a:lnTo>
                <a:lnTo>
                  <a:pt x="1242105" y="709774"/>
                </a:lnTo>
                <a:lnTo>
                  <a:pt x="1253714" y="716408"/>
                </a:lnTo>
                <a:lnTo>
                  <a:pt x="1265322" y="723041"/>
                </a:lnTo>
                <a:lnTo>
                  <a:pt x="1276931" y="729675"/>
                </a:lnTo>
                <a:lnTo>
                  <a:pt x="1288539" y="736308"/>
                </a:lnTo>
                <a:lnTo>
                  <a:pt x="1300148" y="742941"/>
                </a:lnTo>
                <a:lnTo>
                  <a:pt x="1311756" y="749575"/>
                </a:lnTo>
                <a:lnTo>
                  <a:pt x="1323364" y="756208"/>
                </a:lnTo>
                <a:lnTo>
                  <a:pt x="1334973" y="762842"/>
                </a:lnTo>
                <a:lnTo>
                  <a:pt x="1346582" y="769475"/>
                </a:lnTo>
                <a:lnTo>
                  <a:pt x="1358190" y="776109"/>
                </a:lnTo>
                <a:lnTo>
                  <a:pt x="1369798" y="782742"/>
                </a:lnTo>
                <a:lnTo>
                  <a:pt x="1381407" y="789375"/>
                </a:lnTo>
                <a:lnTo>
                  <a:pt x="1393015" y="796009"/>
                </a:lnTo>
                <a:lnTo>
                  <a:pt x="1404624" y="802642"/>
                </a:lnTo>
                <a:lnTo>
                  <a:pt x="1416232" y="809275"/>
                </a:lnTo>
                <a:lnTo>
                  <a:pt x="1427841" y="815909"/>
                </a:lnTo>
                <a:lnTo>
                  <a:pt x="1439449" y="822542"/>
                </a:lnTo>
              </a:path>
            </a:pathLst>
          </a:custGeom>
          <a:ln w="13411">
            <a:solidFill>
              <a:srgbClr val="2E7FB8">
                <a:alpha val="35000"/>
              </a:srgbClr>
            </a:solidFill>
            <a:prstDash val="sysDash"/>
          </a:ln>
        </p:spPr>
      </p:sp>
      <p:sp>
        <p:nvSpPr>
          <p:cNvPr id="17" name="Gradient shape"/>
          <p:cNvSpPr/>
          <p:nvPr/>
        </p:nvSpPr>
        <p:spPr>
          <a:xfrm>
            <a:off x="5065798" y="1759703"/>
            <a:ext cx="2324576" cy="2324576"/>
          </a:xfrm>
          <a:prstGeom prst="ellipse">
            <a:avLst/>
          </a:prstGeom>
          <a:gradFill rotWithShape="1">
            <a:gsLst>
              <a:gs pos="0">
                <a:srgbClr val="DCE4EB"/>
              </a:gs>
              <a:gs pos="100000">
                <a:srgbClr val="A3B3C1"/>
              </a:gs>
            </a:gsLst>
            <a:path path="circle">
              <a:fillToRect l="35000" t="30000" r="65000" b="70000"/>
            </a:path>
          </a:gradFill>
          <a:ln/>
          <a:effectLst>
            <a:outerShdw sx="100000" sy="100000" kx="0" ky="0" algn="bl" rotWithShape="0" blurRad="214576" dist="89407" dir="5400000">
              <a:srgbClr val="000000">
                <a:alpha val="19200"/>
              </a:srgbClr>
            </a:outerShdw>
          </a:effectLst>
        </p:spPr>
      </p:sp>
      <p:sp>
        <p:nvSpPr>
          <p:cNvPr id="18" name="Text 15"/>
          <p:cNvSpPr txBox="1"/>
          <p:nvPr/>
        </p:nvSpPr>
        <p:spPr>
          <a:xfrm>
            <a:off x="6042055" y="2598094"/>
            <a:ext cx="372061" cy="118872"/>
          </a:xfrm>
          <a:prstGeom prst="rect">
            <a:avLst/>
          </a:prstGeom>
          <a:noFill/>
          <a:ln/>
        </p:spPr>
        <p:txBody>
          <a:bodyPr wrap="none" lIns="0" tIns="0" rIns="0" bIns="0" rtlCol="0" anchor="ctr"/>
          <a:lstStyle/>
          <a:p>
            <a:pPr algn="ctr" indent="0" marL="0">
              <a:lnSpc>
                <a:spcPts val="940"/>
              </a:lnSpc>
              <a:buNone/>
            </a:pPr>
            <a:r>
              <a:rPr lang="en-US" sz="700" spc="84" kern="0" dirty="0">
                <a:solidFill>
                  <a:srgbClr val="062A44"/>
                </a:solidFill>
                <a:latin typeface="Courier New" pitchFamily="34" charset="0"/>
                <a:ea typeface="Courier New" pitchFamily="34" charset="-122"/>
                <a:cs typeface="Courier New" pitchFamily="34" charset="-120"/>
              </a:rPr>
              <a:t>LCBTH</a:t>
            </a:r>
            <a:endParaRPr lang="en-US" sz="700" dirty="0"/>
          </a:p>
        </p:txBody>
      </p:sp>
      <p:sp>
        <p:nvSpPr>
          <p:cNvPr id="19" name="Text 16"/>
          <p:cNvSpPr txBox="1"/>
          <p:nvPr/>
        </p:nvSpPr>
        <p:spPr>
          <a:xfrm>
            <a:off x="5596500" y="2764104"/>
            <a:ext cx="1263172" cy="347472"/>
          </a:xfrm>
          <a:prstGeom prst="rect">
            <a:avLst/>
          </a:prstGeom>
          <a:noFill/>
          <a:ln/>
        </p:spPr>
        <p:txBody>
          <a:bodyPr wrap="none" lIns="0" tIns="0" rIns="0" bIns="0" rtlCol="0" anchor="ctr"/>
          <a:lstStyle/>
          <a:p>
            <a:pPr algn="ctr" indent="0" marL="0">
              <a:lnSpc>
                <a:spcPts val="2740"/>
              </a:lnSpc>
              <a:buNone/>
            </a:pPr>
            <a:r>
              <a:rPr lang="en-US" sz="2110" b="1" spc="-63" kern="0" dirty="0">
                <a:solidFill>
                  <a:srgbClr val="062A44"/>
                </a:solidFill>
                <a:latin typeface="Arial" pitchFamily="34" charset="0"/>
                <a:ea typeface="Arial" pitchFamily="34" charset="-122"/>
                <a:cs typeface="Arial" pitchFamily="34" charset="-120"/>
              </a:rPr>
              <a:t>188,739 h</a:t>
            </a:r>
            <a:endParaRPr lang="en-US" sz="2110" dirty="0"/>
          </a:p>
        </p:txBody>
      </p:sp>
      <p:sp>
        <p:nvSpPr>
          <p:cNvPr id="20" name="Text 17"/>
          <p:cNvSpPr txBox="1"/>
          <p:nvPr/>
        </p:nvSpPr>
        <p:spPr>
          <a:xfrm>
            <a:off x="5816999" y="3134128"/>
            <a:ext cx="822174" cy="137160"/>
          </a:xfrm>
          <a:prstGeom prst="rect">
            <a:avLst/>
          </a:prstGeom>
          <a:noFill/>
          <a:ln/>
        </p:spPr>
        <p:txBody>
          <a:bodyPr wrap="none" lIns="0" tIns="0" rIns="0" bIns="0" rtlCol="0" anchor="ctr"/>
          <a:lstStyle/>
          <a:p>
            <a:pPr algn="ctr" indent="0" marL="0">
              <a:lnSpc>
                <a:spcPts val="1080"/>
              </a:lnSpc>
              <a:buNone/>
            </a:pPr>
            <a:r>
              <a:rPr lang="en-US" sz="840" dirty="0">
                <a:solidFill>
                  <a:srgbClr val="062A44"/>
                </a:solidFill>
                <a:latin typeface="Arial" pitchFamily="34" charset="0"/>
                <a:ea typeface="Arial" pitchFamily="34" charset="-122"/>
                <a:cs typeface="Arial" pitchFamily="34" charset="-120"/>
              </a:rPr>
              <a:t>69.5% of hours</a:t>
            </a:r>
            <a:endParaRPr lang="en-US" sz="840" dirty="0"/>
          </a:p>
        </p:txBody>
      </p:sp>
      <p:sp>
        <p:nvSpPr>
          <p:cNvPr id="21" name="Gradient shape"/>
          <p:cNvSpPr/>
          <p:nvPr/>
        </p:nvSpPr>
        <p:spPr>
          <a:xfrm>
            <a:off x="7113213" y="1259025"/>
            <a:ext cx="1251695" cy="1251695"/>
          </a:xfrm>
          <a:prstGeom prst="ellipse">
            <a:avLst/>
          </a:prstGeom>
          <a:gradFill rotWithShape="1">
            <a:gsLst>
              <a:gs pos="0">
                <a:srgbClr val="C6E27A"/>
              </a:gs>
              <a:gs pos="100000">
                <a:srgbClr val="8DB51A"/>
              </a:gs>
            </a:gsLst>
            <a:path path="circle">
              <a:fillToRect l="35000" t="30000" r="65000" b="70000"/>
            </a:path>
          </a:gradFill>
          <a:ln/>
          <a:effectLst>
            <a:outerShdw sx="100000" sy="100000" kx="0" ky="0" algn="bl" rotWithShape="0" blurRad="214576" dist="89407" dir="5400000">
              <a:srgbClr val="000000">
                <a:alpha val="19200"/>
              </a:srgbClr>
            </a:outerShdw>
          </a:effectLst>
        </p:spPr>
      </p:sp>
      <p:sp>
        <p:nvSpPr>
          <p:cNvPr id="22" name="Text 19"/>
          <p:cNvSpPr txBox="1"/>
          <p:nvPr/>
        </p:nvSpPr>
        <p:spPr>
          <a:xfrm>
            <a:off x="7553030" y="1668263"/>
            <a:ext cx="372061" cy="118872"/>
          </a:xfrm>
          <a:prstGeom prst="rect">
            <a:avLst/>
          </a:prstGeom>
          <a:noFill/>
          <a:ln/>
        </p:spPr>
        <p:txBody>
          <a:bodyPr wrap="none" lIns="0" tIns="0" rIns="0" bIns="0" rtlCol="0" anchor="ctr"/>
          <a:lstStyle/>
          <a:p>
            <a:pPr algn="ctr" indent="0" marL="0">
              <a:lnSpc>
                <a:spcPts val="940"/>
              </a:lnSpc>
              <a:buNone/>
            </a:pPr>
            <a:r>
              <a:rPr lang="en-US" sz="700" spc="84" kern="0" dirty="0">
                <a:solidFill>
                  <a:srgbClr val="062A44"/>
                </a:solidFill>
                <a:latin typeface="Courier New" pitchFamily="34" charset="0"/>
                <a:ea typeface="Courier New" pitchFamily="34" charset="-122"/>
                <a:cs typeface="Courier New" pitchFamily="34" charset="-120"/>
              </a:rPr>
              <a:t>BANGN</a:t>
            </a:r>
            <a:endParaRPr lang="en-US" sz="700" dirty="0"/>
          </a:p>
        </p:txBody>
      </p:sp>
      <p:sp>
        <p:nvSpPr>
          <p:cNvPr id="23" name="Text 20"/>
          <p:cNvSpPr txBox="1"/>
          <p:nvPr/>
        </p:nvSpPr>
        <p:spPr>
          <a:xfrm>
            <a:off x="7386202" y="1783069"/>
            <a:ext cx="705717" cy="201168"/>
          </a:xfrm>
          <a:prstGeom prst="rect">
            <a:avLst/>
          </a:prstGeom>
          <a:noFill/>
          <a:ln/>
        </p:spPr>
        <p:txBody>
          <a:bodyPr wrap="none" lIns="0" tIns="0" rIns="0" bIns="0" rtlCol="0" anchor="ctr"/>
          <a:lstStyle/>
          <a:p>
            <a:pPr algn="ctr" indent="0" marL="0">
              <a:lnSpc>
                <a:spcPts val="1580"/>
              </a:lnSpc>
              <a:buNone/>
            </a:pPr>
            <a:r>
              <a:rPr lang="en-US" sz="1200" b="1" spc="-24" kern="0" dirty="0">
                <a:solidFill>
                  <a:srgbClr val="062A44"/>
                </a:solidFill>
                <a:latin typeface="Arial" pitchFamily="34" charset="0"/>
                <a:ea typeface="Arial" pitchFamily="34" charset="-122"/>
                <a:cs typeface="Arial" pitchFamily="34" charset="-120"/>
              </a:rPr>
              <a:t>54,235 h</a:t>
            </a:r>
            <a:endParaRPr lang="en-US" sz="1200" dirty="0"/>
          </a:p>
        </p:txBody>
      </p:sp>
      <p:sp>
        <p:nvSpPr>
          <p:cNvPr id="24" name="Text 21"/>
          <p:cNvSpPr txBox="1"/>
          <p:nvPr/>
        </p:nvSpPr>
        <p:spPr>
          <a:xfrm>
            <a:off x="7556173" y="1989721"/>
            <a:ext cx="365774" cy="137160"/>
          </a:xfrm>
          <a:prstGeom prst="rect">
            <a:avLst/>
          </a:prstGeom>
          <a:noFill/>
          <a:ln/>
        </p:spPr>
        <p:txBody>
          <a:bodyPr wrap="none" lIns="0" tIns="0" rIns="0" bIns="0" rtlCol="0" anchor="ctr"/>
          <a:lstStyle/>
          <a:p>
            <a:pPr algn="ctr" indent="0" marL="0">
              <a:lnSpc>
                <a:spcPts val="1080"/>
              </a:lnSpc>
              <a:buNone/>
            </a:pPr>
            <a:r>
              <a:rPr lang="en-US" sz="840" dirty="0">
                <a:solidFill>
                  <a:srgbClr val="062A44"/>
                </a:solidFill>
                <a:latin typeface="Arial" pitchFamily="34" charset="0"/>
                <a:ea typeface="Arial" pitchFamily="34" charset="-122"/>
                <a:cs typeface="Arial" pitchFamily="34" charset="-120"/>
              </a:rPr>
              <a:t>20.0%</a:t>
            </a:r>
            <a:endParaRPr lang="en-US" sz="840" dirty="0"/>
          </a:p>
        </p:txBody>
      </p:sp>
      <p:sp>
        <p:nvSpPr>
          <p:cNvPr id="25" name="Gradient shape"/>
          <p:cNvSpPr/>
          <p:nvPr/>
        </p:nvSpPr>
        <p:spPr>
          <a:xfrm>
            <a:off x="7211561" y="3288559"/>
            <a:ext cx="911949" cy="911949"/>
          </a:xfrm>
          <a:prstGeom prst="ellipse">
            <a:avLst/>
          </a:prstGeom>
          <a:gradFill rotWithShape="1">
            <a:gsLst>
              <a:gs pos="0">
                <a:srgbClr val="2A6491"/>
              </a:gs>
              <a:gs pos="100000">
                <a:srgbClr val="0B3A5C"/>
              </a:gs>
            </a:gsLst>
            <a:path path="circle">
              <a:fillToRect l="35000" t="30000" r="65000" b="70000"/>
            </a:path>
          </a:gradFill>
          <a:ln/>
          <a:effectLst>
            <a:outerShdw sx="100000" sy="100000" kx="0" ky="0" algn="bl" rotWithShape="0" blurRad="214576" dist="89407" dir="5400000">
              <a:srgbClr val="000000">
                <a:alpha val="19200"/>
              </a:srgbClr>
            </a:outerShdw>
          </a:effectLst>
        </p:spPr>
      </p:sp>
      <p:sp>
        <p:nvSpPr>
          <p:cNvPr id="26" name="Text 23"/>
          <p:cNvSpPr txBox="1"/>
          <p:nvPr/>
        </p:nvSpPr>
        <p:spPr>
          <a:xfrm>
            <a:off x="7481505" y="3527924"/>
            <a:ext cx="372061" cy="118872"/>
          </a:xfrm>
          <a:prstGeom prst="rect">
            <a:avLst/>
          </a:prstGeom>
          <a:noFill/>
          <a:ln/>
        </p:spPr>
        <p:txBody>
          <a:bodyPr wrap="none" lIns="0" tIns="0" rIns="0" bIns="0" rtlCol="0" anchor="ctr"/>
          <a:lstStyle/>
          <a:p>
            <a:pPr algn="ctr" indent="0" marL="0">
              <a:lnSpc>
                <a:spcPts val="940"/>
              </a:lnSpc>
              <a:buNone/>
            </a:pPr>
            <a:r>
              <a:rPr lang="en-US" sz="700" spc="84" kern="0" dirty="0">
                <a:solidFill>
                  <a:srgbClr val="FFFFFF"/>
                </a:solidFill>
                <a:latin typeface="Courier New" pitchFamily="34" charset="0"/>
                <a:ea typeface="Courier New" pitchFamily="34" charset="-122"/>
                <a:cs typeface="Courier New" pitchFamily="34" charset="-120"/>
              </a:rPr>
              <a:t>AMATA</a:t>
            </a:r>
            <a:endParaRPr lang="en-US" sz="700" dirty="0"/>
          </a:p>
        </p:txBody>
      </p:sp>
      <p:sp>
        <p:nvSpPr>
          <p:cNvPr id="27" name="Text 24"/>
          <p:cNvSpPr txBox="1"/>
          <p:nvPr/>
        </p:nvSpPr>
        <p:spPr>
          <a:xfrm>
            <a:off x="7327171" y="3642730"/>
            <a:ext cx="680728" cy="201168"/>
          </a:xfrm>
          <a:prstGeom prst="rect">
            <a:avLst/>
          </a:prstGeom>
          <a:noFill/>
          <a:ln/>
        </p:spPr>
        <p:txBody>
          <a:bodyPr wrap="none" lIns="0" tIns="0" rIns="0" bIns="0" rtlCol="0" anchor="ctr"/>
          <a:lstStyle/>
          <a:p>
            <a:pPr algn="ctr" indent="0" marL="0">
              <a:lnSpc>
                <a:spcPts val="1580"/>
              </a:lnSpc>
              <a:buNone/>
            </a:pPr>
            <a:r>
              <a:rPr lang="en-US" sz="1200" b="1" spc="-24" kern="0" dirty="0">
                <a:solidFill>
                  <a:srgbClr val="FFFFFF"/>
                </a:solidFill>
                <a:latin typeface="Arial" pitchFamily="34" charset="0"/>
                <a:ea typeface="Arial" pitchFamily="34" charset="-122"/>
                <a:cs typeface="Arial" pitchFamily="34" charset="-120"/>
              </a:rPr>
              <a:t>28,687 h</a:t>
            </a:r>
            <a:endParaRPr lang="en-US" sz="1200" dirty="0"/>
          </a:p>
        </p:txBody>
      </p:sp>
      <p:sp>
        <p:nvSpPr>
          <p:cNvPr id="28" name="Text 25"/>
          <p:cNvSpPr txBox="1"/>
          <p:nvPr/>
        </p:nvSpPr>
        <p:spPr>
          <a:xfrm>
            <a:off x="7503193" y="3849382"/>
            <a:ext cx="328684" cy="137160"/>
          </a:xfrm>
          <a:prstGeom prst="rect">
            <a:avLst/>
          </a:prstGeom>
          <a:noFill/>
          <a:ln/>
        </p:spPr>
        <p:txBody>
          <a:bodyPr wrap="none" lIns="0" tIns="0" rIns="0" bIns="0" rtlCol="0" anchor="ctr"/>
          <a:lstStyle/>
          <a:p>
            <a:pPr algn="ctr" indent="0" marL="0">
              <a:lnSpc>
                <a:spcPts val="1080"/>
              </a:lnSpc>
              <a:buNone/>
            </a:pPr>
            <a:r>
              <a:rPr lang="en-US" sz="840" dirty="0">
                <a:solidFill>
                  <a:srgbClr val="FFFFFF"/>
                </a:solidFill>
                <a:latin typeface="Arial" pitchFamily="34" charset="0"/>
                <a:ea typeface="Arial" pitchFamily="34" charset="-122"/>
                <a:cs typeface="Arial" pitchFamily="34" charset="-120"/>
              </a:rPr>
              <a:t>10.6%</a:t>
            </a:r>
            <a:endParaRPr lang="en-US" sz="840" dirty="0"/>
          </a:p>
        </p:txBody>
      </p:sp>
      <p:sp>
        <p:nvSpPr>
          <p:cNvPr id="29" name="Text 26"/>
          <p:cNvSpPr txBox="1"/>
          <p:nvPr/>
        </p:nvSpPr>
        <p:spPr>
          <a:xfrm>
            <a:off x="4842281" y="4368348"/>
            <a:ext cx="867280" cy="118872"/>
          </a:xfrm>
          <a:prstGeom prst="rect">
            <a:avLst/>
          </a:prstGeom>
          <a:noFill/>
          <a:ln/>
        </p:spPr>
        <p:txBody>
          <a:bodyPr wrap="none" lIns="0" tIns="0" rIns="0" bIns="0" rtlCol="0" anchor="ctr"/>
          <a:lstStyle/>
          <a:p>
            <a:pPr algn="l" indent="0" marL="0">
              <a:lnSpc>
                <a:spcPts val="940"/>
              </a:lnSpc>
              <a:buNone/>
            </a:pPr>
            <a:r>
              <a:rPr lang="en-US" sz="700" spc="84" kern="0" dirty="0">
                <a:solidFill>
                  <a:srgbClr val="2E7FB8"/>
                </a:solidFill>
                <a:latin typeface="Courier New" pitchFamily="34" charset="0"/>
                <a:ea typeface="Courier New" pitchFamily="34" charset="-122"/>
                <a:cs typeface="Courier New" pitchFamily="34" charset="-120"/>
              </a:rPr>
              <a:t>JAN–SEP 2026</a:t>
            </a:r>
            <a:endParaRPr lang="en-US" sz="700" dirty="0"/>
          </a:p>
        </p:txBody>
      </p:sp>
      <p:sp>
        <p:nvSpPr>
          <p:cNvPr id="30" name="Text 27"/>
          <p:cNvSpPr txBox="1"/>
          <p:nvPr/>
        </p:nvSpPr>
        <p:spPr>
          <a:xfrm>
            <a:off x="5718468" y="4350060"/>
            <a:ext cx="2070673" cy="137161"/>
          </a:xfrm>
          <a:prstGeom prst="rect">
            <a:avLst/>
          </a:prstGeom>
          <a:noFill/>
          <a:ln/>
        </p:spPr>
        <p:txBody>
          <a:bodyPr wrap="none" lIns="0" tIns="0" rIns="0" bIns="0" rtlCol="0" anchor="ctr"/>
          <a:lstStyle/>
          <a:p>
            <a:pPr algn="l" indent="0" marL="0">
              <a:lnSpc>
                <a:spcPts val="1080"/>
              </a:lnSpc>
              <a:buNone/>
            </a:pPr>
            <a:r>
              <a:rPr lang="en-US" sz="840" dirty="0">
                <a:solidFill>
                  <a:srgbClr val="5A6E7E"/>
                </a:solidFill>
                <a:latin typeface="Arial" pitchFamily="34" charset="0"/>
                <a:ea typeface="Arial" pitchFamily="34" charset="-122"/>
                <a:cs typeface="Arial" pitchFamily="34" charset="-120"/>
              </a:rPr>
              <a:t>271.7k service hours across three sites</a:t>
            </a:r>
            <a:endParaRPr lang="en-US" sz="840" dirty="0"/>
          </a:p>
        </p:txBody>
      </p:sp>
    </p:spTree>
  </p:cSld>
  <p:clrMapOvr>
    <a:masterClrMapping/>
  </p:clrMapOvr>
  <p:transition spd="med">
    <p:push dir="r"/>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859265"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PERFORMANCE</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5770750" cy="400089"/>
          </a:xfrm>
          <a:prstGeom prst="rect">
            <a:avLst/>
          </a:prstGeom>
          <a:noFill/>
          <a:ln/>
        </p:spPr>
        <p:txBody>
          <a:bodyPr wrap="non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September set a record</a:t>
            </a:r>
            <a:pPr algn="l" indent="0" marL="0">
              <a:lnSpc>
                <a:spcPts val="2420"/>
              </a:lnSpc>
              <a:buNone/>
            </a:pPr>
            <a:r>
              <a:rPr lang="en-US" sz="2380" b="1" spc="-119" kern="0" dirty="0">
                <a:solidFill>
                  <a:srgbClr val="0D3F63"/>
                </a:solidFill>
                <a:latin typeface="Arial" pitchFamily="34" charset="0"/>
                <a:ea typeface="Arial" pitchFamily="34" charset="-122"/>
                <a:cs typeface="Arial" pitchFamily="34" charset="-120"/>
              </a:rPr>
              <a:t> a</a:t>
            </a:r>
            <a:pPr algn="l" indent="0" marL="0">
              <a:lnSpc>
                <a:spcPts val="2420"/>
              </a:lnSpc>
              <a:buNone/>
            </a:pPr>
            <a:r>
              <a:rPr lang="en-US" sz="2380" b="1" spc="-119" kern="0" dirty="0">
                <a:solidFill>
                  <a:srgbClr val="12476D"/>
                </a:solidFill>
                <a:latin typeface="Arial" pitchFamily="34" charset="0"/>
                <a:ea typeface="Arial" pitchFamily="34" charset="-122"/>
                <a:cs typeface="Arial" pitchFamily="34" charset="-120"/>
              </a:rPr>
              <a:t>f</a:t>
            </a:r>
            <a:pPr algn="l" indent="0" marL="0">
              <a:lnSpc>
                <a:spcPts val="2420"/>
              </a:lnSpc>
              <a:buNone/>
            </a:pPr>
            <a:r>
              <a:rPr lang="en-US" sz="2380" b="1" spc="-119" kern="0" dirty="0">
                <a:solidFill>
                  <a:srgbClr val="154E76"/>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195681"/>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1E5E8D"/>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23699A"/>
                </a:solidFill>
                <a:latin typeface="Arial" pitchFamily="34" charset="0"/>
                <a:ea typeface="Arial" pitchFamily="34" charset="-122"/>
                <a:cs typeface="Arial" pitchFamily="34" charset="-120"/>
              </a:rPr>
              <a:t> t</a:t>
            </a:r>
            <a:pPr algn="l" indent="0" marL="0">
              <a:lnSpc>
                <a:spcPts val="2420"/>
              </a:lnSpc>
              <a:buNone/>
            </a:pPr>
            <a:r>
              <a:rPr lang="en-US" sz="2380" b="1" spc="-119" kern="0" dirty="0">
                <a:solidFill>
                  <a:srgbClr val="2771A6"/>
                </a:solidFill>
                <a:latin typeface="Arial" pitchFamily="34" charset="0"/>
                <a:ea typeface="Arial" pitchFamily="34" charset="-122"/>
                <a:cs typeface="Arial" pitchFamily="34" charset="-120"/>
              </a:rPr>
              <a:t>h</a:t>
            </a:r>
            <a:pPr algn="l" indent="0" marL="0">
              <a:lnSpc>
                <a:spcPts val="2420"/>
              </a:lnSpc>
              <a:buNone/>
            </a:pPr>
            <a:r>
              <a:rPr lang="en-US" sz="2380" b="1" spc="-119" kern="0" dirty="0">
                <a:solidFill>
                  <a:srgbClr val="2C7BB3"/>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3A85A1"/>
                </a:solidFill>
                <a:latin typeface="Arial" pitchFamily="34" charset="0"/>
                <a:ea typeface="Arial" pitchFamily="34" charset="-122"/>
                <a:cs typeface="Arial" pitchFamily="34" charset="-120"/>
              </a:rPr>
              <a:t> A</a:t>
            </a:r>
            <a:pPr algn="l" indent="0" marL="0">
              <a:lnSpc>
                <a:spcPts val="2420"/>
              </a:lnSpc>
              <a:buNone/>
            </a:pPr>
            <a:r>
              <a:rPr lang="en-US" sz="2380" b="1" spc="-119" kern="0" dirty="0">
                <a:solidFill>
                  <a:srgbClr val="468B89"/>
                </a:solidFill>
                <a:latin typeface="Arial" pitchFamily="34" charset="0"/>
                <a:ea typeface="Arial" pitchFamily="34" charset="-122"/>
                <a:cs typeface="Arial" pitchFamily="34" charset="-120"/>
              </a:rPr>
              <a:t>p</a:t>
            </a:r>
            <a:pPr algn="l" indent="0" marL="0">
              <a:lnSpc>
                <a:spcPts val="2420"/>
              </a:lnSpc>
              <a:buNone/>
            </a:pPr>
            <a:r>
              <a:rPr lang="en-US" sz="2380" b="1" spc="-119" kern="0" dirty="0">
                <a:solidFill>
                  <a:srgbClr val="4F9077"/>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55936C"/>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5A9563"/>
                </a:solidFill>
                <a:latin typeface="Arial" pitchFamily="34" charset="0"/>
                <a:ea typeface="Arial" pitchFamily="34" charset="-122"/>
                <a:cs typeface="Arial" pitchFamily="34" charset="-120"/>
              </a:rPr>
              <a:t>l</a:t>
            </a:r>
            <a:pPr algn="l" indent="0" marL="0">
              <a:lnSpc>
                <a:spcPts val="2420"/>
              </a:lnSpc>
              <a:buNone/>
            </a:pPr>
            <a:r>
              <a:rPr lang="en-US" sz="2380" b="1" spc="-119" kern="0" dirty="0">
                <a:solidFill>
                  <a:srgbClr val="669B4C"/>
                </a:solidFill>
                <a:latin typeface="Arial" pitchFamily="34" charset="0"/>
                <a:ea typeface="Arial" pitchFamily="34" charset="-122"/>
                <a:cs typeface="Arial" pitchFamily="34" charset="-120"/>
              </a:rPr>
              <a:t> d</a:t>
            </a:r>
            <a:pPr algn="l" indent="0" marL="0">
              <a:lnSpc>
                <a:spcPts val="2420"/>
              </a:lnSpc>
              <a:buNone/>
            </a:pPr>
            <a:r>
              <a:rPr lang="en-US" sz="2380" b="1" spc="-119" kern="0" dirty="0">
                <a:solidFill>
                  <a:srgbClr val="6D9F3C"/>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76A32C"/>
                </a:solidFill>
                <a:latin typeface="Arial" pitchFamily="34" charset="0"/>
                <a:ea typeface="Arial" pitchFamily="34" charset="-122"/>
                <a:cs typeface="Arial" pitchFamily="34" charset="-120"/>
              </a:rPr>
              <a:t>p</a:t>
            </a:r>
            <a:pPr algn="l" indent="0" marL="0">
              <a:lnSpc>
                <a:spcPts val="2420"/>
              </a:lnSpc>
              <a:buNone/>
            </a:pPr>
            <a:r>
              <a:rPr lang="en-US" sz="2380" b="1" spc="-119" kern="0" dirty="0">
                <a:solidFill>
                  <a:srgbClr val="7DA71D"/>
                </a:solidFill>
                <a:latin typeface="Arial" pitchFamily="34" charset="0"/>
                <a:ea typeface="Arial" pitchFamily="34" charset="-122"/>
                <a:cs typeface="Arial" pitchFamily="34" charset="-120"/>
              </a:rPr>
              <a:t>.</a:t>
            </a:r>
            <a:endParaRPr lang="en-US" sz="2380" dirty="0"/>
          </a:p>
        </p:txBody>
      </p:sp>
      <p:sp>
        <p:nvSpPr>
          <p:cNvPr id="7" name="Shape 4"/>
          <p:cNvSpPr/>
          <p:nvPr/>
        </p:nvSpPr>
        <p:spPr>
          <a:xfrm>
            <a:off x="457200" y="1920240"/>
            <a:ext cx="5394960" cy="3101673"/>
          </a:xfrm>
          <a:prstGeom prst="roundRect">
            <a:avLst>
              <a:gd name="adj" fmla="val 4717"/>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8" name="Text 5"/>
          <p:cNvSpPr txBox="1"/>
          <p:nvPr/>
        </p:nvSpPr>
        <p:spPr>
          <a:xfrm>
            <a:off x="603504" y="2048256"/>
            <a:ext cx="1706370" cy="221045"/>
          </a:xfrm>
          <a:prstGeom prst="rect">
            <a:avLst/>
          </a:prstGeom>
          <a:noFill/>
          <a:ln/>
        </p:spPr>
        <p:txBody>
          <a:bodyPr wrap="none" lIns="0" tIns="0" rIns="0" bIns="0" rtlCol="0" anchor="t"/>
          <a:lstStyle/>
          <a:p>
            <a:pPr algn="l" indent="0" marL="0">
              <a:lnSpc>
                <a:spcPts val="1340"/>
              </a:lnSpc>
              <a:buNone/>
            </a:pPr>
            <a:r>
              <a:rPr lang="en-US" sz="860" b="1" dirty="0">
                <a:solidFill>
                  <a:srgbClr val="062A44"/>
                </a:solidFill>
                <a:latin typeface="Arial" pitchFamily="34" charset="0"/>
                <a:ea typeface="Arial" pitchFamily="34" charset="-122"/>
                <a:cs typeface="Arial" pitchFamily="34" charset="-120"/>
              </a:rPr>
              <a:t>Monthly service hours by site</a:t>
            </a:r>
            <a:endParaRPr lang="en-US" sz="860" dirty="0"/>
          </a:p>
        </p:txBody>
      </p:sp>
      <p:sp>
        <p:nvSpPr>
          <p:cNvPr id="9" name="Text 6"/>
          <p:cNvSpPr txBox="1"/>
          <p:nvPr/>
        </p:nvSpPr>
        <p:spPr>
          <a:xfrm>
            <a:off x="4296108" y="2062401"/>
            <a:ext cx="331199"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LCBTH</a:t>
            </a:r>
            <a:endParaRPr lang="en-US" sz="720" dirty="0"/>
          </a:p>
        </p:txBody>
      </p:sp>
      <p:sp>
        <p:nvSpPr>
          <p:cNvPr id="10" name="Shape 7"/>
          <p:cNvSpPr/>
          <p:nvPr/>
        </p:nvSpPr>
        <p:spPr>
          <a:xfrm>
            <a:off x="4168092" y="2092119"/>
            <a:ext cx="82296" cy="82296"/>
          </a:xfrm>
          <a:prstGeom prst="roundRect">
            <a:avLst>
              <a:gd name="adj" fmla="val 27778"/>
            </a:avLst>
          </a:prstGeom>
          <a:solidFill>
            <a:srgbClr val="A3B3C1"/>
          </a:solidFill>
          <a:ln/>
        </p:spPr>
      </p:sp>
      <p:sp>
        <p:nvSpPr>
          <p:cNvPr id="11" name="Text 8"/>
          <p:cNvSpPr txBox="1"/>
          <p:nvPr/>
        </p:nvSpPr>
        <p:spPr>
          <a:xfrm>
            <a:off x="4836605" y="2062401"/>
            <a:ext cx="368603"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BANGN</a:t>
            </a:r>
            <a:endParaRPr lang="en-US" sz="720" dirty="0"/>
          </a:p>
        </p:txBody>
      </p:sp>
      <p:sp>
        <p:nvSpPr>
          <p:cNvPr id="12" name="Shape 9"/>
          <p:cNvSpPr/>
          <p:nvPr/>
        </p:nvSpPr>
        <p:spPr>
          <a:xfrm>
            <a:off x="4708589" y="2092119"/>
            <a:ext cx="82296" cy="82296"/>
          </a:xfrm>
          <a:prstGeom prst="roundRect">
            <a:avLst>
              <a:gd name="adj" fmla="val 27778"/>
            </a:avLst>
          </a:prstGeom>
          <a:solidFill>
            <a:srgbClr val="97C21D"/>
          </a:solidFill>
          <a:ln/>
        </p:spPr>
      </p:sp>
      <p:sp>
        <p:nvSpPr>
          <p:cNvPr id="13" name="Text 10"/>
          <p:cNvSpPr txBox="1"/>
          <p:nvPr/>
        </p:nvSpPr>
        <p:spPr>
          <a:xfrm>
            <a:off x="5411105" y="2062401"/>
            <a:ext cx="342514"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AMATA</a:t>
            </a:r>
            <a:endParaRPr lang="en-US" sz="720" dirty="0"/>
          </a:p>
        </p:txBody>
      </p:sp>
      <p:sp>
        <p:nvSpPr>
          <p:cNvPr id="14" name="Shape 11"/>
          <p:cNvSpPr/>
          <p:nvPr/>
        </p:nvSpPr>
        <p:spPr>
          <a:xfrm>
            <a:off x="5283089" y="2092119"/>
            <a:ext cx="82296" cy="82296"/>
          </a:xfrm>
          <a:prstGeom prst="roundRect">
            <a:avLst>
              <a:gd name="adj" fmla="val 27778"/>
            </a:avLst>
          </a:prstGeom>
          <a:solidFill>
            <a:srgbClr val="0B3A5C"/>
          </a:solidFill>
          <a:ln/>
        </p:spPr>
      </p:sp>
      <p:sp>
        <p:nvSpPr>
          <p:cNvPr id="15" name="Shape 12"/>
          <p:cNvSpPr/>
          <p:nvPr/>
        </p:nvSpPr>
        <p:spPr>
          <a:xfrm>
            <a:off x="990664" y="4577906"/>
            <a:ext cx="4644718" cy="0"/>
          </a:xfrm>
          <a:prstGeom prst="line">
            <a:avLst/>
          </a:prstGeom>
          <a:noFill/>
          <a:ln w="8797">
            <a:solidFill>
              <a:srgbClr val="062A44">
                <a:alpha val="16000"/>
              </a:srgbClr>
            </a:solidFill>
            <a:prstDash val="solid"/>
          </a:ln>
        </p:spPr>
      </p:sp>
      <p:sp>
        <p:nvSpPr>
          <p:cNvPr id="16" name="Text 13"/>
          <p:cNvSpPr txBox="1"/>
          <p:nvPr/>
        </p:nvSpPr>
        <p:spPr>
          <a:xfrm>
            <a:off x="774667" y="4517255"/>
            <a:ext cx="145950" cy="118872"/>
          </a:xfrm>
          <a:prstGeom prst="rect">
            <a:avLst/>
          </a:prstGeom>
          <a:noFill/>
          <a:ln/>
        </p:spPr>
        <p:txBody>
          <a:bodyPr wrap="none" lIns="0" tIns="0" rIns="0" bIns="0" rtlCol="0" anchor="ctr"/>
          <a:lstStyle/>
          <a:p>
            <a:pPr algn="r" indent="0" marL="0">
              <a:lnSpc>
                <a:spcPts val="940"/>
              </a:lnSpc>
              <a:buNone/>
            </a:pPr>
            <a:r>
              <a:rPr lang="en-US" sz="730" dirty="0">
                <a:solidFill>
                  <a:srgbClr val="6B7F8E"/>
                </a:solidFill>
                <a:latin typeface="Arial" pitchFamily="34" charset="0"/>
                <a:ea typeface="Arial" pitchFamily="34" charset="-122"/>
                <a:cs typeface="Arial" pitchFamily="34" charset="-120"/>
              </a:rPr>
              <a:t>0k</a:t>
            </a:r>
            <a:endParaRPr lang="en-US" sz="730" dirty="0"/>
          </a:p>
        </p:txBody>
      </p:sp>
      <p:sp>
        <p:nvSpPr>
          <p:cNvPr id="17" name="Shape 14"/>
          <p:cNvSpPr/>
          <p:nvPr/>
        </p:nvSpPr>
        <p:spPr>
          <a:xfrm>
            <a:off x="990664" y="4058894"/>
            <a:ext cx="4644718" cy="0"/>
          </a:xfrm>
          <a:prstGeom prst="line">
            <a:avLst/>
          </a:prstGeom>
          <a:noFill/>
          <a:ln w="8797">
            <a:solidFill>
              <a:srgbClr val="062A44">
                <a:alpha val="7000"/>
              </a:srgbClr>
            </a:solidFill>
            <a:prstDash val="solid"/>
          </a:ln>
        </p:spPr>
      </p:sp>
      <p:sp>
        <p:nvSpPr>
          <p:cNvPr id="18" name="Text 15"/>
          <p:cNvSpPr txBox="1"/>
          <p:nvPr/>
        </p:nvSpPr>
        <p:spPr>
          <a:xfrm>
            <a:off x="736639" y="3998243"/>
            <a:ext cx="183921" cy="118872"/>
          </a:xfrm>
          <a:prstGeom prst="rect">
            <a:avLst/>
          </a:prstGeom>
          <a:noFill/>
          <a:ln/>
        </p:spPr>
        <p:txBody>
          <a:bodyPr wrap="none" lIns="0" tIns="0" rIns="0" bIns="0" rtlCol="0" anchor="ctr"/>
          <a:lstStyle/>
          <a:p>
            <a:pPr algn="r" indent="0" marL="0">
              <a:lnSpc>
                <a:spcPts val="940"/>
              </a:lnSpc>
              <a:buNone/>
            </a:pPr>
            <a:r>
              <a:rPr lang="en-US" sz="730" dirty="0">
                <a:solidFill>
                  <a:srgbClr val="6B7F8E"/>
                </a:solidFill>
                <a:latin typeface="Arial" pitchFamily="34" charset="0"/>
                <a:ea typeface="Arial" pitchFamily="34" charset="-122"/>
                <a:cs typeface="Arial" pitchFamily="34" charset="-120"/>
              </a:rPr>
              <a:t>10k</a:t>
            </a:r>
            <a:endParaRPr lang="en-US" sz="730" dirty="0"/>
          </a:p>
        </p:txBody>
      </p:sp>
      <p:sp>
        <p:nvSpPr>
          <p:cNvPr id="19" name="Shape 16"/>
          <p:cNvSpPr/>
          <p:nvPr/>
        </p:nvSpPr>
        <p:spPr>
          <a:xfrm>
            <a:off x="990664" y="3539882"/>
            <a:ext cx="4644718" cy="0"/>
          </a:xfrm>
          <a:prstGeom prst="line">
            <a:avLst/>
          </a:prstGeom>
          <a:noFill/>
          <a:ln w="8797">
            <a:solidFill>
              <a:srgbClr val="062A44">
                <a:alpha val="7000"/>
              </a:srgbClr>
            </a:solidFill>
            <a:prstDash val="solid"/>
          </a:ln>
        </p:spPr>
      </p:sp>
      <p:sp>
        <p:nvSpPr>
          <p:cNvPr id="20" name="Text 17"/>
          <p:cNvSpPr txBox="1"/>
          <p:nvPr/>
        </p:nvSpPr>
        <p:spPr>
          <a:xfrm>
            <a:off x="711804" y="3479232"/>
            <a:ext cx="208795" cy="118872"/>
          </a:xfrm>
          <a:prstGeom prst="rect">
            <a:avLst/>
          </a:prstGeom>
          <a:noFill/>
          <a:ln/>
        </p:spPr>
        <p:txBody>
          <a:bodyPr wrap="none" lIns="0" tIns="0" rIns="0" bIns="0" rtlCol="0" anchor="ctr"/>
          <a:lstStyle/>
          <a:p>
            <a:pPr algn="r" indent="0" marL="0">
              <a:lnSpc>
                <a:spcPts val="940"/>
              </a:lnSpc>
              <a:buNone/>
            </a:pPr>
            <a:r>
              <a:rPr lang="en-US" sz="730" dirty="0">
                <a:solidFill>
                  <a:srgbClr val="6B7F8E"/>
                </a:solidFill>
                <a:latin typeface="Arial" pitchFamily="34" charset="0"/>
                <a:ea typeface="Arial" pitchFamily="34" charset="-122"/>
                <a:cs typeface="Arial" pitchFamily="34" charset="-120"/>
              </a:rPr>
              <a:t>20k</a:t>
            </a:r>
            <a:endParaRPr lang="en-US" sz="730" dirty="0"/>
          </a:p>
        </p:txBody>
      </p:sp>
      <p:sp>
        <p:nvSpPr>
          <p:cNvPr id="21" name="Shape 18"/>
          <p:cNvSpPr/>
          <p:nvPr/>
        </p:nvSpPr>
        <p:spPr>
          <a:xfrm>
            <a:off x="990664" y="3020870"/>
            <a:ext cx="4644718" cy="0"/>
          </a:xfrm>
          <a:prstGeom prst="line">
            <a:avLst/>
          </a:prstGeom>
          <a:noFill/>
          <a:ln w="8797">
            <a:solidFill>
              <a:srgbClr val="062A44">
                <a:alpha val="7000"/>
              </a:srgbClr>
            </a:solidFill>
            <a:prstDash val="solid"/>
          </a:ln>
        </p:spPr>
      </p:sp>
      <p:sp>
        <p:nvSpPr>
          <p:cNvPr id="22" name="Text 19"/>
          <p:cNvSpPr txBox="1"/>
          <p:nvPr/>
        </p:nvSpPr>
        <p:spPr>
          <a:xfrm>
            <a:off x="712431" y="2960219"/>
            <a:ext cx="208186" cy="118872"/>
          </a:xfrm>
          <a:prstGeom prst="rect">
            <a:avLst/>
          </a:prstGeom>
          <a:noFill/>
          <a:ln/>
        </p:spPr>
        <p:txBody>
          <a:bodyPr wrap="none" lIns="0" tIns="0" rIns="0" bIns="0" rtlCol="0" anchor="ctr"/>
          <a:lstStyle/>
          <a:p>
            <a:pPr algn="r" indent="0" marL="0">
              <a:lnSpc>
                <a:spcPts val="940"/>
              </a:lnSpc>
              <a:buNone/>
            </a:pPr>
            <a:r>
              <a:rPr lang="en-US" sz="730" dirty="0">
                <a:solidFill>
                  <a:srgbClr val="6B7F8E"/>
                </a:solidFill>
                <a:latin typeface="Arial" pitchFamily="34" charset="0"/>
                <a:ea typeface="Arial" pitchFamily="34" charset="-122"/>
                <a:cs typeface="Arial" pitchFamily="34" charset="-120"/>
              </a:rPr>
              <a:t>30k</a:t>
            </a:r>
            <a:endParaRPr lang="en-US" sz="730" dirty="0"/>
          </a:p>
        </p:txBody>
      </p:sp>
      <p:sp>
        <p:nvSpPr>
          <p:cNvPr id="23" name="Shape 20"/>
          <p:cNvSpPr/>
          <p:nvPr/>
        </p:nvSpPr>
        <p:spPr>
          <a:xfrm>
            <a:off x="990664" y="2501858"/>
            <a:ext cx="4644718" cy="0"/>
          </a:xfrm>
          <a:prstGeom prst="line">
            <a:avLst/>
          </a:prstGeom>
          <a:noFill/>
          <a:ln w="8797">
            <a:solidFill>
              <a:srgbClr val="062A44">
                <a:alpha val="7000"/>
              </a:srgbClr>
            </a:solidFill>
            <a:prstDash val="solid"/>
          </a:ln>
        </p:spPr>
      </p:sp>
      <p:sp>
        <p:nvSpPr>
          <p:cNvPr id="24" name="Text 21"/>
          <p:cNvSpPr txBox="1"/>
          <p:nvPr/>
        </p:nvSpPr>
        <p:spPr>
          <a:xfrm>
            <a:off x="713219" y="2441207"/>
            <a:ext cx="207373" cy="118872"/>
          </a:xfrm>
          <a:prstGeom prst="rect">
            <a:avLst/>
          </a:prstGeom>
          <a:noFill/>
          <a:ln/>
        </p:spPr>
        <p:txBody>
          <a:bodyPr wrap="none" lIns="0" tIns="0" rIns="0" bIns="0" rtlCol="0" anchor="ctr"/>
          <a:lstStyle/>
          <a:p>
            <a:pPr algn="r" indent="0" marL="0">
              <a:lnSpc>
                <a:spcPts val="940"/>
              </a:lnSpc>
              <a:buNone/>
            </a:pPr>
            <a:r>
              <a:rPr lang="en-US" sz="730" dirty="0">
                <a:solidFill>
                  <a:srgbClr val="6B7F8E"/>
                </a:solidFill>
                <a:latin typeface="Arial" pitchFamily="34" charset="0"/>
                <a:ea typeface="Arial" pitchFamily="34" charset="-122"/>
                <a:cs typeface="Arial" pitchFamily="34" charset="-120"/>
              </a:rPr>
              <a:t>40k</a:t>
            </a:r>
            <a:endParaRPr lang="en-US" sz="730" dirty="0"/>
          </a:p>
        </p:txBody>
      </p:sp>
      <p:sp>
        <p:nvSpPr>
          <p:cNvPr id="25" name="Shape 22"/>
          <p:cNvSpPr/>
          <p:nvPr/>
        </p:nvSpPr>
        <p:spPr>
          <a:xfrm>
            <a:off x="1090068" y="3575070"/>
            <a:ext cx="316685" cy="994040"/>
          </a:xfrm>
          <a:prstGeom prst="rect">
            <a:avLst/>
          </a:prstGeom>
          <a:solidFill>
            <a:srgbClr val="A3B3C1"/>
          </a:solidFill>
          <a:ln/>
        </p:spPr>
      </p:sp>
      <p:sp>
        <p:nvSpPr>
          <p:cNvPr id="26" name="Shape 23"/>
          <p:cNvSpPr/>
          <p:nvPr/>
        </p:nvSpPr>
        <p:spPr>
          <a:xfrm>
            <a:off x="1090068" y="3378901"/>
            <a:ext cx="316685" cy="187372"/>
          </a:xfrm>
          <a:prstGeom prst="rect">
            <a:avLst/>
          </a:prstGeom>
          <a:solidFill>
            <a:srgbClr val="97C21D"/>
          </a:solidFill>
          <a:ln/>
        </p:spPr>
      </p:sp>
      <p:sp>
        <p:nvSpPr>
          <p:cNvPr id="27" name="Shape 24"/>
          <p:cNvSpPr/>
          <p:nvPr/>
        </p:nvSpPr>
        <p:spPr>
          <a:xfrm>
            <a:off x="1090068" y="3217919"/>
            <a:ext cx="316685" cy="152185"/>
          </a:xfrm>
          <a:prstGeom prst="rect">
            <a:avLst/>
          </a:prstGeom>
          <a:solidFill>
            <a:srgbClr val="0B3A5C"/>
          </a:solidFill>
          <a:ln/>
        </p:spPr>
      </p:sp>
      <p:sp>
        <p:nvSpPr>
          <p:cNvPr id="28" name="Text 25"/>
          <p:cNvSpPr txBox="1"/>
          <p:nvPr/>
        </p:nvSpPr>
        <p:spPr>
          <a:xfrm>
            <a:off x="1077538" y="3073698"/>
            <a:ext cx="348189" cy="118872"/>
          </a:xfrm>
          <a:prstGeom prst="rect">
            <a:avLst/>
          </a:prstGeom>
          <a:noFill/>
          <a:ln/>
        </p:spPr>
        <p:txBody>
          <a:bodyPr wrap="none" lIns="0" tIns="0" rIns="0" bIns="0" rtlCol="0" anchor="ctr"/>
          <a:lstStyle/>
          <a:p>
            <a:pPr algn="ctr" indent="0" marL="0">
              <a:lnSpc>
                <a:spcPts val="940"/>
              </a:lnSpc>
              <a:buNone/>
            </a:pPr>
            <a:r>
              <a:rPr lang="en-US" sz="730" dirty="0">
                <a:solidFill>
                  <a:srgbClr val="33495A"/>
                </a:solidFill>
                <a:latin typeface="Arial" pitchFamily="34" charset="0"/>
                <a:ea typeface="Arial" pitchFamily="34" charset="-122"/>
                <a:cs typeface="Arial" pitchFamily="34" charset="-120"/>
              </a:rPr>
              <a:t>26,207</a:t>
            </a:r>
            <a:endParaRPr lang="en-US" sz="730" dirty="0"/>
          </a:p>
        </p:txBody>
      </p:sp>
      <p:sp>
        <p:nvSpPr>
          <p:cNvPr id="29" name="Text 26"/>
          <p:cNvSpPr txBox="1"/>
          <p:nvPr/>
        </p:nvSpPr>
        <p:spPr>
          <a:xfrm>
            <a:off x="1151591" y="4627216"/>
            <a:ext cx="194784"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Jan</a:t>
            </a:r>
            <a:endParaRPr lang="en-US" sz="730" dirty="0"/>
          </a:p>
        </p:txBody>
      </p:sp>
      <p:sp>
        <p:nvSpPr>
          <p:cNvPr id="30" name="Shape 27"/>
          <p:cNvSpPr/>
          <p:nvPr/>
        </p:nvSpPr>
        <p:spPr>
          <a:xfrm>
            <a:off x="1606441" y="3349871"/>
            <a:ext cx="316685" cy="1219238"/>
          </a:xfrm>
          <a:prstGeom prst="rect">
            <a:avLst/>
          </a:prstGeom>
          <a:solidFill>
            <a:srgbClr val="A3B3C1"/>
          </a:solidFill>
          <a:ln/>
        </p:spPr>
      </p:sp>
      <p:sp>
        <p:nvSpPr>
          <p:cNvPr id="31" name="Shape 28"/>
          <p:cNvSpPr/>
          <p:nvPr/>
        </p:nvSpPr>
        <p:spPr>
          <a:xfrm>
            <a:off x="1606441" y="3185371"/>
            <a:ext cx="316685" cy="154824"/>
          </a:xfrm>
          <a:prstGeom prst="rect">
            <a:avLst/>
          </a:prstGeom>
          <a:solidFill>
            <a:srgbClr val="97C21D"/>
          </a:solidFill>
          <a:ln/>
        </p:spPr>
      </p:sp>
      <p:sp>
        <p:nvSpPr>
          <p:cNvPr id="32" name="Shape 29"/>
          <p:cNvSpPr/>
          <p:nvPr/>
        </p:nvSpPr>
        <p:spPr>
          <a:xfrm>
            <a:off x="1606441" y="3003277"/>
            <a:ext cx="316685" cy="173297"/>
          </a:xfrm>
          <a:prstGeom prst="rect">
            <a:avLst/>
          </a:prstGeom>
          <a:solidFill>
            <a:srgbClr val="0B3A5C"/>
          </a:solidFill>
          <a:ln/>
        </p:spPr>
      </p:sp>
      <p:sp>
        <p:nvSpPr>
          <p:cNvPr id="33" name="Text 30"/>
          <p:cNvSpPr txBox="1"/>
          <p:nvPr/>
        </p:nvSpPr>
        <p:spPr>
          <a:xfrm>
            <a:off x="1587240" y="2859056"/>
            <a:ext cx="355087" cy="118872"/>
          </a:xfrm>
          <a:prstGeom prst="rect">
            <a:avLst/>
          </a:prstGeom>
          <a:noFill/>
          <a:ln/>
        </p:spPr>
        <p:txBody>
          <a:bodyPr wrap="none" lIns="0" tIns="0" rIns="0" bIns="0" rtlCol="0" anchor="ctr"/>
          <a:lstStyle/>
          <a:p>
            <a:pPr algn="ctr" indent="0" marL="0">
              <a:lnSpc>
                <a:spcPts val="940"/>
              </a:lnSpc>
              <a:buNone/>
            </a:pPr>
            <a:r>
              <a:rPr lang="en-US" sz="730" dirty="0">
                <a:solidFill>
                  <a:srgbClr val="33495A"/>
                </a:solidFill>
                <a:latin typeface="Arial" pitchFamily="34" charset="0"/>
                <a:ea typeface="Arial" pitchFamily="34" charset="-122"/>
                <a:cs typeface="Arial" pitchFamily="34" charset="-120"/>
              </a:rPr>
              <a:t>30,333</a:t>
            </a:r>
            <a:endParaRPr lang="en-US" sz="730" dirty="0"/>
          </a:p>
        </p:txBody>
      </p:sp>
      <p:sp>
        <p:nvSpPr>
          <p:cNvPr id="34" name="Text 31"/>
          <p:cNvSpPr txBox="1"/>
          <p:nvPr/>
        </p:nvSpPr>
        <p:spPr>
          <a:xfrm>
            <a:off x="1668964" y="4627216"/>
            <a:ext cx="191638"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Feb</a:t>
            </a:r>
            <a:endParaRPr lang="en-US" sz="730" dirty="0"/>
          </a:p>
        </p:txBody>
      </p:sp>
      <p:sp>
        <p:nvSpPr>
          <p:cNvPr id="35" name="Shape 32"/>
          <p:cNvSpPr/>
          <p:nvPr/>
        </p:nvSpPr>
        <p:spPr>
          <a:xfrm>
            <a:off x="2122814" y="3412329"/>
            <a:ext cx="316685" cy="1156781"/>
          </a:xfrm>
          <a:prstGeom prst="rect">
            <a:avLst/>
          </a:prstGeom>
          <a:solidFill>
            <a:srgbClr val="A3B3C1"/>
          </a:solidFill>
          <a:ln/>
        </p:spPr>
      </p:sp>
      <p:sp>
        <p:nvSpPr>
          <p:cNvPr id="36" name="Shape 33"/>
          <p:cNvSpPr/>
          <p:nvPr/>
        </p:nvSpPr>
        <p:spPr>
          <a:xfrm>
            <a:off x="2122814" y="3074531"/>
            <a:ext cx="316685" cy="329001"/>
          </a:xfrm>
          <a:prstGeom prst="rect">
            <a:avLst/>
          </a:prstGeom>
          <a:solidFill>
            <a:srgbClr val="97C21D"/>
          </a:solidFill>
          <a:ln/>
        </p:spPr>
      </p:sp>
      <p:sp>
        <p:nvSpPr>
          <p:cNvPr id="37" name="Shape 34"/>
          <p:cNvSpPr/>
          <p:nvPr/>
        </p:nvSpPr>
        <p:spPr>
          <a:xfrm>
            <a:off x="2122814" y="2945218"/>
            <a:ext cx="316685" cy="120516"/>
          </a:xfrm>
          <a:prstGeom prst="rect">
            <a:avLst/>
          </a:prstGeom>
          <a:solidFill>
            <a:srgbClr val="0B3A5C"/>
          </a:solidFill>
          <a:ln/>
        </p:spPr>
      </p:sp>
      <p:sp>
        <p:nvSpPr>
          <p:cNvPr id="38" name="Text 35"/>
          <p:cNvSpPr txBox="1"/>
          <p:nvPr/>
        </p:nvSpPr>
        <p:spPr>
          <a:xfrm>
            <a:off x="2119250" y="2800997"/>
            <a:ext cx="323812" cy="118872"/>
          </a:xfrm>
          <a:prstGeom prst="rect">
            <a:avLst/>
          </a:prstGeom>
          <a:noFill/>
          <a:ln/>
        </p:spPr>
        <p:txBody>
          <a:bodyPr wrap="none" lIns="0" tIns="0" rIns="0" bIns="0" rtlCol="0" anchor="ctr"/>
          <a:lstStyle/>
          <a:p>
            <a:pPr algn="ctr" indent="0" marL="0">
              <a:lnSpc>
                <a:spcPts val="940"/>
              </a:lnSpc>
              <a:buNone/>
            </a:pPr>
            <a:r>
              <a:rPr lang="en-US" sz="730" dirty="0">
                <a:solidFill>
                  <a:srgbClr val="33495A"/>
                </a:solidFill>
                <a:latin typeface="Arial" pitchFamily="34" charset="0"/>
                <a:ea typeface="Arial" pitchFamily="34" charset="-122"/>
                <a:cs typeface="Arial" pitchFamily="34" charset="-120"/>
              </a:rPr>
              <a:t>31,463</a:t>
            </a:r>
            <a:endParaRPr lang="en-US" sz="730" dirty="0"/>
          </a:p>
        </p:txBody>
      </p:sp>
      <p:sp>
        <p:nvSpPr>
          <p:cNvPr id="39" name="Text 36"/>
          <p:cNvSpPr txBox="1"/>
          <p:nvPr/>
        </p:nvSpPr>
        <p:spPr>
          <a:xfrm>
            <a:off x="2180862" y="4627216"/>
            <a:ext cx="202079"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Mar</a:t>
            </a:r>
            <a:endParaRPr lang="en-US" sz="730" dirty="0"/>
          </a:p>
        </p:txBody>
      </p:sp>
      <p:sp>
        <p:nvSpPr>
          <p:cNvPr id="40" name="Shape 37"/>
          <p:cNvSpPr/>
          <p:nvPr/>
        </p:nvSpPr>
        <p:spPr>
          <a:xfrm>
            <a:off x="2638307" y="3745728"/>
            <a:ext cx="316685" cy="823382"/>
          </a:xfrm>
          <a:prstGeom prst="rect">
            <a:avLst/>
          </a:prstGeom>
          <a:solidFill>
            <a:srgbClr val="A3B3C1"/>
          </a:solidFill>
          <a:ln/>
        </p:spPr>
      </p:sp>
      <p:sp>
        <p:nvSpPr>
          <p:cNvPr id="41" name="Shape 38"/>
          <p:cNvSpPr/>
          <p:nvPr/>
        </p:nvSpPr>
        <p:spPr>
          <a:xfrm>
            <a:off x="2638307" y="3398254"/>
            <a:ext cx="316685" cy="338677"/>
          </a:xfrm>
          <a:prstGeom prst="rect">
            <a:avLst/>
          </a:prstGeom>
          <a:solidFill>
            <a:srgbClr val="97C21D"/>
          </a:solidFill>
          <a:ln/>
        </p:spPr>
      </p:sp>
      <p:sp>
        <p:nvSpPr>
          <p:cNvPr id="42" name="Shape 39"/>
          <p:cNvSpPr/>
          <p:nvPr/>
        </p:nvSpPr>
        <p:spPr>
          <a:xfrm>
            <a:off x="2638307" y="3257505"/>
            <a:ext cx="316685" cy="131952"/>
          </a:xfrm>
          <a:prstGeom prst="rect">
            <a:avLst/>
          </a:prstGeom>
          <a:solidFill>
            <a:srgbClr val="0B3A5C"/>
          </a:solidFill>
          <a:ln/>
        </p:spPr>
      </p:sp>
      <p:sp>
        <p:nvSpPr>
          <p:cNvPr id="43" name="Text 40"/>
          <p:cNvSpPr txBox="1"/>
          <p:nvPr/>
        </p:nvSpPr>
        <p:spPr>
          <a:xfrm>
            <a:off x="2610654" y="3113284"/>
            <a:ext cx="372869" cy="118872"/>
          </a:xfrm>
          <a:prstGeom prst="rect">
            <a:avLst/>
          </a:prstGeom>
          <a:noFill/>
          <a:ln/>
        </p:spPr>
        <p:txBody>
          <a:bodyPr wrap="none" lIns="0" tIns="0" rIns="0" bIns="0" rtlCol="0" anchor="ctr"/>
          <a:lstStyle/>
          <a:p>
            <a:pPr algn="ctr" indent="0" marL="0">
              <a:lnSpc>
                <a:spcPts val="940"/>
              </a:lnSpc>
              <a:buNone/>
            </a:pPr>
            <a:r>
              <a:rPr lang="en-US" sz="730" b="1" dirty="0">
                <a:solidFill>
                  <a:srgbClr val="062A44"/>
                </a:solidFill>
                <a:latin typeface="Arial" pitchFamily="34" charset="0"/>
                <a:ea typeface="Arial" pitchFamily="34" charset="-122"/>
                <a:cs typeface="Arial" pitchFamily="34" charset="-120"/>
              </a:rPr>
              <a:t>25,440</a:t>
            </a:r>
            <a:endParaRPr lang="en-US" sz="730" dirty="0"/>
          </a:p>
        </p:txBody>
      </p:sp>
      <p:sp>
        <p:nvSpPr>
          <p:cNvPr id="44" name="Text 41"/>
          <p:cNvSpPr txBox="1"/>
          <p:nvPr/>
        </p:nvSpPr>
        <p:spPr>
          <a:xfrm>
            <a:off x="2705549" y="4627216"/>
            <a:ext cx="183702"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Apr</a:t>
            </a:r>
            <a:endParaRPr lang="en-US" sz="730" dirty="0"/>
          </a:p>
        </p:txBody>
      </p:sp>
      <p:sp>
        <p:nvSpPr>
          <p:cNvPr id="45" name="Shape 42"/>
          <p:cNvSpPr/>
          <p:nvPr/>
        </p:nvSpPr>
        <p:spPr>
          <a:xfrm>
            <a:off x="3154680" y="3589145"/>
            <a:ext cx="316685" cy="979965"/>
          </a:xfrm>
          <a:prstGeom prst="rect">
            <a:avLst/>
          </a:prstGeom>
          <a:solidFill>
            <a:srgbClr val="A3B3C1"/>
          </a:solidFill>
          <a:ln/>
        </p:spPr>
      </p:sp>
      <p:sp>
        <p:nvSpPr>
          <p:cNvPr id="46" name="Shape 43"/>
          <p:cNvSpPr/>
          <p:nvPr/>
        </p:nvSpPr>
        <p:spPr>
          <a:xfrm>
            <a:off x="3154680" y="3282136"/>
            <a:ext cx="316685" cy="298212"/>
          </a:xfrm>
          <a:prstGeom prst="rect">
            <a:avLst/>
          </a:prstGeom>
          <a:solidFill>
            <a:srgbClr val="97C21D"/>
          </a:solidFill>
          <a:ln/>
        </p:spPr>
      </p:sp>
      <p:sp>
        <p:nvSpPr>
          <p:cNvPr id="47" name="Shape 44"/>
          <p:cNvSpPr/>
          <p:nvPr/>
        </p:nvSpPr>
        <p:spPr>
          <a:xfrm>
            <a:off x="3154680" y="3140507"/>
            <a:ext cx="316685" cy="132832"/>
          </a:xfrm>
          <a:prstGeom prst="rect">
            <a:avLst/>
          </a:prstGeom>
          <a:solidFill>
            <a:srgbClr val="0B3A5C"/>
          </a:solidFill>
          <a:ln/>
        </p:spPr>
      </p:sp>
      <p:sp>
        <p:nvSpPr>
          <p:cNvPr id="48" name="Text 45"/>
          <p:cNvSpPr txBox="1"/>
          <p:nvPr/>
        </p:nvSpPr>
        <p:spPr>
          <a:xfrm>
            <a:off x="3150803" y="2996286"/>
            <a:ext cx="324441" cy="118872"/>
          </a:xfrm>
          <a:prstGeom prst="rect">
            <a:avLst/>
          </a:prstGeom>
          <a:noFill/>
          <a:ln/>
        </p:spPr>
        <p:txBody>
          <a:bodyPr wrap="none" lIns="0" tIns="0" rIns="0" bIns="0" rtlCol="0" anchor="ctr"/>
          <a:lstStyle/>
          <a:p>
            <a:pPr algn="ctr" indent="0" marL="0">
              <a:lnSpc>
                <a:spcPts val="940"/>
              </a:lnSpc>
              <a:buNone/>
            </a:pPr>
            <a:r>
              <a:rPr lang="en-US" sz="730" dirty="0">
                <a:solidFill>
                  <a:srgbClr val="33495A"/>
                </a:solidFill>
                <a:latin typeface="Arial" pitchFamily="34" charset="0"/>
                <a:ea typeface="Arial" pitchFamily="34" charset="-122"/>
                <a:cs typeface="Arial" pitchFamily="34" charset="-120"/>
              </a:rPr>
              <a:t>27,688</a:t>
            </a:r>
            <a:endParaRPr lang="en-US" sz="730" dirty="0"/>
          </a:p>
        </p:txBody>
      </p:sp>
      <p:sp>
        <p:nvSpPr>
          <p:cNvPr id="49" name="Text 46"/>
          <p:cNvSpPr txBox="1"/>
          <p:nvPr/>
        </p:nvSpPr>
        <p:spPr>
          <a:xfrm>
            <a:off x="3205549" y="4627216"/>
            <a:ext cx="220164"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May</a:t>
            </a:r>
            <a:endParaRPr lang="en-US" sz="730" dirty="0"/>
          </a:p>
        </p:txBody>
      </p:sp>
      <p:sp>
        <p:nvSpPr>
          <p:cNvPr id="50" name="Shape 47"/>
          <p:cNvSpPr/>
          <p:nvPr/>
        </p:nvSpPr>
        <p:spPr>
          <a:xfrm>
            <a:off x="3671053" y="3478305"/>
            <a:ext cx="316685" cy="1090805"/>
          </a:xfrm>
          <a:prstGeom prst="rect">
            <a:avLst/>
          </a:prstGeom>
          <a:solidFill>
            <a:srgbClr val="A3B3C1"/>
          </a:solidFill>
          <a:ln/>
        </p:spPr>
      </p:sp>
      <p:sp>
        <p:nvSpPr>
          <p:cNvPr id="51" name="Shape 48"/>
          <p:cNvSpPr/>
          <p:nvPr/>
        </p:nvSpPr>
        <p:spPr>
          <a:xfrm>
            <a:off x="3671053" y="3166898"/>
            <a:ext cx="316685" cy="302610"/>
          </a:xfrm>
          <a:prstGeom prst="rect">
            <a:avLst/>
          </a:prstGeom>
          <a:solidFill>
            <a:srgbClr val="97C21D"/>
          </a:solidFill>
          <a:ln/>
        </p:spPr>
      </p:sp>
      <p:sp>
        <p:nvSpPr>
          <p:cNvPr id="52" name="Shape 49"/>
          <p:cNvSpPr/>
          <p:nvPr/>
        </p:nvSpPr>
        <p:spPr>
          <a:xfrm>
            <a:off x="3671053" y="3041103"/>
            <a:ext cx="316685" cy="116998"/>
          </a:xfrm>
          <a:prstGeom prst="rect">
            <a:avLst/>
          </a:prstGeom>
          <a:solidFill>
            <a:srgbClr val="0B3A5C"/>
          </a:solidFill>
          <a:ln/>
        </p:spPr>
      </p:sp>
      <p:sp>
        <p:nvSpPr>
          <p:cNvPr id="53" name="Text 50"/>
          <p:cNvSpPr txBox="1"/>
          <p:nvPr/>
        </p:nvSpPr>
        <p:spPr>
          <a:xfrm>
            <a:off x="3654126" y="2896882"/>
            <a:ext cx="350628" cy="118872"/>
          </a:xfrm>
          <a:prstGeom prst="rect">
            <a:avLst/>
          </a:prstGeom>
          <a:noFill/>
          <a:ln/>
        </p:spPr>
        <p:txBody>
          <a:bodyPr wrap="none" lIns="0" tIns="0" rIns="0" bIns="0" rtlCol="0" anchor="ctr"/>
          <a:lstStyle/>
          <a:p>
            <a:pPr algn="ctr" indent="0" marL="0">
              <a:lnSpc>
                <a:spcPts val="940"/>
              </a:lnSpc>
              <a:buNone/>
            </a:pPr>
            <a:r>
              <a:rPr lang="en-US" sz="730" dirty="0">
                <a:solidFill>
                  <a:srgbClr val="33495A"/>
                </a:solidFill>
                <a:latin typeface="Arial" pitchFamily="34" charset="0"/>
                <a:ea typeface="Arial" pitchFamily="34" charset="-122"/>
                <a:cs typeface="Arial" pitchFamily="34" charset="-120"/>
              </a:rPr>
              <a:t>29,606</a:t>
            </a:r>
            <a:endParaRPr lang="en-US" sz="730" dirty="0"/>
          </a:p>
        </p:txBody>
      </p:sp>
      <p:sp>
        <p:nvSpPr>
          <p:cNvPr id="54" name="Text 51"/>
          <p:cNvSpPr txBox="1"/>
          <p:nvPr/>
        </p:nvSpPr>
        <p:spPr>
          <a:xfrm>
            <a:off x="3731161" y="4627216"/>
            <a:ext cx="197628"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Jun</a:t>
            </a:r>
            <a:endParaRPr lang="en-US" sz="730" dirty="0"/>
          </a:p>
        </p:txBody>
      </p:sp>
      <p:sp>
        <p:nvSpPr>
          <p:cNvPr id="55" name="Shape 52"/>
          <p:cNvSpPr/>
          <p:nvPr/>
        </p:nvSpPr>
        <p:spPr>
          <a:xfrm>
            <a:off x="4186546" y="3529326"/>
            <a:ext cx="316685" cy="1039783"/>
          </a:xfrm>
          <a:prstGeom prst="rect">
            <a:avLst/>
          </a:prstGeom>
          <a:solidFill>
            <a:srgbClr val="A3B3C1"/>
          </a:solidFill>
          <a:ln/>
        </p:spPr>
      </p:sp>
      <p:sp>
        <p:nvSpPr>
          <p:cNvPr id="56" name="Shape 53"/>
          <p:cNvSpPr/>
          <p:nvPr/>
        </p:nvSpPr>
        <p:spPr>
          <a:xfrm>
            <a:off x="4186546" y="3165138"/>
            <a:ext cx="316685" cy="355391"/>
          </a:xfrm>
          <a:prstGeom prst="rect">
            <a:avLst/>
          </a:prstGeom>
          <a:solidFill>
            <a:srgbClr val="97C21D"/>
          </a:solidFill>
          <a:ln/>
        </p:spPr>
      </p:sp>
      <p:sp>
        <p:nvSpPr>
          <p:cNvPr id="57" name="Shape 54"/>
          <p:cNvSpPr/>
          <p:nvPr/>
        </p:nvSpPr>
        <p:spPr>
          <a:xfrm>
            <a:off x="4186546" y="2959293"/>
            <a:ext cx="316685" cy="197049"/>
          </a:xfrm>
          <a:prstGeom prst="rect">
            <a:avLst/>
          </a:prstGeom>
          <a:solidFill>
            <a:srgbClr val="0B3A5C"/>
          </a:solidFill>
          <a:ln/>
        </p:spPr>
      </p:sp>
      <p:sp>
        <p:nvSpPr>
          <p:cNvPr id="58" name="Text 55"/>
          <p:cNvSpPr txBox="1"/>
          <p:nvPr/>
        </p:nvSpPr>
        <p:spPr>
          <a:xfrm>
            <a:off x="4198071" y="2815072"/>
            <a:ext cx="293637" cy="118872"/>
          </a:xfrm>
          <a:prstGeom prst="rect">
            <a:avLst/>
          </a:prstGeom>
          <a:noFill/>
          <a:ln/>
        </p:spPr>
        <p:txBody>
          <a:bodyPr wrap="none" lIns="0" tIns="0" rIns="0" bIns="0" rtlCol="0" anchor="ctr"/>
          <a:lstStyle/>
          <a:p>
            <a:pPr algn="ctr" indent="0" marL="0">
              <a:lnSpc>
                <a:spcPts val="940"/>
              </a:lnSpc>
              <a:buNone/>
            </a:pPr>
            <a:r>
              <a:rPr lang="en-US" sz="730" dirty="0">
                <a:solidFill>
                  <a:srgbClr val="33495A"/>
                </a:solidFill>
                <a:latin typeface="Arial" pitchFamily="34" charset="0"/>
                <a:ea typeface="Arial" pitchFamily="34" charset="-122"/>
                <a:cs typeface="Arial" pitchFamily="34" charset="-120"/>
              </a:rPr>
              <a:t>31,185</a:t>
            </a:r>
            <a:endParaRPr lang="en-US" sz="730" dirty="0"/>
          </a:p>
        </p:txBody>
      </p:sp>
      <p:sp>
        <p:nvSpPr>
          <p:cNvPr id="59" name="Text 56"/>
          <p:cNvSpPr txBox="1"/>
          <p:nvPr/>
        </p:nvSpPr>
        <p:spPr>
          <a:xfrm>
            <a:off x="4262528" y="4627216"/>
            <a:ext cx="167452"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Jul</a:t>
            </a:r>
            <a:endParaRPr lang="en-US" sz="730" dirty="0"/>
          </a:p>
        </p:txBody>
      </p:sp>
      <p:sp>
        <p:nvSpPr>
          <p:cNvPr id="60" name="Shape 57"/>
          <p:cNvSpPr/>
          <p:nvPr/>
        </p:nvSpPr>
        <p:spPr>
          <a:xfrm>
            <a:off x="4702919" y="3449275"/>
            <a:ext cx="316685" cy="1119834"/>
          </a:xfrm>
          <a:prstGeom prst="rect">
            <a:avLst/>
          </a:prstGeom>
          <a:solidFill>
            <a:srgbClr val="A3B3C1"/>
          </a:solidFill>
          <a:ln/>
        </p:spPr>
      </p:sp>
      <p:sp>
        <p:nvSpPr>
          <p:cNvPr id="61" name="Shape 58"/>
          <p:cNvSpPr/>
          <p:nvPr/>
        </p:nvSpPr>
        <p:spPr>
          <a:xfrm>
            <a:off x="4702919" y="3046381"/>
            <a:ext cx="316685" cy="394097"/>
          </a:xfrm>
          <a:prstGeom prst="rect">
            <a:avLst/>
          </a:prstGeom>
          <a:solidFill>
            <a:srgbClr val="97C21D"/>
          </a:solidFill>
          <a:ln/>
        </p:spPr>
      </p:sp>
      <p:sp>
        <p:nvSpPr>
          <p:cNvPr id="62" name="Shape 59"/>
          <p:cNvSpPr/>
          <p:nvPr/>
        </p:nvSpPr>
        <p:spPr>
          <a:xfrm>
            <a:off x="4702919" y="2860768"/>
            <a:ext cx="316685" cy="176816"/>
          </a:xfrm>
          <a:prstGeom prst="rect">
            <a:avLst/>
          </a:prstGeom>
          <a:solidFill>
            <a:srgbClr val="0B3A5C"/>
          </a:solidFill>
          <a:ln/>
        </p:spPr>
      </p:sp>
      <p:sp>
        <p:nvSpPr>
          <p:cNvPr id="63" name="Text 60"/>
          <p:cNvSpPr txBox="1"/>
          <p:nvPr/>
        </p:nvSpPr>
        <p:spPr>
          <a:xfrm>
            <a:off x="4684111" y="2716547"/>
            <a:ext cx="354301" cy="118872"/>
          </a:xfrm>
          <a:prstGeom prst="rect">
            <a:avLst/>
          </a:prstGeom>
          <a:noFill/>
          <a:ln/>
        </p:spPr>
        <p:txBody>
          <a:bodyPr wrap="none" lIns="0" tIns="0" rIns="0" bIns="0" rtlCol="0" anchor="ctr"/>
          <a:lstStyle/>
          <a:p>
            <a:pPr algn="ctr" indent="0" marL="0">
              <a:lnSpc>
                <a:spcPts val="940"/>
              </a:lnSpc>
              <a:buNone/>
            </a:pPr>
            <a:r>
              <a:rPr lang="en-US" sz="730" dirty="0">
                <a:solidFill>
                  <a:srgbClr val="33495A"/>
                </a:solidFill>
                <a:latin typeface="Arial" pitchFamily="34" charset="0"/>
                <a:ea typeface="Arial" pitchFamily="34" charset="-122"/>
                <a:cs typeface="Arial" pitchFamily="34" charset="-120"/>
              </a:rPr>
              <a:t>33,084</a:t>
            </a:r>
            <a:endParaRPr lang="en-US" sz="730" dirty="0"/>
          </a:p>
        </p:txBody>
      </p:sp>
      <p:sp>
        <p:nvSpPr>
          <p:cNvPr id="64" name="Text 61"/>
          <p:cNvSpPr txBox="1"/>
          <p:nvPr/>
        </p:nvSpPr>
        <p:spPr>
          <a:xfrm>
            <a:off x="4760335" y="4627216"/>
            <a:ext cx="201854"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Aug</a:t>
            </a:r>
            <a:endParaRPr lang="en-US" sz="730" dirty="0"/>
          </a:p>
        </p:txBody>
      </p:sp>
      <p:sp>
        <p:nvSpPr>
          <p:cNvPr id="65" name="Shape 62"/>
          <p:cNvSpPr/>
          <p:nvPr/>
        </p:nvSpPr>
        <p:spPr>
          <a:xfrm>
            <a:off x="5219292" y="3277737"/>
            <a:ext cx="316685" cy="1291372"/>
          </a:xfrm>
          <a:prstGeom prst="rect">
            <a:avLst/>
          </a:prstGeom>
          <a:solidFill>
            <a:srgbClr val="A3B3C1"/>
          </a:solidFill>
          <a:ln/>
        </p:spPr>
      </p:sp>
      <p:sp>
        <p:nvSpPr>
          <p:cNvPr id="66" name="Shape 63"/>
          <p:cNvSpPr/>
          <p:nvPr/>
        </p:nvSpPr>
        <p:spPr>
          <a:xfrm>
            <a:off x="5219292" y="2893317"/>
            <a:ext cx="316685" cy="375624"/>
          </a:xfrm>
          <a:prstGeom prst="rect">
            <a:avLst/>
          </a:prstGeom>
          <a:solidFill>
            <a:srgbClr val="97C21D"/>
          </a:solidFill>
          <a:ln/>
        </p:spPr>
      </p:sp>
      <p:sp>
        <p:nvSpPr>
          <p:cNvPr id="67" name="Shape 64"/>
          <p:cNvSpPr/>
          <p:nvPr/>
        </p:nvSpPr>
        <p:spPr>
          <a:xfrm>
            <a:off x="5219292" y="2675156"/>
            <a:ext cx="316685" cy="208484"/>
          </a:xfrm>
          <a:prstGeom prst="rect">
            <a:avLst/>
          </a:prstGeom>
          <a:solidFill>
            <a:srgbClr val="0B3A5C"/>
          </a:solidFill>
          <a:ln/>
        </p:spPr>
      </p:sp>
      <p:sp>
        <p:nvSpPr>
          <p:cNvPr id="68" name="Text 65"/>
          <p:cNvSpPr txBox="1"/>
          <p:nvPr/>
        </p:nvSpPr>
        <p:spPr>
          <a:xfrm>
            <a:off x="5196634" y="2530935"/>
            <a:ext cx="362002" cy="118872"/>
          </a:xfrm>
          <a:prstGeom prst="rect">
            <a:avLst/>
          </a:prstGeom>
          <a:noFill/>
          <a:ln/>
        </p:spPr>
        <p:txBody>
          <a:bodyPr wrap="none" lIns="0" tIns="0" rIns="0" bIns="0" rtlCol="0" anchor="ctr"/>
          <a:lstStyle/>
          <a:p>
            <a:pPr algn="ctr" indent="0" marL="0">
              <a:lnSpc>
                <a:spcPts val="940"/>
              </a:lnSpc>
              <a:buNone/>
            </a:pPr>
            <a:r>
              <a:rPr lang="en-US" sz="730" b="1" dirty="0">
                <a:solidFill>
                  <a:srgbClr val="062A44"/>
                </a:solidFill>
                <a:latin typeface="Arial" pitchFamily="34" charset="0"/>
                <a:ea typeface="Arial" pitchFamily="34" charset="-122"/>
                <a:cs typeface="Arial" pitchFamily="34" charset="-120"/>
              </a:rPr>
              <a:t>36,653</a:t>
            </a:r>
            <a:endParaRPr lang="en-US" sz="730" dirty="0"/>
          </a:p>
        </p:txBody>
      </p:sp>
      <p:sp>
        <p:nvSpPr>
          <p:cNvPr id="69" name="Text 66"/>
          <p:cNvSpPr txBox="1"/>
          <p:nvPr/>
        </p:nvSpPr>
        <p:spPr>
          <a:xfrm>
            <a:off x="5277101" y="4627216"/>
            <a:ext cx="201068" cy="118872"/>
          </a:xfrm>
          <a:prstGeom prst="rect">
            <a:avLst/>
          </a:prstGeom>
          <a:noFill/>
          <a:ln/>
        </p:spPr>
        <p:txBody>
          <a:bodyPr wrap="none" lIns="0" tIns="0" rIns="0" bIns="0" rtlCol="0" anchor="ctr"/>
          <a:lstStyle/>
          <a:p>
            <a:pPr algn="ctr" indent="0" marL="0">
              <a:lnSpc>
                <a:spcPts val="940"/>
              </a:lnSpc>
              <a:buNone/>
            </a:pPr>
            <a:r>
              <a:rPr lang="en-US" sz="730" dirty="0">
                <a:solidFill>
                  <a:srgbClr val="6B7F8E"/>
                </a:solidFill>
                <a:latin typeface="Arial" pitchFamily="34" charset="0"/>
                <a:ea typeface="Arial" pitchFamily="34" charset="-122"/>
                <a:cs typeface="Arial" pitchFamily="34" charset="-120"/>
              </a:rPr>
              <a:t>Sep</a:t>
            </a:r>
            <a:endParaRPr lang="en-US" sz="730" dirty="0"/>
          </a:p>
        </p:txBody>
      </p:sp>
      <p:sp>
        <p:nvSpPr>
          <p:cNvPr id="70" name="Shape 67"/>
          <p:cNvSpPr/>
          <p:nvPr/>
        </p:nvSpPr>
        <p:spPr>
          <a:xfrm>
            <a:off x="2837995" y="2540564"/>
            <a:ext cx="2192166" cy="479426"/>
          </a:xfrm>
          <a:custGeom>
            <a:avLst/>
            <a:gdLst/>
            <a:ahLst/>
            <a:cxnLst/>
            <a:rect l="l" t="t" r="r" b="b"/>
            <a:pathLst>
              <a:path w="2192166" h="479426">
                <a:moveTo>
                  <a:pt x="0" y="479426"/>
                </a:moveTo>
                <a:lnTo>
                  <a:pt x="12820" y="476623"/>
                </a:lnTo>
                <a:lnTo>
                  <a:pt x="25639" y="473819"/>
                </a:lnTo>
                <a:lnTo>
                  <a:pt x="38459" y="471015"/>
                </a:lnTo>
                <a:lnTo>
                  <a:pt x="51279" y="468212"/>
                </a:lnTo>
                <a:lnTo>
                  <a:pt x="64099" y="465408"/>
                </a:lnTo>
                <a:lnTo>
                  <a:pt x="76918" y="462604"/>
                </a:lnTo>
                <a:lnTo>
                  <a:pt x="89738" y="459801"/>
                </a:lnTo>
                <a:lnTo>
                  <a:pt x="102557" y="456997"/>
                </a:lnTo>
                <a:lnTo>
                  <a:pt x="115377" y="454193"/>
                </a:lnTo>
                <a:lnTo>
                  <a:pt x="128197" y="451390"/>
                </a:lnTo>
                <a:lnTo>
                  <a:pt x="141016" y="448586"/>
                </a:lnTo>
                <a:lnTo>
                  <a:pt x="153836" y="445782"/>
                </a:lnTo>
                <a:lnTo>
                  <a:pt x="166656" y="442979"/>
                </a:lnTo>
                <a:lnTo>
                  <a:pt x="179476" y="440175"/>
                </a:lnTo>
                <a:lnTo>
                  <a:pt x="192295" y="437371"/>
                </a:lnTo>
                <a:lnTo>
                  <a:pt x="205115" y="434568"/>
                </a:lnTo>
                <a:lnTo>
                  <a:pt x="217935" y="431764"/>
                </a:lnTo>
                <a:lnTo>
                  <a:pt x="230754" y="428960"/>
                </a:lnTo>
                <a:lnTo>
                  <a:pt x="243574" y="426157"/>
                </a:lnTo>
                <a:lnTo>
                  <a:pt x="256394" y="423353"/>
                </a:lnTo>
                <a:lnTo>
                  <a:pt x="269213" y="420549"/>
                </a:lnTo>
                <a:lnTo>
                  <a:pt x="282033" y="417746"/>
                </a:lnTo>
                <a:lnTo>
                  <a:pt x="294853" y="414942"/>
                </a:lnTo>
                <a:lnTo>
                  <a:pt x="307673" y="412138"/>
                </a:lnTo>
                <a:lnTo>
                  <a:pt x="320492" y="409335"/>
                </a:lnTo>
                <a:lnTo>
                  <a:pt x="333312" y="406531"/>
                </a:lnTo>
                <a:lnTo>
                  <a:pt x="346131" y="403727"/>
                </a:lnTo>
                <a:lnTo>
                  <a:pt x="358951" y="400924"/>
                </a:lnTo>
                <a:lnTo>
                  <a:pt x="371771" y="398120"/>
                </a:lnTo>
                <a:lnTo>
                  <a:pt x="384591" y="395316"/>
                </a:lnTo>
                <a:lnTo>
                  <a:pt x="397410" y="392513"/>
                </a:lnTo>
                <a:lnTo>
                  <a:pt x="410230" y="389709"/>
                </a:lnTo>
                <a:lnTo>
                  <a:pt x="423050" y="386905"/>
                </a:lnTo>
                <a:lnTo>
                  <a:pt x="435869" y="384102"/>
                </a:lnTo>
                <a:lnTo>
                  <a:pt x="448689" y="381298"/>
                </a:lnTo>
                <a:lnTo>
                  <a:pt x="461509" y="378494"/>
                </a:lnTo>
                <a:lnTo>
                  <a:pt x="474328" y="375691"/>
                </a:lnTo>
                <a:lnTo>
                  <a:pt x="487148" y="372887"/>
                </a:lnTo>
                <a:lnTo>
                  <a:pt x="499968" y="370083"/>
                </a:lnTo>
                <a:lnTo>
                  <a:pt x="512787" y="367280"/>
                </a:lnTo>
                <a:lnTo>
                  <a:pt x="525607" y="364476"/>
                </a:lnTo>
                <a:lnTo>
                  <a:pt x="538427" y="361673"/>
                </a:lnTo>
                <a:lnTo>
                  <a:pt x="551246" y="358869"/>
                </a:lnTo>
                <a:lnTo>
                  <a:pt x="564066" y="356065"/>
                </a:lnTo>
                <a:lnTo>
                  <a:pt x="576886" y="353261"/>
                </a:lnTo>
                <a:lnTo>
                  <a:pt x="589705" y="350458"/>
                </a:lnTo>
                <a:lnTo>
                  <a:pt x="602525" y="347654"/>
                </a:lnTo>
                <a:lnTo>
                  <a:pt x="615345" y="344851"/>
                </a:lnTo>
                <a:lnTo>
                  <a:pt x="628165" y="342047"/>
                </a:lnTo>
                <a:lnTo>
                  <a:pt x="640984" y="339243"/>
                </a:lnTo>
                <a:lnTo>
                  <a:pt x="653804" y="336440"/>
                </a:lnTo>
                <a:lnTo>
                  <a:pt x="666623" y="333636"/>
                </a:lnTo>
                <a:lnTo>
                  <a:pt x="679443" y="330832"/>
                </a:lnTo>
                <a:lnTo>
                  <a:pt x="692263" y="328029"/>
                </a:lnTo>
                <a:lnTo>
                  <a:pt x="705083" y="325225"/>
                </a:lnTo>
                <a:lnTo>
                  <a:pt x="717902" y="322421"/>
                </a:lnTo>
                <a:lnTo>
                  <a:pt x="730722" y="319618"/>
                </a:lnTo>
                <a:lnTo>
                  <a:pt x="743542" y="316814"/>
                </a:lnTo>
                <a:lnTo>
                  <a:pt x="756361" y="314010"/>
                </a:lnTo>
                <a:lnTo>
                  <a:pt x="769181" y="311207"/>
                </a:lnTo>
                <a:lnTo>
                  <a:pt x="782001" y="308403"/>
                </a:lnTo>
                <a:lnTo>
                  <a:pt x="794820" y="305599"/>
                </a:lnTo>
                <a:lnTo>
                  <a:pt x="807640" y="302796"/>
                </a:lnTo>
                <a:lnTo>
                  <a:pt x="820460" y="299992"/>
                </a:lnTo>
                <a:lnTo>
                  <a:pt x="833280" y="297188"/>
                </a:lnTo>
                <a:lnTo>
                  <a:pt x="846099" y="294385"/>
                </a:lnTo>
                <a:lnTo>
                  <a:pt x="858919" y="291581"/>
                </a:lnTo>
                <a:lnTo>
                  <a:pt x="871739" y="288777"/>
                </a:lnTo>
                <a:lnTo>
                  <a:pt x="884558" y="285974"/>
                </a:lnTo>
                <a:lnTo>
                  <a:pt x="897378" y="283170"/>
                </a:lnTo>
                <a:lnTo>
                  <a:pt x="910197" y="280366"/>
                </a:lnTo>
                <a:lnTo>
                  <a:pt x="923017" y="277563"/>
                </a:lnTo>
                <a:lnTo>
                  <a:pt x="935837" y="274759"/>
                </a:lnTo>
                <a:lnTo>
                  <a:pt x="948657" y="271955"/>
                </a:lnTo>
                <a:lnTo>
                  <a:pt x="961477" y="269152"/>
                </a:lnTo>
                <a:lnTo>
                  <a:pt x="974296" y="266348"/>
                </a:lnTo>
                <a:lnTo>
                  <a:pt x="987116" y="263544"/>
                </a:lnTo>
                <a:lnTo>
                  <a:pt x="999935" y="260741"/>
                </a:lnTo>
                <a:lnTo>
                  <a:pt x="1012755" y="257937"/>
                </a:lnTo>
                <a:lnTo>
                  <a:pt x="1025575" y="255133"/>
                </a:lnTo>
                <a:lnTo>
                  <a:pt x="1038394" y="252330"/>
                </a:lnTo>
                <a:lnTo>
                  <a:pt x="1051214" y="249526"/>
                </a:lnTo>
                <a:lnTo>
                  <a:pt x="1064034" y="246722"/>
                </a:lnTo>
                <a:lnTo>
                  <a:pt x="1076853" y="243919"/>
                </a:lnTo>
                <a:lnTo>
                  <a:pt x="1089673" y="241115"/>
                </a:lnTo>
                <a:lnTo>
                  <a:pt x="1102493" y="238311"/>
                </a:lnTo>
                <a:lnTo>
                  <a:pt x="1115313" y="235508"/>
                </a:lnTo>
                <a:lnTo>
                  <a:pt x="1128132" y="232704"/>
                </a:lnTo>
                <a:lnTo>
                  <a:pt x="1140952" y="229900"/>
                </a:lnTo>
                <a:lnTo>
                  <a:pt x="1153772" y="227097"/>
                </a:lnTo>
                <a:lnTo>
                  <a:pt x="1166591" y="224293"/>
                </a:lnTo>
                <a:lnTo>
                  <a:pt x="1179411" y="221489"/>
                </a:lnTo>
                <a:lnTo>
                  <a:pt x="1192231" y="218686"/>
                </a:lnTo>
                <a:lnTo>
                  <a:pt x="1205050" y="215882"/>
                </a:lnTo>
                <a:lnTo>
                  <a:pt x="1217870" y="213078"/>
                </a:lnTo>
                <a:lnTo>
                  <a:pt x="1230690" y="210275"/>
                </a:lnTo>
                <a:lnTo>
                  <a:pt x="1243509" y="207471"/>
                </a:lnTo>
                <a:lnTo>
                  <a:pt x="1256329" y="204667"/>
                </a:lnTo>
                <a:lnTo>
                  <a:pt x="1269149" y="201864"/>
                </a:lnTo>
                <a:lnTo>
                  <a:pt x="1281969" y="199060"/>
                </a:lnTo>
                <a:lnTo>
                  <a:pt x="1294788" y="196256"/>
                </a:lnTo>
                <a:lnTo>
                  <a:pt x="1307608" y="193453"/>
                </a:lnTo>
                <a:lnTo>
                  <a:pt x="1320428" y="190649"/>
                </a:lnTo>
                <a:lnTo>
                  <a:pt x="1333247" y="187845"/>
                </a:lnTo>
                <a:lnTo>
                  <a:pt x="1346067" y="185042"/>
                </a:lnTo>
                <a:lnTo>
                  <a:pt x="1358887" y="182238"/>
                </a:lnTo>
                <a:lnTo>
                  <a:pt x="1371706" y="179434"/>
                </a:lnTo>
                <a:lnTo>
                  <a:pt x="1384526" y="176631"/>
                </a:lnTo>
                <a:lnTo>
                  <a:pt x="1397346" y="173827"/>
                </a:lnTo>
                <a:lnTo>
                  <a:pt x="1410165" y="171023"/>
                </a:lnTo>
                <a:lnTo>
                  <a:pt x="1422985" y="168220"/>
                </a:lnTo>
                <a:lnTo>
                  <a:pt x="1435805" y="165416"/>
                </a:lnTo>
                <a:lnTo>
                  <a:pt x="1448624" y="162612"/>
                </a:lnTo>
                <a:lnTo>
                  <a:pt x="1461444" y="159809"/>
                </a:lnTo>
                <a:lnTo>
                  <a:pt x="1474264" y="157005"/>
                </a:lnTo>
                <a:lnTo>
                  <a:pt x="1487084" y="154201"/>
                </a:lnTo>
                <a:lnTo>
                  <a:pt x="1499903" y="151398"/>
                </a:lnTo>
                <a:lnTo>
                  <a:pt x="1512723" y="148594"/>
                </a:lnTo>
                <a:lnTo>
                  <a:pt x="1525542" y="145790"/>
                </a:lnTo>
                <a:lnTo>
                  <a:pt x="1538362" y="142987"/>
                </a:lnTo>
                <a:lnTo>
                  <a:pt x="1551182" y="140183"/>
                </a:lnTo>
                <a:lnTo>
                  <a:pt x="1564001" y="137379"/>
                </a:lnTo>
                <a:lnTo>
                  <a:pt x="1576821" y="134576"/>
                </a:lnTo>
                <a:lnTo>
                  <a:pt x="1589641" y="131772"/>
                </a:lnTo>
                <a:lnTo>
                  <a:pt x="1602461" y="128968"/>
                </a:lnTo>
                <a:lnTo>
                  <a:pt x="1615280" y="126165"/>
                </a:lnTo>
                <a:lnTo>
                  <a:pt x="1628100" y="123361"/>
                </a:lnTo>
                <a:lnTo>
                  <a:pt x="1640920" y="120557"/>
                </a:lnTo>
                <a:lnTo>
                  <a:pt x="1653739" y="117754"/>
                </a:lnTo>
                <a:lnTo>
                  <a:pt x="1666559" y="114950"/>
                </a:lnTo>
                <a:lnTo>
                  <a:pt x="1679379" y="112147"/>
                </a:lnTo>
                <a:lnTo>
                  <a:pt x="1692198" y="109343"/>
                </a:lnTo>
                <a:lnTo>
                  <a:pt x="1705018" y="106539"/>
                </a:lnTo>
                <a:lnTo>
                  <a:pt x="1717838" y="103736"/>
                </a:lnTo>
                <a:lnTo>
                  <a:pt x="1730657" y="100932"/>
                </a:lnTo>
                <a:lnTo>
                  <a:pt x="1743477" y="98128"/>
                </a:lnTo>
                <a:lnTo>
                  <a:pt x="1756297" y="95325"/>
                </a:lnTo>
                <a:lnTo>
                  <a:pt x="1769117" y="92521"/>
                </a:lnTo>
                <a:lnTo>
                  <a:pt x="1781936" y="89717"/>
                </a:lnTo>
                <a:lnTo>
                  <a:pt x="1794756" y="86914"/>
                </a:lnTo>
                <a:lnTo>
                  <a:pt x="1807576" y="84110"/>
                </a:lnTo>
                <a:lnTo>
                  <a:pt x="1820395" y="81306"/>
                </a:lnTo>
                <a:lnTo>
                  <a:pt x="1833215" y="78503"/>
                </a:lnTo>
                <a:lnTo>
                  <a:pt x="1846035" y="75699"/>
                </a:lnTo>
                <a:lnTo>
                  <a:pt x="1858854" y="72895"/>
                </a:lnTo>
                <a:lnTo>
                  <a:pt x="1871674" y="70092"/>
                </a:lnTo>
                <a:lnTo>
                  <a:pt x="1884494" y="67288"/>
                </a:lnTo>
                <a:lnTo>
                  <a:pt x="1897313" y="64484"/>
                </a:lnTo>
                <a:lnTo>
                  <a:pt x="1910133" y="61681"/>
                </a:lnTo>
                <a:lnTo>
                  <a:pt x="1922953" y="58877"/>
                </a:lnTo>
                <a:lnTo>
                  <a:pt x="1935772" y="56073"/>
                </a:lnTo>
                <a:lnTo>
                  <a:pt x="1948592" y="53270"/>
                </a:lnTo>
                <a:lnTo>
                  <a:pt x="1961412" y="50466"/>
                </a:lnTo>
                <a:lnTo>
                  <a:pt x="1974232" y="47662"/>
                </a:lnTo>
                <a:lnTo>
                  <a:pt x="1987051" y="44859"/>
                </a:lnTo>
                <a:lnTo>
                  <a:pt x="1999871" y="42055"/>
                </a:lnTo>
                <a:lnTo>
                  <a:pt x="2012690" y="39251"/>
                </a:lnTo>
                <a:lnTo>
                  <a:pt x="2025510" y="36448"/>
                </a:lnTo>
                <a:lnTo>
                  <a:pt x="2038330" y="33644"/>
                </a:lnTo>
                <a:lnTo>
                  <a:pt x="2051149" y="30840"/>
                </a:lnTo>
                <a:lnTo>
                  <a:pt x="2063969" y="28037"/>
                </a:lnTo>
                <a:lnTo>
                  <a:pt x="2076789" y="25233"/>
                </a:lnTo>
                <a:lnTo>
                  <a:pt x="2089609" y="22429"/>
                </a:lnTo>
                <a:lnTo>
                  <a:pt x="2102428" y="19626"/>
                </a:lnTo>
                <a:lnTo>
                  <a:pt x="2115248" y="16822"/>
                </a:lnTo>
                <a:lnTo>
                  <a:pt x="2128068" y="14018"/>
                </a:lnTo>
                <a:lnTo>
                  <a:pt x="2140887" y="11215"/>
                </a:lnTo>
                <a:lnTo>
                  <a:pt x="2153707" y="8411"/>
                </a:lnTo>
                <a:lnTo>
                  <a:pt x="2166527" y="5607"/>
                </a:lnTo>
                <a:lnTo>
                  <a:pt x="2179346" y="2804"/>
                </a:lnTo>
                <a:lnTo>
                  <a:pt x="2192166" y="0"/>
                </a:lnTo>
              </a:path>
            </a:pathLst>
          </a:custGeom>
          <a:ln w="35187">
            <a:solidFill>
              <a:srgbClr val="6E9312"/>
            </a:solidFill>
            <a:prstDash val="solid"/>
          </a:ln>
        </p:spPr>
      </p:sp>
      <p:sp>
        <p:nvSpPr>
          <p:cNvPr id="71" name="Shape 68"/>
          <p:cNvSpPr/>
          <p:nvPr/>
        </p:nvSpPr>
        <p:spPr>
          <a:xfrm>
            <a:off x="5019605" y="2493062"/>
            <a:ext cx="105562" cy="95006"/>
          </a:xfrm>
          <a:custGeom>
            <a:avLst/>
            <a:gdLst/>
            <a:ahLst/>
            <a:cxnLst/>
            <a:rect l="l" t="t" r="r" b="b"/>
            <a:pathLst>
              <a:path w="105562" h="95006">
                <a:moveTo>
                  <a:pt x="105562" y="26390"/>
                </a:moveTo>
                <a:lnTo>
                  <a:pt x="21112" y="95006"/>
                </a:lnTo>
                <a:lnTo>
                  <a:pt x="0" y="0"/>
                </a:lnTo>
                <a:close/>
              </a:path>
            </a:pathLst>
          </a:custGeom>
          <a:solidFill>
            <a:srgbClr val="6E9312"/>
          </a:solidFill>
          <a:ln/>
        </p:spPr>
      </p:sp>
      <p:sp>
        <p:nvSpPr>
          <p:cNvPr id="72" name="Shape 69"/>
          <p:cNvSpPr/>
          <p:nvPr/>
        </p:nvSpPr>
        <p:spPr>
          <a:xfrm>
            <a:off x="2802807" y="2984803"/>
            <a:ext cx="70375" cy="70375"/>
          </a:xfrm>
          <a:prstGeom prst="ellipse">
            <a:avLst/>
          </a:prstGeom>
          <a:solidFill>
            <a:srgbClr val="FFFFFF"/>
          </a:solidFill>
          <a:ln w="17594">
            <a:solidFill>
              <a:srgbClr val="97C21D"/>
            </a:solidFill>
            <a:prstDash val="solid"/>
          </a:ln>
        </p:spPr>
      </p:sp>
      <p:sp>
        <p:nvSpPr>
          <p:cNvPr id="73" name="Shape 70"/>
          <p:cNvSpPr/>
          <p:nvPr/>
        </p:nvSpPr>
        <p:spPr>
          <a:xfrm>
            <a:off x="3013931" y="2519452"/>
            <a:ext cx="985243" cy="211124"/>
          </a:xfrm>
          <a:prstGeom prst="roundRect">
            <a:avLst>
              <a:gd name="adj" fmla="val 50000"/>
            </a:avLst>
          </a:prstGeom>
          <a:solidFill>
            <a:srgbClr val="8DB828"/>
          </a:solidFill>
          <a:ln/>
        </p:spPr>
      </p:sp>
      <p:sp>
        <p:nvSpPr>
          <p:cNvPr id="74" name="Text 71"/>
          <p:cNvSpPr txBox="1"/>
          <p:nvPr/>
        </p:nvSpPr>
        <p:spPr>
          <a:xfrm>
            <a:off x="3019949" y="2554872"/>
            <a:ext cx="973207" cy="146304"/>
          </a:xfrm>
          <a:prstGeom prst="rect">
            <a:avLst/>
          </a:prstGeom>
          <a:noFill/>
          <a:ln/>
        </p:spPr>
        <p:txBody>
          <a:bodyPr wrap="none" lIns="0" tIns="0" rIns="0" bIns="0" rtlCol="0" anchor="ctr"/>
          <a:lstStyle/>
          <a:p>
            <a:pPr algn="ctr" indent="0" marL="0">
              <a:lnSpc>
                <a:spcPts val="1150"/>
              </a:lnSpc>
              <a:buNone/>
            </a:pPr>
            <a:r>
              <a:rPr lang="en-US" sz="870" b="1" dirty="0">
                <a:solidFill>
                  <a:srgbClr val="FFFFFF"/>
                </a:solidFill>
                <a:latin typeface="Arial" pitchFamily="34" charset="0"/>
                <a:ea typeface="Arial" pitchFamily="34" charset="-122"/>
                <a:cs typeface="Arial" pitchFamily="34" charset="-120"/>
              </a:rPr>
              <a:t>+44% Apr → Sep</a:t>
            </a:r>
            <a:endParaRPr lang="en-US" sz="870" dirty="0"/>
          </a:p>
        </p:txBody>
      </p:sp>
      <p:sp>
        <p:nvSpPr>
          <p:cNvPr id="75" name="Shape 72"/>
          <p:cNvSpPr/>
          <p:nvPr/>
        </p:nvSpPr>
        <p:spPr>
          <a:xfrm>
            <a:off x="6080760" y="1920240"/>
            <a:ext cx="2606040" cy="2668619"/>
          </a:xfrm>
          <a:prstGeom prst="roundRect">
            <a:avLst>
              <a:gd name="adj" fmla="val 5614"/>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76" name="Text 73"/>
          <p:cNvSpPr txBox="1"/>
          <p:nvPr/>
        </p:nvSpPr>
        <p:spPr>
          <a:xfrm>
            <a:off x="6245352" y="2066544"/>
            <a:ext cx="889283"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WHAT HAPPENED</a:t>
            </a:r>
            <a:endParaRPr lang="en-US" sz="650" dirty="0"/>
          </a:p>
        </p:txBody>
      </p:sp>
      <p:sp>
        <p:nvSpPr>
          <p:cNvPr id="77" name="Shape 74"/>
          <p:cNvSpPr/>
          <p:nvPr/>
        </p:nvSpPr>
        <p:spPr>
          <a:xfrm>
            <a:off x="6245352" y="2648760"/>
            <a:ext cx="2276856" cy="0"/>
          </a:xfrm>
          <a:prstGeom prst="line">
            <a:avLst/>
          </a:prstGeom>
          <a:noFill/>
          <a:ln w="9144">
            <a:solidFill>
              <a:srgbClr val="062A44">
                <a:alpha val="10000"/>
              </a:srgbClr>
            </a:solidFill>
            <a:prstDash val="solid"/>
          </a:ln>
        </p:spPr>
      </p:sp>
      <p:sp>
        <p:nvSpPr>
          <p:cNvPr id="78" name="Text 75"/>
          <p:cNvSpPr txBox="1"/>
          <p:nvPr/>
        </p:nvSpPr>
        <p:spPr>
          <a:xfrm>
            <a:off x="6245352" y="2295001"/>
            <a:ext cx="581401" cy="297180"/>
          </a:xfrm>
          <a:prstGeom prst="rect">
            <a:avLst/>
          </a:prstGeom>
          <a:noFill/>
          <a:ln/>
        </p:spPr>
        <p:txBody>
          <a:bodyPr wrap="none" lIns="0" tIns="0" rIns="0" bIns="0" rtlCol="0" anchor="t"/>
          <a:lstStyle/>
          <a:p>
            <a:pPr algn="l" indent="0" marL="0">
              <a:lnSpc>
                <a:spcPts val="1800"/>
              </a:lnSpc>
              <a:buNone/>
            </a:pPr>
            <a:r>
              <a:rPr lang="en-US" sz="1800" b="1" spc="-72" kern="0" dirty="0">
                <a:solidFill>
                  <a:srgbClr val="C8503C"/>
                </a:solidFill>
                <a:latin typeface="Arial" pitchFamily="34" charset="0"/>
                <a:ea typeface="Arial" pitchFamily="34" charset="-122"/>
                <a:cs typeface="Arial" pitchFamily="34" charset="-120"/>
              </a:rPr>
              <a:t>−19%</a:t>
            </a:r>
            <a:endParaRPr lang="en-US" sz="1800" dirty="0"/>
          </a:p>
        </p:txBody>
      </p:sp>
      <p:sp>
        <p:nvSpPr>
          <p:cNvPr id="79" name="Text 76"/>
          <p:cNvSpPr txBox="1"/>
          <p:nvPr/>
        </p:nvSpPr>
        <p:spPr>
          <a:xfrm>
            <a:off x="6995160" y="2274999"/>
            <a:ext cx="1662536" cy="308930"/>
          </a:xfrm>
          <a:prstGeom prst="rect">
            <a:avLst/>
          </a:prstGeom>
          <a:noFill/>
          <a:ln/>
        </p:spPr>
        <p:txBody>
          <a:bodyPr wrap="squar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Apr low vs Mar, 25,440 h; LCBTH</a:t>
            </a:r>
            <a:endParaRPr lang="en-US" sz="760" dirty="0"/>
          </a:p>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−29%</a:t>
            </a:r>
            <a:endParaRPr lang="en-US" sz="760" dirty="0"/>
          </a:p>
        </p:txBody>
      </p:sp>
      <p:sp>
        <p:nvSpPr>
          <p:cNvPr id="80" name="Shape 77"/>
          <p:cNvSpPr/>
          <p:nvPr/>
        </p:nvSpPr>
        <p:spPr>
          <a:xfrm>
            <a:off x="6245352" y="3136821"/>
            <a:ext cx="2276856" cy="0"/>
          </a:xfrm>
          <a:prstGeom prst="line">
            <a:avLst/>
          </a:prstGeom>
          <a:noFill/>
          <a:ln w="9144">
            <a:solidFill>
              <a:srgbClr val="062A44">
                <a:alpha val="10000"/>
              </a:srgbClr>
            </a:solidFill>
            <a:prstDash val="solid"/>
          </a:ln>
        </p:spPr>
      </p:sp>
      <p:sp>
        <p:nvSpPr>
          <p:cNvPr id="81" name="Text 78"/>
          <p:cNvSpPr txBox="1"/>
          <p:nvPr/>
        </p:nvSpPr>
        <p:spPr>
          <a:xfrm>
            <a:off x="6245352" y="2783062"/>
            <a:ext cx="644581" cy="297180"/>
          </a:xfrm>
          <a:prstGeom prst="rect">
            <a:avLst/>
          </a:prstGeom>
          <a:noFill/>
          <a:ln/>
        </p:spPr>
        <p:txBody>
          <a:bodyPr wrap="none" lIns="0" tIns="0" rIns="0" bIns="0" rtlCol="0" anchor="t"/>
          <a:lstStyle/>
          <a:p>
            <a:pPr algn="l" indent="0" marL="0">
              <a:lnSpc>
                <a:spcPts val="1800"/>
              </a:lnSpc>
              <a:buNone/>
            </a:pPr>
            <a:r>
              <a:rPr lang="en-US" sz="1800" b="1" spc="-72" kern="0" dirty="0">
                <a:solidFill>
                  <a:srgbClr val="6E9312"/>
                </a:solidFill>
                <a:latin typeface="Arial" pitchFamily="34" charset="0"/>
                <a:ea typeface="Arial" pitchFamily="34" charset="-122"/>
                <a:cs typeface="Arial" pitchFamily="34" charset="-120"/>
              </a:rPr>
              <a:t>+44%</a:t>
            </a:r>
            <a:endParaRPr lang="en-US" sz="1800" dirty="0"/>
          </a:p>
        </p:txBody>
      </p:sp>
      <p:sp>
        <p:nvSpPr>
          <p:cNvPr id="82" name="Text 79"/>
          <p:cNvSpPr txBox="1"/>
          <p:nvPr/>
        </p:nvSpPr>
        <p:spPr>
          <a:xfrm>
            <a:off x="6995160" y="2763060"/>
            <a:ext cx="1631753" cy="308930"/>
          </a:xfrm>
          <a:prstGeom prst="rect">
            <a:avLst/>
          </a:prstGeom>
          <a:noFill/>
          <a:ln/>
        </p:spPr>
        <p:txBody>
          <a:bodyPr wrap="squar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Apr to Sep: 25,440 h to a record</a:t>
            </a:r>
            <a:endParaRPr lang="en-US" sz="760" dirty="0"/>
          </a:p>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36,653 h</a:t>
            </a:r>
            <a:endParaRPr lang="en-US" sz="760" dirty="0"/>
          </a:p>
        </p:txBody>
      </p:sp>
      <p:sp>
        <p:nvSpPr>
          <p:cNvPr id="83" name="Shape 80"/>
          <p:cNvSpPr/>
          <p:nvPr/>
        </p:nvSpPr>
        <p:spPr>
          <a:xfrm>
            <a:off x="6245352" y="3584877"/>
            <a:ext cx="2276856" cy="0"/>
          </a:xfrm>
          <a:prstGeom prst="line">
            <a:avLst/>
          </a:prstGeom>
          <a:noFill/>
          <a:ln w="9144">
            <a:solidFill>
              <a:srgbClr val="062A44">
                <a:alpha val="10000"/>
              </a:srgbClr>
            </a:solidFill>
            <a:prstDash val="solid"/>
          </a:ln>
        </p:spPr>
      </p:sp>
      <p:sp>
        <p:nvSpPr>
          <p:cNvPr id="84" name="Text 81"/>
          <p:cNvSpPr txBox="1"/>
          <p:nvPr/>
        </p:nvSpPr>
        <p:spPr>
          <a:xfrm>
            <a:off x="6245352" y="3251121"/>
            <a:ext cx="379447" cy="297180"/>
          </a:xfrm>
          <a:prstGeom prst="rect">
            <a:avLst/>
          </a:prstGeom>
          <a:noFill/>
          <a:ln/>
        </p:spPr>
        <p:txBody>
          <a:bodyPr wrap="none" lIns="0" tIns="0" rIns="0" bIns="0" rtlCol="0" anchor="t"/>
          <a:lstStyle/>
          <a:p>
            <a:pPr algn="l" indent="0" marL="0">
              <a:lnSpc>
                <a:spcPts val="1800"/>
              </a:lnSpc>
              <a:buNone/>
            </a:pPr>
            <a:r>
              <a:rPr lang="en-US" sz="1800" b="1" spc="-72" kern="0" dirty="0">
                <a:solidFill>
                  <a:srgbClr val="062A44"/>
                </a:solidFill>
                <a:latin typeface="Arial" pitchFamily="34" charset="0"/>
                <a:ea typeface="Arial" pitchFamily="34" charset="-122"/>
                <a:cs typeface="Arial" pitchFamily="34" charset="-120"/>
              </a:rPr>
              <a:t>176</a:t>
            </a:r>
            <a:endParaRPr lang="en-US" sz="1800" dirty="0"/>
          </a:p>
        </p:txBody>
      </p:sp>
      <p:sp>
        <p:nvSpPr>
          <p:cNvPr id="85" name="Text 82"/>
          <p:cNvSpPr txBox="1"/>
          <p:nvPr/>
        </p:nvSpPr>
        <p:spPr>
          <a:xfrm>
            <a:off x="6995160" y="3298269"/>
            <a:ext cx="1494044" cy="174628"/>
          </a:xfrm>
          <a:prstGeom prst="rect">
            <a:avLst/>
          </a:prstGeom>
          <a:noFill/>
          <a:ln/>
        </p:spPr>
        <p:txBody>
          <a:bodyPr wrap="non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FTE in Sep vs 141 Jan–Aug avg</a:t>
            </a:r>
            <a:endParaRPr lang="en-US" sz="760" dirty="0"/>
          </a:p>
        </p:txBody>
      </p:sp>
      <p:sp>
        <p:nvSpPr>
          <p:cNvPr id="86" name="Text 83"/>
          <p:cNvSpPr txBox="1"/>
          <p:nvPr/>
        </p:nvSpPr>
        <p:spPr>
          <a:xfrm>
            <a:off x="6245352" y="3699177"/>
            <a:ext cx="1559109"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QUARTERLY SERVICE HOURS</a:t>
            </a:r>
            <a:endParaRPr lang="en-US" sz="650" dirty="0"/>
          </a:p>
        </p:txBody>
      </p:sp>
      <p:sp>
        <p:nvSpPr>
          <p:cNvPr id="87" name="Text 84"/>
          <p:cNvSpPr txBox="1"/>
          <p:nvPr/>
        </p:nvSpPr>
        <p:spPr>
          <a:xfrm>
            <a:off x="6245352" y="3907631"/>
            <a:ext cx="130659" cy="184252"/>
          </a:xfrm>
          <a:prstGeom prst="rect">
            <a:avLst/>
          </a:prstGeom>
          <a:noFill/>
          <a:ln/>
        </p:spPr>
        <p:txBody>
          <a:bodyPr wrap="none" lIns="0" tIns="0" rIns="0" bIns="0" rtlCol="0" anchor="t"/>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Q1</a:t>
            </a:r>
            <a:endParaRPr lang="en-US" sz="720" dirty="0"/>
          </a:p>
        </p:txBody>
      </p:sp>
      <p:sp>
        <p:nvSpPr>
          <p:cNvPr id="88" name="Shape 85"/>
          <p:cNvSpPr/>
          <p:nvPr/>
        </p:nvSpPr>
        <p:spPr>
          <a:xfrm>
            <a:off x="6537960" y="3919061"/>
            <a:ext cx="1188006" cy="118872"/>
          </a:xfrm>
          <a:prstGeom prst="roundRect">
            <a:avLst>
              <a:gd name="adj" fmla="val 23077"/>
            </a:avLst>
          </a:prstGeom>
          <a:solidFill>
            <a:srgbClr val="B9D6EE"/>
          </a:solidFill>
          <a:ln/>
        </p:spPr>
      </p:sp>
      <p:sp>
        <p:nvSpPr>
          <p:cNvPr id="89" name="Text 86"/>
          <p:cNvSpPr txBox="1"/>
          <p:nvPr/>
        </p:nvSpPr>
        <p:spPr>
          <a:xfrm>
            <a:off x="7973568" y="3907631"/>
            <a:ext cx="374733" cy="184252"/>
          </a:xfrm>
          <a:prstGeom prst="rect">
            <a:avLst/>
          </a:prstGeom>
          <a:noFill/>
          <a:ln/>
        </p:spPr>
        <p:txBody>
          <a:bodyPr wrap="none" lIns="0" tIns="0" rIns="0" bIns="0" rtlCol="0" anchor="t"/>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88.0K h</a:t>
            </a:r>
            <a:endParaRPr lang="en-US" sz="720" dirty="0"/>
          </a:p>
        </p:txBody>
      </p:sp>
      <p:sp>
        <p:nvSpPr>
          <p:cNvPr id="90" name="Text 87"/>
          <p:cNvSpPr txBox="1"/>
          <p:nvPr/>
        </p:nvSpPr>
        <p:spPr>
          <a:xfrm>
            <a:off x="6245352" y="4104227"/>
            <a:ext cx="153291" cy="184252"/>
          </a:xfrm>
          <a:prstGeom prst="rect">
            <a:avLst/>
          </a:prstGeom>
          <a:noFill/>
          <a:ln/>
        </p:spPr>
        <p:txBody>
          <a:bodyPr wrap="none" lIns="0" tIns="0" rIns="0" bIns="0" rtlCol="0" anchor="t"/>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Q2</a:t>
            </a:r>
            <a:endParaRPr lang="en-US" sz="720" dirty="0"/>
          </a:p>
        </p:txBody>
      </p:sp>
      <p:sp>
        <p:nvSpPr>
          <p:cNvPr id="91" name="Shape 88"/>
          <p:cNvSpPr/>
          <p:nvPr/>
        </p:nvSpPr>
        <p:spPr>
          <a:xfrm>
            <a:off x="6537960" y="4115657"/>
            <a:ext cx="1117140" cy="118872"/>
          </a:xfrm>
          <a:prstGeom prst="roundRect">
            <a:avLst>
              <a:gd name="adj" fmla="val 23077"/>
            </a:avLst>
          </a:prstGeom>
          <a:solidFill>
            <a:srgbClr val="B9D6EE"/>
          </a:solidFill>
          <a:ln/>
        </p:spPr>
      </p:sp>
      <p:sp>
        <p:nvSpPr>
          <p:cNvPr id="92" name="Text 89"/>
          <p:cNvSpPr txBox="1"/>
          <p:nvPr/>
        </p:nvSpPr>
        <p:spPr>
          <a:xfrm>
            <a:off x="7973568" y="4104227"/>
            <a:ext cx="356187" cy="184252"/>
          </a:xfrm>
          <a:prstGeom prst="rect">
            <a:avLst/>
          </a:prstGeom>
          <a:noFill/>
          <a:ln/>
        </p:spPr>
        <p:txBody>
          <a:bodyPr wrap="none" lIns="0" tIns="0" rIns="0" bIns="0" rtlCol="0" anchor="t"/>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82.7K h</a:t>
            </a:r>
            <a:endParaRPr lang="en-US" sz="720" dirty="0"/>
          </a:p>
        </p:txBody>
      </p:sp>
      <p:sp>
        <p:nvSpPr>
          <p:cNvPr id="93" name="Text 90"/>
          <p:cNvSpPr txBox="1"/>
          <p:nvPr/>
        </p:nvSpPr>
        <p:spPr>
          <a:xfrm>
            <a:off x="6245352" y="4300823"/>
            <a:ext cx="158634" cy="184252"/>
          </a:xfrm>
          <a:prstGeom prst="rect">
            <a:avLst/>
          </a:prstGeom>
          <a:noFill/>
          <a:ln/>
        </p:spPr>
        <p:txBody>
          <a:bodyPr wrap="none" lIns="0" tIns="0" rIns="0" bIns="0" rtlCol="0" anchor="t"/>
          <a:lstStyle/>
          <a:p>
            <a:pPr algn="l" indent="0" marL="0">
              <a:lnSpc>
                <a:spcPts val="1120"/>
              </a:lnSpc>
              <a:buNone/>
            </a:pPr>
            <a:r>
              <a:rPr lang="en-US" sz="720" b="1" dirty="0">
                <a:solidFill>
                  <a:srgbClr val="062A44"/>
                </a:solidFill>
                <a:latin typeface="Arial" pitchFamily="34" charset="0"/>
                <a:ea typeface="Arial" pitchFamily="34" charset="-122"/>
                <a:cs typeface="Arial" pitchFamily="34" charset="-120"/>
              </a:rPr>
              <a:t>Q3</a:t>
            </a:r>
            <a:endParaRPr lang="en-US" sz="720" dirty="0"/>
          </a:p>
        </p:txBody>
      </p:sp>
      <p:sp>
        <p:nvSpPr>
          <p:cNvPr id="94" name="Shape 91"/>
          <p:cNvSpPr/>
          <p:nvPr/>
        </p:nvSpPr>
        <p:spPr>
          <a:xfrm>
            <a:off x="6537960" y="4312253"/>
            <a:ext cx="1362456" cy="118872"/>
          </a:xfrm>
          <a:prstGeom prst="roundRect">
            <a:avLst>
              <a:gd name="adj" fmla="val 23077"/>
            </a:avLst>
          </a:prstGeom>
          <a:solidFill>
            <a:srgbClr val="2E7FB8"/>
          </a:solidFill>
          <a:ln/>
        </p:spPr>
      </p:sp>
      <p:sp>
        <p:nvSpPr>
          <p:cNvPr id="95" name="Text 92"/>
          <p:cNvSpPr txBox="1"/>
          <p:nvPr/>
        </p:nvSpPr>
        <p:spPr>
          <a:xfrm>
            <a:off x="7973568" y="4300823"/>
            <a:ext cx="434926" cy="184252"/>
          </a:xfrm>
          <a:prstGeom prst="rect">
            <a:avLst/>
          </a:prstGeom>
          <a:noFill/>
          <a:ln/>
        </p:spPr>
        <p:txBody>
          <a:bodyPr wrap="none" lIns="0" tIns="0" rIns="0" bIns="0" rtlCol="0" anchor="t"/>
          <a:lstStyle/>
          <a:p>
            <a:pPr algn="l" indent="0" marL="0">
              <a:lnSpc>
                <a:spcPts val="1120"/>
              </a:lnSpc>
              <a:buNone/>
            </a:pPr>
            <a:r>
              <a:rPr lang="en-US" sz="720" b="1" dirty="0">
                <a:solidFill>
                  <a:srgbClr val="062A44"/>
                </a:solidFill>
                <a:latin typeface="Arial" pitchFamily="34" charset="0"/>
                <a:ea typeface="Arial" pitchFamily="34" charset="-122"/>
                <a:cs typeface="Arial" pitchFamily="34" charset="-120"/>
              </a:rPr>
              <a:t>100.9K h</a:t>
            </a:r>
            <a:endParaRPr lang="en-US" sz="720" dirty="0"/>
          </a:p>
        </p:txBody>
      </p:sp>
    </p:spTree>
  </p:cSld>
  <p:clrMapOvr>
    <a:masterClrMapping/>
  </p:clrMapOvr>
  <p:transition spd="med">
    <p:push dir="r"/>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1776622"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SITE MIX · JAN–SEP 2026</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6047513" cy="400089"/>
          </a:xfrm>
          <a:prstGeom prst="rect">
            <a:avLst/>
          </a:prstGeom>
          <a:noFill/>
          <a:ln/>
        </p:spPr>
        <p:txBody>
          <a:bodyPr wrap="non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LCBTH leads hours;</a:t>
            </a:r>
            <a:pPr algn="l" indent="0" marL="0">
              <a:lnSpc>
                <a:spcPts val="2420"/>
              </a:lnSpc>
              <a:buNone/>
            </a:pPr>
            <a:r>
              <a:rPr lang="en-US" sz="2380" b="1" spc="-119" kern="0" dirty="0">
                <a:solidFill>
                  <a:srgbClr val="0D3E62"/>
                </a:solidFill>
                <a:latin typeface="Arial" pitchFamily="34" charset="0"/>
                <a:ea typeface="Arial" pitchFamily="34" charset="-122"/>
                <a:cs typeface="Arial" pitchFamily="34" charset="-120"/>
              </a:rPr>
              <a:t> B</a:t>
            </a:r>
            <a:pPr algn="l" indent="0" marL="0">
              <a:lnSpc>
                <a:spcPts val="2420"/>
              </a:lnSpc>
              <a:buNone/>
            </a:pPr>
            <a:r>
              <a:rPr lang="en-US" sz="2380" b="1" spc="-119" kern="0" dirty="0">
                <a:solidFill>
                  <a:srgbClr val="12476E"/>
                </a:solidFill>
                <a:latin typeface="Arial" pitchFamily="34" charset="0"/>
                <a:ea typeface="Arial" pitchFamily="34" charset="-122"/>
                <a:cs typeface="Arial" pitchFamily="34" charset="-120"/>
              </a:rPr>
              <a:t>A</a:t>
            </a:r>
            <a:pPr algn="l" indent="0" marL="0">
              <a:lnSpc>
                <a:spcPts val="2420"/>
              </a:lnSpc>
              <a:buNone/>
            </a:pPr>
            <a:r>
              <a:rPr lang="en-US" sz="2380" b="1" spc="-119" kern="0" dirty="0">
                <a:solidFill>
                  <a:srgbClr val="17517A"/>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1C5B87"/>
                </a:solidFill>
                <a:latin typeface="Arial" pitchFamily="34" charset="0"/>
                <a:ea typeface="Arial" pitchFamily="34" charset="-122"/>
                <a:cs typeface="Arial" pitchFamily="34" charset="-120"/>
              </a:rPr>
              <a:t>G</a:t>
            </a:r>
            <a:pPr algn="l" indent="0" marL="0">
              <a:lnSpc>
                <a:spcPts val="2420"/>
              </a:lnSpc>
              <a:buNone/>
            </a:pPr>
            <a:r>
              <a:rPr lang="en-US" sz="2380" b="1" spc="-119" kern="0" dirty="0">
                <a:solidFill>
                  <a:srgbClr val="206494"/>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256EA1"/>
                </a:solidFill>
                <a:latin typeface="Arial" pitchFamily="34" charset="0"/>
                <a:ea typeface="Arial" pitchFamily="34" charset="-122"/>
                <a:cs typeface="Arial" pitchFamily="34" charset="-120"/>
              </a:rPr>
              <a:t> l</a:t>
            </a:r>
            <a:pPr algn="l" indent="0" marL="0">
              <a:lnSpc>
                <a:spcPts val="2420"/>
              </a:lnSpc>
              <a:buNone/>
            </a:pPr>
            <a:r>
              <a:rPr lang="en-US" sz="2380" b="1" spc="-119" kern="0" dirty="0">
                <a:solidFill>
                  <a:srgbClr val="2873A8"/>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2C7BB3"/>
                </a:solidFill>
                <a:latin typeface="Arial" pitchFamily="34" charset="0"/>
                <a:ea typeface="Arial" pitchFamily="34" charset="-122"/>
                <a:cs typeface="Arial" pitchFamily="34" charset="-120"/>
              </a:rPr>
              <a:t>a</a:t>
            </a:r>
            <a:pPr algn="l" indent="0" marL="0">
              <a:lnSpc>
                <a:spcPts val="2420"/>
              </a:lnSpc>
              <a:buNone/>
            </a:pPr>
            <a:r>
              <a:rPr lang="en-US" sz="2380" b="1" spc="-119" kern="0" dirty="0">
                <a:solidFill>
                  <a:srgbClr val="3281B0"/>
                </a:solidFill>
                <a:latin typeface="Arial" pitchFamily="34" charset="0"/>
                <a:ea typeface="Arial" pitchFamily="34" charset="-122"/>
                <a:cs typeface="Arial" pitchFamily="34" charset="-120"/>
              </a:rPr>
              <a:t>d</a:t>
            </a:r>
            <a:pPr algn="l" indent="0" marL="0">
              <a:lnSpc>
                <a:spcPts val="2420"/>
              </a:lnSpc>
              <a:buNone/>
            </a:pPr>
            <a:r>
              <a:rPr lang="en-US" sz="2380" b="1" spc="-119" kern="0" dirty="0">
                <a:solidFill>
                  <a:srgbClr val="3A85A0"/>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478C86"/>
                </a:solidFill>
                <a:latin typeface="Arial" pitchFamily="34" charset="0"/>
                <a:ea typeface="Arial" pitchFamily="34" charset="-122"/>
                <a:cs typeface="Arial" pitchFamily="34" charset="-120"/>
              </a:rPr>
              <a:t> m</a:t>
            </a:r>
            <a:pPr algn="l" indent="0" marL="0">
              <a:lnSpc>
                <a:spcPts val="2420"/>
              </a:lnSpc>
              <a:buNone/>
            </a:pPr>
            <a:r>
              <a:rPr lang="en-US" sz="2380" b="1" spc="-119" kern="0" dirty="0">
                <a:solidFill>
                  <a:srgbClr val="509077"/>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55936C"/>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5D975D"/>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629952"/>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689C47"/>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70A137"/>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78A527"/>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7EA71D"/>
                </a:solidFill>
                <a:latin typeface="Arial" pitchFamily="34" charset="0"/>
                <a:ea typeface="Arial" pitchFamily="34" charset="-122"/>
                <a:cs typeface="Arial" pitchFamily="34" charset="-120"/>
              </a:rPr>
              <a:t>.</a:t>
            </a:r>
            <a:endParaRPr lang="en-US" sz="2380" dirty="0"/>
          </a:p>
        </p:txBody>
      </p:sp>
      <p:sp>
        <p:nvSpPr>
          <p:cNvPr id="7" name="Shape 4"/>
          <p:cNvSpPr/>
          <p:nvPr/>
        </p:nvSpPr>
        <p:spPr>
          <a:xfrm>
            <a:off x="607044" y="2290115"/>
            <a:ext cx="1491766" cy="1546138"/>
          </a:xfrm>
          <a:custGeom>
            <a:avLst/>
            <a:gdLst/>
            <a:ahLst/>
            <a:cxnLst/>
            <a:rect l="l" t="t" r="r" b="b"/>
            <a:pathLst>
              <a:path w="1491766" h="1546138">
                <a:moveTo>
                  <a:pt x="718836" y="0"/>
                </a:moveTo>
                <a:lnTo>
                  <a:pt x="766688" y="1482"/>
                </a:lnTo>
                <a:lnTo>
                  <a:pt x="814357" y="5924"/>
                </a:lnTo>
                <a:lnTo>
                  <a:pt x="861660" y="13307"/>
                </a:lnTo>
                <a:lnTo>
                  <a:pt x="908415" y="23604"/>
                </a:lnTo>
                <a:lnTo>
                  <a:pt x="954443" y="36775"/>
                </a:lnTo>
                <a:lnTo>
                  <a:pt x="999567" y="52769"/>
                </a:lnTo>
                <a:lnTo>
                  <a:pt x="1043615" y="71526"/>
                </a:lnTo>
                <a:lnTo>
                  <a:pt x="1086418" y="92974"/>
                </a:lnTo>
                <a:lnTo>
                  <a:pt x="1127811" y="117029"/>
                </a:lnTo>
                <a:lnTo>
                  <a:pt x="1167636" y="143601"/>
                </a:lnTo>
                <a:lnTo>
                  <a:pt x="1205739" y="172586"/>
                </a:lnTo>
                <a:lnTo>
                  <a:pt x="1241976" y="203874"/>
                </a:lnTo>
                <a:lnTo>
                  <a:pt x="1276207" y="237345"/>
                </a:lnTo>
                <a:lnTo>
                  <a:pt x="1308300" y="272871"/>
                </a:lnTo>
                <a:lnTo>
                  <a:pt x="1338133" y="310315"/>
                </a:lnTo>
                <a:lnTo>
                  <a:pt x="1365591" y="349533"/>
                </a:lnTo>
                <a:lnTo>
                  <a:pt x="1390569" y="390376"/>
                </a:lnTo>
                <a:lnTo>
                  <a:pt x="1412971" y="432687"/>
                </a:lnTo>
                <a:lnTo>
                  <a:pt x="1432712" y="476303"/>
                </a:lnTo>
                <a:lnTo>
                  <a:pt x="1449715" y="521057"/>
                </a:lnTo>
                <a:lnTo>
                  <a:pt x="1463915" y="566778"/>
                </a:lnTo>
                <a:lnTo>
                  <a:pt x="1475259" y="613290"/>
                </a:lnTo>
                <a:lnTo>
                  <a:pt x="1483701" y="660415"/>
                </a:lnTo>
                <a:lnTo>
                  <a:pt x="1489211" y="707973"/>
                </a:lnTo>
                <a:lnTo>
                  <a:pt x="1491766" y="755780"/>
                </a:lnTo>
                <a:lnTo>
                  <a:pt x="1491358" y="803653"/>
                </a:lnTo>
                <a:lnTo>
                  <a:pt x="1487987" y="851410"/>
                </a:lnTo>
                <a:lnTo>
                  <a:pt x="1481667" y="898866"/>
                </a:lnTo>
                <a:lnTo>
                  <a:pt x="1472422" y="945841"/>
                </a:lnTo>
                <a:lnTo>
                  <a:pt x="1460287" y="992152"/>
                </a:lnTo>
                <a:lnTo>
                  <a:pt x="1445309" y="1037624"/>
                </a:lnTo>
                <a:lnTo>
                  <a:pt x="1427545" y="1082082"/>
                </a:lnTo>
                <a:lnTo>
                  <a:pt x="1407063" y="1125355"/>
                </a:lnTo>
                <a:lnTo>
                  <a:pt x="1383942" y="1167278"/>
                </a:lnTo>
                <a:lnTo>
                  <a:pt x="1358271" y="1207688"/>
                </a:lnTo>
                <a:lnTo>
                  <a:pt x="1330148" y="1246433"/>
                </a:lnTo>
                <a:lnTo>
                  <a:pt x="1299680" y="1283362"/>
                </a:lnTo>
                <a:lnTo>
                  <a:pt x="1266986" y="1318335"/>
                </a:lnTo>
                <a:lnTo>
                  <a:pt x="1232189" y="1351218"/>
                </a:lnTo>
                <a:lnTo>
                  <a:pt x="1195424" y="1381883"/>
                </a:lnTo>
                <a:lnTo>
                  <a:pt x="1156831" y="1410214"/>
                </a:lnTo>
                <a:lnTo>
                  <a:pt x="1116559" y="1436102"/>
                </a:lnTo>
                <a:lnTo>
                  <a:pt x="1074762" y="1459448"/>
                </a:lnTo>
                <a:lnTo>
                  <a:pt x="1031599" y="1480162"/>
                </a:lnTo>
                <a:lnTo>
                  <a:pt x="987238" y="1498165"/>
                </a:lnTo>
                <a:lnTo>
                  <a:pt x="941847" y="1513388"/>
                </a:lnTo>
                <a:lnTo>
                  <a:pt x="895601" y="1525772"/>
                </a:lnTo>
                <a:lnTo>
                  <a:pt x="848677" y="1535269"/>
                </a:lnTo>
                <a:lnTo>
                  <a:pt x="801255" y="1541845"/>
                </a:lnTo>
                <a:lnTo>
                  <a:pt x="753518" y="1545472"/>
                </a:lnTo>
                <a:lnTo>
                  <a:pt x="705647" y="1546138"/>
                </a:lnTo>
                <a:lnTo>
                  <a:pt x="657827" y="1543839"/>
                </a:lnTo>
                <a:lnTo>
                  <a:pt x="610241" y="1538586"/>
                </a:lnTo>
                <a:lnTo>
                  <a:pt x="563071" y="1530397"/>
                </a:lnTo>
                <a:lnTo>
                  <a:pt x="516498" y="1519304"/>
                </a:lnTo>
                <a:lnTo>
                  <a:pt x="470702" y="1505349"/>
                </a:lnTo>
                <a:lnTo>
                  <a:pt x="425857" y="1488587"/>
                </a:lnTo>
                <a:lnTo>
                  <a:pt x="382135" y="1469082"/>
                </a:lnTo>
                <a:lnTo>
                  <a:pt x="339705" y="1446907"/>
                </a:lnTo>
                <a:lnTo>
                  <a:pt x="298728" y="1422149"/>
                </a:lnTo>
                <a:lnTo>
                  <a:pt x="259362" y="1394902"/>
                </a:lnTo>
                <a:lnTo>
                  <a:pt x="221758" y="1365271"/>
                </a:lnTo>
                <a:lnTo>
                  <a:pt x="186061" y="1333369"/>
                </a:lnTo>
                <a:lnTo>
                  <a:pt x="152406" y="1299319"/>
                </a:lnTo>
                <a:lnTo>
                  <a:pt x="120923" y="1263251"/>
                </a:lnTo>
                <a:lnTo>
                  <a:pt x="91734" y="1225304"/>
                </a:lnTo>
                <a:lnTo>
                  <a:pt x="64948" y="1185622"/>
                </a:lnTo>
                <a:lnTo>
                  <a:pt x="40671" y="1144359"/>
                </a:lnTo>
                <a:lnTo>
                  <a:pt x="18994" y="1101673"/>
                </a:lnTo>
                <a:lnTo>
                  <a:pt x="0" y="1057726"/>
                </a:lnTo>
                <a:lnTo>
                  <a:pt x="242304" y="961793"/>
                </a:lnTo>
                <a:lnTo>
                  <a:pt x="254895" y="990926"/>
                </a:lnTo>
                <a:lnTo>
                  <a:pt x="269266" y="1019224"/>
                </a:lnTo>
                <a:lnTo>
                  <a:pt x="285360" y="1046578"/>
                </a:lnTo>
                <a:lnTo>
                  <a:pt x="303116" y="1072884"/>
                </a:lnTo>
                <a:lnTo>
                  <a:pt x="322467" y="1098040"/>
                </a:lnTo>
                <a:lnTo>
                  <a:pt x="343337" y="1121950"/>
                </a:lnTo>
                <a:lnTo>
                  <a:pt x="365648" y="1144523"/>
                </a:lnTo>
                <a:lnTo>
                  <a:pt x="389313" y="1165671"/>
                </a:lnTo>
                <a:lnTo>
                  <a:pt x="414241" y="1185314"/>
                </a:lnTo>
                <a:lnTo>
                  <a:pt x="440337" y="1203377"/>
                </a:lnTo>
                <a:lnTo>
                  <a:pt x="467502" y="1219790"/>
                </a:lnTo>
                <a:lnTo>
                  <a:pt x="495630" y="1234490"/>
                </a:lnTo>
                <a:lnTo>
                  <a:pt x="524614" y="1247420"/>
                </a:lnTo>
                <a:lnTo>
                  <a:pt x="554342" y="1258532"/>
                </a:lnTo>
                <a:lnTo>
                  <a:pt x="584702" y="1267783"/>
                </a:lnTo>
                <a:lnTo>
                  <a:pt x="615576" y="1275137"/>
                </a:lnTo>
                <a:lnTo>
                  <a:pt x="646846" y="1280565"/>
                </a:lnTo>
                <a:lnTo>
                  <a:pt x="678392" y="1284048"/>
                </a:lnTo>
                <a:lnTo>
                  <a:pt x="710093" y="1285572"/>
                </a:lnTo>
                <a:lnTo>
                  <a:pt x="741827" y="1285130"/>
                </a:lnTo>
                <a:lnTo>
                  <a:pt x="773474" y="1282726"/>
                </a:lnTo>
                <a:lnTo>
                  <a:pt x="804910" y="1278367"/>
                </a:lnTo>
                <a:lnTo>
                  <a:pt x="836017" y="1272071"/>
                </a:lnTo>
                <a:lnTo>
                  <a:pt x="866675" y="1263861"/>
                </a:lnTo>
                <a:lnTo>
                  <a:pt x="896765" y="1253770"/>
                </a:lnTo>
                <a:lnTo>
                  <a:pt x="926173" y="1241835"/>
                </a:lnTo>
                <a:lnTo>
                  <a:pt x="954787" y="1228103"/>
                </a:lnTo>
                <a:lnTo>
                  <a:pt x="982495" y="1212627"/>
                </a:lnTo>
                <a:lnTo>
                  <a:pt x="1009192" y="1195465"/>
                </a:lnTo>
                <a:lnTo>
                  <a:pt x="1034776" y="1176684"/>
                </a:lnTo>
                <a:lnTo>
                  <a:pt x="1059149" y="1156355"/>
                </a:lnTo>
                <a:lnTo>
                  <a:pt x="1082216" y="1134557"/>
                </a:lnTo>
                <a:lnTo>
                  <a:pt x="1103890" y="1111372"/>
                </a:lnTo>
                <a:lnTo>
                  <a:pt x="1124088" y="1086891"/>
                </a:lnTo>
                <a:lnTo>
                  <a:pt x="1142731" y="1061206"/>
                </a:lnTo>
                <a:lnTo>
                  <a:pt x="1159749" y="1034417"/>
                </a:lnTo>
                <a:lnTo>
                  <a:pt x="1175076" y="1006626"/>
                </a:lnTo>
                <a:lnTo>
                  <a:pt x="1188654" y="977939"/>
                </a:lnTo>
                <a:lnTo>
                  <a:pt x="1200430" y="948467"/>
                </a:lnTo>
                <a:lnTo>
                  <a:pt x="1210359" y="918323"/>
                </a:lnTo>
                <a:lnTo>
                  <a:pt x="1218404" y="887622"/>
                </a:lnTo>
                <a:lnTo>
                  <a:pt x="1224533" y="856482"/>
                </a:lnTo>
                <a:lnTo>
                  <a:pt x="1228723" y="825022"/>
                </a:lnTo>
                <a:lnTo>
                  <a:pt x="1230957" y="793363"/>
                </a:lnTo>
                <a:lnTo>
                  <a:pt x="1231228" y="761627"/>
                </a:lnTo>
                <a:lnTo>
                  <a:pt x="1229534" y="729934"/>
                </a:lnTo>
                <a:lnTo>
                  <a:pt x="1225881" y="698408"/>
                </a:lnTo>
                <a:lnTo>
                  <a:pt x="1220285" y="667167"/>
                </a:lnTo>
                <a:lnTo>
                  <a:pt x="1212765" y="636333"/>
                </a:lnTo>
                <a:lnTo>
                  <a:pt x="1203351" y="606024"/>
                </a:lnTo>
                <a:lnTo>
                  <a:pt x="1192080" y="576355"/>
                </a:lnTo>
                <a:lnTo>
                  <a:pt x="1178993" y="547441"/>
                </a:lnTo>
                <a:lnTo>
                  <a:pt x="1164142" y="519393"/>
                </a:lnTo>
                <a:lnTo>
                  <a:pt x="1147584" y="492317"/>
                </a:lnTo>
                <a:lnTo>
                  <a:pt x="1129381" y="466318"/>
                </a:lnTo>
                <a:lnTo>
                  <a:pt x="1109604" y="441496"/>
                </a:lnTo>
                <a:lnTo>
                  <a:pt x="1088329" y="417945"/>
                </a:lnTo>
                <a:lnTo>
                  <a:pt x="1065637" y="395757"/>
                </a:lnTo>
                <a:lnTo>
                  <a:pt x="1041615" y="375015"/>
                </a:lnTo>
                <a:lnTo>
                  <a:pt x="1016355" y="355800"/>
                </a:lnTo>
                <a:lnTo>
                  <a:pt x="989954" y="338185"/>
                </a:lnTo>
                <a:lnTo>
                  <a:pt x="962514" y="322238"/>
                </a:lnTo>
                <a:lnTo>
                  <a:pt x="934139" y="308020"/>
                </a:lnTo>
                <a:lnTo>
                  <a:pt x="904939" y="295586"/>
                </a:lnTo>
                <a:lnTo>
                  <a:pt x="875025" y="284983"/>
                </a:lnTo>
                <a:lnTo>
                  <a:pt x="844512" y="276251"/>
                </a:lnTo>
                <a:lnTo>
                  <a:pt x="813517" y="269425"/>
                </a:lnTo>
                <a:lnTo>
                  <a:pt x="782159" y="264531"/>
                </a:lnTo>
                <a:lnTo>
                  <a:pt x="750558" y="261587"/>
                </a:lnTo>
                <a:lnTo>
                  <a:pt x="718836" y="260604"/>
                </a:lnTo>
                <a:close/>
              </a:path>
            </a:pathLst>
          </a:custGeom>
          <a:solidFill>
            <a:srgbClr val="A3B3C1"/>
          </a:solidFill>
          <a:ln/>
        </p:spPr>
      </p:sp>
      <p:sp>
        <p:nvSpPr>
          <p:cNvPr id="8" name="Shape 5"/>
          <p:cNvSpPr/>
          <p:nvPr/>
        </p:nvSpPr>
        <p:spPr>
          <a:xfrm>
            <a:off x="552755" y="2468140"/>
            <a:ext cx="445948" cy="860171"/>
          </a:xfrm>
          <a:custGeom>
            <a:avLst/>
            <a:gdLst/>
            <a:ahLst/>
            <a:cxnLst/>
            <a:rect l="l" t="t" r="r" b="b"/>
            <a:pathLst>
              <a:path w="445948" h="860171">
                <a:moveTo>
                  <a:pt x="46861" y="860171"/>
                </a:moveTo>
                <a:lnTo>
                  <a:pt x="42321" y="847386"/>
                </a:lnTo>
                <a:lnTo>
                  <a:pt x="38007" y="834524"/>
                </a:lnTo>
                <a:lnTo>
                  <a:pt x="33919" y="821587"/>
                </a:lnTo>
                <a:lnTo>
                  <a:pt x="30058" y="808581"/>
                </a:lnTo>
                <a:lnTo>
                  <a:pt x="26426" y="795510"/>
                </a:lnTo>
                <a:lnTo>
                  <a:pt x="23025" y="782376"/>
                </a:lnTo>
                <a:lnTo>
                  <a:pt x="19854" y="769185"/>
                </a:lnTo>
                <a:lnTo>
                  <a:pt x="16915" y="755940"/>
                </a:lnTo>
                <a:lnTo>
                  <a:pt x="14209" y="742646"/>
                </a:lnTo>
                <a:lnTo>
                  <a:pt x="11737" y="729306"/>
                </a:lnTo>
                <a:lnTo>
                  <a:pt x="9499" y="715925"/>
                </a:lnTo>
                <a:lnTo>
                  <a:pt x="7497" y="702507"/>
                </a:lnTo>
                <a:lnTo>
                  <a:pt x="5730" y="689056"/>
                </a:lnTo>
                <a:lnTo>
                  <a:pt x="4199" y="675576"/>
                </a:lnTo>
                <a:lnTo>
                  <a:pt x="2906" y="662071"/>
                </a:lnTo>
                <a:lnTo>
                  <a:pt x="1849" y="648545"/>
                </a:lnTo>
                <a:lnTo>
                  <a:pt x="1030" y="635003"/>
                </a:lnTo>
                <a:lnTo>
                  <a:pt x="449" y="621449"/>
                </a:lnTo>
                <a:lnTo>
                  <a:pt x="105" y="607886"/>
                </a:lnTo>
                <a:lnTo>
                  <a:pt x="0" y="594320"/>
                </a:lnTo>
                <a:lnTo>
                  <a:pt x="133" y="580753"/>
                </a:lnTo>
                <a:lnTo>
                  <a:pt x="503" y="567192"/>
                </a:lnTo>
                <a:lnTo>
                  <a:pt x="1112" y="553639"/>
                </a:lnTo>
                <a:lnTo>
                  <a:pt x="1959" y="540098"/>
                </a:lnTo>
                <a:lnTo>
                  <a:pt x="3042" y="526575"/>
                </a:lnTo>
                <a:lnTo>
                  <a:pt x="4363" y="513072"/>
                </a:lnTo>
                <a:lnTo>
                  <a:pt x="5921" y="499595"/>
                </a:lnTo>
                <a:lnTo>
                  <a:pt x="7715" y="486148"/>
                </a:lnTo>
                <a:lnTo>
                  <a:pt x="9745" y="472733"/>
                </a:lnTo>
                <a:lnTo>
                  <a:pt x="12009" y="459357"/>
                </a:lnTo>
                <a:lnTo>
                  <a:pt x="14509" y="446022"/>
                </a:lnTo>
                <a:lnTo>
                  <a:pt x="17241" y="432733"/>
                </a:lnTo>
                <a:lnTo>
                  <a:pt x="20207" y="419495"/>
                </a:lnTo>
                <a:lnTo>
                  <a:pt x="23404" y="406310"/>
                </a:lnTo>
                <a:lnTo>
                  <a:pt x="26832" y="393183"/>
                </a:lnTo>
                <a:lnTo>
                  <a:pt x="30490" y="380119"/>
                </a:lnTo>
                <a:lnTo>
                  <a:pt x="34377" y="367121"/>
                </a:lnTo>
                <a:lnTo>
                  <a:pt x="38491" y="354193"/>
                </a:lnTo>
                <a:lnTo>
                  <a:pt x="42832" y="341339"/>
                </a:lnTo>
                <a:lnTo>
                  <a:pt x="47397" y="328563"/>
                </a:lnTo>
                <a:lnTo>
                  <a:pt x="52186" y="315870"/>
                </a:lnTo>
                <a:lnTo>
                  <a:pt x="57196" y="303262"/>
                </a:lnTo>
                <a:lnTo>
                  <a:pt x="62427" y="290745"/>
                </a:lnTo>
                <a:lnTo>
                  <a:pt x="67878" y="278321"/>
                </a:lnTo>
                <a:lnTo>
                  <a:pt x="73545" y="265994"/>
                </a:lnTo>
                <a:lnTo>
                  <a:pt x="79427" y="253769"/>
                </a:lnTo>
                <a:lnTo>
                  <a:pt x="85524" y="241649"/>
                </a:lnTo>
                <a:lnTo>
                  <a:pt x="91832" y="229638"/>
                </a:lnTo>
                <a:lnTo>
                  <a:pt x="98349" y="217739"/>
                </a:lnTo>
                <a:lnTo>
                  <a:pt x="105075" y="205957"/>
                </a:lnTo>
                <a:lnTo>
                  <a:pt x="112006" y="194294"/>
                </a:lnTo>
                <a:lnTo>
                  <a:pt x="119141" y="182755"/>
                </a:lnTo>
                <a:lnTo>
                  <a:pt x="126477" y="171343"/>
                </a:lnTo>
                <a:lnTo>
                  <a:pt x="134013" y="160061"/>
                </a:lnTo>
                <a:lnTo>
                  <a:pt x="141745" y="148913"/>
                </a:lnTo>
                <a:lnTo>
                  <a:pt x="149672" y="137903"/>
                </a:lnTo>
                <a:lnTo>
                  <a:pt x="157790" y="127033"/>
                </a:lnTo>
                <a:lnTo>
                  <a:pt x="166098" y="116308"/>
                </a:lnTo>
                <a:lnTo>
                  <a:pt x="174593" y="105730"/>
                </a:lnTo>
                <a:lnTo>
                  <a:pt x="183272" y="95303"/>
                </a:lnTo>
                <a:lnTo>
                  <a:pt x="192133" y="85029"/>
                </a:lnTo>
                <a:lnTo>
                  <a:pt x="201173" y="74913"/>
                </a:lnTo>
                <a:lnTo>
                  <a:pt x="210389" y="64957"/>
                </a:lnTo>
                <a:lnTo>
                  <a:pt x="219778" y="55164"/>
                </a:lnTo>
                <a:lnTo>
                  <a:pt x="229338" y="45537"/>
                </a:lnTo>
                <a:lnTo>
                  <a:pt x="239065" y="36080"/>
                </a:lnTo>
                <a:lnTo>
                  <a:pt x="248957" y="26795"/>
                </a:lnTo>
                <a:lnTo>
                  <a:pt x="259010" y="17684"/>
                </a:lnTo>
                <a:lnTo>
                  <a:pt x="269221" y="8752"/>
                </a:lnTo>
                <a:lnTo>
                  <a:pt x="279587" y="0"/>
                </a:lnTo>
                <a:lnTo>
                  <a:pt x="445948" y="200595"/>
                </a:lnTo>
                <a:lnTo>
                  <a:pt x="439076" y="206397"/>
                </a:lnTo>
                <a:lnTo>
                  <a:pt x="432307" y="212319"/>
                </a:lnTo>
                <a:lnTo>
                  <a:pt x="425643" y="218358"/>
                </a:lnTo>
                <a:lnTo>
                  <a:pt x="419085" y="224513"/>
                </a:lnTo>
                <a:lnTo>
                  <a:pt x="412637" y="230783"/>
                </a:lnTo>
                <a:lnTo>
                  <a:pt x="406300" y="237165"/>
                </a:lnTo>
                <a:lnTo>
                  <a:pt x="400075" y="243657"/>
                </a:lnTo>
                <a:lnTo>
                  <a:pt x="393966" y="250257"/>
                </a:lnTo>
                <a:lnTo>
                  <a:pt x="387973" y="256963"/>
                </a:lnTo>
                <a:lnTo>
                  <a:pt x="382099" y="263774"/>
                </a:lnTo>
                <a:lnTo>
                  <a:pt x="376345" y="270686"/>
                </a:lnTo>
                <a:lnTo>
                  <a:pt x="370714" y="277698"/>
                </a:lnTo>
                <a:lnTo>
                  <a:pt x="365206" y="284809"/>
                </a:lnTo>
                <a:lnTo>
                  <a:pt x="359824" y="292014"/>
                </a:lnTo>
                <a:lnTo>
                  <a:pt x="354570" y="299313"/>
                </a:lnTo>
                <a:lnTo>
                  <a:pt x="349444" y="306703"/>
                </a:lnTo>
                <a:lnTo>
                  <a:pt x="344448" y="314182"/>
                </a:lnTo>
                <a:lnTo>
                  <a:pt x="339585" y="321748"/>
                </a:lnTo>
                <a:lnTo>
                  <a:pt x="334855" y="329397"/>
                </a:lnTo>
                <a:lnTo>
                  <a:pt x="330260" y="337129"/>
                </a:lnTo>
                <a:lnTo>
                  <a:pt x="325802" y="344939"/>
                </a:lnTo>
                <a:lnTo>
                  <a:pt x="321481" y="352827"/>
                </a:lnTo>
                <a:lnTo>
                  <a:pt x="317299" y="360790"/>
                </a:lnTo>
                <a:lnTo>
                  <a:pt x="313258" y="368824"/>
                </a:lnTo>
                <a:lnTo>
                  <a:pt x="309358" y="376929"/>
                </a:lnTo>
                <a:lnTo>
                  <a:pt x="305601" y="385100"/>
                </a:lnTo>
                <a:lnTo>
                  <a:pt x="301988" y="393336"/>
                </a:lnTo>
                <a:lnTo>
                  <a:pt x="298521" y="401634"/>
                </a:lnTo>
                <a:lnTo>
                  <a:pt x="295199" y="409992"/>
                </a:lnTo>
                <a:lnTo>
                  <a:pt x="292024" y="418407"/>
                </a:lnTo>
                <a:lnTo>
                  <a:pt x="288998" y="426876"/>
                </a:lnTo>
                <a:lnTo>
                  <a:pt x="286120" y="435397"/>
                </a:lnTo>
                <a:lnTo>
                  <a:pt x="283393" y="443968"/>
                </a:lnTo>
                <a:lnTo>
                  <a:pt x="280817" y="452584"/>
                </a:lnTo>
                <a:lnTo>
                  <a:pt x="278392" y="461245"/>
                </a:lnTo>
                <a:lnTo>
                  <a:pt x="276119" y="469947"/>
                </a:lnTo>
                <a:lnTo>
                  <a:pt x="273999" y="478687"/>
                </a:lnTo>
                <a:lnTo>
                  <a:pt x="272034" y="487464"/>
                </a:lnTo>
                <a:lnTo>
                  <a:pt x="270222" y="496273"/>
                </a:lnTo>
                <a:lnTo>
                  <a:pt x="268565" y="505113"/>
                </a:lnTo>
                <a:lnTo>
                  <a:pt x="267064" y="513980"/>
                </a:lnTo>
                <a:lnTo>
                  <a:pt x="265718" y="522873"/>
                </a:lnTo>
                <a:lnTo>
                  <a:pt x="264529" y="531788"/>
                </a:lnTo>
                <a:lnTo>
                  <a:pt x="263496" y="540722"/>
                </a:lnTo>
                <a:lnTo>
                  <a:pt x="262621" y="549673"/>
                </a:lnTo>
                <a:lnTo>
                  <a:pt x="261902" y="558638"/>
                </a:lnTo>
                <a:lnTo>
                  <a:pt x="261341" y="567614"/>
                </a:lnTo>
                <a:lnTo>
                  <a:pt x="260938" y="576599"/>
                </a:lnTo>
                <a:lnTo>
                  <a:pt x="260692" y="585589"/>
                </a:lnTo>
                <a:lnTo>
                  <a:pt x="260604" y="594583"/>
                </a:lnTo>
                <a:lnTo>
                  <a:pt x="260674" y="603576"/>
                </a:lnTo>
                <a:lnTo>
                  <a:pt x="260901" y="612567"/>
                </a:lnTo>
                <a:lnTo>
                  <a:pt x="261287" y="621552"/>
                </a:lnTo>
                <a:lnTo>
                  <a:pt x="261830" y="630530"/>
                </a:lnTo>
                <a:lnTo>
                  <a:pt x="262530" y="639496"/>
                </a:lnTo>
                <a:lnTo>
                  <a:pt x="263388" y="648449"/>
                </a:lnTo>
                <a:lnTo>
                  <a:pt x="264402" y="657385"/>
                </a:lnTo>
                <a:lnTo>
                  <a:pt x="265574" y="666302"/>
                </a:lnTo>
                <a:lnTo>
                  <a:pt x="266901" y="675198"/>
                </a:lnTo>
                <a:lnTo>
                  <a:pt x="268385" y="684068"/>
                </a:lnTo>
                <a:lnTo>
                  <a:pt x="270024" y="692911"/>
                </a:lnTo>
                <a:lnTo>
                  <a:pt x="271817" y="701724"/>
                </a:lnTo>
                <a:lnTo>
                  <a:pt x="273766" y="710505"/>
                </a:lnTo>
                <a:lnTo>
                  <a:pt x="275867" y="719249"/>
                </a:lnTo>
                <a:lnTo>
                  <a:pt x="278123" y="727956"/>
                </a:lnTo>
                <a:lnTo>
                  <a:pt x="280530" y="736621"/>
                </a:lnTo>
                <a:lnTo>
                  <a:pt x="283089" y="745243"/>
                </a:lnTo>
                <a:lnTo>
                  <a:pt x="285799" y="753819"/>
                </a:lnTo>
                <a:lnTo>
                  <a:pt x="288659" y="762346"/>
                </a:lnTo>
                <a:lnTo>
                  <a:pt x="291669" y="770821"/>
                </a:lnTo>
                <a:close/>
              </a:path>
            </a:pathLst>
          </a:custGeom>
          <a:solidFill>
            <a:srgbClr val="97C21D"/>
          </a:solidFill>
          <a:ln/>
        </p:spPr>
      </p:sp>
      <p:sp>
        <p:nvSpPr>
          <p:cNvPr id="9" name="Shape 6"/>
          <p:cNvSpPr/>
          <p:nvPr/>
        </p:nvSpPr>
        <p:spPr>
          <a:xfrm>
            <a:off x="848605" y="2290396"/>
            <a:ext cx="463455" cy="369642"/>
          </a:xfrm>
          <a:custGeom>
            <a:avLst/>
            <a:gdLst/>
            <a:ahLst/>
            <a:cxnLst/>
            <a:rect l="l" t="t" r="r" b="b"/>
            <a:pathLst>
              <a:path w="463455" h="369642">
                <a:moveTo>
                  <a:pt x="0" y="164625"/>
                </a:moveTo>
                <a:lnTo>
                  <a:pt x="5567" y="160297"/>
                </a:lnTo>
                <a:lnTo>
                  <a:pt x="11172" y="156021"/>
                </a:lnTo>
                <a:lnTo>
                  <a:pt x="16817" y="151796"/>
                </a:lnTo>
                <a:lnTo>
                  <a:pt x="22500" y="147623"/>
                </a:lnTo>
                <a:lnTo>
                  <a:pt x="28220" y="143501"/>
                </a:lnTo>
                <a:lnTo>
                  <a:pt x="33978" y="139432"/>
                </a:lnTo>
                <a:lnTo>
                  <a:pt x="39773" y="135416"/>
                </a:lnTo>
                <a:lnTo>
                  <a:pt x="45604" y="131453"/>
                </a:lnTo>
                <a:lnTo>
                  <a:pt x="51472" y="127543"/>
                </a:lnTo>
                <a:lnTo>
                  <a:pt x="57374" y="123686"/>
                </a:lnTo>
                <a:lnTo>
                  <a:pt x="63312" y="119884"/>
                </a:lnTo>
                <a:lnTo>
                  <a:pt x="69284" y="116136"/>
                </a:lnTo>
                <a:lnTo>
                  <a:pt x="75289" y="112443"/>
                </a:lnTo>
                <a:lnTo>
                  <a:pt x="81329" y="108804"/>
                </a:lnTo>
                <a:lnTo>
                  <a:pt x="87401" y="105221"/>
                </a:lnTo>
                <a:lnTo>
                  <a:pt x="93506" y="101693"/>
                </a:lnTo>
                <a:lnTo>
                  <a:pt x="99642" y="98221"/>
                </a:lnTo>
                <a:lnTo>
                  <a:pt x="105810" y="94806"/>
                </a:lnTo>
                <a:lnTo>
                  <a:pt x="112009" y="91446"/>
                </a:lnTo>
                <a:lnTo>
                  <a:pt x="118238" y="88143"/>
                </a:lnTo>
                <a:lnTo>
                  <a:pt x="124497" y="84898"/>
                </a:lnTo>
                <a:lnTo>
                  <a:pt x="130786" y="81709"/>
                </a:lnTo>
                <a:lnTo>
                  <a:pt x="137103" y="78578"/>
                </a:lnTo>
                <a:lnTo>
                  <a:pt x="143449" y="75505"/>
                </a:lnTo>
                <a:lnTo>
                  <a:pt x="149822" y="72489"/>
                </a:lnTo>
                <a:lnTo>
                  <a:pt x="156223" y="69532"/>
                </a:lnTo>
                <a:lnTo>
                  <a:pt x="162650" y="66634"/>
                </a:lnTo>
                <a:lnTo>
                  <a:pt x="169103" y="63794"/>
                </a:lnTo>
                <a:lnTo>
                  <a:pt x="175582" y="61013"/>
                </a:lnTo>
                <a:lnTo>
                  <a:pt x="182086" y="58291"/>
                </a:lnTo>
                <a:lnTo>
                  <a:pt x="188615" y="55629"/>
                </a:lnTo>
                <a:lnTo>
                  <a:pt x="195168" y="53026"/>
                </a:lnTo>
                <a:lnTo>
                  <a:pt x="201744" y="50483"/>
                </a:lnTo>
                <a:lnTo>
                  <a:pt x="208343" y="48001"/>
                </a:lnTo>
                <a:lnTo>
                  <a:pt x="214964" y="45578"/>
                </a:lnTo>
                <a:lnTo>
                  <a:pt x="221608" y="43216"/>
                </a:lnTo>
                <a:lnTo>
                  <a:pt x="228272" y="40915"/>
                </a:lnTo>
                <a:lnTo>
                  <a:pt x="234957" y="38675"/>
                </a:lnTo>
                <a:lnTo>
                  <a:pt x="241663" y="36495"/>
                </a:lnTo>
                <a:lnTo>
                  <a:pt x="248388" y="34377"/>
                </a:lnTo>
                <a:lnTo>
                  <a:pt x="255132" y="32321"/>
                </a:lnTo>
                <a:lnTo>
                  <a:pt x="261894" y="30326"/>
                </a:lnTo>
                <a:lnTo>
                  <a:pt x="268675" y="28392"/>
                </a:lnTo>
                <a:lnTo>
                  <a:pt x="275472" y="26521"/>
                </a:lnTo>
                <a:lnTo>
                  <a:pt x="282287" y="24712"/>
                </a:lnTo>
                <a:lnTo>
                  <a:pt x="289118" y="22965"/>
                </a:lnTo>
                <a:lnTo>
                  <a:pt x="295964" y="21280"/>
                </a:lnTo>
                <a:lnTo>
                  <a:pt x="302826" y="19658"/>
                </a:lnTo>
                <a:lnTo>
                  <a:pt x="309702" y="18098"/>
                </a:lnTo>
                <a:lnTo>
                  <a:pt x="316591" y="16601"/>
                </a:lnTo>
                <a:lnTo>
                  <a:pt x="323495" y="15167"/>
                </a:lnTo>
                <a:lnTo>
                  <a:pt x="330411" y="13796"/>
                </a:lnTo>
                <a:lnTo>
                  <a:pt x="337339" y="12489"/>
                </a:lnTo>
                <a:lnTo>
                  <a:pt x="344279" y="11244"/>
                </a:lnTo>
                <a:lnTo>
                  <a:pt x="351230" y="10063"/>
                </a:lnTo>
                <a:lnTo>
                  <a:pt x="358192" y="8945"/>
                </a:lnTo>
                <a:lnTo>
                  <a:pt x="365163" y="7891"/>
                </a:lnTo>
                <a:lnTo>
                  <a:pt x="372144" y="6900"/>
                </a:lnTo>
                <a:lnTo>
                  <a:pt x="379133" y="5973"/>
                </a:lnTo>
                <a:lnTo>
                  <a:pt x="386131" y="5110"/>
                </a:lnTo>
                <a:lnTo>
                  <a:pt x="393136" y="4311"/>
                </a:lnTo>
                <a:lnTo>
                  <a:pt x="400148" y="3576"/>
                </a:lnTo>
                <a:lnTo>
                  <a:pt x="407167" y="2904"/>
                </a:lnTo>
                <a:lnTo>
                  <a:pt x="414191" y="2297"/>
                </a:lnTo>
                <a:lnTo>
                  <a:pt x="421221" y="1754"/>
                </a:lnTo>
                <a:lnTo>
                  <a:pt x="428255" y="1274"/>
                </a:lnTo>
                <a:lnTo>
                  <a:pt x="435294" y="860"/>
                </a:lnTo>
                <a:lnTo>
                  <a:pt x="442335" y="509"/>
                </a:lnTo>
                <a:lnTo>
                  <a:pt x="449380" y="222"/>
                </a:lnTo>
                <a:lnTo>
                  <a:pt x="456427" y="0"/>
                </a:lnTo>
                <a:lnTo>
                  <a:pt x="463455" y="260509"/>
                </a:lnTo>
                <a:lnTo>
                  <a:pt x="458783" y="260657"/>
                </a:lnTo>
                <a:lnTo>
                  <a:pt x="454113" y="260847"/>
                </a:lnTo>
                <a:lnTo>
                  <a:pt x="449445" y="261079"/>
                </a:lnTo>
                <a:lnTo>
                  <a:pt x="444779" y="261354"/>
                </a:lnTo>
                <a:lnTo>
                  <a:pt x="440116" y="261672"/>
                </a:lnTo>
                <a:lnTo>
                  <a:pt x="435455" y="262032"/>
                </a:lnTo>
                <a:lnTo>
                  <a:pt x="430799" y="262435"/>
                </a:lnTo>
                <a:lnTo>
                  <a:pt x="426146" y="262880"/>
                </a:lnTo>
                <a:lnTo>
                  <a:pt x="421497" y="263367"/>
                </a:lnTo>
                <a:lnTo>
                  <a:pt x="416854" y="263897"/>
                </a:lnTo>
                <a:lnTo>
                  <a:pt x="412215" y="264469"/>
                </a:lnTo>
                <a:lnTo>
                  <a:pt x="407581" y="265084"/>
                </a:lnTo>
                <a:lnTo>
                  <a:pt x="402954" y="265740"/>
                </a:lnTo>
                <a:lnTo>
                  <a:pt x="398332" y="266439"/>
                </a:lnTo>
                <a:lnTo>
                  <a:pt x="393717" y="267180"/>
                </a:lnTo>
                <a:lnTo>
                  <a:pt x="389109" y="267963"/>
                </a:lnTo>
                <a:lnTo>
                  <a:pt x="384509" y="268788"/>
                </a:lnTo>
                <a:lnTo>
                  <a:pt x="379916" y="269655"/>
                </a:lnTo>
                <a:lnTo>
                  <a:pt x="375331" y="270564"/>
                </a:lnTo>
                <a:lnTo>
                  <a:pt x="370755" y="271515"/>
                </a:lnTo>
                <a:lnTo>
                  <a:pt x="366187" y="272507"/>
                </a:lnTo>
                <a:lnTo>
                  <a:pt x="361629" y="273541"/>
                </a:lnTo>
                <a:lnTo>
                  <a:pt x="357080" y="274616"/>
                </a:lnTo>
                <a:lnTo>
                  <a:pt x="352542" y="275733"/>
                </a:lnTo>
                <a:lnTo>
                  <a:pt x="348013" y="276891"/>
                </a:lnTo>
                <a:lnTo>
                  <a:pt x="343496" y="278091"/>
                </a:lnTo>
                <a:lnTo>
                  <a:pt x="338989" y="279331"/>
                </a:lnTo>
                <a:lnTo>
                  <a:pt x="334495" y="280613"/>
                </a:lnTo>
                <a:lnTo>
                  <a:pt x="330012" y="281935"/>
                </a:lnTo>
                <a:lnTo>
                  <a:pt x="325541" y="283299"/>
                </a:lnTo>
                <a:lnTo>
                  <a:pt x="321083" y="284703"/>
                </a:lnTo>
                <a:lnTo>
                  <a:pt x="316638" y="286148"/>
                </a:lnTo>
                <a:lnTo>
                  <a:pt x="312206" y="287633"/>
                </a:lnTo>
                <a:lnTo>
                  <a:pt x="307788" y="289158"/>
                </a:lnTo>
                <a:lnTo>
                  <a:pt x="303384" y="290724"/>
                </a:lnTo>
                <a:lnTo>
                  <a:pt x="298994" y="292330"/>
                </a:lnTo>
                <a:lnTo>
                  <a:pt x="294620" y="293976"/>
                </a:lnTo>
                <a:lnTo>
                  <a:pt x="290260" y="295661"/>
                </a:lnTo>
                <a:lnTo>
                  <a:pt x="285916" y="297387"/>
                </a:lnTo>
                <a:lnTo>
                  <a:pt x="281588" y="299152"/>
                </a:lnTo>
                <a:lnTo>
                  <a:pt x="277277" y="300956"/>
                </a:lnTo>
                <a:lnTo>
                  <a:pt x="272981" y="302799"/>
                </a:lnTo>
                <a:lnTo>
                  <a:pt x="268703" y="304682"/>
                </a:lnTo>
                <a:lnTo>
                  <a:pt x="264443" y="306604"/>
                </a:lnTo>
                <a:lnTo>
                  <a:pt x="260199" y="308564"/>
                </a:lnTo>
                <a:lnTo>
                  <a:pt x="255974" y="310563"/>
                </a:lnTo>
                <a:lnTo>
                  <a:pt x="251768" y="312600"/>
                </a:lnTo>
                <a:lnTo>
                  <a:pt x="247580" y="314676"/>
                </a:lnTo>
                <a:lnTo>
                  <a:pt x="243411" y="316790"/>
                </a:lnTo>
                <a:lnTo>
                  <a:pt x="239262" y="318941"/>
                </a:lnTo>
                <a:lnTo>
                  <a:pt x="235133" y="321131"/>
                </a:lnTo>
                <a:lnTo>
                  <a:pt x="231023" y="323358"/>
                </a:lnTo>
                <a:lnTo>
                  <a:pt x="226934" y="325622"/>
                </a:lnTo>
                <a:lnTo>
                  <a:pt x="222866" y="327924"/>
                </a:lnTo>
                <a:lnTo>
                  <a:pt x="218819" y="330262"/>
                </a:lnTo>
                <a:lnTo>
                  <a:pt x="214794" y="332638"/>
                </a:lnTo>
                <a:lnTo>
                  <a:pt x="210790" y="335050"/>
                </a:lnTo>
                <a:lnTo>
                  <a:pt x="206809" y="337498"/>
                </a:lnTo>
                <a:lnTo>
                  <a:pt x="202850" y="339983"/>
                </a:lnTo>
                <a:lnTo>
                  <a:pt x="198914" y="342504"/>
                </a:lnTo>
                <a:lnTo>
                  <a:pt x="195001" y="345060"/>
                </a:lnTo>
                <a:lnTo>
                  <a:pt x="191112" y="347652"/>
                </a:lnTo>
                <a:lnTo>
                  <a:pt x="187246" y="350279"/>
                </a:lnTo>
                <a:lnTo>
                  <a:pt x="183404" y="352942"/>
                </a:lnTo>
                <a:lnTo>
                  <a:pt x="179587" y="355639"/>
                </a:lnTo>
                <a:lnTo>
                  <a:pt x="175795" y="358372"/>
                </a:lnTo>
                <a:lnTo>
                  <a:pt x="172028" y="361138"/>
                </a:lnTo>
                <a:lnTo>
                  <a:pt x="168286" y="363939"/>
                </a:lnTo>
                <a:lnTo>
                  <a:pt x="164570" y="366774"/>
                </a:lnTo>
                <a:lnTo>
                  <a:pt x="160879" y="369642"/>
                </a:lnTo>
                <a:close/>
              </a:path>
            </a:pathLst>
          </a:custGeom>
          <a:solidFill>
            <a:srgbClr val="0B3A5C"/>
          </a:solidFill>
          <a:ln/>
        </p:spPr>
      </p:sp>
      <p:sp>
        <p:nvSpPr>
          <p:cNvPr id="10" name="Text 7"/>
          <p:cNvSpPr txBox="1"/>
          <p:nvPr/>
        </p:nvSpPr>
        <p:spPr>
          <a:xfrm>
            <a:off x="992981" y="2816352"/>
            <a:ext cx="665798" cy="285293"/>
          </a:xfrm>
          <a:prstGeom prst="rect">
            <a:avLst/>
          </a:prstGeom>
          <a:noFill/>
          <a:ln/>
        </p:spPr>
        <p:txBody>
          <a:bodyPr wrap="none" lIns="0" tIns="0" rIns="0" bIns="0" rtlCol="0" anchor="t"/>
          <a:lstStyle/>
          <a:p>
            <a:pPr algn="ctr" indent="0" marL="0">
              <a:lnSpc>
                <a:spcPts val="1730"/>
              </a:lnSpc>
              <a:buNone/>
            </a:pPr>
            <a:r>
              <a:rPr lang="en-US" sz="1730" b="1" spc="-69" kern="0" dirty="0">
                <a:solidFill>
                  <a:srgbClr val="062A44"/>
                </a:solidFill>
                <a:latin typeface="Arial" pitchFamily="34" charset="0"/>
                <a:ea typeface="Arial" pitchFamily="34" charset="-122"/>
                <a:cs typeface="Arial" pitchFamily="34" charset="-120"/>
              </a:rPr>
              <a:t>271.7k</a:t>
            </a:r>
            <a:endParaRPr lang="en-US" sz="1730" dirty="0"/>
          </a:p>
        </p:txBody>
      </p:sp>
      <p:sp>
        <p:nvSpPr>
          <p:cNvPr id="11" name="Text 8"/>
          <p:cNvSpPr txBox="1"/>
          <p:nvPr/>
        </p:nvSpPr>
        <p:spPr>
          <a:xfrm>
            <a:off x="1068112" y="3035808"/>
            <a:ext cx="515393" cy="184252"/>
          </a:xfrm>
          <a:prstGeom prst="rect">
            <a:avLst/>
          </a:prstGeom>
          <a:noFill/>
          <a:ln/>
        </p:spPr>
        <p:txBody>
          <a:bodyPr wrap="none" lIns="0" tIns="0" rIns="0" bIns="0" rtlCol="0" anchor="t"/>
          <a:lstStyle/>
          <a:p>
            <a:pPr algn="ctr" indent="0" marL="0">
              <a:lnSpc>
                <a:spcPts val="1120"/>
              </a:lnSpc>
              <a:buNone/>
            </a:pPr>
            <a:r>
              <a:rPr lang="en-US" sz="720" dirty="0">
                <a:solidFill>
                  <a:srgbClr val="5A6E7E"/>
                </a:solidFill>
                <a:latin typeface="Arial" pitchFamily="34" charset="0"/>
                <a:ea typeface="Arial" pitchFamily="34" charset="-122"/>
                <a:cs typeface="Arial" pitchFamily="34" charset="-120"/>
              </a:rPr>
              <a:t>service hrs</a:t>
            </a:r>
            <a:endParaRPr lang="en-US" sz="720" dirty="0"/>
          </a:p>
        </p:txBody>
      </p:sp>
      <p:sp>
        <p:nvSpPr>
          <p:cNvPr id="12" name="Text 9"/>
          <p:cNvSpPr txBox="1"/>
          <p:nvPr/>
        </p:nvSpPr>
        <p:spPr>
          <a:xfrm>
            <a:off x="768096" y="4041648"/>
            <a:ext cx="301495"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69.5%</a:t>
            </a:r>
            <a:endParaRPr lang="en-US" sz="720" dirty="0"/>
          </a:p>
        </p:txBody>
      </p:sp>
      <p:sp>
        <p:nvSpPr>
          <p:cNvPr id="13" name="Shape 10"/>
          <p:cNvSpPr/>
          <p:nvPr/>
        </p:nvSpPr>
        <p:spPr>
          <a:xfrm>
            <a:off x="640080" y="4071366"/>
            <a:ext cx="82296" cy="82296"/>
          </a:xfrm>
          <a:prstGeom prst="roundRect">
            <a:avLst>
              <a:gd name="adj" fmla="val 27778"/>
            </a:avLst>
          </a:prstGeom>
          <a:solidFill>
            <a:srgbClr val="A3B3C1"/>
          </a:solidFill>
          <a:ln/>
        </p:spPr>
      </p:sp>
      <p:sp>
        <p:nvSpPr>
          <p:cNvPr id="14" name="Text 11"/>
          <p:cNvSpPr txBox="1"/>
          <p:nvPr/>
        </p:nvSpPr>
        <p:spPr>
          <a:xfrm>
            <a:off x="1263301" y="4041648"/>
            <a:ext cx="314854"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20.0%</a:t>
            </a:r>
            <a:endParaRPr lang="en-US" sz="720" dirty="0"/>
          </a:p>
        </p:txBody>
      </p:sp>
      <p:sp>
        <p:nvSpPr>
          <p:cNvPr id="15" name="Shape 12"/>
          <p:cNvSpPr/>
          <p:nvPr/>
        </p:nvSpPr>
        <p:spPr>
          <a:xfrm>
            <a:off x="1135285" y="4071366"/>
            <a:ext cx="82296" cy="82296"/>
          </a:xfrm>
          <a:prstGeom prst="roundRect">
            <a:avLst>
              <a:gd name="adj" fmla="val 27778"/>
            </a:avLst>
          </a:prstGeom>
          <a:solidFill>
            <a:srgbClr val="97C21D"/>
          </a:solidFill>
          <a:ln/>
        </p:spPr>
      </p:sp>
      <p:sp>
        <p:nvSpPr>
          <p:cNvPr id="16" name="Text 13"/>
          <p:cNvSpPr txBox="1"/>
          <p:nvPr/>
        </p:nvSpPr>
        <p:spPr>
          <a:xfrm>
            <a:off x="1770650" y="4041648"/>
            <a:ext cx="283264"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10.6%</a:t>
            </a:r>
            <a:endParaRPr lang="en-US" sz="720" dirty="0"/>
          </a:p>
        </p:txBody>
      </p:sp>
      <p:sp>
        <p:nvSpPr>
          <p:cNvPr id="17" name="Shape 14"/>
          <p:cNvSpPr/>
          <p:nvPr/>
        </p:nvSpPr>
        <p:spPr>
          <a:xfrm>
            <a:off x="1642634" y="4071366"/>
            <a:ext cx="82296" cy="82296"/>
          </a:xfrm>
          <a:prstGeom prst="roundRect">
            <a:avLst>
              <a:gd name="adj" fmla="val 27778"/>
            </a:avLst>
          </a:prstGeom>
          <a:solidFill>
            <a:srgbClr val="0B3A5C"/>
          </a:solidFill>
          <a:ln/>
        </p:spPr>
      </p:sp>
      <p:sp>
        <p:nvSpPr>
          <p:cNvPr id="18" name="Shape 15"/>
          <p:cNvSpPr/>
          <p:nvPr/>
        </p:nvSpPr>
        <p:spPr>
          <a:xfrm>
            <a:off x="2468880" y="1920240"/>
            <a:ext cx="1975104" cy="2741486"/>
          </a:xfrm>
          <a:prstGeom prst="roundRect">
            <a:avLst>
              <a:gd name="adj" fmla="val 6481"/>
            </a:avLst>
          </a:prstGeom>
          <a:solidFill>
            <a:srgbClr val="FFFFFF">
              <a:alpha val="72000"/>
            </a:srgbClr>
          </a:solidFill>
          <a:ln w="9144">
            <a:solidFill>
              <a:srgbClr val="062A44">
                <a:alpha val="10000"/>
              </a:srgbClr>
            </a:solidFill>
            <a:prstDash val="solid"/>
          </a:ln>
          <a:effectLst>
            <a:outerShdw sx="100000" sy="100000" kx="0" ky="0" algn="bl" rotWithShape="0" blurRad="329184" dist="128016" dir="5400000">
              <a:srgbClr val="062A44">
                <a:alpha val="8400"/>
              </a:srgbClr>
            </a:outerShdw>
          </a:effectLst>
        </p:spPr>
      </p:sp>
      <p:sp>
        <p:nvSpPr>
          <p:cNvPr id="19" name="Shape 16"/>
          <p:cNvSpPr/>
          <p:nvPr/>
        </p:nvSpPr>
        <p:spPr>
          <a:xfrm>
            <a:off x="2587752" y="2041398"/>
            <a:ext cx="82296" cy="82296"/>
          </a:xfrm>
          <a:prstGeom prst="roundRect">
            <a:avLst>
              <a:gd name="adj" fmla="val 27778"/>
            </a:avLst>
          </a:prstGeom>
          <a:solidFill>
            <a:srgbClr val="A3B3C1"/>
          </a:solidFill>
          <a:ln/>
        </p:spPr>
      </p:sp>
      <p:sp>
        <p:nvSpPr>
          <p:cNvPr id="20" name="Text 17"/>
          <p:cNvSpPr txBox="1"/>
          <p:nvPr/>
        </p:nvSpPr>
        <p:spPr>
          <a:xfrm>
            <a:off x="2724912" y="2029968"/>
            <a:ext cx="411666" cy="136703"/>
          </a:xfrm>
          <a:prstGeom prst="rect">
            <a:avLst/>
          </a:prstGeom>
          <a:noFill/>
          <a:ln/>
        </p:spPr>
        <p:txBody>
          <a:bodyPr wrap="none" lIns="0" tIns="0" rIns="0" bIns="0" rtlCol="0" anchor="t"/>
          <a:lstStyle/>
          <a:p>
            <a:pPr algn="l" indent="0" marL="0">
              <a:lnSpc>
                <a:spcPts val="830"/>
              </a:lnSpc>
              <a:buNone/>
            </a:pPr>
            <a:r>
              <a:rPr lang="en-US" sz="830" b="1" spc="66" kern="0" dirty="0">
                <a:solidFill>
                  <a:srgbClr val="062A44"/>
                </a:solidFill>
                <a:latin typeface="Courier New" pitchFamily="34" charset="0"/>
                <a:ea typeface="Courier New" pitchFamily="34" charset="-122"/>
                <a:cs typeface="Courier New" pitchFamily="34" charset="-120"/>
              </a:rPr>
              <a:t>LCBTH</a:t>
            </a:r>
            <a:endParaRPr lang="en-US" sz="830" dirty="0"/>
          </a:p>
        </p:txBody>
      </p:sp>
      <p:sp>
        <p:nvSpPr>
          <p:cNvPr id="21" name="Shape 18"/>
          <p:cNvSpPr/>
          <p:nvPr/>
        </p:nvSpPr>
        <p:spPr>
          <a:xfrm>
            <a:off x="2587752" y="2194560"/>
            <a:ext cx="1737360" cy="197025"/>
          </a:xfrm>
          <a:prstGeom prst="roundRect">
            <a:avLst>
              <a:gd name="adj" fmla="val 18564"/>
            </a:avLst>
          </a:prstGeom>
          <a:solidFill>
            <a:srgbClr val="2E7FB8">
              <a:alpha val="10000"/>
            </a:srgbClr>
          </a:solidFill>
          <a:ln/>
        </p:spPr>
      </p:sp>
      <p:sp>
        <p:nvSpPr>
          <p:cNvPr id="22" name="Text 19"/>
          <p:cNvSpPr txBox="1"/>
          <p:nvPr/>
        </p:nvSpPr>
        <p:spPr>
          <a:xfrm>
            <a:off x="2633472" y="2223707"/>
            <a:ext cx="632479"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Service hours</a:t>
            </a:r>
            <a:endParaRPr lang="en-US" sz="710" dirty="0"/>
          </a:p>
        </p:txBody>
      </p:sp>
      <p:sp>
        <p:nvSpPr>
          <p:cNvPr id="23" name="Text 20"/>
          <p:cNvSpPr txBox="1"/>
          <p:nvPr/>
        </p:nvSpPr>
        <p:spPr>
          <a:xfrm>
            <a:off x="3952065" y="2223707"/>
            <a:ext cx="378347" cy="180401"/>
          </a:xfrm>
          <a:prstGeom prst="rect">
            <a:avLst/>
          </a:prstGeom>
          <a:noFill/>
          <a:ln/>
        </p:spPr>
        <p:txBody>
          <a:bodyPr wrap="none" lIns="0" tIns="0" rIns="0" bIns="0" rtlCol="0" anchor="t"/>
          <a:lstStyle/>
          <a:p>
            <a:pPr algn="l" indent="0" marL="0">
              <a:lnSpc>
                <a:spcPts val="1090"/>
              </a:lnSpc>
              <a:buNone/>
            </a:pPr>
            <a:r>
              <a:rPr lang="en-US" sz="710" b="1" dirty="0">
                <a:solidFill>
                  <a:srgbClr val="2E7FB8"/>
                </a:solidFill>
                <a:latin typeface="Arial" pitchFamily="34" charset="0"/>
                <a:ea typeface="Arial" pitchFamily="34" charset="-122"/>
                <a:cs typeface="Arial" pitchFamily="34" charset="-120"/>
              </a:rPr>
              <a:t>188,739</a:t>
            </a:r>
            <a:endParaRPr lang="en-US" sz="710" dirty="0"/>
          </a:p>
        </p:txBody>
      </p:sp>
      <p:sp>
        <p:nvSpPr>
          <p:cNvPr id="24" name="Text 21"/>
          <p:cNvSpPr txBox="1"/>
          <p:nvPr/>
        </p:nvSpPr>
        <p:spPr>
          <a:xfrm>
            <a:off x="2633472" y="2434447"/>
            <a:ext cx="676013"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Share of hours</a:t>
            </a:r>
            <a:endParaRPr lang="en-US" sz="710" dirty="0"/>
          </a:p>
        </p:txBody>
      </p:sp>
      <p:sp>
        <p:nvSpPr>
          <p:cNvPr id="25" name="Text 22"/>
          <p:cNvSpPr txBox="1"/>
          <p:nvPr/>
        </p:nvSpPr>
        <p:spPr>
          <a:xfrm>
            <a:off x="4016645" y="2434447"/>
            <a:ext cx="307310"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69.5%</a:t>
            </a:r>
            <a:endParaRPr lang="en-US" sz="710" dirty="0"/>
          </a:p>
        </p:txBody>
      </p:sp>
      <p:sp>
        <p:nvSpPr>
          <p:cNvPr id="26" name="Text 23"/>
          <p:cNvSpPr txBox="1"/>
          <p:nvPr/>
        </p:nvSpPr>
        <p:spPr>
          <a:xfrm>
            <a:off x="2633472" y="2645188"/>
            <a:ext cx="507378"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Customers</a:t>
            </a:r>
            <a:endParaRPr lang="en-US" sz="710" dirty="0"/>
          </a:p>
        </p:txBody>
      </p:sp>
      <p:sp>
        <p:nvSpPr>
          <p:cNvPr id="27" name="Text 24"/>
          <p:cNvSpPr txBox="1"/>
          <p:nvPr/>
        </p:nvSpPr>
        <p:spPr>
          <a:xfrm>
            <a:off x="4160663" y="2645188"/>
            <a:ext cx="148890"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20</a:t>
            </a:r>
            <a:endParaRPr lang="en-US" sz="710" dirty="0"/>
          </a:p>
        </p:txBody>
      </p:sp>
      <p:sp>
        <p:nvSpPr>
          <p:cNvPr id="28" name="Text 25"/>
          <p:cNvSpPr txBox="1"/>
          <p:nvPr/>
        </p:nvSpPr>
        <p:spPr>
          <a:xfrm>
            <a:off x="2633472" y="2855928"/>
            <a:ext cx="412294"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Missions</a:t>
            </a:r>
            <a:endParaRPr lang="en-US" sz="710" dirty="0"/>
          </a:p>
        </p:txBody>
      </p:sp>
      <p:sp>
        <p:nvSpPr>
          <p:cNvPr id="29" name="Text 26"/>
          <p:cNvSpPr txBox="1"/>
          <p:nvPr/>
        </p:nvSpPr>
        <p:spPr>
          <a:xfrm>
            <a:off x="4176093" y="2855928"/>
            <a:ext cx="131916"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76</a:t>
            </a:r>
            <a:endParaRPr lang="en-US" sz="710" dirty="0"/>
          </a:p>
        </p:txBody>
      </p:sp>
      <p:sp>
        <p:nvSpPr>
          <p:cNvPr id="30" name="Text 27"/>
          <p:cNvSpPr txBox="1"/>
          <p:nvPr/>
        </p:nvSpPr>
        <p:spPr>
          <a:xfrm>
            <a:off x="2633472" y="3066669"/>
            <a:ext cx="726148"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Hours / mission</a:t>
            </a:r>
            <a:endParaRPr lang="en-US" sz="710" dirty="0"/>
          </a:p>
        </p:txBody>
      </p:sp>
      <p:sp>
        <p:nvSpPr>
          <p:cNvPr id="31" name="Text 28"/>
          <p:cNvSpPr txBox="1"/>
          <p:nvPr/>
        </p:nvSpPr>
        <p:spPr>
          <a:xfrm>
            <a:off x="4029361" y="3066669"/>
            <a:ext cx="293322"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2,483</a:t>
            </a:r>
            <a:endParaRPr lang="en-US" sz="710" dirty="0"/>
          </a:p>
        </p:txBody>
      </p:sp>
      <p:sp>
        <p:nvSpPr>
          <p:cNvPr id="32" name="Text 29"/>
          <p:cNvSpPr txBox="1"/>
          <p:nvPr/>
        </p:nvSpPr>
        <p:spPr>
          <a:xfrm>
            <a:off x="2633472" y="3277410"/>
            <a:ext cx="688115"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Mgmt fee days</a:t>
            </a:r>
            <a:endParaRPr lang="en-US" sz="710" dirty="0"/>
          </a:p>
        </p:txBody>
      </p:sp>
      <p:sp>
        <p:nvSpPr>
          <p:cNvPr id="33" name="Text 30"/>
          <p:cNvSpPr txBox="1"/>
          <p:nvPr/>
        </p:nvSpPr>
        <p:spPr>
          <a:xfrm>
            <a:off x="4021217" y="3277410"/>
            <a:ext cx="302281"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2,004</a:t>
            </a:r>
            <a:endParaRPr lang="en-US" sz="710" dirty="0"/>
          </a:p>
        </p:txBody>
      </p:sp>
      <p:sp>
        <p:nvSpPr>
          <p:cNvPr id="34" name="Text 31"/>
          <p:cNvSpPr txBox="1"/>
          <p:nvPr/>
        </p:nvSpPr>
        <p:spPr>
          <a:xfrm>
            <a:off x="2633472" y="3488150"/>
            <a:ext cx="698016"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Per-piece units</a:t>
            </a:r>
            <a:endParaRPr lang="en-US" sz="710" dirty="0"/>
          </a:p>
        </p:txBody>
      </p:sp>
      <p:sp>
        <p:nvSpPr>
          <p:cNvPr id="35" name="Text 32"/>
          <p:cNvSpPr txBox="1"/>
          <p:nvPr/>
        </p:nvSpPr>
        <p:spPr>
          <a:xfrm>
            <a:off x="4028646" y="3488150"/>
            <a:ext cx="294108"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5,985</a:t>
            </a:r>
            <a:endParaRPr lang="en-US" sz="710" dirty="0"/>
          </a:p>
        </p:txBody>
      </p:sp>
      <p:sp>
        <p:nvSpPr>
          <p:cNvPr id="36" name="Text 33"/>
          <p:cNvSpPr txBox="1"/>
          <p:nvPr/>
        </p:nvSpPr>
        <p:spPr>
          <a:xfrm>
            <a:off x="2633472" y="3698891"/>
            <a:ext cx="794042"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Sep vs Jan hours</a:t>
            </a:r>
            <a:endParaRPr lang="en-US" sz="710" dirty="0"/>
          </a:p>
        </p:txBody>
      </p:sp>
      <p:sp>
        <p:nvSpPr>
          <p:cNvPr id="37" name="Text 34"/>
          <p:cNvSpPr txBox="1"/>
          <p:nvPr/>
        </p:nvSpPr>
        <p:spPr>
          <a:xfrm>
            <a:off x="4037076" y="3698891"/>
            <a:ext cx="284836"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+30%</a:t>
            </a:r>
            <a:endParaRPr lang="en-US" sz="710" dirty="0"/>
          </a:p>
        </p:txBody>
      </p:sp>
      <p:sp>
        <p:nvSpPr>
          <p:cNvPr id="38" name="Shape 35"/>
          <p:cNvSpPr/>
          <p:nvPr/>
        </p:nvSpPr>
        <p:spPr>
          <a:xfrm>
            <a:off x="2587752" y="3949065"/>
            <a:ext cx="1737360" cy="0"/>
          </a:xfrm>
          <a:prstGeom prst="line">
            <a:avLst/>
          </a:prstGeom>
          <a:noFill/>
          <a:ln w="9144">
            <a:solidFill>
              <a:srgbClr val="062A44">
                <a:alpha val="10000"/>
              </a:srgbClr>
            </a:solidFill>
            <a:prstDash val="solid"/>
          </a:ln>
        </p:spPr>
      </p:sp>
      <p:sp>
        <p:nvSpPr>
          <p:cNvPr id="39" name="Text 36"/>
          <p:cNvSpPr txBox="1"/>
          <p:nvPr/>
        </p:nvSpPr>
        <p:spPr>
          <a:xfrm>
            <a:off x="2587752" y="4026789"/>
            <a:ext cx="713889" cy="187959"/>
          </a:xfrm>
          <a:prstGeom prst="rect">
            <a:avLst/>
          </a:prstGeom>
          <a:noFill/>
          <a:ln/>
        </p:spPr>
        <p:txBody>
          <a:bodyPr wrap="none" lIns="0" tIns="0" rIns="0" bIns="0" rtlCol="0" anchor="t"/>
          <a:lstStyle/>
          <a:p>
            <a:pPr algn="l" indent="0" marL="0">
              <a:lnSpc>
                <a:spcPts val="1140"/>
              </a:lnSpc>
              <a:buNone/>
            </a:pPr>
            <a:r>
              <a:rPr lang="en-US" sz="730" b="1" dirty="0">
                <a:solidFill>
                  <a:srgbClr val="062A44"/>
                </a:solidFill>
                <a:latin typeface="Arial" pitchFamily="34" charset="0"/>
                <a:ea typeface="Arial" pitchFamily="34" charset="-122"/>
                <a:cs typeface="Arial" pitchFamily="34" charset="-120"/>
              </a:rPr>
              <a:t>LCBTH = scale</a:t>
            </a:r>
            <a:endParaRPr lang="en-US" sz="730" dirty="0"/>
          </a:p>
        </p:txBody>
      </p:sp>
      <p:sp>
        <p:nvSpPr>
          <p:cNvPr id="40" name="Text 37"/>
          <p:cNvSpPr txBox="1"/>
          <p:nvPr/>
        </p:nvSpPr>
        <p:spPr>
          <a:xfrm>
            <a:off x="2587752" y="4198811"/>
            <a:ext cx="1884864" cy="388519"/>
          </a:xfrm>
          <a:prstGeom prst="rect">
            <a:avLst/>
          </a:prstGeom>
          <a:noFill/>
          <a:ln/>
        </p:spPr>
        <p:txBody>
          <a:bodyPr wrap="square" lIns="0" tIns="0" rIns="0" bIns="0" rtlCol="0" anchor="t"/>
          <a:lstStyle/>
          <a:p>
            <a:pPr algn="l" indent="0" marL="0">
              <a:lnSpc>
                <a:spcPts val="930"/>
              </a:lnSpc>
              <a:buNone/>
            </a:pPr>
            <a:r>
              <a:rPr lang="en-US" sz="660" dirty="0">
                <a:solidFill>
                  <a:srgbClr val="5A6E7E"/>
                </a:solidFill>
                <a:latin typeface="Arial" pitchFamily="34" charset="0"/>
                <a:ea typeface="Arial" pitchFamily="34" charset="-122"/>
                <a:cs typeface="Arial" pitchFamily="34" charset="-120"/>
              </a:rPr>
              <a:t>Ford + AutoAlliance + Mitsubishi port/plant</a:t>
            </a:r>
            <a:endParaRPr lang="en-US" sz="660" dirty="0"/>
          </a:p>
          <a:p>
            <a:pPr algn="l" indent="0" marL="0">
              <a:lnSpc>
                <a:spcPts val="930"/>
              </a:lnSpc>
              <a:buNone/>
            </a:pPr>
            <a:r>
              <a:rPr lang="en-US" sz="660" dirty="0">
                <a:solidFill>
                  <a:srgbClr val="5A6E7E"/>
                </a:solidFill>
                <a:latin typeface="Arial" pitchFamily="34" charset="0"/>
                <a:ea typeface="Arial" pitchFamily="34" charset="-122"/>
                <a:cs typeface="Arial" pitchFamily="34" charset="-120"/>
              </a:rPr>
              <a:t>inspection. ~2,500 hrs per mission; only 10</a:t>
            </a:r>
            <a:endParaRPr lang="en-US" sz="660" dirty="0"/>
          </a:p>
          <a:p>
            <a:pPr algn="l" indent="0" marL="0">
              <a:lnSpc>
                <a:spcPts val="930"/>
              </a:lnSpc>
              <a:buNone/>
            </a:pPr>
            <a:r>
              <a:rPr lang="en-US" sz="660" dirty="0">
                <a:solidFill>
                  <a:srgbClr val="5A6E7E"/>
                </a:solidFill>
                <a:latin typeface="Arial" pitchFamily="34" charset="0"/>
                <a:ea typeface="Arial" pitchFamily="34" charset="-122"/>
                <a:cs typeface="Arial" pitchFamily="34" charset="-120"/>
              </a:rPr>
              <a:t>hosts.</a:t>
            </a:r>
            <a:endParaRPr lang="en-US" sz="660" dirty="0"/>
          </a:p>
        </p:txBody>
      </p:sp>
      <p:sp>
        <p:nvSpPr>
          <p:cNvPr id="41" name="Shape 38"/>
          <p:cNvSpPr/>
          <p:nvPr/>
        </p:nvSpPr>
        <p:spPr>
          <a:xfrm>
            <a:off x="4590288" y="1920240"/>
            <a:ext cx="1975104" cy="2741486"/>
          </a:xfrm>
          <a:prstGeom prst="roundRect">
            <a:avLst>
              <a:gd name="adj" fmla="val 6481"/>
            </a:avLst>
          </a:prstGeom>
          <a:solidFill>
            <a:srgbClr val="FFFFFF">
              <a:alpha val="72000"/>
            </a:srgbClr>
          </a:solidFill>
          <a:ln w="9144">
            <a:solidFill>
              <a:srgbClr val="062A44">
                <a:alpha val="10000"/>
              </a:srgbClr>
            </a:solidFill>
            <a:prstDash val="solid"/>
          </a:ln>
          <a:effectLst>
            <a:outerShdw sx="100000" sy="100000" kx="0" ky="0" algn="bl" rotWithShape="0" blurRad="329184" dist="128016" dir="5400000">
              <a:srgbClr val="062A44">
                <a:alpha val="8400"/>
              </a:srgbClr>
            </a:outerShdw>
          </a:effectLst>
        </p:spPr>
      </p:sp>
      <p:sp>
        <p:nvSpPr>
          <p:cNvPr id="42" name="Shape 39"/>
          <p:cNvSpPr/>
          <p:nvPr/>
        </p:nvSpPr>
        <p:spPr>
          <a:xfrm>
            <a:off x="4709160" y="2041398"/>
            <a:ext cx="82296" cy="82296"/>
          </a:xfrm>
          <a:prstGeom prst="roundRect">
            <a:avLst>
              <a:gd name="adj" fmla="val 27778"/>
            </a:avLst>
          </a:prstGeom>
          <a:solidFill>
            <a:srgbClr val="97C21D"/>
          </a:solidFill>
          <a:ln/>
        </p:spPr>
      </p:sp>
      <p:sp>
        <p:nvSpPr>
          <p:cNvPr id="43" name="Text 40"/>
          <p:cNvSpPr txBox="1"/>
          <p:nvPr/>
        </p:nvSpPr>
        <p:spPr>
          <a:xfrm>
            <a:off x="4846320" y="2029968"/>
            <a:ext cx="411666" cy="136703"/>
          </a:xfrm>
          <a:prstGeom prst="rect">
            <a:avLst/>
          </a:prstGeom>
          <a:noFill/>
          <a:ln/>
        </p:spPr>
        <p:txBody>
          <a:bodyPr wrap="none" lIns="0" tIns="0" rIns="0" bIns="0" rtlCol="0" anchor="t"/>
          <a:lstStyle/>
          <a:p>
            <a:pPr algn="l" indent="0" marL="0">
              <a:lnSpc>
                <a:spcPts val="830"/>
              </a:lnSpc>
              <a:buNone/>
            </a:pPr>
            <a:r>
              <a:rPr lang="en-US" sz="830" b="1" spc="66" kern="0" dirty="0">
                <a:solidFill>
                  <a:srgbClr val="062A44"/>
                </a:solidFill>
                <a:latin typeface="Courier New" pitchFamily="34" charset="0"/>
                <a:ea typeface="Courier New" pitchFamily="34" charset="-122"/>
                <a:cs typeface="Courier New" pitchFamily="34" charset="-120"/>
              </a:rPr>
              <a:t>BANGN</a:t>
            </a:r>
            <a:endParaRPr lang="en-US" sz="830" dirty="0"/>
          </a:p>
        </p:txBody>
      </p:sp>
      <p:sp>
        <p:nvSpPr>
          <p:cNvPr id="44" name="Text 41"/>
          <p:cNvSpPr txBox="1"/>
          <p:nvPr/>
        </p:nvSpPr>
        <p:spPr>
          <a:xfrm>
            <a:off x="4754880" y="2223707"/>
            <a:ext cx="632479"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Service hours</a:t>
            </a:r>
            <a:endParaRPr lang="en-US" sz="710" dirty="0"/>
          </a:p>
        </p:txBody>
      </p:sp>
      <p:sp>
        <p:nvSpPr>
          <p:cNvPr id="45" name="Text 42"/>
          <p:cNvSpPr txBox="1"/>
          <p:nvPr/>
        </p:nvSpPr>
        <p:spPr>
          <a:xfrm>
            <a:off x="6092904" y="2223707"/>
            <a:ext cx="356973"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54,235</a:t>
            </a:r>
            <a:endParaRPr lang="en-US" sz="710" dirty="0"/>
          </a:p>
        </p:txBody>
      </p:sp>
      <p:sp>
        <p:nvSpPr>
          <p:cNvPr id="46" name="Text 43"/>
          <p:cNvSpPr txBox="1"/>
          <p:nvPr/>
        </p:nvSpPr>
        <p:spPr>
          <a:xfrm>
            <a:off x="4754880" y="2434447"/>
            <a:ext cx="676013"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Share of hours</a:t>
            </a:r>
            <a:endParaRPr lang="en-US" sz="710" dirty="0"/>
          </a:p>
        </p:txBody>
      </p:sp>
      <p:sp>
        <p:nvSpPr>
          <p:cNvPr id="47" name="Text 44"/>
          <p:cNvSpPr txBox="1"/>
          <p:nvPr/>
        </p:nvSpPr>
        <p:spPr>
          <a:xfrm>
            <a:off x="6127480" y="2434447"/>
            <a:ext cx="318940"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20.0%</a:t>
            </a:r>
            <a:endParaRPr lang="en-US" sz="710" dirty="0"/>
          </a:p>
        </p:txBody>
      </p:sp>
      <p:sp>
        <p:nvSpPr>
          <p:cNvPr id="48" name="Text 45"/>
          <p:cNvSpPr txBox="1"/>
          <p:nvPr/>
        </p:nvSpPr>
        <p:spPr>
          <a:xfrm>
            <a:off x="4754880" y="2645188"/>
            <a:ext cx="507378"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Customers</a:t>
            </a:r>
            <a:endParaRPr lang="en-US" sz="710" dirty="0"/>
          </a:p>
        </p:txBody>
      </p:sp>
      <p:sp>
        <p:nvSpPr>
          <p:cNvPr id="49" name="Text 46"/>
          <p:cNvSpPr txBox="1"/>
          <p:nvPr/>
        </p:nvSpPr>
        <p:spPr>
          <a:xfrm>
            <a:off x="6284928" y="2645188"/>
            <a:ext cx="145747"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53</a:t>
            </a:r>
            <a:endParaRPr lang="en-US" sz="710" dirty="0"/>
          </a:p>
        </p:txBody>
      </p:sp>
      <p:sp>
        <p:nvSpPr>
          <p:cNvPr id="50" name="Shape 47"/>
          <p:cNvSpPr/>
          <p:nvPr/>
        </p:nvSpPr>
        <p:spPr>
          <a:xfrm>
            <a:off x="4709160" y="2826782"/>
            <a:ext cx="1737360" cy="197025"/>
          </a:xfrm>
          <a:prstGeom prst="roundRect">
            <a:avLst>
              <a:gd name="adj" fmla="val 18564"/>
            </a:avLst>
          </a:prstGeom>
          <a:solidFill>
            <a:srgbClr val="2E7FB8">
              <a:alpha val="10000"/>
            </a:srgbClr>
          </a:solidFill>
          <a:ln/>
        </p:spPr>
      </p:sp>
      <p:sp>
        <p:nvSpPr>
          <p:cNvPr id="51" name="Text 48"/>
          <p:cNvSpPr txBox="1"/>
          <p:nvPr/>
        </p:nvSpPr>
        <p:spPr>
          <a:xfrm>
            <a:off x="4754880" y="2855928"/>
            <a:ext cx="412294"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Missions</a:t>
            </a:r>
            <a:endParaRPr lang="en-US" sz="710" dirty="0"/>
          </a:p>
        </p:txBody>
      </p:sp>
      <p:sp>
        <p:nvSpPr>
          <p:cNvPr id="52" name="Text 49"/>
          <p:cNvSpPr txBox="1"/>
          <p:nvPr/>
        </p:nvSpPr>
        <p:spPr>
          <a:xfrm>
            <a:off x="6246352" y="2855928"/>
            <a:ext cx="188181" cy="180401"/>
          </a:xfrm>
          <a:prstGeom prst="rect">
            <a:avLst/>
          </a:prstGeom>
          <a:noFill/>
          <a:ln/>
        </p:spPr>
        <p:txBody>
          <a:bodyPr wrap="none" lIns="0" tIns="0" rIns="0" bIns="0" rtlCol="0" anchor="t"/>
          <a:lstStyle/>
          <a:p>
            <a:pPr algn="l" indent="0" marL="0">
              <a:lnSpc>
                <a:spcPts val="1090"/>
              </a:lnSpc>
              <a:buNone/>
            </a:pPr>
            <a:r>
              <a:rPr lang="en-US" sz="710" b="1" dirty="0">
                <a:solidFill>
                  <a:srgbClr val="2E7FB8"/>
                </a:solidFill>
                <a:latin typeface="Arial" pitchFamily="34" charset="0"/>
                <a:ea typeface="Arial" pitchFamily="34" charset="-122"/>
                <a:cs typeface="Arial" pitchFamily="34" charset="-120"/>
              </a:rPr>
              <a:t>140</a:t>
            </a:r>
            <a:endParaRPr lang="en-US" sz="710" dirty="0"/>
          </a:p>
        </p:txBody>
      </p:sp>
      <p:sp>
        <p:nvSpPr>
          <p:cNvPr id="53" name="Shape 50"/>
          <p:cNvSpPr/>
          <p:nvPr/>
        </p:nvSpPr>
        <p:spPr>
          <a:xfrm>
            <a:off x="4709160" y="3037523"/>
            <a:ext cx="1737360" cy="197025"/>
          </a:xfrm>
          <a:prstGeom prst="roundRect">
            <a:avLst>
              <a:gd name="adj" fmla="val 18564"/>
            </a:avLst>
          </a:prstGeom>
          <a:solidFill>
            <a:srgbClr val="2E7FB8">
              <a:alpha val="10000"/>
            </a:srgbClr>
          </a:solidFill>
          <a:ln/>
        </p:spPr>
      </p:sp>
      <p:sp>
        <p:nvSpPr>
          <p:cNvPr id="54" name="Text 51"/>
          <p:cNvSpPr txBox="1"/>
          <p:nvPr/>
        </p:nvSpPr>
        <p:spPr>
          <a:xfrm>
            <a:off x="4754880" y="3066669"/>
            <a:ext cx="726148"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Hours / mission</a:t>
            </a:r>
            <a:endParaRPr lang="en-US" sz="710" dirty="0"/>
          </a:p>
        </p:txBody>
      </p:sp>
      <p:sp>
        <p:nvSpPr>
          <p:cNvPr id="55" name="Text 52"/>
          <p:cNvSpPr txBox="1"/>
          <p:nvPr/>
        </p:nvSpPr>
        <p:spPr>
          <a:xfrm>
            <a:off x="6239637" y="3066669"/>
            <a:ext cx="195567" cy="180401"/>
          </a:xfrm>
          <a:prstGeom prst="rect">
            <a:avLst/>
          </a:prstGeom>
          <a:noFill/>
          <a:ln/>
        </p:spPr>
        <p:txBody>
          <a:bodyPr wrap="none" lIns="0" tIns="0" rIns="0" bIns="0" rtlCol="0" anchor="t"/>
          <a:lstStyle/>
          <a:p>
            <a:pPr algn="l" indent="0" marL="0">
              <a:lnSpc>
                <a:spcPts val="1090"/>
              </a:lnSpc>
              <a:buNone/>
            </a:pPr>
            <a:r>
              <a:rPr lang="en-US" sz="710" b="1" dirty="0">
                <a:solidFill>
                  <a:srgbClr val="2E7FB8"/>
                </a:solidFill>
                <a:latin typeface="Arial" pitchFamily="34" charset="0"/>
                <a:ea typeface="Arial" pitchFamily="34" charset="-122"/>
                <a:cs typeface="Arial" pitchFamily="34" charset="-120"/>
              </a:rPr>
              <a:t>387</a:t>
            </a:r>
            <a:endParaRPr lang="en-US" sz="710" dirty="0"/>
          </a:p>
        </p:txBody>
      </p:sp>
      <p:sp>
        <p:nvSpPr>
          <p:cNvPr id="56" name="Text 53"/>
          <p:cNvSpPr txBox="1"/>
          <p:nvPr/>
        </p:nvSpPr>
        <p:spPr>
          <a:xfrm>
            <a:off x="4754880" y="3277410"/>
            <a:ext cx="688115"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Mgmt fee days</a:t>
            </a:r>
            <a:endParaRPr lang="en-US" sz="710" dirty="0"/>
          </a:p>
        </p:txBody>
      </p:sp>
      <p:sp>
        <p:nvSpPr>
          <p:cNvPr id="57" name="Text 54"/>
          <p:cNvSpPr txBox="1"/>
          <p:nvPr/>
        </p:nvSpPr>
        <p:spPr>
          <a:xfrm>
            <a:off x="6161484" y="3277410"/>
            <a:ext cx="281535"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1,200</a:t>
            </a:r>
            <a:endParaRPr lang="en-US" sz="710" dirty="0"/>
          </a:p>
        </p:txBody>
      </p:sp>
      <p:sp>
        <p:nvSpPr>
          <p:cNvPr id="58" name="Text 55"/>
          <p:cNvSpPr txBox="1"/>
          <p:nvPr/>
        </p:nvSpPr>
        <p:spPr>
          <a:xfrm>
            <a:off x="4754880" y="3488150"/>
            <a:ext cx="698016"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Per-piece units</a:t>
            </a:r>
            <a:endParaRPr lang="en-US" sz="710" dirty="0"/>
          </a:p>
        </p:txBody>
      </p:sp>
      <p:sp>
        <p:nvSpPr>
          <p:cNvPr id="59" name="Text 56"/>
          <p:cNvSpPr txBox="1"/>
          <p:nvPr/>
        </p:nvSpPr>
        <p:spPr>
          <a:xfrm>
            <a:off x="6095048" y="3488150"/>
            <a:ext cx="354616" cy="180401"/>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23,533</a:t>
            </a:r>
            <a:endParaRPr lang="en-US" sz="710" dirty="0"/>
          </a:p>
        </p:txBody>
      </p:sp>
      <p:sp>
        <p:nvSpPr>
          <p:cNvPr id="60" name="Shape 57"/>
          <p:cNvSpPr/>
          <p:nvPr/>
        </p:nvSpPr>
        <p:spPr>
          <a:xfrm>
            <a:off x="4709160" y="3669744"/>
            <a:ext cx="1737360" cy="197025"/>
          </a:xfrm>
          <a:prstGeom prst="roundRect">
            <a:avLst>
              <a:gd name="adj" fmla="val 18564"/>
            </a:avLst>
          </a:prstGeom>
          <a:solidFill>
            <a:srgbClr val="2E7FB8">
              <a:alpha val="10000"/>
            </a:srgbClr>
          </a:solidFill>
          <a:ln/>
        </p:spPr>
      </p:sp>
      <p:sp>
        <p:nvSpPr>
          <p:cNvPr id="61" name="Text 58"/>
          <p:cNvSpPr txBox="1"/>
          <p:nvPr/>
        </p:nvSpPr>
        <p:spPr>
          <a:xfrm>
            <a:off x="4754880" y="3698891"/>
            <a:ext cx="794042" cy="180401"/>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Sep vs Jan hours</a:t>
            </a:r>
            <a:endParaRPr lang="en-US" sz="710" dirty="0"/>
          </a:p>
        </p:txBody>
      </p:sp>
      <p:sp>
        <p:nvSpPr>
          <p:cNvPr id="62" name="Text 59"/>
          <p:cNvSpPr txBox="1"/>
          <p:nvPr/>
        </p:nvSpPr>
        <p:spPr>
          <a:xfrm>
            <a:off x="6165342" y="3698891"/>
            <a:ext cx="277292" cy="180401"/>
          </a:xfrm>
          <a:prstGeom prst="rect">
            <a:avLst/>
          </a:prstGeom>
          <a:noFill/>
          <a:ln/>
        </p:spPr>
        <p:txBody>
          <a:bodyPr wrap="none" lIns="0" tIns="0" rIns="0" bIns="0" rtlCol="0" anchor="t"/>
          <a:lstStyle/>
          <a:p>
            <a:pPr algn="l" indent="0" marL="0">
              <a:lnSpc>
                <a:spcPts val="1090"/>
              </a:lnSpc>
              <a:buNone/>
            </a:pPr>
            <a:r>
              <a:rPr lang="en-US" sz="710" b="1" dirty="0">
                <a:solidFill>
                  <a:srgbClr val="2E7FB8"/>
                </a:solidFill>
                <a:latin typeface="Arial" pitchFamily="34" charset="0"/>
                <a:ea typeface="Arial" pitchFamily="34" charset="-122"/>
                <a:cs typeface="Arial" pitchFamily="34" charset="-120"/>
              </a:rPr>
              <a:t>+96%</a:t>
            </a:r>
            <a:endParaRPr lang="en-US" sz="710" dirty="0"/>
          </a:p>
        </p:txBody>
      </p:sp>
      <p:sp>
        <p:nvSpPr>
          <p:cNvPr id="63" name="Shape 60"/>
          <p:cNvSpPr/>
          <p:nvPr/>
        </p:nvSpPr>
        <p:spPr>
          <a:xfrm>
            <a:off x="4709160" y="3949065"/>
            <a:ext cx="1737360" cy="0"/>
          </a:xfrm>
          <a:prstGeom prst="line">
            <a:avLst/>
          </a:prstGeom>
          <a:noFill/>
          <a:ln w="9144">
            <a:solidFill>
              <a:srgbClr val="062A44">
                <a:alpha val="10000"/>
              </a:srgbClr>
            </a:solidFill>
            <a:prstDash val="solid"/>
          </a:ln>
        </p:spPr>
      </p:sp>
      <p:sp>
        <p:nvSpPr>
          <p:cNvPr id="64" name="Text 61"/>
          <p:cNvSpPr txBox="1"/>
          <p:nvPr/>
        </p:nvSpPr>
        <p:spPr>
          <a:xfrm>
            <a:off x="4709160" y="4026789"/>
            <a:ext cx="871366" cy="187959"/>
          </a:xfrm>
          <a:prstGeom prst="rect">
            <a:avLst/>
          </a:prstGeom>
          <a:noFill/>
          <a:ln/>
        </p:spPr>
        <p:txBody>
          <a:bodyPr wrap="none" lIns="0" tIns="0" rIns="0" bIns="0" rtlCol="0" anchor="t"/>
          <a:lstStyle/>
          <a:p>
            <a:pPr algn="l" indent="0" marL="0">
              <a:lnSpc>
                <a:spcPts val="1140"/>
              </a:lnSpc>
              <a:buNone/>
            </a:pPr>
            <a:r>
              <a:rPr lang="en-US" sz="730" b="1" dirty="0">
                <a:solidFill>
                  <a:srgbClr val="062A44"/>
                </a:solidFill>
                <a:latin typeface="Arial" pitchFamily="34" charset="0"/>
                <a:ea typeface="Arial" pitchFamily="34" charset="-122"/>
                <a:cs typeface="Arial" pitchFamily="34" charset="-120"/>
              </a:rPr>
              <a:t>BANGN = breadth</a:t>
            </a:r>
            <a:endParaRPr lang="en-US" sz="730" dirty="0"/>
          </a:p>
        </p:txBody>
      </p:sp>
      <p:sp>
        <p:nvSpPr>
          <p:cNvPr id="65" name="Text 62"/>
          <p:cNvSpPr txBox="1"/>
          <p:nvPr/>
        </p:nvSpPr>
        <p:spPr>
          <a:xfrm>
            <a:off x="4709160" y="4198811"/>
            <a:ext cx="1844145" cy="388519"/>
          </a:xfrm>
          <a:prstGeom prst="rect">
            <a:avLst/>
          </a:prstGeom>
          <a:noFill/>
          <a:ln/>
        </p:spPr>
        <p:txBody>
          <a:bodyPr wrap="square" lIns="0" tIns="0" rIns="0" bIns="0" rtlCol="0" anchor="t"/>
          <a:lstStyle/>
          <a:p>
            <a:pPr algn="l" indent="0" marL="0">
              <a:lnSpc>
                <a:spcPts val="930"/>
              </a:lnSpc>
              <a:buNone/>
            </a:pPr>
            <a:r>
              <a:rPr lang="en-US" sz="660" dirty="0">
                <a:solidFill>
                  <a:srgbClr val="5A6E7E"/>
                </a:solidFill>
                <a:latin typeface="Arial" pitchFamily="34" charset="0"/>
                <a:ea typeface="Arial" pitchFamily="34" charset="-122"/>
                <a:cs typeface="Arial" pitchFamily="34" charset="-120"/>
              </a:rPr>
              <a:t>140 missions, 53 customers, 70% of per-piece</a:t>
            </a:r>
            <a:endParaRPr lang="en-US" sz="660" dirty="0"/>
          </a:p>
          <a:p>
            <a:pPr algn="l" indent="0" marL="0">
              <a:lnSpc>
                <a:spcPts val="930"/>
              </a:lnSpc>
              <a:buNone/>
            </a:pPr>
            <a:r>
              <a:rPr lang="en-US" sz="660" dirty="0">
                <a:solidFill>
                  <a:srgbClr val="5A6E7E"/>
                </a:solidFill>
                <a:latin typeface="Arial" pitchFamily="34" charset="0"/>
                <a:ea typeface="Arial" pitchFamily="34" charset="-122"/>
                <a:cs typeface="Arial" pitchFamily="34" charset="-120"/>
              </a:rPr>
              <a:t>units. Many short sorting jobs (~390</a:t>
            </a:r>
            <a:endParaRPr lang="en-US" sz="660" dirty="0"/>
          </a:p>
          <a:p>
            <a:pPr algn="l" indent="0" marL="0">
              <a:lnSpc>
                <a:spcPts val="930"/>
              </a:lnSpc>
              <a:buNone/>
            </a:pPr>
            <a:r>
              <a:rPr lang="en-US" sz="660" dirty="0">
                <a:solidFill>
                  <a:srgbClr val="5A6E7E"/>
                </a:solidFill>
                <a:latin typeface="Arial" pitchFamily="34" charset="0"/>
                <a:ea typeface="Arial" pitchFamily="34" charset="-122"/>
                <a:cs typeface="Arial" pitchFamily="34" charset="-120"/>
              </a:rPr>
              <a:t>hrs/mission).</a:t>
            </a:r>
            <a:endParaRPr lang="en-US" sz="660" dirty="0"/>
          </a:p>
        </p:txBody>
      </p:sp>
      <p:sp>
        <p:nvSpPr>
          <p:cNvPr id="66" name="Shape 63"/>
          <p:cNvSpPr/>
          <p:nvPr/>
        </p:nvSpPr>
        <p:spPr>
          <a:xfrm>
            <a:off x="6711696" y="1920240"/>
            <a:ext cx="1975104" cy="2741486"/>
          </a:xfrm>
          <a:prstGeom prst="roundRect">
            <a:avLst>
              <a:gd name="adj" fmla="val 6481"/>
            </a:avLst>
          </a:prstGeom>
          <a:solidFill>
            <a:srgbClr val="FFFFFF">
              <a:alpha val="72000"/>
            </a:srgbClr>
          </a:solidFill>
          <a:ln w="9144">
            <a:solidFill>
              <a:srgbClr val="062A44">
                <a:alpha val="10000"/>
              </a:srgbClr>
            </a:solidFill>
            <a:prstDash val="solid"/>
          </a:ln>
          <a:effectLst>
            <a:outerShdw sx="100000" sy="100000" kx="0" ky="0" algn="bl" rotWithShape="0" blurRad="329184" dist="128016" dir="5400000">
              <a:srgbClr val="062A44">
                <a:alpha val="8400"/>
              </a:srgbClr>
            </a:outerShdw>
          </a:effectLst>
        </p:spPr>
      </p:sp>
      <p:sp>
        <p:nvSpPr>
          <p:cNvPr id="67" name="Shape 64"/>
          <p:cNvSpPr/>
          <p:nvPr/>
        </p:nvSpPr>
        <p:spPr>
          <a:xfrm>
            <a:off x="6830568" y="2047256"/>
            <a:ext cx="82296" cy="82296"/>
          </a:xfrm>
          <a:prstGeom prst="roundRect">
            <a:avLst>
              <a:gd name="adj" fmla="val 27778"/>
            </a:avLst>
          </a:prstGeom>
          <a:solidFill>
            <a:srgbClr val="0B3A5C"/>
          </a:solidFill>
          <a:ln/>
        </p:spPr>
      </p:sp>
      <p:sp>
        <p:nvSpPr>
          <p:cNvPr id="68" name="Text 65"/>
          <p:cNvSpPr txBox="1"/>
          <p:nvPr/>
        </p:nvSpPr>
        <p:spPr>
          <a:xfrm>
            <a:off x="6967728" y="2035826"/>
            <a:ext cx="411666" cy="136703"/>
          </a:xfrm>
          <a:prstGeom prst="rect">
            <a:avLst/>
          </a:prstGeom>
          <a:noFill/>
          <a:ln/>
        </p:spPr>
        <p:txBody>
          <a:bodyPr wrap="none" lIns="0" tIns="0" rIns="0" bIns="0" rtlCol="0" anchor="t"/>
          <a:lstStyle/>
          <a:p>
            <a:pPr algn="l" indent="0" marL="0">
              <a:lnSpc>
                <a:spcPts val="830"/>
              </a:lnSpc>
              <a:buNone/>
            </a:pPr>
            <a:r>
              <a:rPr lang="en-US" sz="830" b="1" spc="66" kern="0" dirty="0">
                <a:solidFill>
                  <a:srgbClr val="062A44"/>
                </a:solidFill>
                <a:latin typeface="Courier New" pitchFamily="34" charset="0"/>
                <a:ea typeface="Courier New" pitchFamily="34" charset="-122"/>
                <a:cs typeface="Courier New" pitchFamily="34" charset="-120"/>
              </a:rPr>
              <a:t>AMATA</a:t>
            </a:r>
            <a:endParaRPr lang="en-US" sz="830" dirty="0"/>
          </a:p>
        </p:txBody>
      </p:sp>
      <p:sp>
        <p:nvSpPr>
          <p:cNvPr id="69" name="Text 66"/>
          <p:cNvSpPr txBox="1"/>
          <p:nvPr/>
        </p:nvSpPr>
        <p:spPr>
          <a:xfrm>
            <a:off x="6876288" y="2235422"/>
            <a:ext cx="632479" cy="192117"/>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Service hours</a:t>
            </a:r>
            <a:endParaRPr lang="en-US" sz="710" dirty="0"/>
          </a:p>
        </p:txBody>
      </p:sp>
      <p:sp>
        <p:nvSpPr>
          <p:cNvPr id="70" name="Text 67"/>
          <p:cNvSpPr txBox="1"/>
          <p:nvPr/>
        </p:nvSpPr>
        <p:spPr>
          <a:xfrm>
            <a:off x="8227600" y="2235422"/>
            <a:ext cx="342357" cy="192117"/>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28,687</a:t>
            </a:r>
            <a:endParaRPr lang="en-US" sz="710" dirty="0"/>
          </a:p>
        </p:txBody>
      </p:sp>
      <p:sp>
        <p:nvSpPr>
          <p:cNvPr id="71" name="Text 68"/>
          <p:cNvSpPr txBox="1"/>
          <p:nvPr/>
        </p:nvSpPr>
        <p:spPr>
          <a:xfrm>
            <a:off x="6876288" y="2457879"/>
            <a:ext cx="676013" cy="192117"/>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Share of hours</a:t>
            </a:r>
            <a:endParaRPr lang="en-US" sz="710" dirty="0"/>
          </a:p>
        </p:txBody>
      </p:sp>
      <p:sp>
        <p:nvSpPr>
          <p:cNvPr id="72" name="Text 69"/>
          <p:cNvSpPr txBox="1"/>
          <p:nvPr/>
        </p:nvSpPr>
        <p:spPr>
          <a:xfrm>
            <a:off x="8275463" y="2457879"/>
            <a:ext cx="289708" cy="192117"/>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10.6%</a:t>
            </a:r>
            <a:endParaRPr lang="en-US" sz="710" dirty="0"/>
          </a:p>
        </p:txBody>
      </p:sp>
      <p:sp>
        <p:nvSpPr>
          <p:cNvPr id="73" name="Text 70"/>
          <p:cNvSpPr txBox="1"/>
          <p:nvPr/>
        </p:nvSpPr>
        <p:spPr>
          <a:xfrm>
            <a:off x="6876288" y="2680335"/>
            <a:ext cx="507378" cy="192117"/>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Customers</a:t>
            </a:r>
            <a:endParaRPr lang="en-US" sz="710" dirty="0"/>
          </a:p>
        </p:txBody>
      </p:sp>
      <p:sp>
        <p:nvSpPr>
          <p:cNvPr id="74" name="Text 71"/>
          <p:cNvSpPr txBox="1"/>
          <p:nvPr/>
        </p:nvSpPr>
        <p:spPr>
          <a:xfrm>
            <a:off x="8426768" y="2680335"/>
            <a:ext cx="123273" cy="192117"/>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31</a:t>
            </a:r>
            <a:endParaRPr lang="en-US" sz="710" dirty="0"/>
          </a:p>
        </p:txBody>
      </p:sp>
      <p:sp>
        <p:nvSpPr>
          <p:cNvPr id="75" name="Text 72"/>
          <p:cNvSpPr txBox="1"/>
          <p:nvPr/>
        </p:nvSpPr>
        <p:spPr>
          <a:xfrm>
            <a:off x="6876288" y="2902791"/>
            <a:ext cx="412294" cy="192117"/>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Missions</a:t>
            </a:r>
            <a:endParaRPr lang="en-US" sz="710" dirty="0"/>
          </a:p>
        </p:txBody>
      </p:sp>
      <p:sp>
        <p:nvSpPr>
          <p:cNvPr id="76" name="Text 73"/>
          <p:cNvSpPr txBox="1"/>
          <p:nvPr/>
        </p:nvSpPr>
        <p:spPr>
          <a:xfrm>
            <a:off x="8405765" y="2902791"/>
            <a:ext cx="146375" cy="192117"/>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45</a:t>
            </a:r>
            <a:endParaRPr lang="en-US" sz="710" dirty="0"/>
          </a:p>
        </p:txBody>
      </p:sp>
      <p:sp>
        <p:nvSpPr>
          <p:cNvPr id="77" name="Text 74"/>
          <p:cNvSpPr txBox="1"/>
          <p:nvPr/>
        </p:nvSpPr>
        <p:spPr>
          <a:xfrm>
            <a:off x="6876288" y="3125248"/>
            <a:ext cx="726148" cy="192117"/>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Hours / mission</a:t>
            </a:r>
            <a:endParaRPr lang="en-US" sz="710" dirty="0"/>
          </a:p>
        </p:txBody>
      </p:sp>
      <p:sp>
        <p:nvSpPr>
          <p:cNvPr id="78" name="Text 75"/>
          <p:cNvSpPr txBox="1"/>
          <p:nvPr/>
        </p:nvSpPr>
        <p:spPr>
          <a:xfrm>
            <a:off x="8363617" y="3125248"/>
            <a:ext cx="192738" cy="192117"/>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637</a:t>
            </a:r>
            <a:endParaRPr lang="en-US" sz="710" dirty="0"/>
          </a:p>
        </p:txBody>
      </p:sp>
      <p:sp>
        <p:nvSpPr>
          <p:cNvPr id="79" name="Text 76"/>
          <p:cNvSpPr txBox="1"/>
          <p:nvPr/>
        </p:nvSpPr>
        <p:spPr>
          <a:xfrm>
            <a:off x="6876288" y="3347704"/>
            <a:ext cx="688115" cy="192259"/>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Mgmt fee days</a:t>
            </a:r>
            <a:endParaRPr lang="en-US" sz="710" dirty="0"/>
          </a:p>
        </p:txBody>
      </p:sp>
      <p:sp>
        <p:nvSpPr>
          <p:cNvPr id="80" name="Text 77"/>
          <p:cNvSpPr txBox="1"/>
          <p:nvPr/>
        </p:nvSpPr>
        <p:spPr>
          <a:xfrm>
            <a:off x="8354901" y="3347704"/>
            <a:ext cx="202325" cy="192259"/>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663</a:t>
            </a:r>
            <a:endParaRPr lang="en-US" sz="710" dirty="0"/>
          </a:p>
        </p:txBody>
      </p:sp>
      <p:sp>
        <p:nvSpPr>
          <p:cNvPr id="81" name="Text 78"/>
          <p:cNvSpPr txBox="1"/>
          <p:nvPr/>
        </p:nvSpPr>
        <p:spPr>
          <a:xfrm>
            <a:off x="6876288" y="3570303"/>
            <a:ext cx="698016" cy="192259"/>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Per-piece units</a:t>
            </a:r>
            <a:endParaRPr lang="en-US" sz="710" dirty="0"/>
          </a:p>
        </p:txBody>
      </p:sp>
      <p:sp>
        <p:nvSpPr>
          <p:cNvPr id="82" name="Text 79"/>
          <p:cNvSpPr txBox="1"/>
          <p:nvPr/>
        </p:nvSpPr>
        <p:spPr>
          <a:xfrm>
            <a:off x="8297609" y="3570303"/>
            <a:ext cx="265347" cy="192259"/>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4,160</a:t>
            </a:r>
            <a:endParaRPr lang="en-US" sz="710" dirty="0"/>
          </a:p>
        </p:txBody>
      </p:sp>
      <p:sp>
        <p:nvSpPr>
          <p:cNvPr id="83" name="Text 80"/>
          <p:cNvSpPr txBox="1"/>
          <p:nvPr/>
        </p:nvSpPr>
        <p:spPr>
          <a:xfrm>
            <a:off x="6876288" y="3792903"/>
            <a:ext cx="794042" cy="192259"/>
          </a:xfrm>
          <a:prstGeom prst="rect">
            <a:avLst/>
          </a:prstGeom>
          <a:noFill/>
          <a:ln/>
        </p:spPr>
        <p:txBody>
          <a:bodyPr wrap="none" lIns="0" tIns="0" rIns="0" bIns="0" rtlCol="0" anchor="t"/>
          <a:lstStyle/>
          <a:p>
            <a:pPr algn="l" indent="0" marL="0">
              <a:lnSpc>
                <a:spcPts val="1090"/>
              </a:lnSpc>
              <a:buNone/>
            </a:pPr>
            <a:r>
              <a:rPr lang="en-US" sz="710" dirty="0">
                <a:solidFill>
                  <a:srgbClr val="5A6E7E"/>
                </a:solidFill>
                <a:latin typeface="Arial" pitchFamily="34" charset="0"/>
                <a:ea typeface="Arial" pitchFamily="34" charset="-122"/>
                <a:cs typeface="Arial" pitchFamily="34" charset="-120"/>
              </a:rPr>
              <a:t>Sep vs Jan hours</a:t>
            </a:r>
            <a:endParaRPr lang="en-US" sz="710" dirty="0"/>
          </a:p>
        </p:txBody>
      </p:sp>
      <p:sp>
        <p:nvSpPr>
          <p:cNvPr id="84" name="Text 81"/>
          <p:cNvSpPr txBox="1"/>
          <p:nvPr/>
        </p:nvSpPr>
        <p:spPr>
          <a:xfrm>
            <a:off x="8282321" y="3792903"/>
            <a:ext cx="282164" cy="192259"/>
          </a:xfrm>
          <a:prstGeom prst="rect">
            <a:avLst/>
          </a:prstGeom>
          <a:noFill/>
          <a:ln/>
        </p:spPr>
        <p:txBody>
          <a:bodyPr wrap="none" lIns="0" tIns="0" rIns="0" bIns="0" rtlCol="0" anchor="t"/>
          <a:lstStyle/>
          <a:p>
            <a:pPr algn="l" indent="0" marL="0">
              <a:lnSpc>
                <a:spcPts val="1090"/>
              </a:lnSpc>
              <a:buNone/>
            </a:pPr>
            <a:r>
              <a:rPr lang="en-US" sz="710" b="1" dirty="0">
                <a:solidFill>
                  <a:srgbClr val="062A44"/>
                </a:solidFill>
                <a:latin typeface="Arial" pitchFamily="34" charset="0"/>
                <a:ea typeface="Arial" pitchFamily="34" charset="-122"/>
                <a:cs typeface="Arial" pitchFamily="34" charset="-120"/>
              </a:rPr>
              <a:t>+35%</a:t>
            </a:r>
            <a:endParaRPr lang="en-US" sz="710" dirty="0"/>
          </a:p>
        </p:txBody>
      </p:sp>
      <p:sp>
        <p:nvSpPr>
          <p:cNvPr id="85" name="Shape 82"/>
          <p:cNvSpPr/>
          <p:nvPr/>
        </p:nvSpPr>
        <p:spPr>
          <a:xfrm>
            <a:off x="6830568" y="4054935"/>
            <a:ext cx="1737360" cy="0"/>
          </a:xfrm>
          <a:prstGeom prst="line">
            <a:avLst/>
          </a:prstGeom>
          <a:noFill/>
          <a:ln w="9144">
            <a:solidFill>
              <a:srgbClr val="062A44">
                <a:alpha val="10000"/>
              </a:srgbClr>
            </a:solidFill>
            <a:prstDash val="solid"/>
          </a:ln>
        </p:spPr>
      </p:sp>
      <p:sp>
        <p:nvSpPr>
          <p:cNvPr id="86" name="Text 83"/>
          <p:cNvSpPr txBox="1"/>
          <p:nvPr/>
        </p:nvSpPr>
        <p:spPr>
          <a:xfrm>
            <a:off x="6830568" y="4132659"/>
            <a:ext cx="835533" cy="193817"/>
          </a:xfrm>
          <a:prstGeom prst="rect">
            <a:avLst/>
          </a:prstGeom>
          <a:noFill/>
          <a:ln/>
        </p:spPr>
        <p:txBody>
          <a:bodyPr wrap="none" lIns="0" tIns="0" rIns="0" bIns="0" rtlCol="0" anchor="t"/>
          <a:lstStyle/>
          <a:p>
            <a:pPr algn="l" indent="0" marL="0">
              <a:lnSpc>
                <a:spcPts val="1140"/>
              </a:lnSpc>
              <a:buNone/>
            </a:pPr>
            <a:r>
              <a:rPr lang="en-US" sz="730" b="1" dirty="0">
                <a:solidFill>
                  <a:srgbClr val="062A44"/>
                </a:solidFill>
                <a:latin typeface="Arial" pitchFamily="34" charset="0"/>
                <a:ea typeface="Arial" pitchFamily="34" charset="-122"/>
                <a:cs typeface="Arial" pitchFamily="34" charset="-120"/>
              </a:rPr>
              <a:t>BANGN = growth</a:t>
            </a:r>
            <a:endParaRPr lang="en-US" sz="730" dirty="0"/>
          </a:p>
        </p:txBody>
      </p:sp>
      <p:sp>
        <p:nvSpPr>
          <p:cNvPr id="87" name="Text 84"/>
          <p:cNvSpPr txBox="1"/>
          <p:nvPr/>
        </p:nvSpPr>
        <p:spPr>
          <a:xfrm>
            <a:off x="6830568" y="4310539"/>
            <a:ext cx="1876557" cy="276791"/>
          </a:xfrm>
          <a:prstGeom prst="rect">
            <a:avLst/>
          </a:prstGeom>
          <a:noFill/>
          <a:ln/>
        </p:spPr>
        <p:txBody>
          <a:bodyPr wrap="square" lIns="0" tIns="0" rIns="0" bIns="0" rtlCol="0" anchor="t"/>
          <a:lstStyle/>
          <a:p>
            <a:pPr algn="l" indent="0" marL="0">
              <a:lnSpc>
                <a:spcPts val="930"/>
              </a:lnSpc>
              <a:buNone/>
            </a:pPr>
            <a:r>
              <a:rPr lang="en-US" sz="660" dirty="0">
                <a:solidFill>
                  <a:srgbClr val="5A6E7E"/>
                </a:solidFill>
                <a:latin typeface="Arial" pitchFamily="34" charset="0"/>
                <a:ea typeface="Arial" pitchFamily="34" charset="-122"/>
                <a:cs typeface="Arial" pitchFamily="34" charset="-120"/>
              </a:rPr>
              <a:t>Hours up 96% from Jan to Sep, the fastest</a:t>
            </a:r>
            <a:endParaRPr lang="en-US" sz="660" dirty="0"/>
          </a:p>
          <a:p>
            <a:pPr algn="l" indent="0" marL="0">
              <a:lnSpc>
                <a:spcPts val="930"/>
              </a:lnSpc>
              <a:buNone/>
            </a:pPr>
            <a:r>
              <a:rPr lang="en-US" sz="660" dirty="0">
                <a:solidFill>
                  <a:srgbClr val="5A6E7E"/>
                </a:solidFill>
                <a:latin typeface="Arial" pitchFamily="34" charset="0"/>
                <a:ea typeface="Arial" pitchFamily="34" charset="-122"/>
                <a:cs typeface="Arial" pitchFamily="34" charset="-120"/>
              </a:rPr>
              <a:t>growth of the three sites.</a:t>
            </a:r>
            <a:endParaRPr lang="en-US" sz="660" dirty="0"/>
          </a:p>
        </p:txBody>
      </p:sp>
    </p:spTree>
  </p:cSld>
  <p:clrMapOvr>
    <a:masterClrMapping/>
  </p:clrMapOvr>
  <p:transition spd="med">
    <p:push dir="r"/>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1317865"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CUSTOMERS &amp; HOSTS</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7017520" cy="400089"/>
          </a:xfrm>
          <a:prstGeom prst="rect">
            <a:avLst/>
          </a:prstGeom>
          <a:noFill/>
          <a:ln/>
        </p:spPr>
        <p:txBody>
          <a:bodyPr wrap="non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Three major hosts account for</a:t>
            </a:r>
            <a:pPr algn="l" indent="0" marL="0">
              <a:lnSpc>
                <a:spcPts val="2420"/>
              </a:lnSpc>
              <a:buNone/>
            </a:pPr>
            <a:r>
              <a:rPr lang="en-US" sz="2380" b="1" spc="-119" kern="0" dirty="0">
                <a:solidFill>
                  <a:srgbClr val="0D3E61"/>
                </a:solidFill>
                <a:latin typeface="Arial" pitchFamily="34" charset="0"/>
                <a:ea typeface="Arial" pitchFamily="34" charset="-122"/>
                <a:cs typeface="Arial" pitchFamily="34" charset="-120"/>
              </a:rPr>
              <a:t> 7</a:t>
            </a:r>
            <a:pPr algn="l" indent="0" marL="0">
              <a:lnSpc>
                <a:spcPts val="2420"/>
              </a:lnSpc>
              <a:buNone/>
            </a:pPr>
            <a:r>
              <a:rPr lang="en-US" sz="2380" b="1" spc="-119" kern="0" dirty="0">
                <a:solidFill>
                  <a:srgbClr val="11456B"/>
                </a:solidFill>
                <a:latin typeface="Arial" pitchFamily="34" charset="0"/>
                <a:ea typeface="Arial" pitchFamily="34" charset="-122"/>
                <a:cs typeface="Arial" pitchFamily="34" charset="-120"/>
              </a:rPr>
              <a:t>1</a:t>
            </a:r>
            <a:pPr algn="l" indent="0" marL="0">
              <a:lnSpc>
                <a:spcPts val="2420"/>
              </a:lnSpc>
              <a:buNone/>
            </a:pPr>
            <a:r>
              <a:rPr lang="en-US" sz="2380" b="1" spc="-119" kern="0" dirty="0">
                <a:solidFill>
                  <a:srgbClr val="154E77"/>
                </a:solidFill>
                <a:latin typeface="Arial" pitchFamily="34" charset="0"/>
                <a:ea typeface="Arial" pitchFamily="34" charset="-122"/>
                <a:cs typeface="Arial" pitchFamily="34" charset="-120"/>
              </a:rPr>
              <a:t>%</a:t>
            </a:r>
            <a:pPr algn="l" indent="0" marL="0">
              <a:lnSpc>
                <a:spcPts val="2420"/>
              </a:lnSpc>
              <a:buNone/>
            </a:pPr>
            <a:r>
              <a:rPr lang="en-US" sz="2380" b="1" spc="-119" kern="0" dirty="0">
                <a:solidFill>
                  <a:srgbClr val="1C5C89"/>
                </a:solidFill>
                <a:latin typeface="Arial" pitchFamily="34" charset="0"/>
                <a:ea typeface="Arial" pitchFamily="34" charset="-122"/>
                <a:cs typeface="Arial" pitchFamily="34" charset="-120"/>
              </a:rPr>
              <a:t> o</a:t>
            </a:r>
            <a:pPr algn="l" indent="0" marL="0">
              <a:lnSpc>
                <a:spcPts val="2420"/>
              </a:lnSpc>
              <a:buNone/>
            </a:pPr>
            <a:r>
              <a:rPr lang="en-US" sz="2380" b="1" spc="-119" kern="0" dirty="0">
                <a:solidFill>
                  <a:srgbClr val="206393"/>
                </a:solidFill>
                <a:latin typeface="Arial" pitchFamily="34" charset="0"/>
                <a:ea typeface="Arial" pitchFamily="34" charset="-122"/>
                <a:cs typeface="Arial" pitchFamily="34" charset="-120"/>
              </a:rPr>
              <a:t>f</a:t>
            </a:r>
            <a:pPr algn="l" indent="0" marL="0">
              <a:lnSpc>
                <a:spcPts val="2420"/>
              </a:lnSpc>
              <a:buNone/>
            </a:pPr>
            <a:r>
              <a:rPr lang="en-US" sz="2380" b="1" spc="-119" kern="0" dirty="0">
                <a:solidFill>
                  <a:srgbClr val="256DA0"/>
                </a:solidFill>
                <a:latin typeface="Arial" pitchFamily="34" charset="0"/>
                <a:ea typeface="Arial" pitchFamily="34" charset="-122"/>
                <a:cs typeface="Arial" pitchFamily="34" charset="-120"/>
              </a:rPr>
              <a:t> s</a:t>
            </a:r>
            <a:pPr algn="l" indent="0" marL="0">
              <a:lnSpc>
                <a:spcPts val="2420"/>
              </a:lnSpc>
              <a:buNone/>
            </a:pPr>
            <a:r>
              <a:rPr lang="en-US" sz="2380" b="1" spc="-119" kern="0" dirty="0">
                <a:solidFill>
                  <a:srgbClr val="2975AB"/>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2D7CB5"/>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3381AF"/>
                </a:solidFill>
                <a:latin typeface="Arial" pitchFamily="34" charset="0"/>
                <a:ea typeface="Arial" pitchFamily="34" charset="-122"/>
                <a:cs typeface="Arial" pitchFamily="34" charset="-120"/>
              </a:rPr>
              <a:t>v</a:t>
            </a:r>
            <a:pPr algn="l" indent="0" marL="0">
              <a:lnSpc>
                <a:spcPts val="2420"/>
              </a:lnSpc>
              <a:buNone/>
            </a:pPr>
            <a:r>
              <a:rPr lang="en-US" sz="2380" b="1" spc="-119" kern="0" dirty="0">
                <a:solidFill>
                  <a:srgbClr val="3985A2"/>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408896"/>
                </a:solidFill>
                <a:latin typeface="Arial" pitchFamily="34" charset="0"/>
                <a:ea typeface="Arial" pitchFamily="34" charset="-122"/>
                <a:cs typeface="Arial" pitchFamily="34" charset="-120"/>
              </a:rPr>
              <a:t>c</a:t>
            </a:r>
            <a:pPr algn="l" indent="0" marL="0">
              <a:lnSpc>
                <a:spcPts val="2420"/>
              </a:lnSpc>
              <a:buNone/>
            </a:pPr>
            <a:r>
              <a:rPr lang="en-US" sz="2380" b="1" spc="-119" kern="0" dirty="0">
                <a:solidFill>
                  <a:srgbClr val="498D83"/>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56936B"/>
                </a:solidFill>
                <a:latin typeface="Arial" pitchFamily="34" charset="0"/>
                <a:ea typeface="Arial" pitchFamily="34" charset="-122"/>
                <a:cs typeface="Arial" pitchFamily="34" charset="-120"/>
              </a:rPr>
              <a:t> h</a:t>
            </a:r>
            <a:pPr algn="l" indent="0" marL="0">
              <a:lnSpc>
                <a:spcPts val="2420"/>
              </a:lnSpc>
              <a:buNone/>
            </a:pPr>
            <a:r>
              <a:rPr lang="en-US" sz="2380" b="1" spc="-119" kern="0" dirty="0">
                <a:solidFill>
                  <a:srgbClr val="5F9858"/>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699D45"/>
                </a:solidFill>
                <a:latin typeface="Arial" pitchFamily="34" charset="0"/>
                <a:ea typeface="Arial" pitchFamily="34" charset="-122"/>
                <a:cs typeface="Arial" pitchFamily="34" charset="-120"/>
              </a:rPr>
              <a:t>u</a:t>
            </a:r>
            <a:pPr algn="l" indent="0" marL="0">
              <a:lnSpc>
                <a:spcPts val="2420"/>
              </a:lnSpc>
              <a:buNone/>
            </a:pPr>
            <a:r>
              <a:rPr lang="en-US" sz="2380" b="1" spc="-119" kern="0" dirty="0">
                <a:solidFill>
                  <a:srgbClr val="70A137"/>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78A429"/>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7DA71D"/>
                </a:solidFill>
                <a:latin typeface="Arial" pitchFamily="34" charset="0"/>
                <a:ea typeface="Arial" pitchFamily="34" charset="-122"/>
                <a:cs typeface="Arial" pitchFamily="34" charset="-120"/>
              </a:rPr>
              <a:t>.</a:t>
            </a:r>
            <a:endParaRPr lang="en-US" sz="2380" dirty="0"/>
          </a:p>
        </p:txBody>
      </p:sp>
      <p:sp>
        <p:nvSpPr>
          <p:cNvPr id="7" name="Shape 4"/>
          <p:cNvSpPr/>
          <p:nvPr/>
        </p:nvSpPr>
        <p:spPr>
          <a:xfrm>
            <a:off x="457200" y="1920240"/>
            <a:ext cx="5577840" cy="2779205"/>
          </a:xfrm>
          <a:prstGeom prst="roundRect">
            <a:avLst>
              <a:gd name="adj" fmla="val 5264"/>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8" name="Text 5"/>
          <p:cNvSpPr txBox="1"/>
          <p:nvPr/>
        </p:nvSpPr>
        <p:spPr>
          <a:xfrm>
            <a:off x="603504" y="2048256"/>
            <a:ext cx="2325748" cy="221045"/>
          </a:xfrm>
          <a:prstGeom prst="rect">
            <a:avLst/>
          </a:prstGeom>
          <a:noFill/>
          <a:ln/>
        </p:spPr>
        <p:txBody>
          <a:bodyPr wrap="none" lIns="0" tIns="0" rIns="0" bIns="0" rtlCol="0" anchor="t"/>
          <a:lstStyle/>
          <a:p>
            <a:pPr algn="l" indent="0" marL="0">
              <a:lnSpc>
                <a:spcPts val="1340"/>
              </a:lnSpc>
              <a:buNone/>
            </a:pPr>
            <a:r>
              <a:rPr lang="en-US" sz="860" b="1" dirty="0">
                <a:solidFill>
                  <a:srgbClr val="062A44"/>
                </a:solidFill>
                <a:latin typeface="Arial" pitchFamily="34" charset="0"/>
                <a:ea typeface="Arial" pitchFamily="34" charset="-122"/>
                <a:cs typeface="Arial" pitchFamily="34" charset="-120"/>
              </a:rPr>
              <a:t>Service hours by host and site, Jan–Sep</a:t>
            </a:r>
            <a:endParaRPr lang="en-US" sz="860" dirty="0"/>
          </a:p>
        </p:txBody>
      </p:sp>
      <p:sp>
        <p:nvSpPr>
          <p:cNvPr id="9" name="Text 6"/>
          <p:cNvSpPr txBox="1"/>
          <p:nvPr/>
        </p:nvSpPr>
        <p:spPr>
          <a:xfrm>
            <a:off x="4478988" y="2062401"/>
            <a:ext cx="331199"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LCBTH</a:t>
            </a:r>
            <a:endParaRPr lang="en-US" sz="720" dirty="0"/>
          </a:p>
        </p:txBody>
      </p:sp>
      <p:sp>
        <p:nvSpPr>
          <p:cNvPr id="10" name="Shape 7"/>
          <p:cNvSpPr/>
          <p:nvPr/>
        </p:nvSpPr>
        <p:spPr>
          <a:xfrm>
            <a:off x="4350972" y="2092119"/>
            <a:ext cx="82296" cy="82296"/>
          </a:xfrm>
          <a:prstGeom prst="roundRect">
            <a:avLst>
              <a:gd name="adj" fmla="val 27778"/>
            </a:avLst>
          </a:prstGeom>
          <a:solidFill>
            <a:srgbClr val="A3B3C1"/>
          </a:solidFill>
          <a:ln/>
        </p:spPr>
      </p:sp>
      <p:sp>
        <p:nvSpPr>
          <p:cNvPr id="11" name="Text 8"/>
          <p:cNvSpPr txBox="1"/>
          <p:nvPr/>
        </p:nvSpPr>
        <p:spPr>
          <a:xfrm>
            <a:off x="5019485" y="2062401"/>
            <a:ext cx="368603"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BANGN</a:t>
            </a:r>
            <a:endParaRPr lang="en-US" sz="720" dirty="0"/>
          </a:p>
        </p:txBody>
      </p:sp>
      <p:sp>
        <p:nvSpPr>
          <p:cNvPr id="12" name="Shape 9"/>
          <p:cNvSpPr/>
          <p:nvPr/>
        </p:nvSpPr>
        <p:spPr>
          <a:xfrm>
            <a:off x="4891469" y="2092119"/>
            <a:ext cx="82296" cy="82296"/>
          </a:xfrm>
          <a:prstGeom prst="roundRect">
            <a:avLst>
              <a:gd name="adj" fmla="val 27778"/>
            </a:avLst>
          </a:prstGeom>
          <a:solidFill>
            <a:srgbClr val="97C21D"/>
          </a:solidFill>
          <a:ln/>
        </p:spPr>
      </p:sp>
      <p:sp>
        <p:nvSpPr>
          <p:cNvPr id="13" name="Text 10"/>
          <p:cNvSpPr txBox="1"/>
          <p:nvPr/>
        </p:nvSpPr>
        <p:spPr>
          <a:xfrm>
            <a:off x="5593985" y="2062401"/>
            <a:ext cx="342514"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AMATA</a:t>
            </a:r>
            <a:endParaRPr lang="en-US" sz="720" dirty="0"/>
          </a:p>
        </p:txBody>
      </p:sp>
      <p:sp>
        <p:nvSpPr>
          <p:cNvPr id="14" name="Shape 11"/>
          <p:cNvSpPr/>
          <p:nvPr/>
        </p:nvSpPr>
        <p:spPr>
          <a:xfrm>
            <a:off x="5465969" y="2092119"/>
            <a:ext cx="82296" cy="82296"/>
          </a:xfrm>
          <a:prstGeom prst="roundRect">
            <a:avLst>
              <a:gd name="adj" fmla="val 27778"/>
            </a:avLst>
          </a:prstGeom>
          <a:solidFill>
            <a:srgbClr val="0B3A5C"/>
          </a:solidFill>
          <a:ln/>
        </p:spPr>
      </p:sp>
      <p:sp>
        <p:nvSpPr>
          <p:cNvPr id="15" name="Text 12"/>
          <p:cNvSpPr txBox="1"/>
          <p:nvPr/>
        </p:nvSpPr>
        <p:spPr>
          <a:xfrm>
            <a:off x="1678567" y="2349059"/>
            <a:ext cx="917860" cy="118872"/>
          </a:xfrm>
          <a:prstGeom prst="rect">
            <a:avLst/>
          </a:prstGeom>
          <a:noFill/>
          <a:ln/>
        </p:spPr>
        <p:txBody>
          <a:bodyPr wrap="none" lIns="0" tIns="0" rIns="0" bIns="0" rtlCol="0" anchor="ctr"/>
          <a:lstStyle/>
          <a:p>
            <a:pPr algn="r" indent="0" marL="0">
              <a:lnSpc>
                <a:spcPts val="940"/>
              </a:lnSpc>
              <a:buNone/>
            </a:pPr>
            <a:r>
              <a:rPr lang="en-US" sz="730" b="1" dirty="0">
                <a:solidFill>
                  <a:srgbClr val="062A44"/>
                </a:solidFill>
                <a:latin typeface="Arial" pitchFamily="34" charset="0"/>
                <a:ea typeface="Arial" pitchFamily="34" charset="-122"/>
                <a:cs typeface="Arial" pitchFamily="34" charset="-120"/>
              </a:rPr>
              <a:t>Ford MVIP Activity</a:t>
            </a:r>
            <a:endParaRPr lang="en-US" sz="730" dirty="0"/>
          </a:p>
        </p:txBody>
      </p:sp>
      <p:sp>
        <p:nvSpPr>
          <p:cNvPr id="16" name="Shape 13"/>
          <p:cNvSpPr/>
          <p:nvPr/>
        </p:nvSpPr>
        <p:spPr>
          <a:xfrm>
            <a:off x="2682391" y="2348012"/>
            <a:ext cx="2465435" cy="123316"/>
          </a:xfrm>
          <a:prstGeom prst="roundRect">
            <a:avLst>
              <a:gd name="adj" fmla="val 10714"/>
            </a:avLst>
          </a:prstGeom>
          <a:solidFill>
            <a:srgbClr val="A3B3C1"/>
          </a:solidFill>
          <a:ln/>
        </p:spPr>
      </p:sp>
      <p:sp>
        <p:nvSpPr>
          <p:cNvPr id="17" name="Text 14"/>
          <p:cNvSpPr txBox="1"/>
          <p:nvPr/>
        </p:nvSpPr>
        <p:spPr>
          <a:xfrm>
            <a:off x="5207722" y="2349059"/>
            <a:ext cx="721432" cy="118872"/>
          </a:xfrm>
          <a:prstGeom prst="rect">
            <a:avLst/>
          </a:prstGeom>
          <a:noFill/>
          <a:ln/>
        </p:spPr>
        <p:txBody>
          <a:bodyPr wrap="none" lIns="0" tIns="0" rIns="0" bIns="0" rtlCol="0" anchor="ctr"/>
          <a:lstStyle/>
          <a:p>
            <a:pPr algn="l" indent="0" marL="0">
              <a:lnSpc>
                <a:spcPts val="940"/>
              </a:lnSpc>
              <a:buNone/>
            </a:pPr>
            <a:r>
              <a:rPr lang="en-US" sz="730" b="1" dirty="0">
                <a:solidFill>
                  <a:srgbClr val="062A44"/>
                </a:solidFill>
                <a:latin typeface="Arial" pitchFamily="34" charset="0"/>
                <a:ea typeface="Arial" pitchFamily="34" charset="-122"/>
                <a:cs typeface="Arial" pitchFamily="34" charset="-120"/>
              </a:rPr>
              <a:t>138.4K · 50.9%</a:t>
            </a:r>
            <a:endParaRPr lang="en-US" sz="730" dirty="0"/>
          </a:p>
        </p:txBody>
      </p:sp>
      <p:sp>
        <p:nvSpPr>
          <p:cNvPr id="18" name="Text 15"/>
          <p:cNvSpPr txBox="1"/>
          <p:nvPr/>
        </p:nvSpPr>
        <p:spPr>
          <a:xfrm>
            <a:off x="1195447" y="2551649"/>
            <a:ext cx="1402583" cy="118872"/>
          </a:xfrm>
          <a:prstGeom prst="rect">
            <a:avLst/>
          </a:prstGeom>
          <a:noFill/>
          <a:ln/>
        </p:spPr>
        <p:txBody>
          <a:bodyPr wrap="none" lIns="0" tIns="0" rIns="0" bIns="0" rtlCol="0" anchor="ctr"/>
          <a:lstStyle/>
          <a:p>
            <a:pPr algn="r" indent="0" marL="0">
              <a:lnSpc>
                <a:spcPts val="940"/>
              </a:lnSpc>
              <a:buNone/>
            </a:pPr>
            <a:r>
              <a:rPr lang="en-US" sz="730" b="1" dirty="0">
                <a:solidFill>
                  <a:srgbClr val="062A44"/>
                </a:solidFill>
                <a:latin typeface="Arial" pitchFamily="34" charset="0"/>
                <a:ea typeface="Arial" pitchFamily="34" charset="-122"/>
                <a:cs typeface="Arial" pitchFamily="34" charset="-120"/>
              </a:rPr>
              <a:t>MMTH Engine · 14 customers</a:t>
            </a:r>
            <a:endParaRPr lang="en-US" sz="730" dirty="0"/>
          </a:p>
        </p:txBody>
      </p:sp>
      <p:sp>
        <p:nvSpPr>
          <p:cNvPr id="19" name="Shape 16"/>
          <p:cNvSpPr/>
          <p:nvPr/>
        </p:nvSpPr>
        <p:spPr>
          <a:xfrm>
            <a:off x="2682391" y="2550602"/>
            <a:ext cx="673833" cy="123316"/>
          </a:xfrm>
          <a:prstGeom prst="roundRect">
            <a:avLst>
              <a:gd name="adj" fmla="val 10714"/>
            </a:avLst>
          </a:prstGeom>
          <a:solidFill>
            <a:srgbClr val="A3B3C1"/>
          </a:solidFill>
          <a:ln/>
        </p:spPr>
      </p:sp>
      <p:sp>
        <p:nvSpPr>
          <p:cNvPr id="20" name="Text 17"/>
          <p:cNvSpPr txBox="1"/>
          <p:nvPr/>
        </p:nvSpPr>
        <p:spPr>
          <a:xfrm>
            <a:off x="3416119" y="2551649"/>
            <a:ext cx="626821" cy="118872"/>
          </a:xfrm>
          <a:prstGeom prst="rect">
            <a:avLst/>
          </a:prstGeom>
          <a:noFill/>
          <a:ln/>
        </p:spPr>
        <p:txBody>
          <a:bodyPr wrap="none" lIns="0" tIns="0" rIns="0" bIns="0" rtlCol="0" anchor="ctr"/>
          <a:lstStyle/>
          <a:p>
            <a:pPr algn="l" indent="0" marL="0">
              <a:lnSpc>
                <a:spcPts val="940"/>
              </a:lnSpc>
              <a:buNone/>
            </a:pPr>
            <a:r>
              <a:rPr lang="en-US" sz="730" b="1" dirty="0">
                <a:solidFill>
                  <a:srgbClr val="062A44"/>
                </a:solidFill>
                <a:latin typeface="Arial" pitchFamily="34" charset="0"/>
                <a:ea typeface="Arial" pitchFamily="34" charset="-122"/>
                <a:cs typeface="Arial" pitchFamily="34" charset="-120"/>
              </a:rPr>
              <a:t>38.1K · 14.0%</a:t>
            </a:r>
            <a:endParaRPr lang="en-US" sz="730" dirty="0"/>
          </a:p>
        </p:txBody>
      </p:sp>
      <p:sp>
        <p:nvSpPr>
          <p:cNvPr id="21" name="Text 18"/>
          <p:cNvSpPr txBox="1"/>
          <p:nvPr/>
        </p:nvSpPr>
        <p:spPr>
          <a:xfrm>
            <a:off x="1922096" y="2754239"/>
            <a:ext cx="673493" cy="118872"/>
          </a:xfrm>
          <a:prstGeom prst="rect">
            <a:avLst/>
          </a:prstGeom>
          <a:noFill/>
          <a:ln/>
        </p:spPr>
        <p:txBody>
          <a:bodyPr wrap="none" lIns="0" tIns="0" rIns="0" bIns="0" rtlCol="0" anchor="ctr"/>
          <a:lstStyle/>
          <a:p>
            <a:pPr algn="r" indent="0" marL="0">
              <a:lnSpc>
                <a:spcPts val="940"/>
              </a:lnSpc>
              <a:buNone/>
            </a:pPr>
            <a:r>
              <a:rPr lang="en-US" sz="730" b="1" dirty="0">
                <a:solidFill>
                  <a:srgbClr val="062A44"/>
                </a:solidFill>
                <a:latin typeface="Arial" pitchFamily="34" charset="0"/>
                <a:ea typeface="Arial" pitchFamily="34" charset="-122"/>
                <a:cs typeface="Arial" pitchFamily="34" charset="-120"/>
              </a:rPr>
              <a:t>Surtec Kariya</a:t>
            </a:r>
            <a:endParaRPr lang="en-US" sz="730" dirty="0"/>
          </a:p>
        </p:txBody>
      </p:sp>
      <p:sp>
        <p:nvSpPr>
          <p:cNvPr id="22" name="Shape 19"/>
          <p:cNvSpPr/>
          <p:nvPr/>
        </p:nvSpPr>
        <p:spPr>
          <a:xfrm>
            <a:off x="2682391" y="2753192"/>
            <a:ext cx="301243" cy="123316"/>
          </a:xfrm>
          <a:prstGeom prst="roundRect">
            <a:avLst>
              <a:gd name="adj" fmla="val 10714"/>
            </a:avLst>
          </a:prstGeom>
          <a:solidFill>
            <a:srgbClr val="97C21D"/>
          </a:solidFill>
          <a:ln/>
        </p:spPr>
      </p:sp>
      <p:sp>
        <p:nvSpPr>
          <p:cNvPr id="23" name="Text 20"/>
          <p:cNvSpPr txBox="1"/>
          <p:nvPr/>
        </p:nvSpPr>
        <p:spPr>
          <a:xfrm>
            <a:off x="3043530" y="2754239"/>
            <a:ext cx="564585" cy="118872"/>
          </a:xfrm>
          <a:prstGeom prst="rect">
            <a:avLst/>
          </a:prstGeom>
          <a:noFill/>
          <a:ln/>
        </p:spPr>
        <p:txBody>
          <a:bodyPr wrap="none" lIns="0" tIns="0" rIns="0" bIns="0" rtlCol="0" anchor="ctr"/>
          <a:lstStyle/>
          <a:p>
            <a:pPr algn="l" indent="0" marL="0">
              <a:lnSpc>
                <a:spcPts val="940"/>
              </a:lnSpc>
              <a:buNone/>
            </a:pPr>
            <a:r>
              <a:rPr lang="en-US" sz="730" b="1" dirty="0">
                <a:solidFill>
                  <a:srgbClr val="062A44"/>
                </a:solidFill>
                <a:latin typeface="Arial" pitchFamily="34" charset="0"/>
                <a:ea typeface="Arial" pitchFamily="34" charset="-122"/>
                <a:cs typeface="Arial" pitchFamily="34" charset="-120"/>
              </a:rPr>
              <a:t>17.2K · 6.3%</a:t>
            </a:r>
            <a:endParaRPr lang="en-US" sz="730" dirty="0"/>
          </a:p>
        </p:txBody>
      </p:sp>
      <p:sp>
        <p:nvSpPr>
          <p:cNvPr id="24" name="Shape 21"/>
          <p:cNvSpPr/>
          <p:nvPr/>
        </p:nvSpPr>
        <p:spPr>
          <a:xfrm>
            <a:off x="603639" y="2920549"/>
            <a:ext cx="5284963" cy="0"/>
          </a:xfrm>
          <a:prstGeom prst="line">
            <a:avLst/>
          </a:prstGeom>
          <a:noFill/>
          <a:ln w="8808">
            <a:solidFill>
              <a:srgbClr val="062A44">
                <a:alpha val="12000"/>
              </a:srgbClr>
            </a:solidFill>
            <a:prstDash val="sysDash"/>
          </a:ln>
        </p:spPr>
      </p:sp>
      <p:sp>
        <p:nvSpPr>
          <p:cNvPr id="25" name="Text 22"/>
          <p:cNvSpPr txBox="1"/>
          <p:nvPr/>
        </p:nvSpPr>
        <p:spPr>
          <a:xfrm>
            <a:off x="1963086" y="2956829"/>
            <a:ext cx="631222"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TTK Logistics</a:t>
            </a:r>
            <a:endParaRPr lang="en-US" sz="730" dirty="0"/>
          </a:p>
        </p:txBody>
      </p:sp>
      <p:sp>
        <p:nvSpPr>
          <p:cNvPr id="26" name="Shape 23"/>
          <p:cNvSpPr/>
          <p:nvPr/>
        </p:nvSpPr>
        <p:spPr>
          <a:xfrm>
            <a:off x="2682391" y="2955782"/>
            <a:ext cx="144456" cy="123316"/>
          </a:xfrm>
          <a:prstGeom prst="roundRect">
            <a:avLst>
              <a:gd name="adj" fmla="val 10714"/>
            </a:avLst>
          </a:prstGeom>
          <a:solidFill>
            <a:srgbClr val="0B3A5C"/>
          </a:solidFill>
          <a:ln/>
        </p:spPr>
      </p:sp>
      <p:sp>
        <p:nvSpPr>
          <p:cNvPr id="27" name="Text 24"/>
          <p:cNvSpPr txBox="1"/>
          <p:nvPr/>
        </p:nvSpPr>
        <p:spPr>
          <a:xfrm>
            <a:off x="2886742" y="2956829"/>
            <a:ext cx="494648"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8.5K · 3.1%</a:t>
            </a:r>
            <a:endParaRPr lang="en-US" sz="730" dirty="0"/>
          </a:p>
        </p:txBody>
      </p:sp>
      <p:sp>
        <p:nvSpPr>
          <p:cNvPr id="28" name="Text 25"/>
          <p:cNvSpPr txBox="1"/>
          <p:nvPr/>
        </p:nvSpPr>
        <p:spPr>
          <a:xfrm>
            <a:off x="1901830" y="3159419"/>
            <a:ext cx="696826"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Yusen Logistic</a:t>
            </a:r>
            <a:endParaRPr lang="en-US" sz="730" dirty="0"/>
          </a:p>
        </p:txBody>
      </p:sp>
      <p:sp>
        <p:nvSpPr>
          <p:cNvPr id="29" name="Shape 26"/>
          <p:cNvSpPr/>
          <p:nvPr/>
        </p:nvSpPr>
        <p:spPr>
          <a:xfrm>
            <a:off x="2682391" y="3158372"/>
            <a:ext cx="133886" cy="123316"/>
          </a:xfrm>
          <a:prstGeom prst="roundRect">
            <a:avLst>
              <a:gd name="adj" fmla="val 10714"/>
            </a:avLst>
          </a:prstGeom>
          <a:solidFill>
            <a:srgbClr val="A3B3C1"/>
          </a:solidFill>
          <a:ln/>
        </p:spPr>
      </p:sp>
      <p:sp>
        <p:nvSpPr>
          <p:cNvPr id="30" name="Text 27"/>
          <p:cNvSpPr txBox="1"/>
          <p:nvPr/>
        </p:nvSpPr>
        <p:spPr>
          <a:xfrm>
            <a:off x="2876173" y="3159419"/>
            <a:ext cx="502977"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7.9K · 2.9%</a:t>
            </a:r>
            <a:endParaRPr lang="en-US" sz="730" dirty="0"/>
          </a:p>
        </p:txBody>
      </p:sp>
      <p:sp>
        <p:nvSpPr>
          <p:cNvPr id="31" name="Text 28"/>
          <p:cNvSpPr txBox="1"/>
          <p:nvPr/>
        </p:nvSpPr>
        <p:spPr>
          <a:xfrm>
            <a:off x="1643418" y="3362009"/>
            <a:ext cx="950890"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TMBP · 11 customers</a:t>
            </a:r>
            <a:endParaRPr lang="en-US" sz="730" dirty="0"/>
          </a:p>
        </p:txBody>
      </p:sp>
      <p:sp>
        <p:nvSpPr>
          <p:cNvPr id="32" name="Shape 29"/>
          <p:cNvSpPr/>
          <p:nvPr/>
        </p:nvSpPr>
        <p:spPr>
          <a:xfrm>
            <a:off x="2682391" y="3360963"/>
            <a:ext cx="111865" cy="123316"/>
          </a:xfrm>
          <a:prstGeom prst="roundRect">
            <a:avLst>
              <a:gd name="adj" fmla="val 11811"/>
            </a:avLst>
          </a:prstGeom>
          <a:solidFill>
            <a:srgbClr val="97C21D"/>
          </a:solidFill>
          <a:ln/>
        </p:spPr>
      </p:sp>
      <p:sp>
        <p:nvSpPr>
          <p:cNvPr id="33" name="Text 30"/>
          <p:cNvSpPr txBox="1"/>
          <p:nvPr/>
        </p:nvSpPr>
        <p:spPr>
          <a:xfrm>
            <a:off x="2854152" y="3362009"/>
            <a:ext cx="520422"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6.6K · 2.4%</a:t>
            </a:r>
            <a:endParaRPr lang="en-US" sz="730" dirty="0"/>
          </a:p>
        </p:txBody>
      </p:sp>
      <p:sp>
        <p:nvSpPr>
          <p:cNvPr id="34" name="Text 31"/>
          <p:cNvSpPr txBox="1"/>
          <p:nvPr/>
        </p:nvSpPr>
        <p:spPr>
          <a:xfrm>
            <a:off x="832302" y="3564600"/>
            <a:ext cx="1762006"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DM Casting Technology · 2 customers</a:t>
            </a:r>
            <a:endParaRPr lang="en-US" sz="730" dirty="0"/>
          </a:p>
        </p:txBody>
      </p:sp>
      <p:sp>
        <p:nvSpPr>
          <p:cNvPr id="35" name="Shape 32"/>
          <p:cNvSpPr/>
          <p:nvPr/>
        </p:nvSpPr>
        <p:spPr>
          <a:xfrm>
            <a:off x="2682391" y="3563553"/>
            <a:ext cx="96891" cy="123316"/>
          </a:xfrm>
          <a:prstGeom prst="roundRect">
            <a:avLst>
              <a:gd name="adj" fmla="val 13636"/>
            </a:avLst>
          </a:prstGeom>
          <a:solidFill>
            <a:srgbClr val="97C21D"/>
          </a:solidFill>
          <a:ln/>
        </p:spPr>
      </p:sp>
      <p:sp>
        <p:nvSpPr>
          <p:cNvPr id="36" name="Shape 33"/>
          <p:cNvSpPr/>
          <p:nvPr/>
        </p:nvSpPr>
        <p:spPr>
          <a:xfrm>
            <a:off x="2786328" y="3563553"/>
            <a:ext cx="8808" cy="123316"/>
          </a:xfrm>
          <a:prstGeom prst="roundRect">
            <a:avLst>
              <a:gd name="adj" fmla="val 50002"/>
            </a:avLst>
          </a:prstGeom>
          <a:solidFill>
            <a:srgbClr val="0B3A5C"/>
          </a:solidFill>
          <a:ln/>
        </p:spPr>
      </p:sp>
      <p:sp>
        <p:nvSpPr>
          <p:cNvPr id="37" name="Text 34"/>
          <p:cNvSpPr txBox="1"/>
          <p:nvPr/>
        </p:nvSpPr>
        <p:spPr>
          <a:xfrm>
            <a:off x="2840939" y="3564600"/>
            <a:ext cx="526238"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5.9K · 2.2%</a:t>
            </a:r>
            <a:endParaRPr lang="en-US" sz="730" dirty="0"/>
          </a:p>
        </p:txBody>
      </p:sp>
      <p:sp>
        <p:nvSpPr>
          <p:cNvPr id="38" name="Text 35"/>
          <p:cNvSpPr txBox="1"/>
          <p:nvPr/>
        </p:nvSpPr>
        <p:spPr>
          <a:xfrm>
            <a:off x="704215" y="3767190"/>
            <a:ext cx="1890093"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Trigo Amatanakorn Branch · 3 customers</a:t>
            </a:r>
            <a:endParaRPr lang="en-US" sz="730" dirty="0"/>
          </a:p>
        </p:txBody>
      </p:sp>
      <p:sp>
        <p:nvSpPr>
          <p:cNvPr id="39" name="Shape 36"/>
          <p:cNvSpPr/>
          <p:nvPr/>
        </p:nvSpPr>
        <p:spPr>
          <a:xfrm>
            <a:off x="2682391" y="3766143"/>
            <a:ext cx="62539" cy="123316"/>
          </a:xfrm>
          <a:prstGeom prst="roundRect">
            <a:avLst>
              <a:gd name="adj" fmla="val 21127"/>
            </a:avLst>
          </a:prstGeom>
          <a:solidFill>
            <a:srgbClr val="0B3A5C"/>
          </a:solidFill>
          <a:ln/>
        </p:spPr>
      </p:sp>
      <p:sp>
        <p:nvSpPr>
          <p:cNvPr id="40" name="Text 37"/>
          <p:cNvSpPr txBox="1"/>
          <p:nvPr/>
        </p:nvSpPr>
        <p:spPr>
          <a:xfrm>
            <a:off x="2804826" y="3767190"/>
            <a:ext cx="498577"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3.9K · 1.4%</a:t>
            </a:r>
            <a:endParaRPr lang="en-US" sz="730" dirty="0"/>
          </a:p>
        </p:txBody>
      </p:sp>
      <p:sp>
        <p:nvSpPr>
          <p:cNvPr id="41" name="Text 38"/>
          <p:cNvSpPr txBox="1"/>
          <p:nvPr/>
        </p:nvSpPr>
        <p:spPr>
          <a:xfrm>
            <a:off x="1211064" y="3969780"/>
            <a:ext cx="1383244"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New Somthai Motor Work HQ</a:t>
            </a:r>
            <a:endParaRPr lang="en-US" sz="730" dirty="0"/>
          </a:p>
        </p:txBody>
      </p:sp>
      <p:sp>
        <p:nvSpPr>
          <p:cNvPr id="42" name="Shape 39"/>
          <p:cNvSpPr/>
          <p:nvPr/>
        </p:nvSpPr>
        <p:spPr>
          <a:xfrm>
            <a:off x="2682391" y="3968733"/>
            <a:ext cx="56373" cy="123316"/>
          </a:xfrm>
          <a:prstGeom prst="roundRect">
            <a:avLst>
              <a:gd name="adj" fmla="val 23437"/>
            </a:avLst>
          </a:prstGeom>
          <a:solidFill>
            <a:srgbClr val="97C21D"/>
          </a:solidFill>
          <a:ln/>
        </p:spPr>
      </p:sp>
      <p:sp>
        <p:nvSpPr>
          <p:cNvPr id="43" name="Text 40"/>
          <p:cNvSpPr txBox="1"/>
          <p:nvPr/>
        </p:nvSpPr>
        <p:spPr>
          <a:xfrm>
            <a:off x="2798660" y="3969780"/>
            <a:ext cx="500463"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3.6K · 1.3%</a:t>
            </a:r>
            <a:endParaRPr lang="en-US" sz="730" dirty="0"/>
          </a:p>
        </p:txBody>
      </p:sp>
      <p:sp>
        <p:nvSpPr>
          <p:cNvPr id="44" name="Text 41"/>
          <p:cNvSpPr txBox="1"/>
          <p:nvPr/>
        </p:nvSpPr>
        <p:spPr>
          <a:xfrm>
            <a:off x="782639" y="4172370"/>
            <a:ext cx="1811669"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Mitsubishi Electric Consumer Products</a:t>
            </a:r>
            <a:endParaRPr lang="en-US" sz="730" dirty="0"/>
          </a:p>
        </p:txBody>
      </p:sp>
      <p:sp>
        <p:nvSpPr>
          <p:cNvPr id="45" name="Shape 42"/>
          <p:cNvSpPr/>
          <p:nvPr/>
        </p:nvSpPr>
        <p:spPr>
          <a:xfrm>
            <a:off x="2682391" y="4171324"/>
            <a:ext cx="56373" cy="123316"/>
          </a:xfrm>
          <a:prstGeom prst="roundRect">
            <a:avLst>
              <a:gd name="adj" fmla="val 23437"/>
            </a:avLst>
          </a:prstGeom>
          <a:solidFill>
            <a:srgbClr val="0B3A5C"/>
          </a:solidFill>
          <a:ln/>
        </p:spPr>
      </p:sp>
      <p:sp>
        <p:nvSpPr>
          <p:cNvPr id="46" name="Text 43"/>
          <p:cNvSpPr txBox="1"/>
          <p:nvPr/>
        </p:nvSpPr>
        <p:spPr>
          <a:xfrm>
            <a:off x="2798660" y="4172370"/>
            <a:ext cx="503763"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3.5K · 1.3%</a:t>
            </a:r>
            <a:endParaRPr lang="en-US" sz="730" dirty="0"/>
          </a:p>
        </p:txBody>
      </p:sp>
      <p:sp>
        <p:nvSpPr>
          <p:cNvPr id="47" name="Text 44"/>
          <p:cNvSpPr txBox="1"/>
          <p:nvPr/>
        </p:nvSpPr>
        <p:spPr>
          <a:xfrm>
            <a:off x="1101993" y="4374960"/>
            <a:ext cx="1492315" cy="118872"/>
          </a:xfrm>
          <a:prstGeom prst="rect">
            <a:avLst/>
          </a:prstGeom>
          <a:noFill/>
          <a:ln/>
        </p:spPr>
        <p:txBody>
          <a:bodyPr wrap="none" lIns="0" tIns="0" rIns="0" bIns="0" rtlCol="0" anchor="ctr"/>
          <a:lstStyle/>
          <a:p>
            <a:pPr algn="r" indent="0" marL="0">
              <a:lnSpc>
                <a:spcPts val="940"/>
              </a:lnSpc>
              <a:buNone/>
            </a:pPr>
            <a:r>
              <a:rPr lang="en-US" sz="730" dirty="0">
                <a:solidFill>
                  <a:srgbClr val="33495A"/>
                </a:solidFill>
                <a:latin typeface="Arial" pitchFamily="34" charset="0"/>
                <a:ea typeface="Arial" pitchFamily="34" charset="-122"/>
                <a:cs typeface="Arial" pitchFamily="34" charset="-120"/>
              </a:rPr>
              <a:t>Others (71 hosts) · 64 customers</a:t>
            </a:r>
            <a:endParaRPr lang="en-US" sz="730" dirty="0"/>
          </a:p>
        </p:txBody>
      </p:sp>
      <p:sp>
        <p:nvSpPr>
          <p:cNvPr id="48" name="Shape 45"/>
          <p:cNvSpPr/>
          <p:nvPr/>
        </p:nvSpPr>
        <p:spPr>
          <a:xfrm>
            <a:off x="2682391" y="4373914"/>
            <a:ext cx="71347" cy="123316"/>
          </a:xfrm>
          <a:prstGeom prst="roundRect">
            <a:avLst>
              <a:gd name="adj" fmla="val 18519"/>
            </a:avLst>
          </a:prstGeom>
          <a:solidFill>
            <a:srgbClr val="A3B3C1"/>
          </a:solidFill>
          <a:ln/>
        </p:spPr>
      </p:sp>
      <p:sp>
        <p:nvSpPr>
          <p:cNvPr id="49" name="Shape 46"/>
          <p:cNvSpPr/>
          <p:nvPr/>
        </p:nvSpPr>
        <p:spPr>
          <a:xfrm>
            <a:off x="2760784" y="4373914"/>
            <a:ext cx="368186" cy="123316"/>
          </a:xfrm>
          <a:prstGeom prst="roundRect">
            <a:avLst>
              <a:gd name="adj" fmla="val 10714"/>
            </a:avLst>
          </a:prstGeom>
          <a:solidFill>
            <a:srgbClr val="97C21D"/>
          </a:solidFill>
          <a:ln/>
        </p:spPr>
      </p:sp>
      <p:sp>
        <p:nvSpPr>
          <p:cNvPr id="50" name="Shape 47"/>
          <p:cNvSpPr/>
          <p:nvPr/>
        </p:nvSpPr>
        <p:spPr>
          <a:xfrm>
            <a:off x="3135136" y="4373914"/>
            <a:ext cx="219326" cy="123316"/>
          </a:xfrm>
          <a:prstGeom prst="roundRect">
            <a:avLst>
              <a:gd name="adj" fmla="val 10714"/>
            </a:avLst>
          </a:prstGeom>
          <a:solidFill>
            <a:srgbClr val="0B3A5C"/>
          </a:solidFill>
          <a:ln/>
        </p:spPr>
      </p:sp>
      <p:sp>
        <p:nvSpPr>
          <p:cNvPr id="51" name="Text 48"/>
          <p:cNvSpPr txBox="1"/>
          <p:nvPr/>
        </p:nvSpPr>
        <p:spPr>
          <a:xfrm>
            <a:off x="3415239" y="4374960"/>
            <a:ext cx="634365" cy="118872"/>
          </a:xfrm>
          <a:prstGeom prst="rect">
            <a:avLst/>
          </a:prstGeom>
          <a:noFill/>
          <a:ln/>
        </p:spPr>
        <p:txBody>
          <a:bodyPr wrap="none" lIns="0" tIns="0" rIns="0" bIns="0" rtlCol="0" anchor="ctr"/>
          <a:lstStyle/>
          <a:p>
            <a:pPr algn="l" indent="0" marL="0">
              <a:lnSpc>
                <a:spcPts val="940"/>
              </a:lnSpc>
              <a:buNone/>
            </a:pPr>
            <a:r>
              <a:rPr lang="en-US" sz="730" dirty="0">
                <a:solidFill>
                  <a:srgbClr val="33495A"/>
                </a:solidFill>
                <a:latin typeface="Arial" pitchFamily="34" charset="0"/>
                <a:ea typeface="Arial" pitchFamily="34" charset="-122"/>
                <a:cs typeface="Arial" pitchFamily="34" charset="-120"/>
              </a:rPr>
              <a:t>38.0K · 14.0%</a:t>
            </a:r>
            <a:endParaRPr lang="en-US" sz="730" dirty="0"/>
          </a:p>
        </p:txBody>
      </p:sp>
      <p:sp>
        <p:nvSpPr>
          <p:cNvPr id="52" name="Shape 49"/>
          <p:cNvSpPr/>
          <p:nvPr/>
        </p:nvSpPr>
        <p:spPr>
          <a:xfrm>
            <a:off x="6263640" y="1920240"/>
            <a:ext cx="2423160" cy="2124123"/>
          </a:xfrm>
          <a:prstGeom prst="roundRect">
            <a:avLst>
              <a:gd name="adj" fmla="val 6888"/>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53" name="Text 50"/>
          <p:cNvSpPr txBox="1"/>
          <p:nvPr/>
        </p:nvSpPr>
        <p:spPr>
          <a:xfrm>
            <a:off x="6428232" y="2066544"/>
            <a:ext cx="1023185"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HOST HIGHLIGHTS</a:t>
            </a:r>
            <a:endParaRPr lang="en-US" sz="650" dirty="0"/>
          </a:p>
        </p:txBody>
      </p:sp>
      <p:sp>
        <p:nvSpPr>
          <p:cNvPr id="54" name="Shape 51"/>
          <p:cNvSpPr/>
          <p:nvPr/>
        </p:nvSpPr>
        <p:spPr>
          <a:xfrm>
            <a:off x="6428232" y="2783062"/>
            <a:ext cx="2093976" cy="0"/>
          </a:xfrm>
          <a:prstGeom prst="line">
            <a:avLst/>
          </a:prstGeom>
          <a:noFill/>
          <a:ln w="9144">
            <a:solidFill>
              <a:srgbClr val="062A44">
                <a:alpha val="10000"/>
              </a:srgbClr>
            </a:solidFill>
            <a:prstDash val="solid"/>
          </a:ln>
        </p:spPr>
      </p:sp>
      <p:sp>
        <p:nvSpPr>
          <p:cNvPr id="55" name="Text 52"/>
          <p:cNvSpPr txBox="1"/>
          <p:nvPr/>
        </p:nvSpPr>
        <p:spPr>
          <a:xfrm>
            <a:off x="6428232" y="2362152"/>
            <a:ext cx="466201" cy="297180"/>
          </a:xfrm>
          <a:prstGeom prst="rect">
            <a:avLst/>
          </a:prstGeom>
          <a:noFill/>
          <a:ln/>
        </p:spPr>
        <p:txBody>
          <a:bodyPr wrap="none" lIns="0" tIns="0" rIns="0" bIns="0" rtlCol="0" anchor="t"/>
          <a:lstStyle/>
          <a:p>
            <a:pPr algn="l" indent="0" marL="0">
              <a:lnSpc>
                <a:spcPts val="1800"/>
              </a:lnSpc>
              <a:buNone/>
            </a:pPr>
            <a:r>
              <a:rPr lang="en-US" sz="1800" b="1" spc="-72" kern="0" dirty="0">
                <a:solidFill>
                  <a:srgbClr val="062A44"/>
                </a:solidFill>
                <a:latin typeface="Arial" pitchFamily="34" charset="0"/>
                <a:ea typeface="Arial" pitchFamily="34" charset="-122"/>
                <a:cs typeface="Arial" pitchFamily="34" charset="-120"/>
              </a:rPr>
              <a:t>51%</a:t>
            </a:r>
            <a:endParaRPr lang="en-US" sz="1800" dirty="0"/>
          </a:p>
        </p:txBody>
      </p:sp>
      <p:sp>
        <p:nvSpPr>
          <p:cNvPr id="56" name="Text 53"/>
          <p:cNvSpPr txBox="1"/>
          <p:nvPr/>
        </p:nvSpPr>
        <p:spPr>
          <a:xfrm>
            <a:off x="7068312" y="2274999"/>
            <a:ext cx="1407796" cy="443233"/>
          </a:xfrm>
          <a:prstGeom prst="rect">
            <a:avLst/>
          </a:prstGeom>
          <a:noFill/>
          <a:ln/>
        </p:spPr>
        <p:txBody>
          <a:bodyPr wrap="squar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Ford MVIP activity: 138.4K h</a:t>
            </a:r>
            <a:endParaRPr lang="en-US" sz="760" dirty="0"/>
          </a:p>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across the Ford and Auto</a:t>
            </a:r>
            <a:endParaRPr lang="en-US" sz="760" dirty="0"/>
          </a:p>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Alliance plants</a:t>
            </a:r>
            <a:endParaRPr lang="en-US" sz="760" dirty="0"/>
          </a:p>
        </p:txBody>
      </p:sp>
      <p:sp>
        <p:nvSpPr>
          <p:cNvPr id="57" name="Shape 54"/>
          <p:cNvSpPr/>
          <p:nvPr/>
        </p:nvSpPr>
        <p:spPr>
          <a:xfrm>
            <a:off x="6428232" y="3405426"/>
            <a:ext cx="2093976" cy="0"/>
          </a:xfrm>
          <a:prstGeom prst="line">
            <a:avLst/>
          </a:prstGeom>
          <a:noFill/>
          <a:ln w="9144">
            <a:solidFill>
              <a:srgbClr val="062A44">
                <a:alpha val="10000"/>
              </a:srgbClr>
            </a:solidFill>
            <a:prstDash val="solid"/>
          </a:ln>
        </p:spPr>
      </p:sp>
      <p:sp>
        <p:nvSpPr>
          <p:cNvPr id="58" name="Text 55"/>
          <p:cNvSpPr txBox="1"/>
          <p:nvPr/>
        </p:nvSpPr>
        <p:spPr>
          <a:xfrm>
            <a:off x="6428232" y="2984516"/>
            <a:ext cx="262361" cy="297180"/>
          </a:xfrm>
          <a:prstGeom prst="rect">
            <a:avLst/>
          </a:prstGeom>
          <a:noFill/>
          <a:ln/>
        </p:spPr>
        <p:txBody>
          <a:bodyPr wrap="none" lIns="0" tIns="0" rIns="0" bIns="0" rtlCol="0" anchor="t"/>
          <a:lstStyle/>
          <a:p>
            <a:pPr algn="l" indent="0" marL="0">
              <a:lnSpc>
                <a:spcPts val="1800"/>
              </a:lnSpc>
              <a:buNone/>
            </a:pPr>
            <a:r>
              <a:rPr lang="en-US" sz="1800" b="1" spc="-72" kern="0" dirty="0">
                <a:solidFill>
                  <a:srgbClr val="062A44"/>
                </a:solidFill>
                <a:latin typeface="Arial" pitchFamily="34" charset="0"/>
                <a:ea typeface="Arial" pitchFamily="34" charset="-122"/>
                <a:cs typeface="Arial" pitchFamily="34" charset="-120"/>
              </a:rPr>
              <a:t>14</a:t>
            </a:r>
            <a:endParaRPr lang="en-US" sz="1800" dirty="0"/>
          </a:p>
        </p:txBody>
      </p:sp>
      <p:sp>
        <p:nvSpPr>
          <p:cNvPr id="59" name="Text 56"/>
          <p:cNvSpPr txBox="1"/>
          <p:nvPr/>
        </p:nvSpPr>
        <p:spPr>
          <a:xfrm>
            <a:off x="7068312" y="2897362"/>
            <a:ext cx="1437114" cy="443233"/>
          </a:xfrm>
          <a:prstGeom prst="rect">
            <a:avLst/>
          </a:prstGeom>
          <a:noFill/>
          <a:ln/>
        </p:spPr>
        <p:txBody>
          <a:bodyPr wrap="squar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Customers at MMTH Engine:</a:t>
            </a:r>
            <a:endParaRPr lang="en-US" sz="760" dirty="0"/>
          </a:p>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largest host, 38.1K h; TMBP</a:t>
            </a:r>
            <a:endParaRPr lang="en-US" sz="760" dirty="0"/>
          </a:p>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serves 11</a:t>
            </a:r>
            <a:endParaRPr lang="en-US" sz="760" dirty="0"/>
          </a:p>
        </p:txBody>
      </p:sp>
      <p:sp>
        <p:nvSpPr>
          <p:cNvPr id="60" name="Shape 57"/>
          <p:cNvSpPr/>
          <p:nvPr/>
        </p:nvSpPr>
        <p:spPr>
          <a:xfrm>
            <a:off x="6428232" y="3893487"/>
            <a:ext cx="2093976" cy="0"/>
          </a:xfrm>
          <a:prstGeom prst="line">
            <a:avLst/>
          </a:prstGeom>
          <a:noFill/>
          <a:ln w="9144">
            <a:solidFill>
              <a:srgbClr val="062A44">
                <a:alpha val="10000"/>
              </a:srgbClr>
            </a:solidFill>
            <a:prstDash val="solid"/>
          </a:ln>
        </p:spPr>
      </p:sp>
      <p:sp>
        <p:nvSpPr>
          <p:cNvPr id="61" name="Text 58"/>
          <p:cNvSpPr txBox="1"/>
          <p:nvPr/>
        </p:nvSpPr>
        <p:spPr>
          <a:xfrm>
            <a:off x="6428232" y="3539728"/>
            <a:ext cx="494176" cy="297180"/>
          </a:xfrm>
          <a:prstGeom prst="rect">
            <a:avLst/>
          </a:prstGeom>
          <a:noFill/>
          <a:ln/>
        </p:spPr>
        <p:txBody>
          <a:bodyPr wrap="none" lIns="0" tIns="0" rIns="0" bIns="0" rtlCol="0" anchor="t"/>
          <a:lstStyle/>
          <a:p>
            <a:pPr algn="l" indent="0" marL="0">
              <a:lnSpc>
                <a:spcPts val="1800"/>
              </a:lnSpc>
              <a:buNone/>
            </a:pPr>
            <a:r>
              <a:rPr lang="en-US" sz="1800" b="1" spc="-72" kern="0" dirty="0">
                <a:solidFill>
                  <a:srgbClr val="6E9312"/>
                </a:solidFill>
                <a:latin typeface="Arial" pitchFamily="34" charset="0"/>
                <a:ea typeface="Arial" pitchFamily="34" charset="-122"/>
                <a:cs typeface="Arial" pitchFamily="34" charset="-120"/>
              </a:rPr>
              <a:t>4.5×</a:t>
            </a:r>
            <a:endParaRPr lang="en-US" sz="1800" dirty="0"/>
          </a:p>
        </p:txBody>
      </p:sp>
      <p:sp>
        <p:nvSpPr>
          <p:cNvPr id="62" name="Text 59"/>
          <p:cNvSpPr txBox="1"/>
          <p:nvPr/>
        </p:nvSpPr>
        <p:spPr>
          <a:xfrm>
            <a:off x="7068312" y="3519726"/>
            <a:ext cx="1560412" cy="308930"/>
          </a:xfrm>
          <a:prstGeom prst="rect">
            <a:avLst/>
          </a:prstGeom>
          <a:noFill/>
          <a:ln/>
        </p:spPr>
        <p:txBody>
          <a:bodyPr wrap="squar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Yusen Logistic growth: 331 h in</a:t>
            </a:r>
            <a:endParaRPr lang="en-US" sz="760" dirty="0"/>
          </a:p>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Jan → 1,488 h in Sep</a:t>
            </a:r>
            <a:endParaRPr lang="en-US" sz="760" dirty="0"/>
          </a:p>
        </p:txBody>
      </p:sp>
    </p:spTree>
  </p:cSld>
  <p:clrMapOvr>
    <a:masterClrMapping/>
  </p:clrMapOvr>
  <p:transition spd="med">
    <p:push dir="r"/>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920240"/>
            <a:ext cx="1853003"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NON-RAYONG OVERVIEW 2026</a:t>
            </a:r>
            <a:endParaRPr lang="en-US" sz="720" dirty="0"/>
          </a:p>
        </p:txBody>
      </p:sp>
      <p:sp>
        <p:nvSpPr>
          <p:cNvPr id="5" name="Gradient shape"/>
          <p:cNvSpPr/>
          <p:nvPr/>
        </p:nvSpPr>
        <p:spPr>
          <a:xfrm>
            <a:off x="457200" y="195590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2194560"/>
            <a:ext cx="4130759" cy="775865"/>
          </a:xfrm>
          <a:prstGeom prst="rect">
            <a:avLst/>
          </a:prstGeom>
          <a:noFill/>
          <a:ln/>
        </p:spPr>
        <p:txBody>
          <a:bodyPr wrap="none" lIns="0" tIns="0" rIns="0" bIns="0" rtlCol="0" anchor="t"/>
          <a:lstStyle/>
          <a:p>
            <a:pPr algn="l" indent="0" marL="0">
              <a:lnSpc>
                <a:spcPts val="4700"/>
              </a:lnSpc>
              <a:buNone/>
            </a:pPr>
            <a:r>
              <a:rPr lang="en-US" sz="4610" spc="-230" kern="0" dirty="0">
                <a:solidFill>
                  <a:srgbClr val="062A44"/>
                </a:solidFill>
                <a:latin typeface="Arial" pitchFamily="34" charset="0"/>
                <a:ea typeface="Arial" pitchFamily="34" charset="-122"/>
                <a:cs typeface="Arial" pitchFamily="34" charset="-120"/>
              </a:rPr>
              <a:t>Cost</a:t>
            </a:r>
            <a:pPr algn="l" indent="0" marL="0">
              <a:lnSpc>
                <a:spcPts val="4700"/>
              </a:lnSpc>
              <a:buNone/>
            </a:pPr>
            <a:r>
              <a:rPr lang="en-US" sz="4610" b="1" spc="-230" kern="0" dirty="0">
                <a:solidFill>
                  <a:srgbClr val="0E3F63"/>
                </a:solidFill>
                <a:latin typeface="Arial" pitchFamily="34" charset="0"/>
                <a:ea typeface="Arial" pitchFamily="34" charset="-122"/>
                <a:cs typeface="Arial" pitchFamily="34" charset="-120"/>
              </a:rPr>
              <a:t> r</a:t>
            </a:r>
            <a:pPr algn="l" indent="0" marL="0">
              <a:lnSpc>
                <a:spcPts val="4700"/>
              </a:lnSpc>
              <a:buNone/>
            </a:pPr>
            <a:r>
              <a:rPr lang="en-US" sz="4610" b="1" spc="-230" kern="0" dirty="0">
                <a:solidFill>
                  <a:srgbClr val="154E76"/>
                </a:solidFill>
                <a:latin typeface="Arial" pitchFamily="34" charset="0"/>
                <a:ea typeface="Arial" pitchFamily="34" charset="-122"/>
                <a:cs typeface="Arial" pitchFamily="34" charset="-120"/>
              </a:rPr>
              <a:t>e</a:t>
            </a:r>
            <a:pPr algn="l" indent="0" marL="0">
              <a:lnSpc>
                <a:spcPts val="4700"/>
              </a:lnSpc>
              <a:buNone/>
            </a:pPr>
            <a:r>
              <a:rPr lang="en-US" sz="4610" b="1" spc="-230" kern="0" dirty="0">
                <a:solidFill>
                  <a:srgbClr val="1E608E"/>
                </a:solidFill>
                <a:latin typeface="Arial" pitchFamily="34" charset="0"/>
                <a:ea typeface="Arial" pitchFamily="34" charset="-122"/>
                <a:cs typeface="Arial" pitchFamily="34" charset="-120"/>
              </a:rPr>
              <a:t>d</a:t>
            </a:r>
            <a:pPr algn="l" indent="0" marL="0">
              <a:lnSpc>
                <a:spcPts val="4700"/>
              </a:lnSpc>
              <a:buNone/>
            </a:pPr>
            <a:r>
              <a:rPr lang="en-US" sz="4610" b="1" spc="-230" kern="0" dirty="0">
                <a:solidFill>
                  <a:srgbClr val="2772A7"/>
                </a:solidFill>
                <a:latin typeface="Arial" pitchFamily="34" charset="0"/>
                <a:ea typeface="Arial" pitchFamily="34" charset="-122"/>
                <a:cs typeface="Arial" pitchFamily="34" charset="-120"/>
              </a:rPr>
              <a:t>u</a:t>
            </a:r>
            <a:pPr algn="l" indent="0" marL="0">
              <a:lnSpc>
                <a:spcPts val="4700"/>
              </a:lnSpc>
              <a:buNone/>
            </a:pPr>
            <a:r>
              <a:rPr lang="en-US" sz="4610" b="1" spc="-230" kern="0" dirty="0">
                <a:solidFill>
                  <a:srgbClr val="3381AE"/>
                </a:solidFill>
                <a:latin typeface="Arial" pitchFamily="34" charset="0"/>
                <a:ea typeface="Arial" pitchFamily="34" charset="-122"/>
                <a:cs typeface="Arial" pitchFamily="34" charset="-120"/>
              </a:rPr>
              <a:t>c</a:t>
            </a:r>
            <a:pPr algn="l" indent="0" marL="0">
              <a:lnSpc>
                <a:spcPts val="4700"/>
              </a:lnSpc>
              <a:buNone/>
            </a:pPr>
            <a:r>
              <a:rPr lang="en-US" sz="4610" b="1" spc="-230" kern="0" dirty="0">
                <a:solidFill>
                  <a:srgbClr val="438990"/>
                </a:solidFill>
                <a:latin typeface="Arial" pitchFamily="34" charset="0"/>
                <a:ea typeface="Arial" pitchFamily="34" charset="-122"/>
                <a:cs typeface="Arial" pitchFamily="34" charset="-120"/>
              </a:rPr>
              <a:t>t</a:t>
            </a:r>
            <a:pPr algn="l" indent="0" marL="0">
              <a:lnSpc>
                <a:spcPts val="4700"/>
              </a:lnSpc>
              <a:buNone/>
            </a:pPr>
            <a:r>
              <a:rPr lang="en-US" sz="4610" b="1" spc="-230" kern="0" dirty="0">
                <a:solidFill>
                  <a:srgbClr val="4D8F7B"/>
                </a:solidFill>
                <a:latin typeface="Arial" pitchFamily="34" charset="0"/>
                <a:ea typeface="Arial" pitchFamily="34" charset="-122"/>
                <a:cs typeface="Arial" pitchFamily="34" charset="-120"/>
              </a:rPr>
              <a:t>i</a:t>
            </a:r>
            <a:pPr algn="l" indent="0" marL="0">
              <a:lnSpc>
                <a:spcPts val="4700"/>
              </a:lnSpc>
              <a:buNone/>
            </a:pPr>
            <a:r>
              <a:rPr lang="en-US" sz="4610" b="1" spc="-230" kern="0" dirty="0">
                <a:solidFill>
                  <a:srgbClr val="5B9661"/>
                </a:solidFill>
                <a:latin typeface="Arial" pitchFamily="34" charset="0"/>
                <a:ea typeface="Arial" pitchFamily="34" charset="-122"/>
                <a:cs typeface="Arial" pitchFamily="34" charset="-120"/>
              </a:rPr>
              <a:t>o</a:t>
            </a:r>
            <a:pPr algn="l" indent="0" marL="0">
              <a:lnSpc>
                <a:spcPts val="4700"/>
              </a:lnSpc>
              <a:buNone/>
            </a:pPr>
            <a:r>
              <a:rPr lang="en-US" sz="4610" b="1" spc="-230" kern="0" dirty="0">
                <a:solidFill>
                  <a:srgbClr val="6FA03A"/>
                </a:solidFill>
                <a:latin typeface="Arial" pitchFamily="34" charset="0"/>
                <a:ea typeface="Arial" pitchFamily="34" charset="-122"/>
                <a:cs typeface="Arial" pitchFamily="34" charset="-120"/>
              </a:rPr>
              <a:t>n</a:t>
            </a:r>
            <a:pPr algn="l" indent="0" marL="0">
              <a:lnSpc>
                <a:spcPts val="4700"/>
              </a:lnSpc>
              <a:buNone/>
            </a:pPr>
            <a:r>
              <a:rPr lang="en-US" sz="4610" b="1" spc="-230" kern="0" dirty="0">
                <a:solidFill>
                  <a:srgbClr val="7CA620"/>
                </a:solidFill>
                <a:latin typeface="Arial" pitchFamily="34" charset="0"/>
                <a:ea typeface="Arial" pitchFamily="34" charset="-122"/>
                <a:cs typeface="Arial" pitchFamily="34" charset="-120"/>
              </a:rPr>
              <a:t>.</a:t>
            </a:r>
            <a:endParaRPr lang="en-US" sz="4610" dirty="0"/>
          </a:p>
        </p:txBody>
      </p:sp>
      <p:sp>
        <p:nvSpPr>
          <p:cNvPr id="7" name="Text 4"/>
          <p:cNvSpPr txBox="1"/>
          <p:nvPr/>
        </p:nvSpPr>
        <p:spPr>
          <a:xfrm>
            <a:off x="457200" y="2974229"/>
            <a:ext cx="3691013" cy="473202"/>
          </a:xfrm>
          <a:prstGeom prst="rect">
            <a:avLst/>
          </a:prstGeom>
          <a:noFill/>
          <a:ln/>
        </p:spPr>
        <p:txBody>
          <a:bodyPr wrap="square" lIns="0" tIns="0" rIns="0" bIns="0" rtlCol="0" anchor="t"/>
          <a:lstStyle/>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A new beverage supplier, and a 2026 drink mix that</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lowers the cost per unit.</a:t>
            </a:r>
            <a:endParaRPr lang="en-US" sz="1080" dirty="0"/>
          </a:p>
        </p:txBody>
      </p:sp>
      <p:sp>
        <p:nvSpPr>
          <p:cNvPr id="8" name="Gradient shape"/>
          <p:cNvSpPr/>
          <p:nvPr/>
        </p:nvSpPr>
        <p:spPr>
          <a:xfrm>
            <a:off x="4663467" y="1133856"/>
            <a:ext cx="4023305" cy="3486864"/>
          </a:xfrm>
          <a:prstGeom prst="roundRect">
            <a:avLst>
              <a:gd name="adj" fmla="val 5641"/>
            </a:avLst>
          </a:prstGeom>
          <a:gradFill rotWithShape="1">
            <a:gsLst>
              <a:gs pos="0">
                <a:srgbClr val="E3F0FB"/>
              </a:gs>
              <a:gs pos="100000">
                <a:srgbClr val="E3F0FB">
                  <a:alpha val="0"/>
                </a:srgbClr>
              </a:gs>
            </a:gsLst>
            <a:path path="circle">
              <a:fillToRect l="55000" t="45000" r="45000" b="55000"/>
            </a:path>
          </a:gradFill>
          <a:ln/>
        </p:spPr>
      </p:sp>
      <p:sp>
        <p:nvSpPr>
          <p:cNvPr id="9" name="Shape 6"/>
          <p:cNvSpPr/>
          <p:nvPr/>
        </p:nvSpPr>
        <p:spPr>
          <a:xfrm>
            <a:off x="4931688" y="4084280"/>
            <a:ext cx="3486864" cy="0"/>
          </a:xfrm>
          <a:prstGeom prst="line">
            <a:avLst/>
          </a:prstGeom>
          <a:noFill/>
          <a:ln w="8941">
            <a:solidFill>
              <a:srgbClr val="062A44">
                <a:alpha val="16000"/>
              </a:srgbClr>
            </a:solidFill>
            <a:prstDash val="solid"/>
          </a:ln>
        </p:spPr>
      </p:sp>
      <p:sp>
        <p:nvSpPr>
          <p:cNvPr id="10" name="Shape 7"/>
          <p:cNvSpPr/>
          <p:nvPr/>
        </p:nvSpPr>
        <p:spPr>
          <a:xfrm>
            <a:off x="5065798" y="2331907"/>
            <a:ext cx="822542" cy="1752373"/>
          </a:xfrm>
          <a:prstGeom prst="roundRect">
            <a:avLst>
              <a:gd name="adj" fmla="val 13043"/>
            </a:avLst>
          </a:prstGeom>
          <a:solidFill>
            <a:srgbClr val="C3CFD9"/>
          </a:solidFill>
          <a:ln/>
        </p:spPr>
      </p:sp>
      <p:sp>
        <p:nvSpPr>
          <p:cNvPr id="11" name="Text 8"/>
          <p:cNvSpPr txBox="1"/>
          <p:nvPr/>
        </p:nvSpPr>
        <p:spPr>
          <a:xfrm>
            <a:off x="5078628" y="1798511"/>
            <a:ext cx="796991" cy="347472"/>
          </a:xfrm>
          <a:prstGeom prst="rect">
            <a:avLst/>
          </a:prstGeom>
          <a:noFill/>
          <a:ln/>
        </p:spPr>
        <p:txBody>
          <a:bodyPr wrap="none" lIns="0" tIns="0" rIns="0" bIns="0" rtlCol="0" anchor="ctr"/>
          <a:lstStyle/>
          <a:p>
            <a:pPr algn="ctr" indent="0" marL="0">
              <a:lnSpc>
                <a:spcPts val="2740"/>
              </a:lnSpc>
              <a:buNone/>
            </a:pPr>
            <a:r>
              <a:rPr lang="en-US" sz="2110" b="1" spc="-63" kern="0" dirty="0">
                <a:solidFill>
                  <a:srgbClr val="7A8C99"/>
                </a:solidFill>
                <a:latin typeface="Arial" pitchFamily="34" charset="0"/>
                <a:ea typeface="Arial" pitchFamily="34" charset="-122"/>
                <a:cs typeface="Arial" pitchFamily="34" charset="-120"/>
              </a:rPr>
              <a:t>22.34</a:t>
            </a:r>
            <a:endParaRPr lang="en-US" sz="2110" dirty="0"/>
          </a:p>
        </p:txBody>
      </p:sp>
      <p:sp>
        <p:nvSpPr>
          <p:cNvPr id="12" name="Text 9"/>
          <p:cNvSpPr txBox="1"/>
          <p:nvPr/>
        </p:nvSpPr>
        <p:spPr>
          <a:xfrm>
            <a:off x="5195379" y="2105951"/>
            <a:ext cx="567050" cy="137160"/>
          </a:xfrm>
          <a:prstGeom prst="rect">
            <a:avLst/>
          </a:prstGeom>
          <a:noFill/>
          <a:ln/>
        </p:spPr>
        <p:txBody>
          <a:bodyPr wrap="none" lIns="0" tIns="0" rIns="0" bIns="0" rtlCol="0" anchor="ctr"/>
          <a:lstStyle/>
          <a:p>
            <a:pPr algn="ctr" indent="0" marL="0">
              <a:lnSpc>
                <a:spcPts val="1080"/>
              </a:lnSpc>
              <a:buNone/>
            </a:pPr>
            <a:r>
              <a:rPr lang="en-US" sz="840" dirty="0">
                <a:solidFill>
                  <a:srgbClr val="5A6E7E"/>
                </a:solidFill>
                <a:latin typeface="Arial" pitchFamily="34" charset="0"/>
                <a:ea typeface="Arial" pitchFamily="34" charset="-122"/>
                <a:cs typeface="Arial" pitchFamily="34" charset="-120"/>
              </a:rPr>
              <a:t>THB / unit</a:t>
            </a:r>
            <a:endParaRPr lang="en-US" sz="840" dirty="0"/>
          </a:p>
        </p:txBody>
      </p:sp>
      <p:sp>
        <p:nvSpPr>
          <p:cNvPr id="13" name="Text 10"/>
          <p:cNvSpPr txBox="1"/>
          <p:nvPr/>
        </p:nvSpPr>
        <p:spPr>
          <a:xfrm>
            <a:off x="4866621" y="4189535"/>
            <a:ext cx="1220895" cy="118872"/>
          </a:xfrm>
          <a:prstGeom prst="rect">
            <a:avLst/>
          </a:prstGeom>
          <a:noFill/>
          <a:ln/>
        </p:spPr>
        <p:txBody>
          <a:bodyPr wrap="none" lIns="0" tIns="0" rIns="0" bIns="0" rtlCol="0" anchor="ctr"/>
          <a:lstStyle/>
          <a:p>
            <a:pPr algn="ctr" indent="0" marL="0">
              <a:lnSpc>
                <a:spcPts val="940"/>
              </a:lnSpc>
              <a:buNone/>
            </a:pPr>
            <a:r>
              <a:rPr lang="en-US" sz="700" spc="84" kern="0" dirty="0">
                <a:solidFill>
                  <a:srgbClr val="6B7F8E"/>
                </a:solidFill>
                <a:latin typeface="Courier New" pitchFamily="34" charset="0"/>
                <a:ea typeface="Courier New" pitchFamily="34" charset="-122"/>
                <a:cs typeface="Courier New" pitchFamily="34" charset="-120"/>
              </a:rPr>
              <a:t>PREVIOUS SUPPLIER</a:t>
            </a:r>
            <a:endParaRPr lang="en-US" sz="700" dirty="0"/>
          </a:p>
        </p:txBody>
      </p:sp>
      <p:sp>
        <p:nvSpPr>
          <p:cNvPr id="14" name="Shape 11"/>
          <p:cNvSpPr/>
          <p:nvPr/>
        </p:nvSpPr>
        <p:spPr>
          <a:xfrm>
            <a:off x="6210205" y="2854042"/>
            <a:ext cx="822542" cy="1230237"/>
          </a:xfrm>
          <a:prstGeom prst="roundRect">
            <a:avLst>
              <a:gd name="adj" fmla="val 13043"/>
            </a:avLst>
          </a:prstGeom>
          <a:solidFill>
            <a:srgbClr val="8DB828"/>
          </a:solidFill>
          <a:ln/>
        </p:spPr>
      </p:sp>
      <p:sp>
        <p:nvSpPr>
          <p:cNvPr id="15" name="Text 12"/>
          <p:cNvSpPr txBox="1"/>
          <p:nvPr/>
        </p:nvSpPr>
        <p:spPr>
          <a:xfrm>
            <a:off x="6255809" y="2320645"/>
            <a:ext cx="731334" cy="347472"/>
          </a:xfrm>
          <a:prstGeom prst="rect">
            <a:avLst/>
          </a:prstGeom>
          <a:noFill/>
          <a:ln/>
        </p:spPr>
        <p:txBody>
          <a:bodyPr wrap="none" lIns="0" tIns="0" rIns="0" bIns="0" rtlCol="0" anchor="ctr"/>
          <a:lstStyle/>
          <a:p>
            <a:pPr algn="ctr" indent="0" marL="0">
              <a:lnSpc>
                <a:spcPts val="2740"/>
              </a:lnSpc>
              <a:buNone/>
            </a:pPr>
            <a:r>
              <a:rPr lang="en-US" sz="2110" b="1" spc="-63" kern="0" dirty="0">
                <a:solidFill>
                  <a:srgbClr val="6E9312"/>
                </a:solidFill>
                <a:latin typeface="Arial" pitchFamily="34" charset="0"/>
                <a:ea typeface="Arial" pitchFamily="34" charset="-122"/>
                <a:cs typeface="Arial" pitchFamily="34" charset="-120"/>
              </a:rPr>
              <a:t>15.68</a:t>
            </a:r>
            <a:endParaRPr lang="en-US" sz="2110" dirty="0"/>
          </a:p>
        </p:txBody>
      </p:sp>
      <p:sp>
        <p:nvSpPr>
          <p:cNvPr id="16" name="Text 13"/>
          <p:cNvSpPr txBox="1"/>
          <p:nvPr/>
        </p:nvSpPr>
        <p:spPr>
          <a:xfrm>
            <a:off x="6339786" y="2628085"/>
            <a:ext cx="567049" cy="137160"/>
          </a:xfrm>
          <a:prstGeom prst="rect">
            <a:avLst/>
          </a:prstGeom>
          <a:noFill/>
          <a:ln/>
        </p:spPr>
        <p:txBody>
          <a:bodyPr wrap="none" lIns="0" tIns="0" rIns="0" bIns="0" rtlCol="0" anchor="ctr"/>
          <a:lstStyle/>
          <a:p>
            <a:pPr algn="ctr" indent="0" marL="0">
              <a:lnSpc>
                <a:spcPts val="1080"/>
              </a:lnSpc>
              <a:buNone/>
            </a:pPr>
            <a:r>
              <a:rPr lang="en-US" sz="840" dirty="0">
                <a:solidFill>
                  <a:srgbClr val="5A6E7E"/>
                </a:solidFill>
                <a:latin typeface="Arial" pitchFamily="34" charset="0"/>
                <a:ea typeface="Arial" pitchFamily="34" charset="-122"/>
                <a:cs typeface="Arial" pitchFamily="34" charset="-120"/>
              </a:rPr>
              <a:t>THB / unit</a:t>
            </a:r>
            <a:endParaRPr lang="en-US" sz="840" dirty="0"/>
          </a:p>
        </p:txBody>
      </p:sp>
      <p:sp>
        <p:nvSpPr>
          <p:cNvPr id="17" name="Text 14"/>
          <p:cNvSpPr txBox="1"/>
          <p:nvPr/>
        </p:nvSpPr>
        <p:spPr>
          <a:xfrm>
            <a:off x="6046390" y="4189535"/>
            <a:ext cx="1150172" cy="118872"/>
          </a:xfrm>
          <a:prstGeom prst="rect">
            <a:avLst/>
          </a:prstGeom>
          <a:noFill/>
          <a:ln/>
        </p:spPr>
        <p:txBody>
          <a:bodyPr wrap="none" lIns="0" tIns="0" rIns="0" bIns="0" rtlCol="0" anchor="ctr"/>
          <a:lstStyle/>
          <a:p>
            <a:pPr algn="ctr" indent="0" marL="0">
              <a:lnSpc>
                <a:spcPts val="940"/>
              </a:lnSpc>
              <a:buNone/>
            </a:pPr>
            <a:r>
              <a:rPr lang="en-US" sz="700" spc="84" kern="0" dirty="0">
                <a:solidFill>
                  <a:srgbClr val="6B7F8E"/>
                </a:solidFill>
                <a:latin typeface="Courier New" pitchFamily="34" charset="0"/>
                <a:ea typeface="Courier New" pitchFamily="34" charset="-122"/>
                <a:cs typeface="Courier New" pitchFamily="34" charset="-120"/>
              </a:rPr>
              <a:t>CURRENT SUPPLIER</a:t>
            </a:r>
            <a:endParaRPr lang="en-US" sz="700" dirty="0"/>
          </a:p>
        </p:txBody>
      </p:sp>
      <p:sp>
        <p:nvSpPr>
          <p:cNvPr id="18" name="Shape 15"/>
          <p:cNvSpPr/>
          <p:nvPr/>
        </p:nvSpPr>
        <p:spPr>
          <a:xfrm>
            <a:off x="7354612" y="3164284"/>
            <a:ext cx="822542" cy="919996"/>
          </a:xfrm>
          <a:prstGeom prst="roundRect">
            <a:avLst>
              <a:gd name="adj" fmla="val 13043"/>
            </a:avLst>
          </a:prstGeom>
          <a:solidFill>
            <a:srgbClr val="8DB828">
              <a:alpha val="22000"/>
            </a:srgbClr>
          </a:solidFill>
          <a:ln w="17881">
            <a:solidFill>
              <a:srgbClr val="8DB828"/>
            </a:solidFill>
            <a:prstDash val="dash"/>
          </a:ln>
        </p:spPr>
      </p:sp>
      <p:sp>
        <p:nvSpPr>
          <p:cNvPr id="19" name="Text 16"/>
          <p:cNvSpPr txBox="1"/>
          <p:nvPr/>
        </p:nvSpPr>
        <p:spPr>
          <a:xfrm>
            <a:off x="7461029" y="2630887"/>
            <a:ext cx="611439" cy="347472"/>
          </a:xfrm>
          <a:prstGeom prst="rect">
            <a:avLst/>
          </a:prstGeom>
          <a:noFill/>
          <a:ln/>
        </p:spPr>
        <p:txBody>
          <a:bodyPr wrap="none" lIns="0" tIns="0" rIns="0" bIns="0" rtlCol="0" anchor="ctr"/>
          <a:lstStyle/>
          <a:p>
            <a:pPr algn="ctr" indent="0" marL="0">
              <a:lnSpc>
                <a:spcPts val="2740"/>
              </a:lnSpc>
              <a:buNone/>
            </a:pPr>
            <a:r>
              <a:rPr lang="en-US" sz="2110" b="1" spc="-63" kern="0" dirty="0">
                <a:solidFill>
                  <a:srgbClr val="6E9312"/>
                </a:solidFill>
                <a:latin typeface="Arial" pitchFamily="34" charset="0"/>
                <a:ea typeface="Arial" pitchFamily="34" charset="-122"/>
                <a:cs typeface="Arial" pitchFamily="34" charset="-120"/>
              </a:rPr>
              <a:t>11.73</a:t>
            </a:r>
            <a:endParaRPr lang="en-US" sz="2110" dirty="0"/>
          </a:p>
        </p:txBody>
      </p:sp>
      <p:sp>
        <p:nvSpPr>
          <p:cNvPr id="20" name="Text 17"/>
          <p:cNvSpPr txBox="1"/>
          <p:nvPr/>
        </p:nvSpPr>
        <p:spPr>
          <a:xfrm>
            <a:off x="7484192" y="2938327"/>
            <a:ext cx="567050" cy="137160"/>
          </a:xfrm>
          <a:prstGeom prst="rect">
            <a:avLst/>
          </a:prstGeom>
          <a:noFill/>
          <a:ln/>
        </p:spPr>
        <p:txBody>
          <a:bodyPr wrap="none" lIns="0" tIns="0" rIns="0" bIns="0" rtlCol="0" anchor="ctr"/>
          <a:lstStyle/>
          <a:p>
            <a:pPr algn="ctr" indent="0" marL="0">
              <a:lnSpc>
                <a:spcPts val="1080"/>
              </a:lnSpc>
              <a:buNone/>
            </a:pPr>
            <a:r>
              <a:rPr lang="en-US" sz="840" dirty="0">
                <a:solidFill>
                  <a:srgbClr val="5A6E7E"/>
                </a:solidFill>
                <a:latin typeface="Arial" pitchFamily="34" charset="0"/>
                <a:ea typeface="Arial" pitchFamily="34" charset="-122"/>
                <a:cs typeface="Arial" pitchFamily="34" charset="-120"/>
              </a:rPr>
              <a:t>THB / unit</a:t>
            </a:r>
            <a:endParaRPr lang="en-US" sz="840" dirty="0"/>
          </a:p>
        </p:txBody>
      </p:sp>
      <p:sp>
        <p:nvSpPr>
          <p:cNvPr id="21" name="Text 18"/>
          <p:cNvSpPr txBox="1"/>
          <p:nvPr/>
        </p:nvSpPr>
        <p:spPr>
          <a:xfrm>
            <a:off x="7226158" y="4189535"/>
            <a:ext cx="1079449" cy="118872"/>
          </a:xfrm>
          <a:prstGeom prst="rect">
            <a:avLst/>
          </a:prstGeom>
          <a:noFill/>
          <a:ln/>
        </p:spPr>
        <p:txBody>
          <a:bodyPr wrap="none" lIns="0" tIns="0" rIns="0" bIns="0" rtlCol="0" anchor="ctr"/>
          <a:lstStyle/>
          <a:p>
            <a:pPr algn="ctr" indent="0" marL="0">
              <a:lnSpc>
                <a:spcPts val="940"/>
              </a:lnSpc>
              <a:buNone/>
            </a:pPr>
            <a:r>
              <a:rPr lang="en-US" sz="700" spc="84" kern="0" dirty="0">
                <a:solidFill>
                  <a:srgbClr val="6B7F8E"/>
                </a:solidFill>
                <a:latin typeface="Courier New" pitchFamily="34" charset="0"/>
                <a:ea typeface="Courier New" pitchFamily="34" charset="-122"/>
                <a:cs typeface="Courier New" pitchFamily="34" charset="-120"/>
              </a:rPr>
              <a:t>2026 MIX TARGET</a:t>
            </a:r>
            <a:endParaRPr lang="en-US" sz="700" dirty="0"/>
          </a:p>
        </p:txBody>
      </p:sp>
      <p:sp>
        <p:nvSpPr>
          <p:cNvPr id="22" name="Shape 19"/>
          <p:cNvSpPr/>
          <p:nvPr/>
        </p:nvSpPr>
        <p:spPr>
          <a:xfrm>
            <a:off x="5298256" y="1686482"/>
            <a:ext cx="2735847" cy="851955"/>
          </a:xfrm>
          <a:custGeom>
            <a:avLst/>
            <a:gdLst/>
            <a:ahLst/>
            <a:cxnLst/>
            <a:rect l="l" t="t" r="r" b="b"/>
            <a:pathLst>
              <a:path w="2735847" h="851955">
                <a:moveTo>
                  <a:pt x="0" y="1696"/>
                </a:moveTo>
                <a:lnTo>
                  <a:pt x="13339" y="1095"/>
                </a:lnTo>
                <a:lnTo>
                  <a:pt x="26682" y="624"/>
                </a:lnTo>
                <a:lnTo>
                  <a:pt x="40030" y="283"/>
                </a:lnTo>
                <a:lnTo>
                  <a:pt x="53381" y="74"/>
                </a:lnTo>
                <a:lnTo>
                  <a:pt x="66733" y="0"/>
                </a:lnTo>
                <a:lnTo>
                  <a:pt x="80085" y="61"/>
                </a:lnTo>
                <a:lnTo>
                  <a:pt x="93436" y="257"/>
                </a:lnTo>
                <a:lnTo>
                  <a:pt x="106783" y="591"/>
                </a:lnTo>
                <a:lnTo>
                  <a:pt x="120127" y="1063"/>
                </a:lnTo>
                <a:lnTo>
                  <a:pt x="133465" y="1673"/>
                </a:lnTo>
                <a:lnTo>
                  <a:pt x="146797" y="2424"/>
                </a:lnTo>
                <a:lnTo>
                  <a:pt x="160119" y="3314"/>
                </a:lnTo>
                <a:lnTo>
                  <a:pt x="173431" y="4346"/>
                </a:lnTo>
                <a:lnTo>
                  <a:pt x="186732" y="5519"/>
                </a:lnTo>
                <a:lnTo>
                  <a:pt x="200019" y="6834"/>
                </a:lnTo>
                <a:lnTo>
                  <a:pt x="213291" y="8291"/>
                </a:lnTo>
                <a:lnTo>
                  <a:pt x="226547" y="9891"/>
                </a:lnTo>
                <a:lnTo>
                  <a:pt x="239785" y="11633"/>
                </a:lnTo>
                <a:lnTo>
                  <a:pt x="253004" y="13519"/>
                </a:lnTo>
                <a:lnTo>
                  <a:pt x="266201" y="15546"/>
                </a:lnTo>
                <a:lnTo>
                  <a:pt x="279375" y="17719"/>
                </a:lnTo>
                <a:lnTo>
                  <a:pt x="292525" y="20032"/>
                </a:lnTo>
                <a:lnTo>
                  <a:pt x="305650" y="22487"/>
                </a:lnTo>
                <a:lnTo>
                  <a:pt x="318747" y="25085"/>
                </a:lnTo>
                <a:lnTo>
                  <a:pt x="331815" y="27822"/>
                </a:lnTo>
                <a:lnTo>
                  <a:pt x="344854" y="30700"/>
                </a:lnTo>
                <a:lnTo>
                  <a:pt x="357860" y="33719"/>
                </a:lnTo>
                <a:lnTo>
                  <a:pt x="370834" y="36876"/>
                </a:lnTo>
                <a:lnTo>
                  <a:pt x="383773" y="40169"/>
                </a:lnTo>
                <a:lnTo>
                  <a:pt x="396677" y="43600"/>
                </a:lnTo>
                <a:lnTo>
                  <a:pt x="409544" y="47167"/>
                </a:lnTo>
                <a:lnTo>
                  <a:pt x="422373" y="50867"/>
                </a:lnTo>
                <a:lnTo>
                  <a:pt x="435164" y="54700"/>
                </a:lnTo>
                <a:lnTo>
                  <a:pt x="447914" y="58664"/>
                </a:lnTo>
                <a:lnTo>
                  <a:pt x="460623" y="62757"/>
                </a:lnTo>
                <a:lnTo>
                  <a:pt x="473290" y="66978"/>
                </a:lnTo>
                <a:lnTo>
                  <a:pt x="485915" y="71326"/>
                </a:lnTo>
                <a:lnTo>
                  <a:pt x="498496" y="75798"/>
                </a:lnTo>
                <a:lnTo>
                  <a:pt x="511033" y="80392"/>
                </a:lnTo>
                <a:lnTo>
                  <a:pt x="523525" y="85107"/>
                </a:lnTo>
                <a:lnTo>
                  <a:pt x="535972" y="89939"/>
                </a:lnTo>
                <a:lnTo>
                  <a:pt x="548373" y="94888"/>
                </a:lnTo>
                <a:lnTo>
                  <a:pt x="560728" y="99950"/>
                </a:lnTo>
                <a:lnTo>
                  <a:pt x="573037" y="105124"/>
                </a:lnTo>
                <a:lnTo>
                  <a:pt x="585300" y="110408"/>
                </a:lnTo>
                <a:lnTo>
                  <a:pt x="597516" y="115798"/>
                </a:lnTo>
                <a:lnTo>
                  <a:pt x="609685" y="121292"/>
                </a:lnTo>
                <a:lnTo>
                  <a:pt x="621808" y="126889"/>
                </a:lnTo>
                <a:lnTo>
                  <a:pt x="633884" y="132585"/>
                </a:lnTo>
                <a:lnTo>
                  <a:pt x="645913" y="138380"/>
                </a:lnTo>
                <a:lnTo>
                  <a:pt x="657898" y="144266"/>
                </a:lnTo>
                <a:lnTo>
                  <a:pt x="669836" y="150245"/>
                </a:lnTo>
                <a:lnTo>
                  <a:pt x="681730" y="156313"/>
                </a:lnTo>
                <a:lnTo>
                  <a:pt x="693580" y="162466"/>
                </a:lnTo>
                <a:lnTo>
                  <a:pt x="705386" y="168704"/>
                </a:lnTo>
                <a:lnTo>
                  <a:pt x="717148" y="175022"/>
                </a:lnTo>
                <a:lnTo>
                  <a:pt x="728869" y="181418"/>
                </a:lnTo>
                <a:lnTo>
                  <a:pt x="740548" y="187890"/>
                </a:lnTo>
                <a:lnTo>
                  <a:pt x="752187" y="194434"/>
                </a:lnTo>
                <a:lnTo>
                  <a:pt x="763785" y="201049"/>
                </a:lnTo>
                <a:lnTo>
                  <a:pt x="775345" y="207730"/>
                </a:lnTo>
                <a:lnTo>
                  <a:pt x="786868" y="214476"/>
                </a:lnTo>
                <a:lnTo>
                  <a:pt x="798355" y="221283"/>
                </a:lnTo>
                <a:lnTo>
                  <a:pt x="809807" y="228149"/>
                </a:lnTo>
                <a:lnTo>
                  <a:pt x="821225" y="235070"/>
                </a:lnTo>
                <a:lnTo>
                  <a:pt x="832611" y="242044"/>
                </a:lnTo>
                <a:lnTo>
                  <a:pt x="843967" y="249067"/>
                </a:lnTo>
                <a:lnTo>
                  <a:pt x="855294" y="256138"/>
                </a:lnTo>
                <a:lnTo>
                  <a:pt x="866593" y="263252"/>
                </a:lnTo>
                <a:lnTo>
                  <a:pt x="877866" y="270408"/>
                </a:lnTo>
                <a:lnTo>
                  <a:pt x="889112" y="277606"/>
                </a:lnTo>
                <a:lnTo>
                  <a:pt x="900338" y="284834"/>
                </a:lnTo>
                <a:lnTo>
                  <a:pt x="911543" y="292096"/>
                </a:lnTo>
                <a:lnTo>
                  <a:pt x="922729" y="299386"/>
                </a:lnTo>
                <a:lnTo>
                  <a:pt x="933899" y="306702"/>
                </a:lnTo>
                <a:lnTo>
                  <a:pt x="945053" y="314042"/>
                </a:lnTo>
                <a:lnTo>
                  <a:pt x="956194" y="321401"/>
                </a:lnTo>
                <a:lnTo>
                  <a:pt x="967323" y="328778"/>
                </a:lnTo>
                <a:lnTo>
                  <a:pt x="978443" y="336169"/>
                </a:lnTo>
                <a:lnTo>
                  <a:pt x="989555" y="343573"/>
                </a:lnTo>
                <a:lnTo>
                  <a:pt x="1000665" y="350979"/>
                </a:lnTo>
                <a:lnTo>
                  <a:pt x="1011771" y="358391"/>
                </a:lnTo>
                <a:lnTo>
                  <a:pt x="1022877" y="365803"/>
                </a:lnTo>
                <a:lnTo>
                  <a:pt x="1033984" y="373212"/>
                </a:lnTo>
                <a:lnTo>
                  <a:pt x="1045097" y="380614"/>
                </a:lnTo>
                <a:lnTo>
                  <a:pt x="1056214" y="388010"/>
                </a:lnTo>
                <a:lnTo>
                  <a:pt x="1067341" y="395392"/>
                </a:lnTo>
                <a:lnTo>
                  <a:pt x="1078479" y="402755"/>
                </a:lnTo>
                <a:lnTo>
                  <a:pt x="1089630" y="410099"/>
                </a:lnTo>
                <a:lnTo>
                  <a:pt x="1100800" y="417415"/>
                </a:lnTo>
                <a:lnTo>
                  <a:pt x="1111988" y="424702"/>
                </a:lnTo>
                <a:lnTo>
                  <a:pt x="1123196" y="431959"/>
                </a:lnTo>
                <a:lnTo>
                  <a:pt x="1134428" y="439178"/>
                </a:lnTo>
                <a:lnTo>
                  <a:pt x="1145688" y="446354"/>
                </a:lnTo>
                <a:lnTo>
                  <a:pt x="1156977" y="453485"/>
                </a:lnTo>
                <a:lnTo>
                  <a:pt x="1168297" y="460565"/>
                </a:lnTo>
                <a:lnTo>
                  <a:pt x="1179652" y="467591"/>
                </a:lnTo>
                <a:lnTo>
                  <a:pt x="1191044" y="474554"/>
                </a:lnTo>
                <a:lnTo>
                  <a:pt x="1202476" y="481453"/>
                </a:lnTo>
                <a:lnTo>
                  <a:pt x="1213949" y="488283"/>
                </a:lnTo>
                <a:lnTo>
                  <a:pt x="1225468" y="495035"/>
                </a:lnTo>
                <a:lnTo>
                  <a:pt x="1237035" y="501706"/>
                </a:lnTo>
                <a:lnTo>
                  <a:pt x="1248650" y="508292"/>
                </a:lnTo>
                <a:lnTo>
                  <a:pt x="1260318" y="514782"/>
                </a:lnTo>
                <a:lnTo>
                  <a:pt x="1272041" y="521175"/>
                </a:lnTo>
                <a:lnTo>
                  <a:pt x="1283820" y="527463"/>
                </a:lnTo>
                <a:lnTo>
                  <a:pt x="1295659" y="533636"/>
                </a:lnTo>
                <a:lnTo>
                  <a:pt x="1307558" y="539693"/>
                </a:lnTo>
                <a:lnTo>
                  <a:pt x="1319520" y="545625"/>
                </a:lnTo>
                <a:lnTo>
                  <a:pt x="1331547" y="551424"/>
                </a:lnTo>
                <a:lnTo>
                  <a:pt x="1343641" y="557083"/>
                </a:lnTo>
                <a:lnTo>
                  <a:pt x="1355802" y="562595"/>
                </a:lnTo>
                <a:lnTo>
                  <a:pt x="1368032" y="567952"/>
                </a:lnTo>
                <a:lnTo>
                  <a:pt x="1380333" y="573147"/>
                </a:lnTo>
                <a:lnTo>
                  <a:pt x="1392703" y="578172"/>
                </a:lnTo>
                <a:lnTo>
                  <a:pt x="1405144" y="583019"/>
                </a:lnTo>
                <a:lnTo>
                  <a:pt x="1417656" y="587680"/>
                </a:lnTo>
                <a:lnTo>
                  <a:pt x="1430239" y="592148"/>
                </a:lnTo>
                <a:lnTo>
                  <a:pt x="1442891" y="596414"/>
                </a:lnTo>
                <a:lnTo>
                  <a:pt x="1455612" y="600470"/>
                </a:lnTo>
                <a:lnTo>
                  <a:pt x="1468401" y="604309"/>
                </a:lnTo>
                <a:lnTo>
                  <a:pt x="1481254" y="607923"/>
                </a:lnTo>
                <a:lnTo>
                  <a:pt x="1494171" y="611304"/>
                </a:lnTo>
                <a:lnTo>
                  <a:pt x="1507143" y="614469"/>
                </a:lnTo>
                <a:lnTo>
                  <a:pt x="1520120" y="617610"/>
                </a:lnTo>
                <a:lnTo>
                  <a:pt x="1533091" y="620778"/>
                </a:lnTo>
                <a:lnTo>
                  <a:pt x="1546055" y="623975"/>
                </a:lnTo>
                <a:lnTo>
                  <a:pt x="1559012" y="627198"/>
                </a:lnTo>
                <a:lnTo>
                  <a:pt x="1571962" y="630452"/>
                </a:lnTo>
                <a:lnTo>
                  <a:pt x="1584908" y="633721"/>
                </a:lnTo>
                <a:lnTo>
                  <a:pt x="1597845" y="637023"/>
                </a:lnTo>
                <a:lnTo>
                  <a:pt x="1610778" y="640346"/>
                </a:lnTo>
                <a:lnTo>
                  <a:pt x="1623705" y="643685"/>
                </a:lnTo>
                <a:lnTo>
                  <a:pt x="1636625" y="647056"/>
                </a:lnTo>
                <a:lnTo>
                  <a:pt x="1649540" y="650444"/>
                </a:lnTo>
                <a:lnTo>
                  <a:pt x="1662452" y="653847"/>
                </a:lnTo>
                <a:lnTo>
                  <a:pt x="1675356" y="657275"/>
                </a:lnTo>
                <a:lnTo>
                  <a:pt x="1688257" y="660719"/>
                </a:lnTo>
                <a:lnTo>
                  <a:pt x="1701154" y="664176"/>
                </a:lnTo>
                <a:lnTo>
                  <a:pt x="1714046" y="667650"/>
                </a:lnTo>
                <a:lnTo>
                  <a:pt x="1726935" y="671139"/>
                </a:lnTo>
                <a:lnTo>
                  <a:pt x="1739820" y="674639"/>
                </a:lnTo>
                <a:lnTo>
                  <a:pt x="1752701" y="678153"/>
                </a:lnTo>
                <a:lnTo>
                  <a:pt x="1765583" y="681668"/>
                </a:lnTo>
                <a:lnTo>
                  <a:pt x="1778461" y="685191"/>
                </a:lnTo>
                <a:lnTo>
                  <a:pt x="1791338" y="688723"/>
                </a:lnTo>
                <a:lnTo>
                  <a:pt x="1804215" y="692255"/>
                </a:lnTo>
                <a:lnTo>
                  <a:pt x="1817091" y="695789"/>
                </a:lnTo>
                <a:lnTo>
                  <a:pt x="1829966" y="699324"/>
                </a:lnTo>
                <a:lnTo>
                  <a:pt x="1842842" y="702860"/>
                </a:lnTo>
                <a:lnTo>
                  <a:pt x="1855721" y="706384"/>
                </a:lnTo>
                <a:lnTo>
                  <a:pt x="1868600" y="709908"/>
                </a:lnTo>
                <a:lnTo>
                  <a:pt x="1881480" y="713427"/>
                </a:lnTo>
                <a:lnTo>
                  <a:pt x="1894364" y="716933"/>
                </a:lnTo>
                <a:lnTo>
                  <a:pt x="1907252" y="720423"/>
                </a:lnTo>
                <a:lnTo>
                  <a:pt x="1920143" y="723901"/>
                </a:lnTo>
                <a:lnTo>
                  <a:pt x="1933039" y="727363"/>
                </a:lnTo>
                <a:lnTo>
                  <a:pt x="1945939" y="730806"/>
                </a:lnTo>
                <a:lnTo>
                  <a:pt x="1958847" y="734225"/>
                </a:lnTo>
                <a:lnTo>
                  <a:pt x="1971759" y="737622"/>
                </a:lnTo>
                <a:lnTo>
                  <a:pt x="1984678" y="740996"/>
                </a:lnTo>
                <a:lnTo>
                  <a:pt x="1997604" y="744342"/>
                </a:lnTo>
                <a:lnTo>
                  <a:pt x="2010539" y="747653"/>
                </a:lnTo>
                <a:lnTo>
                  <a:pt x="2023480" y="750942"/>
                </a:lnTo>
                <a:lnTo>
                  <a:pt x="2036431" y="754191"/>
                </a:lnTo>
                <a:lnTo>
                  <a:pt x="2049391" y="757406"/>
                </a:lnTo>
                <a:lnTo>
                  <a:pt x="2062360" y="760581"/>
                </a:lnTo>
                <a:lnTo>
                  <a:pt x="2075338" y="763718"/>
                </a:lnTo>
                <a:lnTo>
                  <a:pt x="2088327" y="766812"/>
                </a:lnTo>
                <a:lnTo>
                  <a:pt x="2101326" y="769865"/>
                </a:lnTo>
                <a:lnTo>
                  <a:pt x="2114335" y="772872"/>
                </a:lnTo>
                <a:lnTo>
                  <a:pt x="2127354" y="775832"/>
                </a:lnTo>
                <a:lnTo>
                  <a:pt x="2140385" y="778745"/>
                </a:lnTo>
                <a:lnTo>
                  <a:pt x="2153427" y="781608"/>
                </a:lnTo>
                <a:lnTo>
                  <a:pt x="2166479" y="784421"/>
                </a:lnTo>
                <a:lnTo>
                  <a:pt x="2179543" y="787181"/>
                </a:lnTo>
                <a:lnTo>
                  <a:pt x="2192618" y="789890"/>
                </a:lnTo>
                <a:lnTo>
                  <a:pt x="2205704" y="792542"/>
                </a:lnTo>
                <a:lnTo>
                  <a:pt x="2218800" y="795142"/>
                </a:lnTo>
                <a:lnTo>
                  <a:pt x="2231909" y="797682"/>
                </a:lnTo>
                <a:lnTo>
                  <a:pt x="2245027" y="800169"/>
                </a:lnTo>
                <a:lnTo>
                  <a:pt x="2258157" y="802596"/>
                </a:lnTo>
                <a:lnTo>
                  <a:pt x="2271298" y="804966"/>
                </a:lnTo>
                <a:lnTo>
                  <a:pt x="2284448" y="807279"/>
                </a:lnTo>
                <a:lnTo>
                  <a:pt x="2297609" y="809529"/>
                </a:lnTo>
                <a:lnTo>
                  <a:pt x="2310779" y="811725"/>
                </a:lnTo>
                <a:lnTo>
                  <a:pt x="2323960" y="813857"/>
                </a:lnTo>
                <a:lnTo>
                  <a:pt x="2337150" y="815931"/>
                </a:lnTo>
                <a:lnTo>
                  <a:pt x="2350349" y="817949"/>
                </a:lnTo>
                <a:lnTo>
                  <a:pt x="2363558" y="819900"/>
                </a:lnTo>
                <a:lnTo>
                  <a:pt x="2376775" y="821796"/>
                </a:lnTo>
                <a:lnTo>
                  <a:pt x="2390001" y="823634"/>
                </a:lnTo>
                <a:lnTo>
                  <a:pt x="2403234" y="825408"/>
                </a:lnTo>
                <a:lnTo>
                  <a:pt x="2416475" y="827125"/>
                </a:lnTo>
                <a:lnTo>
                  <a:pt x="2429724" y="828787"/>
                </a:lnTo>
                <a:lnTo>
                  <a:pt x="2442980" y="830384"/>
                </a:lnTo>
                <a:lnTo>
                  <a:pt x="2456243" y="831925"/>
                </a:lnTo>
                <a:lnTo>
                  <a:pt x="2469512" y="833411"/>
                </a:lnTo>
                <a:lnTo>
                  <a:pt x="2482788" y="834840"/>
                </a:lnTo>
                <a:lnTo>
                  <a:pt x="2496070" y="836209"/>
                </a:lnTo>
                <a:lnTo>
                  <a:pt x="2509357" y="837523"/>
                </a:lnTo>
                <a:lnTo>
                  <a:pt x="2522650" y="838783"/>
                </a:lnTo>
                <a:lnTo>
                  <a:pt x="2535948" y="839991"/>
                </a:lnTo>
                <a:lnTo>
                  <a:pt x="2549250" y="841139"/>
                </a:lnTo>
                <a:lnTo>
                  <a:pt x="2562557" y="842235"/>
                </a:lnTo>
                <a:lnTo>
                  <a:pt x="2575869" y="843279"/>
                </a:lnTo>
                <a:lnTo>
                  <a:pt x="2589184" y="844272"/>
                </a:lnTo>
                <a:lnTo>
                  <a:pt x="2602503" y="845215"/>
                </a:lnTo>
                <a:lnTo>
                  <a:pt x="2615825" y="846105"/>
                </a:lnTo>
                <a:lnTo>
                  <a:pt x="2629151" y="846943"/>
                </a:lnTo>
                <a:lnTo>
                  <a:pt x="2642480" y="847733"/>
                </a:lnTo>
                <a:lnTo>
                  <a:pt x="2655811" y="848475"/>
                </a:lnTo>
                <a:lnTo>
                  <a:pt x="2669145" y="849169"/>
                </a:lnTo>
                <a:lnTo>
                  <a:pt x="2682482" y="849817"/>
                </a:lnTo>
                <a:lnTo>
                  <a:pt x="2695820" y="850419"/>
                </a:lnTo>
                <a:lnTo>
                  <a:pt x="2709161" y="850975"/>
                </a:lnTo>
                <a:lnTo>
                  <a:pt x="2722503" y="851487"/>
                </a:lnTo>
                <a:lnTo>
                  <a:pt x="2735847" y="851955"/>
                </a:lnTo>
              </a:path>
            </a:pathLst>
          </a:custGeom>
          <a:ln w="44703">
            <a:solidFill>
              <a:srgbClr val="8DB828"/>
            </a:solidFill>
            <a:prstDash val="solid"/>
          </a:ln>
        </p:spPr>
      </p:sp>
      <p:sp>
        <p:nvSpPr>
          <p:cNvPr id="23" name="Shape 20"/>
          <p:cNvSpPr/>
          <p:nvPr/>
        </p:nvSpPr>
        <p:spPr>
          <a:xfrm>
            <a:off x="7895446" y="2421179"/>
            <a:ext cx="227986" cy="223322"/>
          </a:xfrm>
          <a:custGeom>
            <a:avLst/>
            <a:gdLst/>
            <a:ahLst/>
            <a:cxnLst/>
            <a:rect l="l" t="t" r="r" b="b"/>
            <a:pathLst>
              <a:path w="227986" h="223322">
                <a:moveTo>
                  <a:pt x="227986" y="120989"/>
                </a:moveTo>
                <a:lnTo>
                  <a:pt x="0" y="223322"/>
                </a:lnTo>
                <a:lnTo>
                  <a:pt x="9327" y="0"/>
                </a:lnTo>
                <a:close/>
              </a:path>
            </a:pathLst>
          </a:custGeom>
          <a:solidFill>
            <a:srgbClr val="8DB828"/>
          </a:solidFill>
          <a:ln/>
        </p:spPr>
      </p:sp>
      <p:sp>
        <p:nvSpPr>
          <p:cNvPr id="24" name="Shape 21"/>
          <p:cNvSpPr/>
          <p:nvPr/>
        </p:nvSpPr>
        <p:spPr>
          <a:xfrm>
            <a:off x="5781052" y="1591619"/>
            <a:ext cx="536441" cy="214576"/>
          </a:xfrm>
          <a:prstGeom prst="roundRect">
            <a:avLst>
              <a:gd name="adj" fmla="val 50000"/>
            </a:avLst>
          </a:prstGeom>
          <a:solidFill>
            <a:srgbClr val="FFFFFF"/>
          </a:solidFill>
          <a:ln w="8941">
            <a:solidFill>
              <a:srgbClr val="6E9312">
                <a:alpha val="35000"/>
              </a:srgbClr>
            </a:solidFill>
            <a:prstDash val="solid"/>
          </a:ln>
        </p:spPr>
      </p:sp>
      <p:sp>
        <p:nvSpPr>
          <p:cNvPr id="25" name="Text 22"/>
          <p:cNvSpPr txBox="1"/>
          <p:nvPr/>
        </p:nvSpPr>
        <p:spPr>
          <a:xfrm>
            <a:off x="5882309" y="1633883"/>
            <a:ext cx="337642" cy="137160"/>
          </a:xfrm>
          <a:prstGeom prst="rect">
            <a:avLst/>
          </a:prstGeom>
          <a:noFill/>
          <a:ln/>
        </p:spPr>
        <p:txBody>
          <a:bodyPr wrap="none" lIns="0" tIns="0" rIns="0" bIns="0" rtlCol="0" anchor="ctr"/>
          <a:lstStyle/>
          <a:p>
            <a:pPr algn="ctr" indent="0" marL="0">
              <a:lnSpc>
                <a:spcPts val="1080"/>
              </a:lnSpc>
              <a:buNone/>
            </a:pPr>
            <a:r>
              <a:rPr lang="en-US" sz="840" b="1" dirty="0">
                <a:solidFill>
                  <a:srgbClr val="6E9312"/>
                </a:solidFill>
                <a:latin typeface="Arial" pitchFamily="34" charset="0"/>
                <a:ea typeface="Arial" pitchFamily="34" charset="-122"/>
                <a:cs typeface="Arial" pitchFamily="34" charset="-120"/>
              </a:rPr>
              <a:t>−30%</a:t>
            </a:r>
            <a:endParaRPr lang="en-US" sz="840" dirty="0"/>
          </a:p>
        </p:txBody>
      </p:sp>
      <p:sp>
        <p:nvSpPr>
          <p:cNvPr id="26" name="Shape 23"/>
          <p:cNvSpPr/>
          <p:nvPr/>
        </p:nvSpPr>
        <p:spPr>
          <a:xfrm>
            <a:off x="6782408" y="2026136"/>
            <a:ext cx="822542" cy="214576"/>
          </a:xfrm>
          <a:prstGeom prst="roundRect">
            <a:avLst>
              <a:gd name="adj" fmla="val 50000"/>
            </a:avLst>
          </a:prstGeom>
          <a:solidFill>
            <a:srgbClr val="FFFFFF"/>
          </a:solidFill>
          <a:ln w="8941">
            <a:solidFill>
              <a:srgbClr val="6E9312">
                <a:alpha val="35000"/>
              </a:srgbClr>
            </a:solidFill>
            <a:prstDash val="solid"/>
          </a:ln>
        </p:spPr>
      </p:sp>
      <p:sp>
        <p:nvSpPr>
          <p:cNvPr id="27" name="Text 24"/>
          <p:cNvSpPr txBox="1"/>
          <p:nvPr/>
        </p:nvSpPr>
        <p:spPr>
          <a:xfrm>
            <a:off x="6742454" y="2068399"/>
            <a:ext cx="905265" cy="137160"/>
          </a:xfrm>
          <a:prstGeom prst="rect">
            <a:avLst/>
          </a:prstGeom>
          <a:noFill/>
          <a:ln/>
        </p:spPr>
        <p:txBody>
          <a:bodyPr wrap="none" lIns="0" tIns="0" rIns="0" bIns="0" rtlCol="0" anchor="ctr"/>
          <a:lstStyle/>
          <a:p>
            <a:pPr algn="ctr" indent="0" marL="0">
              <a:lnSpc>
                <a:spcPts val="1080"/>
              </a:lnSpc>
              <a:buNone/>
            </a:pPr>
            <a:r>
              <a:rPr lang="en-US" sz="840" b="1" dirty="0">
                <a:solidFill>
                  <a:srgbClr val="6E9312"/>
                </a:solidFill>
                <a:latin typeface="Arial" pitchFamily="34" charset="0"/>
                <a:ea typeface="Arial" pitchFamily="34" charset="-122"/>
                <a:cs typeface="Arial" pitchFamily="34" charset="-120"/>
              </a:rPr>
              <a:t>−47.5% vs 2025</a:t>
            </a:r>
            <a:endParaRPr lang="en-US" sz="840" dirty="0"/>
          </a:p>
        </p:txBody>
      </p:sp>
    </p:spTree>
  </p:cSld>
  <p:clrMapOvr>
    <a:masterClrMapping/>
  </p:clrMapOvr>
  <p:transition spd="med">
    <p:push dir="r"/>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2617441"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COST REDUCTION / BEVERAGE SUPPLIER</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5876363" cy="400089"/>
          </a:xfrm>
          <a:prstGeom prst="rect">
            <a:avLst/>
          </a:prstGeom>
          <a:noFill/>
          <a:ln/>
        </p:spPr>
        <p:txBody>
          <a:bodyPr wrap="non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Supplier change reduced</a:t>
            </a:r>
            <a:pPr algn="l" indent="0" marL="0">
              <a:lnSpc>
                <a:spcPts val="2420"/>
              </a:lnSpc>
              <a:buNone/>
            </a:pPr>
            <a:r>
              <a:rPr lang="en-US" sz="2380" b="1" spc="-119" kern="0" dirty="0">
                <a:solidFill>
                  <a:srgbClr val="0E3F63"/>
                </a:solidFill>
                <a:latin typeface="Arial" pitchFamily="34" charset="0"/>
                <a:ea typeface="Arial" pitchFamily="34" charset="-122"/>
                <a:cs typeface="Arial" pitchFamily="34" charset="-120"/>
              </a:rPr>
              <a:t> u</a:t>
            </a:r>
            <a:pPr algn="l" indent="0" marL="0">
              <a:lnSpc>
                <a:spcPts val="2420"/>
              </a:lnSpc>
              <a:buNone/>
            </a:pPr>
            <a:r>
              <a:rPr lang="en-US" sz="2380" b="1" spc="-119" kern="0" dirty="0">
                <a:solidFill>
                  <a:srgbClr val="134A71"/>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17517B"/>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1A5782"/>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206393"/>
                </a:solidFill>
                <a:latin typeface="Arial" pitchFamily="34" charset="0"/>
                <a:ea typeface="Arial" pitchFamily="34" charset="-122"/>
                <a:cs typeface="Arial" pitchFamily="34" charset="-120"/>
              </a:rPr>
              <a:t> c</a:t>
            </a:r>
            <a:pPr algn="l" indent="0" marL="0">
              <a:lnSpc>
                <a:spcPts val="2420"/>
              </a:lnSpc>
              <a:buNone/>
            </a:pPr>
            <a:r>
              <a:rPr lang="en-US" sz="2380" b="1" spc="-119" kern="0" dirty="0">
                <a:solidFill>
                  <a:srgbClr val="256DA1"/>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2A77AE"/>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2F7FB6"/>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3C869C"/>
                </a:solidFill>
                <a:latin typeface="Arial" pitchFamily="34" charset="0"/>
                <a:ea typeface="Arial" pitchFamily="34" charset="-122"/>
                <a:cs typeface="Arial" pitchFamily="34" charset="-120"/>
              </a:rPr>
              <a:t> b</a:t>
            </a:r>
            <a:pPr algn="l" indent="0" marL="0">
              <a:lnSpc>
                <a:spcPts val="2420"/>
              </a:lnSpc>
              <a:buNone/>
            </a:pPr>
            <a:r>
              <a:rPr lang="en-US" sz="2380" b="1" spc="-119" kern="0" dirty="0">
                <a:solidFill>
                  <a:srgbClr val="488C86"/>
                </a:solidFill>
                <a:latin typeface="Arial" pitchFamily="34" charset="0"/>
                <a:ea typeface="Arial" pitchFamily="34" charset="-122"/>
                <a:cs typeface="Arial" pitchFamily="34" charset="-120"/>
              </a:rPr>
              <a:t>y</a:t>
            </a:r>
            <a:pPr algn="l" indent="0" marL="0">
              <a:lnSpc>
                <a:spcPts val="2420"/>
              </a:lnSpc>
              <a:buNone/>
            </a:pPr>
            <a:r>
              <a:rPr lang="en-US" sz="2380" b="1" spc="-119" kern="0" dirty="0">
                <a:solidFill>
                  <a:srgbClr val="579467"/>
                </a:solidFill>
                <a:latin typeface="Arial" pitchFamily="34" charset="0"/>
                <a:ea typeface="Arial" pitchFamily="34" charset="-122"/>
                <a:cs typeface="Arial" pitchFamily="34" charset="-120"/>
              </a:rPr>
              <a:t> 3</a:t>
            </a:r>
            <a:pPr algn="l" indent="0" marL="0">
              <a:lnSpc>
                <a:spcPts val="2420"/>
              </a:lnSpc>
              <a:buNone/>
            </a:pPr>
            <a:r>
              <a:rPr lang="en-US" sz="2380" b="1" spc="-119" kern="0" dirty="0">
                <a:solidFill>
                  <a:srgbClr val="649A4E"/>
                </a:solidFill>
                <a:latin typeface="Arial" pitchFamily="34" charset="0"/>
                <a:ea typeface="Arial" pitchFamily="34" charset="-122"/>
                <a:cs typeface="Arial" pitchFamily="34" charset="-120"/>
              </a:rPr>
              <a:t>0</a:t>
            </a:r>
            <a:pPr algn="l" indent="0" marL="0">
              <a:lnSpc>
                <a:spcPts val="2420"/>
              </a:lnSpc>
              <a:buNone/>
            </a:pPr>
            <a:r>
              <a:rPr lang="en-US" sz="2380" b="1" spc="-119" kern="0" dirty="0">
                <a:solidFill>
                  <a:srgbClr val="73A231"/>
                </a:solidFill>
                <a:latin typeface="Arial" pitchFamily="34" charset="0"/>
                <a:ea typeface="Arial" pitchFamily="34" charset="-122"/>
                <a:cs typeface="Arial" pitchFamily="34" charset="-120"/>
              </a:rPr>
              <a:t>%</a:t>
            </a:r>
            <a:pPr algn="l" indent="0" marL="0">
              <a:lnSpc>
                <a:spcPts val="2420"/>
              </a:lnSpc>
              <a:buNone/>
            </a:pPr>
            <a:r>
              <a:rPr lang="en-US" sz="2380" b="1" spc="-119" kern="0" dirty="0">
                <a:solidFill>
                  <a:srgbClr val="7DA71E"/>
                </a:solidFill>
                <a:latin typeface="Arial" pitchFamily="34" charset="0"/>
                <a:ea typeface="Arial" pitchFamily="34" charset="-122"/>
                <a:cs typeface="Arial" pitchFamily="34" charset="-120"/>
              </a:rPr>
              <a:t>.</a:t>
            </a:r>
            <a:endParaRPr lang="en-US" sz="2380" dirty="0"/>
          </a:p>
        </p:txBody>
      </p:sp>
      <p:sp>
        <p:nvSpPr>
          <p:cNvPr id="7" name="Text 4"/>
          <p:cNvSpPr txBox="1"/>
          <p:nvPr/>
        </p:nvSpPr>
        <p:spPr>
          <a:xfrm>
            <a:off x="457200" y="1752505"/>
            <a:ext cx="4203683" cy="240716"/>
          </a:xfrm>
          <a:prstGeom prst="rect">
            <a:avLst/>
          </a:prstGeom>
          <a:noFill/>
          <a:ln/>
        </p:spPr>
        <p:txBody>
          <a:bodyPr wrap="none" lIns="0" tIns="0" rIns="0" bIns="0" rtlCol="0" anchor="t"/>
          <a:lstStyle/>
          <a:p>
            <a:pPr algn="l" indent="0" marL="0">
              <a:lnSpc>
                <a:spcPts val="1460"/>
              </a:lnSpc>
              <a:buNone/>
            </a:pPr>
            <a:r>
              <a:rPr lang="en-US" sz="970" dirty="0">
                <a:solidFill>
                  <a:srgbClr val="5A6E7E"/>
                </a:solidFill>
                <a:latin typeface="Arial" pitchFamily="34" charset="0"/>
                <a:ea typeface="Arial" pitchFamily="34" charset="-122"/>
                <a:cs typeface="Arial" pitchFamily="34" charset="-120"/>
              </a:rPr>
              <a:t>Lower purchase cost, with the monthly operating trend kept in view.</a:t>
            </a:r>
            <a:endParaRPr lang="en-US" sz="970" dirty="0"/>
          </a:p>
        </p:txBody>
      </p:sp>
      <p:sp>
        <p:nvSpPr>
          <p:cNvPr id="8" name="Shape 5"/>
          <p:cNvSpPr/>
          <p:nvPr/>
        </p:nvSpPr>
        <p:spPr>
          <a:xfrm>
            <a:off x="457200" y="2194560"/>
            <a:ext cx="2743200" cy="863108"/>
          </a:xfrm>
          <a:prstGeom prst="roundRect">
            <a:avLst>
              <a:gd name="adj" fmla="val 16951"/>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9" name="Text 6"/>
          <p:cNvSpPr txBox="1"/>
          <p:nvPr/>
        </p:nvSpPr>
        <p:spPr>
          <a:xfrm>
            <a:off x="603504" y="2313432"/>
            <a:ext cx="1157245"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5A6E7E"/>
                </a:solidFill>
                <a:latin typeface="Courier New" pitchFamily="34" charset="0"/>
                <a:ea typeface="Courier New" pitchFamily="34" charset="-122"/>
                <a:cs typeface="Courier New" pitchFamily="34" charset="-120"/>
              </a:rPr>
              <a:t>PREVIOUS SUPPLIER</a:t>
            </a:r>
            <a:endParaRPr lang="en-US" sz="650" dirty="0"/>
          </a:p>
        </p:txBody>
      </p:sp>
      <p:sp>
        <p:nvSpPr>
          <p:cNvPr id="10" name="Text 7"/>
          <p:cNvSpPr txBox="1"/>
          <p:nvPr/>
        </p:nvSpPr>
        <p:spPr>
          <a:xfrm>
            <a:off x="603504" y="2448735"/>
            <a:ext cx="1642720" cy="405296"/>
          </a:xfrm>
          <a:prstGeom prst="rect">
            <a:avLst/>
          </a:prstGeom>
          <a:noFill/>
          <a:ln/>
        </p:spPr>
        <p:txBody>
          <a:bodyPr wrap="none" lIns="0" tIns="0" rIns="0" bIns="0" rtlCol="0" anchor="t"/>
          <a:lstStyle/>
          <a:p>
            <a:pPr algn="l" indent="0" marL="0">
              <a:lnSpc>
                <a:spcPts val="2460"/>
              </a:lnSpc>
              <a:buNone/>
            </a:pPr>
            <a:r>
              <a:rPr lang="en-US" sz="1580" b="1" spc="-48" kern="0" dirty="0">
                <a:solidFill>
                  <a:srgbClr val="7A8C99"/>
                </a:solidFill>
                <a:latin typeface="Arial" pitchFamily="34" charset="0"/>
                <a:ea typeface="Arial" pitchFamily="34" charset="-122"/>
                <a:cs typeface="Arial" pitchFamily="34" charset="-120"/>
              </a:rPr>
              <a:t>22.34 THB / unit</a:t>
            </a:r>
            <a:endParaRPr lang="en-US" sz="1580" dirty="0"/>
          </a:p>
        </p:txBody>
      </p:sp>
      <p:sp>
        <p:nvSpPr>
          <p:cNvPr id="11" name="Text 8"/>
          <p:cNvSpPr txBox="1"/>
          <p:nvPr/>
        </p:nvSpPr>
        <p:spPr>
          <a:xfrm>
            <a:off x="603504" y="2797064"/>
            <a:ext cx="1297748" cy="184252"/>
          </a:xfrm>
          <a:prstGeom prst="rect">
            <a:avLst/>
          </a:prstGeom>
          <a:noFill/>
          <a:ln/>
        </p:spPr>
        <p:txBody>
          <a:bodyPr wrap="none" lIns="0" tIns="0" rIns="0" bIns="0" rtlCol="0" anchor="t"/>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Monthly avg. 80,899.75 THB</a:t>
            </a:r>
            <a:endParaRPr lang="en-US" sz="720" dirty="0"/>
          </a:p>
        </p:txBody>
      </p:sp>
      <p:sp>
        <p:nvSpPr>
          <p:cNvPr id="12" name="Shape 9"/>
          <p:cNvSpPr/>
          <p:nvPr/>
        </p:nvSpPr>
        <p:spPr>
          <a:xfrm>
            <a:off x="457200" y="3185684"/>
            <a:ext cx="2743200" cy="863108"/>
          </a:xfrm>
          <a:prstGeom prst="roundRect">
            <a:avLst>
              <a:gd name="adj" fmla="val 16951"/>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13" name="Text 10"/>
          <p:cNvSpPr txBox="1"/>
          <p:nvPr/>
        </p:nvSpPr>
        <p:spPr>
          <a:xfrm>
            <a:off x="603504" y="3304556"/>
            <a:ext cx="1090136"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6E9312"/>
                </a:solidFill>
                <a:latin typeface="Courier New" pitchFamily="34" charset="0"/>
                <a:ea typeface="Courier New" pitchFamily="34" charset="-122"/>
                <a:cs typeface="Courier New" pitchFamily="34" charset="-120"/>
              </a:rPr>
              <a:t>CURRENT SUPPLIER</a:t>
            </a:r>
            <a:endParaRPr lang="en-US" sz="650" dirty="0"/>
          </a:p>
        </p:txBody>
      </p:sp>
      <p:sp>
        <p:nvSpPr>
          <p:cNvPr id="14" name="Text 11"/>
          <p:cNvSpPr txBox="1"/>
          <p:nvPr/>
        </p:nvSpPr>
        <p:spPr>
          <a:xfrm>
            <a:off x="603504" y="3439859"/>
            <a:ext cx="1593528" cy="405296"/>
          </a:xfrm>
          <a:prstGeom prst="rect">
            <a:avLst/>
          </a:prstGeom>
          <a:noFill/>
          <a:ln/>
        </p:spPr>
        <p:txBody>
          <a:bodyPr wrap="none" lIns="0" tIns="0" rIns="0" bIns="0" rtlCol="0" anchor="t"/>
          <a:lstStyle/>
          <a:p>
            <a:pPr algn="l" indent="0" marL="0">
              <a:lnSpc>
                <a:spcPts val="2460"/>
              </a:lnSpc>
              <a:buNone/>
            </a:pPr>
            <a:r>
              <a:rPr lang="en-US" sz="1580" b="1" spc="-48" kern="0" dirty="0">
                <a:solidFill>
                  <a:srgbClr val="6E9312"/>
                </a:solidFill>
                <a:latin typeface="Arial" pitchFamily="34" charset="0"/>
                <a:ea typeface="Arial" pitchFamily="34" charset="-122"/>
                <a:cs typeface="Arial" pitchFamily="34" charset="-120"/>
              </a:rPr>
              <a:t>15.68 THB / unit</a:t>
            </a:r>
            <a:endParaRPr lang="en-US" sz="1580" dirty="0"/>
          </a:p>
        </p:txBody>
      </p:sp>
      <p:sp>
        <p:nvSpPr>
          <p:cNvPr id="15" name="Text 12"/>
          <p:cNvSpPr txBox="1"/>
          <p:nvPr/>
        </p:nvSpPr>
        <p:spPr>
          <a:xfrm>
            <a:off x="603504" y="3788188"/>
            <a:ext cx="1312521" cy="184252"/>
          </a:xfrm>
          <a:prstGeom prst="rect">
            <a:avLst/>
          </a:prstGeom>
          <a:noFill/>
          <a:ln/>
        </p:spPr>
        <p:txBody>
          <a:bodyPr wrap="none" lIns="0" tIns="0" rIns="0" bIns="0" rtlCol="0" anchor="t"/>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Monthly avg. 64,983.03 THB</a:t>
            </a:r>
            <a:endParaRPr lang="en-US" sz="720" dirty="0"/>
          </a:p>
        </p:txBody>
      </p:sp>
      <p:sp>
        <p:nvSpPr>
          <p:cNvPr id="16" name="Shape 13"/>
          <p:cNvSpPr/>
          <p:nvPr/>
        </p:nvSpPr>
        <p:spPr>
          <a:xfrm>
            <a:off x="3520440" y="2194560"/>
            <a:ext cx="5166360" cy="2543604"/>
          </a:xfrm>
          <a:prstGeom prst="roundRect">
            <a:avLst>
              <a:gd name="adj" fmla="val 5752"/>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17" name="Text 14"/>
          <p:cNvSpPr txBox="1"/>
          <p:nvPr/>
        </p:nvSpPr>
        <p:spPr>
          <a:xfrm>
            <a:off x="3666744" y="2322576"/>
            <a:ext cx="1406347" cy="221045"/>
          </a:xfrm>
          <a:prstGeom prst="rect">
            <a:avLst/>
          </a:prstGeom>
          <a:noFill/>
          <a:ln/>
        </p:spPr>
        <p:txBody>
          <a:bodyPr wrap="none" lIns="0" tIns="0" rIns="0" bIns="0" rtlCol="0" anchor="t"/>
          <a:lstStyle/>
          <a:p>
            <a:pPr algn="l" indent="0" marL="0">
              <a:lnSpc>
                <a:spcPts val="1340"/>
              </a:lnSpc>
              <a:buNone/>
            </a:pPr>
            <a:r>
              <a:rPr lang="en-US" sz="860" b="1" dirty="0">
                <a:solidFill>
                  <a:srgbClr val="062A44"/>
                </a:solidFill>
                <a:latin typeface="Arial" pitchFamily="34" charset="0"/>
                <a:ea typeface="Arial" pitchFamily="34" charset="-122"/>
                <a:cs typeface="Arial" pitchFamily="34" charset="-120"/>
              </a:rPr>
              <a:t>Total cost and cost / HC</a:t>
            </a:r>
            <a:endParaRPr lang="en-US" sz="860" dirty="0"/>
          </a:p>
        </p:txBody>
      </p:sp>
      <p:sp>
        <p:nvSpPr>
          <p:cNvPr id="18" name="Text 15"/>
          <p:cNvSpPr txBox="1"/>
          <p:nvPr/>
        </p:nvSpPr>
        <p:spPr>
          <a:xfrm>
            <a:off x="5990320" y="2336721"/>
            <a:ext cx="808501"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Previous supplier</a:t>
            </a:r>
            <a:endParaRPr lang="en-US" sz="720" dirty="0"/>
          </a:p>
        </p:txBody>
      </p:sp>
      <p:sp>
        <p:nvSpPr>
          <p:cNvPr id="19" name="Shape 16"/>
          <p:cNvSpPr/>
          <p:nvPr/>
        </p:nvSpPr>
        <p:spPr>
          <a:xfrm>
            <a:off x="5862304" y="2366439"/>
            <a:ext cx="82296" cy="82296"/>
          </a:xfrm>
          <a:prstGeom prst="roundRect">
            <a:avLst>
              <a:gd name="adj" fmla="val 27778"/>
            </a:avLst>
          </a:prstGeom>
          <a:solidFill>
            <a:srgbClr val="C3CFD9"/>
          </a:solidFill>
          <a:ln/>
        </p:spPr>
      </p:sp>
      <p:sp>
        <p:nvSpPr>
          <p:cNvPr id="20" name="Text 17"/>
          <p:cNvSpPr txBox="1"/>
          <p:nvPr/>
        </p:nvSpPr>
        <p:spPr>
          <a:xfrm>
            <a:off x="6964728" y="2336721"/>
            <a:ext cx="758995"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Current supplier</a:t>
            </a:r>
            <a:endParaRPr lang="en-US" sz="720" dirty="0"/>
          </a:p>
        </p:txBody>
      </p:sp>
      <p:sp>
        <p:nvSpPr>
          <p:cNvPr id="21" name="Shape 18"/>
          <p:cNvSpPr/>
          <p:nvPr/>
        </p:nvSpPr>
        <p:spPr>
          <a:xfrm>
            <a:off x="6836712" y="2366439"/>
            <a:ext cx="82296" cy="82296"/>
          </a:xfrm>
          <a:prstGeom prst="roundRect">
            <a:avLst>
              <a:gd name="adj" fmla="val 27778"/>
            </a:avLst>
          </a:prstGeom>
          <a:solidFill>
            <a:srgbClr val="97C21D"/>
          </a:solidFill>
          <a:ln/>
        </p:spPr>
      </p:sp>
      <p:sp>
        <p:nvSpPr>
          <p:cNvPr id="22" name="Text 19"/>
          <p:cNvSpPr txBox="1"/>
          <p:nvPr/>
        </p:nvSpPr>
        <p:spPr>
          <a:xfrm>
            <a:off x="7894130" y="2336721"/>
            <a:ext cx="729291" cy="141732"/>
          </a:xfrm>
          <a:prstGeom prst="rect">
            <a:avLst/>
          </a:prstGeom>
          <a:noFill/>
          <a:ln/>
        </p:spPr>
        <p:txBody>
          <a:bodyPr wrap="none" lIns="0" tIns="0" rIns="0" bIns="0" rtlCol="0" anchor="ctr"/>
          <a:lstStyle/>
          <a:p>
            <a:pPr algn="l" indent="0" marL="0">
              <a:lnSpc>
                <a:spcPts val="1120"/>
              </a:lnSpc>
              <a:buNone/>
            </a:pPr>
            <a:r>
              <a:rPr lang="en-US" sz="720" dirty="0">
                <a:solidFill>
                  <a:srgbClr val="5A6E7E"/>
                </a:solidFill>
                <a:latin typeface="Arial" pitchFamily="34" charset="0"/>
                <a:ea typeface="Arial" pitchFamily="34" charset="-122"/>
                <a:cs typeface="Arial" pitchFamily="34" charset="-120"/>
              </a:rPr>
              <a:t>Cost / HC, right</a:t>
            </a:r>
            <a:endParaRPr lang="en-US" sz="720" dirty="0"/>
          </a:p>
        </p:txBody>
      </p:sp>
      <p:sp>
        <p:nvSpPr>
          <p:cNvPr id="23" name="Shape 20"/>
          <p:cNvSpPr/>
          <p:nvPr/>
        </p:nvSpPr>
        <p:spPr>
          <a:xfrm>
            <a:off x="7766114" y="2366439"/>
            <a:ext cx="82296" cy="82296"/>
          </a:xfrm>
          <a:prstGeom prst="roundRect">
            <a:avLst>
              <a:gd name="adj" fmla="val 27778"/>
            </a:avLst>
          </a:prstGeom>
          <a:solidFill>
            <a:srgbClr val="2E7FB8"/>
          </a:solidFill>
          <a:ln/>
        </p:spPr>
      </p:sp>
      <p:sp>
        <p:nvSpPr>
          <p:cNvPr id="24" name="Shape 21"/>
          <p:cNvSpPr/>
          <p:nvPr/>
        </p:nvSpPr>
        <p:spPr>
          <a:xfrm>
            <a:off x="4040458" y="4204489"/>
            <a:ext cx="4175061" cy="0"/>
          </a:xfrm>
          <a:prstGeom prst="line">
            <a:avLst/>
          </a:prstGeom>
          <a:noFill/>
          <a:ln w="8123">
            <a:solidFill>
              <a:srgbClr val="062A44">
                <a:alpha val="16000"/>
              </a:srgbClr>
            </a:solidFill>
            <a:prstDash val="solid"/>
          </a:ln>
        </p:spPr>
      </p:sp>
      <p:sp>
        <p:nvSpPr>
          <p:cNvPr id="25" name="Text 22"/>
          <p:cNvSpPr txBox="1"/>
          <p:nvPr/>
        </p:nvSpPr>
        <p:spPr>
          <a:xfrm>
            <a:off x="3839329" y="4150621"/>
            <a:ext cx="140740" cy="109728"/>
          </a:xfrm>
          <a:prstGeom prst="rect">
            <a:avLst/>
          </a:prstGeom>
          <a:noFill/>
          <a:ln/>
        </p:spPr>
        <p:txBody>
          <a:bodyPr wrap="none" lIns="0" tIns="0" rIns="0" bIns="0" rtlCol="0" anchor="ctr"/>
          <a:lstStyle/>
          <a:p>
            <a:pPr algn="r" indent="0" marL="0">
              <a:lnSpc>
                <a:spcPts val="860"/>
              </a:lnSpc>
              <a:buNone/>
            </a:pPr>
            <a:r>
              <a:rPr lang="en-US" sz="670" dirty="0">
                <a:solidFill>
                  <a:srgbClr val="6B7F8E"/>
                </a:solidFill>
                <a:latin typeface="Arial" pitchFamily="34" charset="0"/>
                <a:ea typeface="Arial" pitchFamily="34" charset="-122"/>
                <a:cs typeface="Arial" pitchFamily="34" charset="-120"/>
              </a:rPr>
              <a:t>0k</a:t>
            </a:r>
            <a:endParaRPr lang="en-US" sz="670" dirty="0"/>
          </a:p>
        </p:txBody>
      </p:sp>
      <p:sp>
        <p:nvSpPr>
          <p:cNvPr id="26" name="Text 23"/>
          <p:cNvSpPr txBox="1"/>
          <p:nvPr/>
        </p:nvSpPr>
        <p:spPr>
          <a:xfrm>
            <a:off x="8280500" y="4150621"/>
            <a:ext cx="80525" cy="109728"/>
          </a:xfrm>
          <a:prstGeom prst="rect">
            <a:avLst/>
          </a:prstGeom>
          <a:noFill/>
          <a:ln/>
        </p:spPr>
        <p:txBody>
          <a:bodyPr wrap="none" lIns="0" tIns="0" rIns="0" bIns="0" rtlCol="0" anchor="ctr"/>
          <a:lstStyle/>
          <a:p>
            <a:pPr algn="l" indent="0" marL="0">
              <a:lnSpc>
                <a:spcPts val="860"/>
              </a:lnSpc>
              <a:buNone/>
            </a:pPr>
            <a:r>
              <a:rPr lang="en-US" sz="670" dirty="0">
                <a:solidFill>
                  <a:srgbClr val="6B7F8E"/>
                </a:solidFill>
                <a:latin typeface="Arial" pitchFamily="34" charset="0"/>
                <a:ea typeface="Arial" pitchFamily="34" charset="-122"/>
                <a:cs typeface="Arial" pitchFamily="34" charset="-120"/>
              </a:rPr>
              <a:t>0</a:t>
            </a:r>
            <a:endParaRPr lang="en-US" sz="670" dirty="0"/>
          </a:p>
        </p:txBody>
      </p:sp>
      <p:sp>
        <p:nvSpPr>
          <p:cNvPr id="27" name="Shape 24"/>
          <p:cNvSpPr/>
          <p:nvPr/>
        </p:nvSpPr>
        <p:spPr>
          <a:xfrm>
            <a:off x="4040458" y="3711442"/>
            <a:ext cx="4175061" cy="0"/>
          </a:xfrm>
          <a:prstGeom prst="line">
            <a:avLst/>
          </a:prstGeom>
          <a:noFill/>
          <a:ln w="8123">
            <a:solidFill>
              <a:srgbClr val="062A44">
                <a:alpha val="7000"/>
              </a:srgbClr>
            </a:solidFill>
            <a:prstDash val="solid"/>
          </a:ln>
        </p:spPr>
      </p:sp>
      <p:sp>
        <p:nvSpPr>
          <p:cNvPr id="28" name="Text 25"/>
          <p:cNvSpPr txBox="1"/>
          <p:nvPr/>
        </p:nvSpPr>
        <p:spPr>
          <a:xfrm>
            <a:off x="3782599" y="3657575"/>
            <a:ext cx="197408" cy="109728"/>
          </a:xfrm>
          <a:prstGeom prst="rect">
            <a:avLst/>
          </a:prstGeom>
          <a:noFill/>
          <a:ln/>
        </p:spPr>
        <p:txBody>
          <a:bodyPr wrap="none" lIns="0" tIns="0" rIns="0" bIns="0" rtlCol="0" anchor="ctr"/>
          <a:lstStyle/>
          <a:p>
            <a:pPr algn="r" indent="0" marL="0">
              <a:lnSpc>
                <a:spcPts val="860"/>
              </a:lnSpc>
              <a:buNone/>
            </a:pPr>
            <a:r>
              <a:rPr lang="en-US" sz="670" dirty="0">
                <a:solidFill>
                  <a:srgbClr val="6B7F8E"/>
                </a:solidFill>
                <a:latin typeface="Arial" pitchFamily="34" charset="0"/>
                <a:ea typeface="Arial" pitchFamily="34" charset="-122"/>
                <a:cs typeface="Arial" pitchFamily="34" charset="-120"/>
              </a:rPr>
              <a:t>40k</a:t>
            </a:r>
            <a:endParaRPr lang="en-US" sz="670" dirty="0"/>
          </a:p>
        </p:txBody>
      </p:sp>
      <p:sp>
        <p:nvSpPr>
          <p:cNvPr id="29" name="Text 26"/>
          <p:cNvSpPr txBox="1"/>
          <p:nvPr/>
        </p:nvSpPr>
        <p:spPr>
          <a:xfrm>
            <a:off x="8280500" y="3657575"/>
            <a:ext cx="115572" cy="109728"/>
          </a:xfrm>
          <a:prstGeom prst="rect">
            <a:avLst/>
          </a:prstGeom>
          <a:noFill/>
          <a:ln/>
        </p:spPr>
        <p:txBody>
          <a:bodyPr wrap="none" lIns="0" tIns="0" rIns="0" bIns="0" rtlCol="0" anchor="ctr"/>
          <a:lstStyle/>
          <a:p>
            <a:pPr algn="l" indent="0" marL="0">
              <a:lnSpc>
                <a:spcPts val="860"/>
              </a:lnSpc>
              <a:buNone/>
            </a:pPr>
            <a:r>
              <a:rPr lang="en-US" sz="670" dirty="0">
                <a:solidFill>
                  <a:srgbClr val="6B7F8E"/>
                </a:solidFill>
                <a:latin typeface="Arial" pitchFamily="34" charset="0"/>
                <a:ea typeface="Arial" pitchFamily="34" charset="-122"/>
                <a:cs typeface="Arial" pitchFamily="34" charset="-120"/>
              </a:rPr>
              <a:t>10</a:t>
            </a:r>
            <a:endParaRPr lang="en-US" sz="670" dirty="0"/>
          </a:p>
        </p:txBody>
      </p:sp>
      <p:sp>
        <p:nvSpPr>
          <p:cNvPr id="30" name="Shape 27"/>
          <p:cNvSpPr/>
          <p:nvPr/>
        </p:nvSpPr>
        <p:spPr>
          <a:xfrm>
            <a:off x="4040458" y="3219207"/>
            <a:ext cx="4175061" cy="0"/>
          </a:xfrm>
          <a:prstGeom prst="line">
            <a:avLst/>
          </a:prstGeom>
          <a:noFill/>
          <a:ln w="8123">
            <a:solidFill>
              <a:srgbClr val="062A44">
                <a:alpha val="7000"/>
              </a:srgbClr>
            </a:solidFill>
            <a:prstDash val="solid"/>
          </a:ln>
        </p:spPr>
      </p:sp>
      <p:sp>
        <p:nvSpPr>
          <p:cNvPr id="31" name="Text 28"/>
          <p:cNvSpPr txBox="1"/>
          <p:nvPr/>
        </p:nvSpPr>
        <p:spPr>
          <a:xfrm>
            <a:off x="3782750" y="3165340"/>
            <a:ext cx="197315" cy="109728"/>
          </a:xfrm>
          <a:prstGeom prst="rect">
            <a:avLst/>
          </a:prstGeom>
          <a:noFill/>
          <a:ln/>
        </p:spPr>
        <p:txBody>
          <a:bodyPr wrap="none" lIns="0" tIns="0" rIns="0" bIns="0" rtlCol="0" anchor="ctr"/>
          <a:lstStyle/>
          <a:p>
            <a:pPr algn="r" indent="0" marL="0">
              <a:lnSpc>
                <a:spcPts val="860"/>
              </a:lnSpc>
              <a:buNone/>
            </a:pPr>
            <a:r>
              <a:rPr lang="en-US" sz="670" dirty="0">
                <a:solidFill>
                  <a:srgbClr val="6B7F8E"/>
                </a:solidFill>
                <a:latin typeface="Arial" pitchFamily="34" charset="0"/>
                <a:ea typeface="Arial" pitchFamily="34" charset="-122"/>
                <a:cs typeface="Arial" pitchFamily="34" charset="-120"/>
              </a:rPr>
              <a:t>80k</a:t>
            </a:r>
            <a:endParaRPr lang="en-US" sz="670" dirty="0"/>
          </a:p>
        </p:txBody>
      </p:sp>
      <p:sp>
        <p:nvSpPr>
          <p:cNvPr id="32" name="Text 29"/>
          <p:cNvSpPr txBox="1"/>
          <p:nvPr/>
        </p:nvSpPr>
        <p:spPr>
          <a:xfrm>
            <a:off x="8280500" y="3165340"/>
            <a:ext cx="138518" cy="109728"/>
          </a:xfrm>
          <a:prstGeom prst="rect">
            <a:avLst/>
          </a:prstGeom>
          <a:noFill/>
          <a:ln/>
        </p:spPr>
        <p:txBody>
          <a:bodyPr wrap="none" lIns="0" tIns="0" rIns="0" bIns="0" rtlCol="0" anchor="ctr"/>
          <a:lstStyle/>
          <a:p>
            <a:pPr algn="l" indent="0" marL="0">
              <a:lnSpc>
                <a:spcPts val="860"/>
              </a:lnSpc>
              <a:buNone/>
            </a:pPr>
            <a:r>
              <a:rPr lang="en-US" sz="670" dirty="0">
                <a:solidFill>
                  <a:srgbClr val="6B7F8E"/>
                </a:solidFill>
                <a:latin typeface="Arial" pitchFamily="34" charset="0"/>
                <a:ea typeface="Arial" pitchFamily="34" charset="-122"/>
                <a:cs typeface="Arial" pitchFamily="34" charset="-120"/>
              </a:rPr>
              <a:t>20</a:t>
            </a:r>
            <a:endParaRPr lang="en-US" sz="670" dirty="0"/>
          </a:p>
        </p:txBody>
      </p:sp>
      <p:sp>
        <p:nvSpPr>
          <p:cNvPr id="33" name="Shape 30"/>
          <p:cNvSpPr/>
          <p:nvPr/>
        </p:nvSpPr>
        <p:spPr>
          <a:xfrm>
            <a:off x="4040458" y="2726160"/>
            <a:ext cx="4175061" cy="0"/>
          </a:xfrm>
          <a:prstGeom prst="line">
            <a:avLst/>
          </a:prstGeom>
          <a:noFill/>
          <a:ln w="8123">
            <a:solidFill>
              <a:srgbClr val="062A44">
                <a:alpha val="7000"/>
              </a:srgbClr>
            </a:solidFill>
            <a:prstDash val="solid"/>
          </a:ln>
        </p:spPr>
      </p:sp>
      <p:sp>
        <p:nvSpPr>
          <p:cNvPr id="34" name="Text 31"/>
          <p:cNvSpPr txBox="1"/>
          <p:nvPr/>
        </p:nvSpPr>
        <p:spPr>
          <a:xfrm>
            <a:off x="3746291" y="2672294"/>
            <a:ext cx="233752" cy="109728"/>
          </a:xfrm>
          <a:prstGeom prst="rect">
            <a:avLst/>
          </a:prstGeom>
          <a:noFill/>
          <a:ln/>
        </p:spPr>
        <p:txBody>
          <a:bodyPr wrap="none" lIns="0" tIns="0" rIns="0" bIns="0" rtlCol="0" anchor="ctr"/>
          <a:lstStyle/>
          <a:p>
            <a:pPr algn="r" indent="0" marL="0">
              <a:lnSpc>
                <a:spcPts val="860"/>
              </a:lnSpc>
              <a:buNone/>
            </a:pPr>
            <a:r>
              <a:rPr lang="en-US" sz="670" dirty="0">
                <a:solidFill>
                  <a:srgbClr val="6B7F8E"/>
                </a:solidFill>
                <a:latin typeface="Arial" pitchFamily="34" charset="0"/>
                <a:ea typeface="Arial" pitchFamily="34" charset="-122"/>
                <a:cs typeface="Arial" pitchFamily="34" charset="-120"/>
              </a:rPr>
              <a:t>120k</a:t>
            </a:r>
            <a:endParaRPr lang="en-US" sz="670" dirty="0"/>
          </a:p>
        </p:txBody>
      </p:sp>
      <p:sp>
        <p:nvSpPr>
          <p:cNvPr id="35" name="Text 32"/>
          <p:cNvSpPr txBox="1"/>
          <p:nvPr/>
        </p:nvSpPr>
        <p:spPr>
          <a:xfrm>
            <a:off x="8280500" y="2672294"/>
            <a:ext cx="137889" cy="109728"/>
          </a:xfrm>
          <a:prstGeom prst="rect">
            <a:avLst/>
          </a:prstGeom>
          <a:noFill/>
          <a:ln/>
        </p:spPr>
        <p:txBody>
          <a:bodyPr wrap="none" lIns="0" tIns="0" rIns="0" bIns="0" rtlCol="0" anchor="ctr"/>
          <a:lstStyle/>
          <a:p>
            <a:pPr algn="l" indent="0" marL="0">
              <a:lnSpc>
                <a:spcPts val="860"/>
              </a:lnSpc>
              <a:buNone/>
            </a:pPr>
            <a:r>
              <a:rPr lang="en-US" sz="670" dirty="0">
                <a:solidFill>
                  <a:srgbClr val="6B7F8E"/>
                </a:solidFill>
                <a:latin typeface="Arial" pitchFamily="34" charset="0"/>
                <a:ea typeface="Arial" pitchFamily="34" charset="-122"/>
                <a:cs typeface="Arial" pitchFamily="34" charset="-120"/>
              </a:rPr>
              <a:t>30</a:t>
            </a:r>
            <a:endParaRPr lang="en-US" sz="670" dirty="0"/>
          </a:p>
        </p:txBody>
      </p:sp>
      <p:sp>
        <p:nvSpPr>
          <p:cNvPr id="36" name="Shape 33"/>
          <p:cNvSpPr/>
          <p:nvPr/>
        </p:nvSpPr>
        <p:spPr>
          <a:xfrm>
            <a:off x="4098129" y="3606659"/>
            <a:ext cx="162454" cy="597830"/>
          </a:xfrm>
          <a:prstGeom prst="roundRect">
            <a:avLst>
              <a:gd name="adj" fmla="val 10000"/>
            </a:avLst>
          </a:prstGeom>
          <a:solidFill>
            <a:srgbClr val="C3CFD9"/>
          </a:solidFill>
          <a:ln/>
        </p:spPr>
      </p:sp>
      <p:sp>
        <p:nvSpPr>
          <p:cNvPr id="37" name="Text 34"/>
          <p:cNvSpPr txBox="1"/>
          <p:nvPr/>
        </p:nvSpPr>
        <p:spPr>
          <a:xfrm>
            <a:off x="4089352" y="4252156"/>
            <a:ext cx="180008"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Jan</a:t>
            </a:r>
            <a:endParaRPr lang="en-US" sz="670" dirty="0"/>
          </a:p>
        </p:txBody>
      </p:sp>
      <p:sp>
        <p:nvSpPr>
          <p:cNvPr id="38" name="Shape 35"/>
          <p:cNvSpPr/>
          <p:nvPr/>
        </p:nvSpPr>
        <p:spPr>
          <a:xfrm>
            <a:off x="4376737" y="3119298"/>
            <a:ext cx="162454" cy="1085191"/>
          </a:xfrm>
          <a:prstGeom prst="roundRect">
            <a:avLst>
              <a:gd name="adj" fmla="val 10000"/>
            </a:avLst>
          </a:prstGeom>
          <a:solidFill>
            <a:srgbClr val="C3CFD9"/>
          </a:solidFill>
          <a:ln/>
        </p:spPr>
      </p:sp>
      <p:sp>
        <p:nvSpPr>
          <p:cNvPr id="39" name="Text 36"/>
          <p:cNvSpPr txBox="1"/>
          <p:nvPr/>
        </p:nvSpPr>
        <p:spPr>
          <a:xfrm>
            <a:off x="4368695" y="4252156"/>
            <a:ext cx="182700"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Feb</a:t>
            </a:r>
            <a:endParaRPr lang="en-US" sz="670" dirty="0"/>
          </a:p>
        </p:txBody>
      </p:sp>
      <p:sp>
        <p:nvSpPr>
          <p:cNvPr id="40" name="Shape 37"/>
          <p:cNvSpPr/>
          <p:nvPr/>
        </p:nvSpPr>
        <p:spPr>
          <a:xfrm>
            <a:off x="4655345" y="3056754"/>
            <a:ext cx="162454" cy="1147736"/>
          </a:xfrm>
          <a:prstGeom prst="roundRect">
            <a:avLst>
              <a:gd name="adj" fmla="val 10000"/>
            </a:avLst>
          </a:prstGeom>
          <a:solidFill>
            <a:srgbClr val="C3CFD9"/>
          </a:solidFill>
          <a:ln/>
        </p:spPr>
      </p:sp>
      <p:sp>
        <p:nvSpPr>
          <p:cNvPr id="41" name="Text 38"/>
          <p:cNvSpPr txBox="1"/>
          <p:nvPr/>
        </p:nvSpPr>
        <p:spPr>
          <a:xfrm>
            <a:off x="4643212" y="4252156"/>
            <a:ext cx="190967"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Mar</a:t>
            </a:r>
            <a:endParaRPr lang="en-US" sz="670" dirty="0"/>
          </a:p>
        </p:txBody>
      </p:sp>
      <p:sp>
        <p:nvSpPr>
          <p:cNvPr id="42" name="Shape 39"/>
          <p:cNvSpPr/>
          <p:nvPr/>
        </p:nvSpPr>
        <p:spPr>
          <a:xfrm>
            <a:off x="4933141" y="3245200"/>
            <a:ext cx="162454" cy="959289"/>
          </a:xfrm>
          <a:prstGeom prst="roundRect">
            <a:avLst>
              <a:gd name="adj" fmla="val 10000"/>
            </a:avLst>
          </a:prstGeom>
          <a:solidFill>
            <a:srgbClr val="C3CFD9"/>
          </a:solidFill>
          <a:ln/>
        </p:spPr>
      </p:sp>
      <p:sp>
        <p:nvSpPr>
          <p:cNvPr id="43" name="Text 40"/>
          <p:cNvSpPr txBox="1"/>
          <p:nvPr/>
        </p:nvSpPr>
        <p:spPr>
          <a:xfrm>
            <a:off x="4929494" y="4252156"/>
            <a:ext cx="174011"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Apr</a:t>
            </a:r>
            <a:endParaRPr lang="en-US" sz="670" dirty="0"/>
          </a:p>
        </p:txBody>
      </p:sp>
      <p:sp>
        <p:nvSpPr>
          <p:cNvPr id="44" name="Shape 41"/>
          <p:cNvSpPr/>
          <p:nvPr/>
        </p:nvSpPr>
        <p:spPr>
          <a:xfrm>
            <a:off x="5211749" y="2995021"/>
            <a:ext cx="162454" cy="1209468"/>
          </a:xfrm>
          <a:prstGeom prst="roundRect">
            <a:avLst>
              <a:gd name="adj" fmla="val 10000"/>
            </a:avLst>
          </a:prstGeom>
          <a:solidFill>
            <a:srgbClr val="C3CFD9"/>
          </a:solidFill>
          <a:ln/>
        </p:spPr>
      </p:sp>
      <p:sp>
        <p:nvSpPr>
          <p:cNvPr id="45" name="Text 42"/>
          <p:cNvSpPr txBox="1"/>
          <p:nvPr/>
        </p:nvSpPr>
        <p:spPr>
          <a:xfrm>
            <a:off x="5193385" y="4252156"/>
            <a:ext cx="199182"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May</a:t>
            </a:r>
            <a:endParaRPr lang="en-US" sz="670" dirty="0"/>
          </a:p>
        </p:txBody>
      </p:sp>
      <p:sp>
        <p:nvSpPr>
          <p:cNvPr id="46" name="Shape 43"/>
          <p:cNvSpPr/>
          <p:nvPr/>
        </p:nvSpPr>
        <p:spPr>
          <a:xfrm>
            <a:off x="5490357" y="3124172"/>
            <a:ext cx="162454" cy="1080317"/>
          </a:xfrm>
          <a:prstGeom prst="roundRect">
            <a:avLst>
              <a:gd name="adj" fmla="val 10000"/>
            </a:avLst>
          </a:prstGeom>
          <a:solidFill>
            <a:srgbClr val="C3CFD9"/>
          </a:solidFill>
          <a:ln/>
        </p:spPr>
      </p:sp>
      <p:sp>
        <p:nvSpPr>
          <p:cNvPr id="47" name="Text 44"/>
          <p:cNvSpPr txBox="1"/>
          <p:nvPr/>
        </p:nvSpPr>
        <p:spPr>
          <a:xfrm>
            <a:off x="5480323" y="4252156"/>
            <a:ext cx="182523"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Jun</a:t>
            </a:r>
            <a:endParaRPr lang="en-US" sz="670" dirty="0"/>
          </a:p>
        </p:txBody>
      </p:sp>
      <p:sp>
        <p:nvSpPr>
          <p:cNvPr id="48" name="Shape 45"/>
          <p:cNvSpPr/>
          <p:nvPr/>
        </p:nvSpPr>
        <p:spPr>
          <a:xfrm>
            <a:off x="5768153" y="3307745"/>
            <a:ext cx="162454" cy="896745"/>
          </a:xfrm>
          <a:prstGeom prst="roundRect">
            <a:avLst>
              <a:gd name="adj" fmla="val 10000"/>
            </a:avLst>
          </a:prstGeom>
          <a:solidFill>
            <a:srgbClr val="C3CFD9"/>
          </a:solidFill>
          <a:ln/>
        </p:spPr>
      </p:sp>
      <p:sp>
        <p:nvSpPr>
          <p:cNvPr id="49" name="Text 46"/>
          <p:cNvSpPr txBox="1"/>
          <p:nvPr/>
        </p:nvSpPr>
        <p:spPr>
          <a:xfrm>
            <a:off x="5772581" y="4252156"/>
            <a:ext cx="158242"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Jul</a:t>
            </a:r>
            <a:endParaRPr lang="en-US" sz="670" dirty="0"/>
          </a:p>
        </p:txBody>
      </p:sp>
      <p:sp>
        <p:nvSpPr>
          <p:cNvPr id="50" name="Shape 47"/>
          <p:cNvSpPr/>
          <p:nvPr/>
        </p:nvSpPr>
        <p:spPr>
          <a:xfrm>
            <a:off x="6046761" y="3247637"/>
            <a:ext cx="162454" cy="956852"/>
          </a:xfrm>
          <a:prstGeom prst="roundRect">
            <a:avLst>
              <a:gd name="adj" fmla="val 10000"/>
            </a:avLst>
          </a:prstGeom>
          <a:solidFill>
            <a:srgbClr val="97C21D"/>
          </a:solidFill>
          <a:ln/>
        </p:spPr>
      </p:sp>
      <p:sp>
        <p:nvSpPr>
          <p:cNvPr id="51" name="Text 48"/>
          <p:cNvSpPr txBox="1"/>
          <p:nvPr/>
        </p:nvSpPr>
        <p:spPr>
          <a:xfrm>
            <a:off x="6034212" y="4252156"/>
            <a:ext cx="187552"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Aug</a:t>
            </a:r>
            <a:endParaRPr lang="en-US" sz="670" dirty="0"/>
          </a:p>
        </p:txBody>
      </p:sp>
      <p:sp>
        <p:nvSpPr>
          <p:cNvPr id="52" name="Shape 49"/>
          <p:cNvSpPr/>
          <p:nvPr/>
        </p:nvSpPr>
        <p:spPr>
          <a:xfrm>
            <a:off x="6325369" y="3399531"/>
            <a:ext cx="162454" cy="804958"/>
          </a:xfrm>
          <a:prstGeom prst="roundRect">
            <a:avLst>
              <a:gd name="adj" fmla="val 10000"/>
            </a:avLst>
          </a:prstGeom>
          <a:solidFill>
            <a:srgbClr val="97C21D"/>
          </a:solidFill>
          <a:ln/>
        </p:spPr>
      </p:sp>
      <p:sp>
        <p:nvSpPr>
          <p:cNvPr id="53" name="Text 50"/>
          <p:cNvSpPr txBox="1"/>
          <p:nvPr/>
        </p:nvSpPr>
        <p:spPr>
          <a:xfrm>
            <a:off x="6312926" y="4252156"/>
            <a:ext cx="191508"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Sep</a:t>
            </a:r>
            <a:endParaRPr lang="en-US" sz="670" dirty="0"/>
          </a:p>
        </p:txBody>
      </p:sp>
      <p:sp>
        <p:nvSpPr>
          <p:cNvPr id="54" name="Shape 51"/>
          <p:cNvSpPr/>
          <p:nvPr/>
        </p:nvSpPr>
        <p:spPr>
          <a:xfrm>
            <a:off x="6603165" y="3406841"/>
            <a:ext cx="162454" cy="797648"/>
          </a:xfrm>
          <a:prstGeom prst="roundRect">
            <a:avLst>
              <a:gd name="adj" fmla="val 10000"/>
            </a:avLst>
          </a:prstGeom>
          <a:solidFill>
            <a:srgbClr val="97C21D"/>
          </a:solidFill>
          <a:ln/>
        </p:spPr>
      </p:sp>
      <p:sp>
        <p:nvSpPr>
          <p:cNvPr id="55" name="Text 52"/>
          <p:cNvSpPr txBox="1"/>
          <p:nvPr/>
        </p:nvSpPr>
        <p:spPr>
          <a:xfrm>
            <a:off x="6597293" y="4252156"/>
            <a:ext cx="177385"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Oct</a:t>
            </a:r>
            <a:endParaRPr lang="en-US" sz="670" dirty="0"/>
          </a:p>
        </p:txBody>
      </p:sp>
      <p:sp>
        <p:nvSpPr>
          <p:cNvPr id="56" name="Shape 53"/>
          <p:cNvSpPr/>
          <p:nvPr/>
        </p:nvSpPr>
        <p:spPr>
          <a:xfrm>
            <a:off x="6881773" y="3401156"/>
            <a:ext cx="162454" cy="803334"/>
          </a:xfrm>
          <a:prstGeom prst="roundRect">
            <a:avLst>
              <a:gd name="adj" fmla="val 10000"/>
            </a:avLst>
          </a:prstGeom>
          <a:solidFill>
            <a:srgbClr val="97C21D"/>
          </a:solidFill>
          <a:ln/>
        </p:spPr>
      </p:sp>
      <p:sp>
        <p:nvSpPr>
          <p:cNvPr id="57" name="Text 54"/>
          <p:cNvSpPr txBox="1"/>
          <p:nvPr/>
        </p:nvSpPr>
        <p:spPr>
          <a:xfrm>
            <a:off x="6868749" y="4252156"/>
            <a:ext cx="188566"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Nov</a:t>
            </a:r>
            <a:endParaRPr lang="en-US" sz="670" dirty="0"/>
          </a:p>
        </p:txBody>
      </p:sp>
      <p:sp>
        <p:nvSpPr>
          <p:cNvPr id="58" name="Shape 55"/>
          <p:cNvSpPr/>
          <p:nvPr/>
        </p:nvSpPr>
        <p:spPr>
          <a:xfrm>
            <a:off x="7160381" y="3393033"/>
            <a:ext cx="162454" cy="811456"/>
          </a:xfrm>
          <a:prstGeom prst="roundRect">
            <a:avLst>
              <a:gd name="adj" fmla="val 10000"/>
            </a:avLst>
          </a:prstGeom>
          <a:solidFill>
            <a:srgbClr val="97C21D"/>
          </a:solidFill>
          <a:ln/>
        </p:spPr>
      </p:sp>
      <p:sp>
        <p:nvSpPr>
          <p:cNvPr id="59" name="Text 56"/>
          <p:cNvSpPr txBox="1"/>
          <p:nvPr/>
        </p:nvSpPr>
        <p:spPr>
          <a:xfrm>
            <a:off x="7147911" y="4252156"/>
            <a:ext cx="187395"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Dec</a:t>
            </a:r>
            <a:endParaRPr lang="en-US" sz="670" dirty="0"/>
          </a:p>
        </p:txBody>
      </p:sp>
      <p:sp>
        <p:nvSpPr>
          <p:cNvPr id="60" name="Shape 57"/>
          <p:cNvSpPr/>
          <p:nvPr/>
        </p:nvSpPr>
        <p:spPr>
          <a:xfrm>
            <a:off x="7438177" y="3514873"/>
            <a:ext cx="162454" cy="689616"/>
          </a:xfrm>
          <a:prstGeom prst="roundRect">
            <a:avLst>
              <a:gd name="adj" fmla="val 10000"/>
            </a:avLst>
          </a:prstGeom>
          <a:solidFill>
            <a:srgbClr val="97C21D"/>
          </a:solidFill>
          <a:ln/>
        </p:spPr>
      </p:sp>
      <p:sp>
        <p:nvSpPr>
          <p:cNvPr id="61" name="Text 58"/>
          <p:cNvSpPr txBox="1"/>
          <p:nvPr/>
        </p:nvSpPr>
        <p:spPr>
          <a:xfrm>
            <a:off x="7429400" y="4252156"/>
            <a:ext cx="180008"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Jan</a:t>
            </a:r>
            <a:endParaRPr lang="en-US" sz="670" dirty="0"/>
          </a:p>
        </p:txBody>
      </p:sp>
      <p:sp>
        <p:nvSpPr>
          <p:cNvPr id="62" name="Shape 59"/>
          <p:cNvSpPr/>
          <p:nvPr/>
        </p:nvSpPr>
        <p:spPr>
          <a:xfrm>
            <a:off x="7716785" y="3454765"/>
            <a:ext cx="162454" cy="749724"/>
          </a:xfrm>
          <a:prstGeom prst="roundRect">
            <a:avLst>
              <a:gd name="adj" fmla="val 10000"/>
            </a:avLst>
          </a:prstGeom>
          <a:solidFill>
            <a:srgbClr val="97C21D"/>
          </a:solidFill>
          <a:ln/>
        </p:spPr>
      </p:sp>
      <p:sp>
        <p:nvSpPr>
          <p:cNvPr id="63" name="Text 60"/>
          <p:cNvSpPr txBox="1"/>
          <p:nvPr/>
        </p:nvSpPr>
        <p:spPr>
          <a:xfrm>
            <a:off x="7708743" y="4252156"/>
            <a:ext cx="182700"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Feb</a:t>
            </a:r>
            <a:endParaRPr lang="en-US" sz="670" dirty="0"/>
          </a:p>
        </p:txBody>
      </p:sp>
      <p:sp>
        <p:nvSpPr>
          <p:cNvPr id="64" name="Shape 61"/>
          <p:cNvSpPr/>
          <p:nvPr/>
        </p:nvSpPr>
        <p:spPr>
          <a:xfrm>
            <a:off x="7995394" y="3413340"/>
            <a:ext cx="162454" cy="791150"/>
          </a:xfrm>
          <a:prstGeom prst="roundRect">
            <a:avLst>
              <a:gd name="adj" fmla="val 10000"/>
            </a:avLst>
          </a:prstGeom>
          <a:solidFill>
            <a:srgbClr val="97C21D"/>
          </a:solidFill>
          <a:ln/>
        </p:spPr>
      </p:sp>
      <p:sp>
        <p:nvSpPr>
          <p:cNvPr id="65" name="Text 62"/>
          <p:cNvSpPr txBox="1"/>
          <p:nvPr/>
        </p:nvSpPr>
        <p:spPr>
          <a:xfrm>
            <a:off x="7983261" y="4252156"/>
            <a:ext cx="190967" cy="109728"/>
          </a:xfrm>
          <a:prstGeom prst="rect">
            <a:avLst/>
          </a:prstGeom>
          <a:noFill/>
          <a:ln/>
        </p:spPr>
        <p:txBody>
          <a:bodyPr wrap="none" lIns="0" tIns="0" rIns="0" bIns="0" rtlCol="0" anchor="ctr"/>
          <a:lstStyle/>
          <a:p>
            <a:pPr algn="ctr" indent="0" marL="0">
              <a:lnSpc>
                <a:spcPts val="860"/>
              </a:lnSpc>
              <a:buNone/>
            </a:pPr>
            <a:r>
              <a:rPr lang="en-US" sz="670" dirty="0">
                <a:solidFill>
                  <a:srgbClr val="6B7F8E"/>
                </a:solidFill>
                <a:latin typeface="Arial" pitchFamily="34" charset="0"/>
                <a:ea typeface="Arial" pitchFamily="34" charset="-122"/>
                <a:cs typeface="Arial" pitchFamily="34" charset="-120"/>
              </a:rPr>
              <a:t>Mar</a:t>
            </a:r>
            <a:endParaRPr lang="en-US" sz="670" dirty="0"/>
          </a:p>
        </p:txBody>
      </p:sp>
      <p:sp>
        <p:nvSpPr>
          <p:cNvPr id="66" name="Shape 63"/>
          <p:cNvSpPr/>
          <p:nvPr/>
        </p:nvSpPr>
        <p:spPr>
          <a:xfrm>
            <a:off x="5989090" y="2661179"/>
            <a:ext cx="0" cy="1543310"/>
          </a:xfrm>
          <a:prstGeom prst="line">
            <a:avLst/>
          </a:prstGeom>
          <a:noFill/>
          <a:ln w="8123">
            <a:solidFill>
              <a:srgbClr val="0B3A5C">
                <a:alpha val="50000"/>
              </a:srgbClr>
            </a:solidFill>
            <a:prstDash val="sysDash"/>
          </a:ln>
        </p:spPr>
      </p:sp>
      <p:sp>
        <p:nvSpPr>
          <p:cNvPr id="67" name="Text 64"/>
          <p:cNvSpPr txBox="1"/>
          <p:nvPr/>
        </p:nvSpPr>
        <p:spPr>
          <a:xfrm>
            <a:off x="6037826" y="2635742"/>
            <a:ext cx="753189" cy="109728"/>
          </a:xfrm>
          <a:prstGeom prst="rect">
            <a:avLst/>
          </a:prstGeom>
          <a:noFill/>
          <a:ln/>
        </p:spPr>
        <p:txBody>
          <a:bodyPr wrap="none" lIns="0" tIns="0" rIns="0" bIns="0" rtlCol="0" anchor="ctr"/>
          <a:lstStyle/>
          <a:p>
            <a:pPr algn="l" indent="0" marL="0">
              <a:lnSpc>
                <a:spcPts val="860"/>
              </a:lnSpc>
              <a:buNone/>
            </a:pPr>
            <a:r>
              <a:rPr lang="en-US" sz="670" b="1" dirty="0">
                <a:solidFill>
                  <a:srgbClr val="062A44"/>
                </a:solidFill>
                <a:latin typeface="Arial" pitchFamily="34" charset="0"/>
                <a:ea typeface="Arial" pitchFamily="34" charset="-122"/>
                <a:cs typeface="Arial" pitchFamily="34" charset="-120"/>
              </a:rPr>
              <a:t>Supplier change</a:t>
            </a:r>
            <a:endParaRPr lang="en-US" sz="670" dirty="0"/>
          </a:p>
        </p:txBody>
      </p:sp>
      <p:sp>
        <p:nvSpPr>
          <p:cNvPr id="68" name="Shape 65"/>
          <p:cNvSpPr/>
          <p:nvPr/>
        </p:nvSpPr>
        <p:spPr>
          <a:xfrm>
            <a:off x="4179356" y="2937350"/>
            <a:ext cx="3897265" cy="567776"/>
          </a:xfrm>
          <a:custGeom>
            <a:avLst/>
            <a:gdLst/>
            <a:ahLst/>
            <a:cxnLst/>
            <a:rect l="l" t="t" r="r" b="b"/>
            <a:pathLst>
              <a:path w="3897265" h="567776">
                <a:moveTo>
                  <a:pt x="0" y="106407"/>
                </a:moveTo>
                <a:lnTo>
                  <a:pt x="278608" y="12184"/>
                </a:lnTo>
                <a:lnTo>
                  <a:pt x="557216" y="74729"/>
                </a:lnTo>
                <a:lnTo>
                  <a:pt x="835012" y="0"/>
                </a:lnTo>
                <a:lnTo>
                  <a:pt x="1113620" y="161641"/>
                </a:lnTo>
                <a:lnTo>
                  <a:pt x="1392228" y="300539"/>
                </a:lnTo>
                <a:lnTo>
                  <a:pt x="1670024" y="393950"/>
                </a:lnTo>
                <a:lnTo>
                  <a:pt x="1948632" y="401261"/>
                </a:lnTo>
                <a:lnTo>
                  <a:pt x="2227240" y="465430"/>
                </a:lnTo>
                <a:lnTo>
                  <a:pt x="2505036" y="520664"/>
                </a:lnTo>
                <a:lnTo>
                  <a:pt x="2783644" y="567776"/>
                </a:lnTo>
                <a:lnTo>
                  <a:pt x="3062253" y="484924"/>
                </a:lnTo>
                <a:lnTo>
                  <a:pt x="3340048" y="484924"/>
                </a:lnTo>
                <a:lnTo>
                  <a:pt x="3618657" y="541783"/>
                </a:lnTo>
                <a:lnTo>
                  <a:pt x="3897265" y="482488"/>
                </a:lnTo>
              </a:path>
            </a:pathLst>
          </a:custGeom>
          <a:ln w="17870">
            <a:solidFill>
              <a:srgbClr val="2E7FB8"/>
            </a:solidFill>
            <a:prstDash val="solid"/>
          </a:ln>
        </p:spPr>
      </p:sp>
      <p:sp>
        <p:nvSpPr>
          <p:cNvPr id="69" name="Shape 66"/>
          <p:cNvSpPr/>
          <p:nvPr/>
        </p:nvSpPr>
        <p:spPr>
          <a:xfrm>
            <a:off x="4154988" y="3019389"/>
            <a:ext cx="48736" cy="48736"/>
          </a:xfrm>
          <a:prstGeom prst="ellipse">
            <a:avLst/>
          </a:prstGeom>
          <a:solidFill>
            <a:srgbClr val="FFFFFF"/>
          </a:solidFill>
          <a:ln w="14621">
            <a:solidFill>
              <a:srgbClr val="2E7FB8"/>
            </a:solidFill>
            <a:prstDash val="solid"/>
          </a:ln>
        </p:spPr>
      </p:sp>
      <p:sp>
        <p:nvSpPr>
          <p:cNvPr id="70" name="Shape 67"/>
          <p:cNvSpPr/>
          <p:nvPr/>
        </p:nvSpPr>
        <p:spPr>
          <a:xfrm>
            <a:off x="4433596" y="2925166"/>
            <a:ext cx="48736" cy="48736"/>
          </a:xfrm>
          <a:prstGeom prst="ellipse">
            <a:avLst/>
          </a:prstGeom>
          <a:solidFill>
            <a:srgbClr val="FFFFFF"/>
          </a:solidFill>
          <a:ln w="14621">
            <a:solidFill>
              <a:srgbClr val="2E7FB8"/>
            </a:solidFill>
            <a:prstDash val="solid"/>
          </a:ln>
        </p:spPr>
      </p:sp>
      <p:sp>
        <p:nvSpPr>
          <p:cNvPr id="71" name="Shape 68"/>
          <p:cNvSpPr/>
          <p:nvPr/>
        </p:nvSpPr>
        <p:spPr>
          <a:xfrm>
            <a:off x="4712204" y="2987711"/>
            <a:ext cx="48736" cy="48736"/>
          </a:xfrm>
          <a:prstGeom prst="ellipse">
            <a:avLst/>
          </a:prstGeom>
          <a:solidFill>
            <a:srgbClr val="FFFFFF"/>
          </a:solidFill>
          <a:ln w="14621">
            <a:solidFill>
              <a:srgbClr val="2E7FB8"/>
            </a:solidFill>
            <a:prstDash val="solid"/>
          </a:ln>
        </p:spPr>
      </p:sp>
      <p:sp>
        <p:nvSpPr>
          <p:cNvPr id="72" name="Shape 69"/>
          <p:cNvSpPr/>
          <p:nvPr/>
        </p:nvSpPr>
        <p:spPr>
          <a:xfrm>
            <a:off x="4990000" y="2912982"/>
            <a:ext cx="48736" cy="48736"/>
          </a:xfrm>
          <a:prstGeom prst="ellipse">
            <a:avLst/>
          </a:prstGeom>
          <a:solidFill>
            <a:srgbClr val="FFFFFF"/>
          </a:solidFill>
          <a:ln w="14621">
            <a:solidFill>
              <a:srgbClr val="2E7FB8"/>
            </a:solidFill>
            <a:prstDash val="solid"/>
          </a:ln>
        </p:spPr>
      </p:sp>
      <p:sp>
        <p:nvSpPr>
          <p:cNvPr id="73" name="Shape 70"/>
          <p:cNvSpPr/>
          <p:nvPr/>
        </p:nvSpPr>
        <p:spPr>
          <a:xfrm>
            <a:off x="5268608" y="3074624"/>
            <a:ext cx="48736" cy="48736"/>
          </a:xfrm>
          <a:prstGeom prst="ellipse">
            <a:avLst/>
          </a:prstGeom>
          <a:solidFill>
            <a:srgbClr val="FFFFFF"/>
          </a:solidFill>
          <a:ln w="14621">
            <a:solidFill>
              <a:srgbClr val="2E7FB8"/>
            </a:solidFill>
            <a:prstDash val="solid"/>
          </a:ln>
        </p:spPr>
      </p:sp>
      <p:sp>
        <p:nvSpPr>
          <p:cNvPr id="74" name="Shape 71"/>
          <p:cNvSpPr/>
          <p:nvPr/>
        </p:nvSpPr>
        <p:spPr>
          <a:xfrm>
            <a:off x="5547216" y="3213521"/>
            <a:ext cx="48736" cy="48736"/>
          </a:xfrm>
          <a:prstGeom prst="ellipse">
            <a:avLst/>
          </a:prstGeom>
          <a:solidFill>
            <a:srgbClr val="FFFFFF"/>
          </a:solidFill>
          <a:ln w="14621">
            <a:solidFill>
              <a:srgbClr val="2E7FB8"/>
            </a:solidFill>
            <a:prstDash val="solid"/>
          </a:ln>
        </p:spPr>
      </p:sp>
      <p:sp>
        <p:nvSpPr>
          <p:cNvPr id="75" name="Shape 72"/>
          <p:cNvSpPr/>
          <p:nvPr/>
        </p:nvSpPr>
        <p:spPr>
          <a:xfrm>
            <a:off x="5825012" y="3306932"/>
            <a:ext cx="48736" cy="48736"/>
          </a:xfrm>
          <a:prstGeom prst="ellipse">
            <a:avLst/>
          </a:prstGeom>
          <a:solidFill>
            <a:srgbClr val="FFFFFF"/>
          </a:solidFill>
          <a:ln w="14621">
            <a:solidFill>
              <a:srgbClr val="2E7FB8"/>
            </a:solidFill>
            <a:prstDash val="solid"/>
          </a:ln>
        </p:spPr>
      </p:sp>
      <p:sp>
        <p:nvSpPr>
          <p:cNvPr id="76" name="Shape 73"/>
          <p:cNvSpPr/>
          <p:nvPr/>
        </p:nvSpPr>
        <p:spPr>
          <a:xfrm>
            <a:off x="6103620" y="3314243"/>
            <a:ext cx="48736" cy="48736"/>
          </a:xfrm>
          <a:prstGeom prst="ellipse">
            <a:avLst/>
          </a:prstGeom>
          <a:solidFill>
            <a:srgbClr val="FFFFFF"/>
          </a:solidFill>
          <a:ln w="14621">
            <a:solidFill>
              <a:srgbClr val="2E7FB8"/>
            </a:solidFill>
            <a:prstDash val="solid"/>
          </a:ln>
        </p:spPr>
      </p:sp>
      <p:sp>
        <p:nvSpPr>
          <p:cNvPr id="77" name="Shape 74"/>
          <p:cNvSpPr/>
          <p:nvPr/>
        </p:nvSpPr>
        <p:spPr>
          <a:xfrm>
            <a:off x="6382228" y="3378412"/>
            <a:ext cx="48736" cy="48736"/>
          </a:xfrm>
          <a:prstGeom prst="ellipse">
            <a:avLst/>
          </a:prstGeom>
          <a:solidFill>
            <a:srgbClr val="FFFFFF"/>
          </a:solidFill>
          <a:ln w="14621">
            <a:solidFill>
              <a:srgbClr val="2E7FB8"/>
            </a:solidFill>
            <a:prstDash val="solid"/>
          </a:ln>
        </p:spPr>
      </p:sp>
      <p:sp>
        <p:nvSpPr>
          <p:cNvPr id="78" name="Shape 75"/>
          <p:cNvSpPr/>
          <p:nvPr/>
        </p:nvSpPr>
        <p:spPr>
          <a:xfrm>
            <a:off x="6660024" y="3433646"/>
            <a:ext cx="48736" cy="48736"/>
          </a:xfrm>
          <a:prstGeom prst="ellipse">
            <a:avLst/>
          </a:prstGeom>
          <a:solidFill>
            <a:srgbClr val="FFFFFF"/>
          </a:solidFill>
          <a:ln w="14621">
            <a:solidFill>
              <a:srgbClr val="2E7FB8"/>
            </a:solidFill>
            <a:prstDash val="solid"/>
          </a:ln>
        </p:spPr>
      </p:sp>
      <p:sp>
        <p:nvSpPr>
          <p:cNvPr id="79" name="Shape 76"/>
          <p:cNvSpPr/>
          <p:nvPr/>
        </p:nvSpPr>
        <p:spPr>
          <a:xfrm>
            <a:off x="6938632" y="3480758"/>
            <a:ext cx="48736" cy="48736"/>
          </a:xfrm>
          <a:prstGeom prst="ellipse">
            <a:avLst/>
          </a:prstGeom>
          <a:solidFill>
            <a:srgbClr val="FFFFFF"/>
          </a:solidFill>
          <a:ln w="14621">
            <a:solidFill>
              <a:srgbClr val="2E7FB8"/>
            </a:solidFill>
            <a:prstDash val="solid"/>
          </a:ln>
        </p:spPr>
      </p:sp>
      <p:sp>
        <p:nvSpPr>
          <p:cNvPr id="80" name="Shape 77"/>
          <p:cNvSpPr/>
          <p:nvPr/>
        </p:nvSpPr>
        <p:spPr>
          <a:xfrm>
            <a:off x="7217240" y="3397906"/>
            <a:ext cx="48736" cy="48736"/>
          </a:xfrm>
          <a:prstGeom prst="ellipse">
            <a:avLst/>
          </a:prstGeom>
          <a:solidFill>
            <a:srgbClr val="FFFFFF"/>
          </a:solidFill>
          <a:ln w="14621">
            <a:solidFill>
              <a:srgbClr val="2E7FB8"/>
            </a:solidFill>
            <a:prstDash val="solid"/>
          </a:ln>
        </p:spPr>
      </p:sp>
      <p:sp>
        <p:nvSpPr>
          <p:cNvPr id="81" name="Shape 78"/>
          <p:cNvSpPr/>
          <p:nvPr/>
        </p:nvSpPr>
        <p:spPr>
          <a:xfrm>
            <a:off x="7495036" y="3397906"/>
            <a:ext cx="48736" cy="48736"/>
          </a:xfrm>
          <a:prstGeom prst="ellipse">
            <a:avLst/>
          </a:prstGeom>
          <a:solidFill>
            <a:srgbClr val="FFFFFF"/>
          </a:solidFill>
          <a:ln w="14621">
            <a:solidFill>
              <a:srgbClr val="2E7FB8"/>
            </a:solidFill>
            <a:prstDash val="solid"/>
          </a:ln>
        </p:spPr>
      </p:sp>
      <p:sp>
        <p:nvSpPr>
          <p:cNvPr id="82" name="Shape 79"/>
          <p:cNvSpPr/>
          <p:nvPr/>
        </p:nvSpPr>
        <p:spPr>
          <a:xfrm>
            <a:off x="7773644" y="3454765"/>
            <a:ext cx="48736" cy="48736"/>
          </a:xfrm>
          <a:prstGeom prst="ellipse">
            <a:avLst/>
          </a:prstGeom>
          <a:solidFill>
            <a:srgbClr val="FFFFFF"/>
          </a:solidFill>
          <a:ln w="14621">
            <a:solidFill>
              <a:srgbClr val="2E7FB8"/>
            </a:solidFill>
            <a:prstDash val="solid"/>
          </a:ln>
        </p:spPr>
      </p:sp>
      <p:sp>
        <p:nvSpPr>
          <p:cNvPr id="83" name="Shape 80"/>
          <p:cNvSpPr/>
          <p:nvPr/>
        </p:nvSpPr>
        <p:spPr>
          <a:xfrm>
            <a:off x="8052252" y="3395470"/>
            <a:ext cx="48736" cy="48736"/>
          </a:xfrm>
          <a:prstGeom prst="ellipse">
            <a:avLst/>
          </a:prstGeom>
          <a:solidFill>
            <a:srgbClr val="FFFFFF"/>
          </a:solidFill>
          <a:ln w="14621">
            <a:solidFill>
              <a:srgbClr val="2E7FB8"/>
            </a:solidFill>
            <a:prstDash val="solid"/>
          </a:ln>
        </p:spPr>
      </p:sp>
      <p:sp>
        <p:nvSpPr>
          <p:cNvPr id="84" name="Text 81"/>
          <p:cNvSpPr txBox="1"/>
          <p:nvPr/>
        </p:nvSpPr>
        <p:spPr>
          <a:xfrm>
            <a:off x="3666744" y="4500991"/>
            <a:ext cx="2740185" cy="165712"/>
          </a:xfrm>
          <a:prstGeom prst="rect">
            <a:avLst/>
          </a:prstGeom>
          <a:noFill/>
          <a:ln/>
        </p:spPr>
        <p:txBody>
          <a:bodyPr wrap="none" lIns="0" tIns="0" rIns="0" bIns="0" rtlCol="0" anchor="t"/>
          <a:lstStyle/>
          <a:p>
            <a:pPr algn="l" indent="0" marL="0">
              <a:lnSpc>
                <a:spcPts val="1000"/>
              </a:lnSpc>
              <a:buNone/>
            </a:pPr>
            <a:r>
              <a:rPr lang="en-US" sz="650" dirty="0">
                <a:solidFill>
                  <a:srgbClr val="7A8C99"/>
                </a:solidFill>
                <a:latin typeface="Arial" pitchFamily="34" charset="0"/>
                <a:ea typeface="Arial" pitchFamily="34" charset="-122"/>
                <a:cs typeface="Arial" pitchFamily="34" charset="-120"/>
              </a:rPr>
              <a:t>Monthly sequence as supplied · Supplier change from Aug onward</a:t>
            </a:r>
            <a:endParaRPr lang="en-US" sz="650" dirty="0"/>
          </a:p>
        </p:txBody>
      </p:sp>
    </p:spTree>
  </p:cSld>
  <p:clrMapOvr>
    <a:masterClrMapping/>
  </p:clrMapOvr>
  <p:transition spd="med">
    <p:push dir="r"/>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2923280"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COST REDUCTION / BEVERAGE DISTRIBUTION</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6791992" cy="400089"/>
          </a:xfrm>
          <a:prstGeom prst="rect">
            <a:avLst/>
          </a:prstGeom>
          <a:noFill/>
          <a:ln/>
        </p:spPr>
        <p:txBody>
          <a:bodyPr wrap="non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2026 drink mix cuts</a:t>
            </a:r>
            <a:pPr algn="l" indent="0" marL="0">
              <a:lnSpc>
                <a:spcPts val="2420"/>
              </a:lnSpc>
              <a:buNone/>
            </a:pPr>
            <a:r>
              <a:rPr lang="en-US" sz="2380" b="1" spc="-119" kern="0" dirty="0">
                <a:solidFill>
                  <a:srgbClr val="0D3D60"/>
                </a:solidFill>
                <a:latin typeface="Arial" pitchFamily="34" charset="0"/>
                <a:ea typeface="Arial" pitchFamily="34" charset="-122"/>
                <a:cs typeface="Arial" pitchFamily="34" charset="-120"/>
              </a:rPr>
              <a:t> u</a:t>
            </a:r>
            <a:pPr algn="l" indent="0" marL="0">
              <a:lnSpc>
                <a:spcPts val="2420"/>
              </a:lnSpc>
              <a:buNone/>
            </a:pPr>
            <a:r>
              <a:rPr lang="en-US" sz="2380" b="1" spc="-119" kern="0" dirty="0">
                <a:solidFill>
                  <a:srgbClr val="104469"/>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12486F"/>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144C73"/>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18537D"/>
                </a:solidFill>
                <a:latin typeface="Arial" pitchFamily="34" charset="0"/>
                <a:ea typeface="Arial" pitchFamily="34" charset="-122"/>
                <a:cs typeface="Arial" pitchFamily="34" charset="-120"/>
              </a:rPr>
              <a:t> c</a:t>
            </a:r>
            <a:pPr algn="l" indent="0" marL="0">
              <a:lnSpc>
                <a:spcPts val="2420"/>
              </a:lnSpc>
              <a:buNone/>
            </a:pPr>
            <a:r>
              <a:rPr lang="en-US" sz="2380" b="1" spc="-119" kern="0" dirty="0">
                <a:solidFill>
                  <a:srgbClr val="1B5986"/>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1E608E"/>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216595"/>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256C9F"/>
                </a:solidFill>
                <a:latin typeface="Arial" pitchFamily="34" charset="0"/>
                <a:ea typeface="Arial" pitchFamily="34" charset="-122"/>
                <a:cs typeface="Arial" pitchFamily="34" charset="-120"/>
              </a:rPr>
              <a:t> b</a:t>
            </a:r>
            <a:pPr algn="l" indent="0" marL="0">
              <a:lnSpc>
                <a:spcPts val="2420"/>
              </a:lnSpc>
              <a:buNone/>
            </a:pPr>
            <a:r>
              <a:rPr lang="en-US" sz="2380" b="1" spc="-119" kern="0" dirty="0">
                <a:solidFill>
                  <a:srgbClr val="2873A8"/>
                </a:solidFill>
                <a:latin typeface="Arial" pitchFamily="34" charset="0"/>
                <a:ea typeface="Arial" pitchFamily="34" charset="-122"/>
                <a:cs typeface="Arial" pitchFamily="34" charset="-120"/>
              </a:rPr>
              <a:t>y</a:t>
            </a:r>
            <a:pPr algn="l" indent="0" marL="0">
              <a:lnSpc>
                <a:spcPts val="2420"/>
              </a:lnSpc>
              <a:buNone/>
            </a:pPr>
            <a:r>
              <a:rPr lang="en-US" sz="2380" b="1" spc="-119" kern="0" dirty="0">
                <a:solidFill>
                  <a:srgbClr val="2C7BB3"/>
                </a:solidFill>
                <a:latin typeface="Arial" pitchFamily="34" charset="0"/>
                <a:ea typeface="Arial" pitchFamily="34" charset="-122"/>
                <a:cs typeface="Arial" pitchFamily="34" charset="-120"/>
              </a:rPr>
              <a:t> a</a:t>
            </a:r>
            <a:pPr algn="l" indent="0" marL="0">
              <a:lnSpc>
                <a:spcPts val="2420"/>
              </a:lnSpc>
              <a:buNone/>
            </a:pPr>
            <a:r>
              <a:rPr lang="en-US" sz="2380" b="1" spc="-119" kern="0" dirty="0">
                <a:solidFill>
                  <a:srgbClr val="3281B0"/>
                </a:solidFill>
                <a:latin typeface="Arial" pitchFamily="34" charset="0"/>
                <a:ea typeface="Arial" pitchFamily="34" charset="-122"/>
                <a:cs typeface="Arial" pitchFamily="34" charset="-120"/>
              </a:rPr>
              <a:t> f</a:t>
            </a:r>
            <a:pPr algn="l" indent="0" marL="0">
              <a:lnSpc>
                <a:spcPts val="2420"/>
              </a:lnSpc>
              <a:buNone/>
            </a:pPr>
            <a:r>
              <a:rPr lang="en-US" sz="2380" b="1" spc="-119" kern="0" dirty="0">
                <a:solidFill>
                  <a:srgbClr val="3884A4"/>
                </a:solidFill>
                <a:latin typeface="Arial" pitchFamily="34" charset="0"/>
                <a:ea typeface="Arial" pitchFamily="34" charset="-122"/>
                <a:cs typeface="Arial" pitchFamily="34" charset="-120"/>
              </a:rPr>
              <a:t>u</a:t>
            </a:r>
            <a:pPr algn="l" indent="0" marL="0">
              <a:lnSpc>
                <a:spcPts val="2420"/>
              </a:lnSpc>
              <a:buNone/>
            </a:pPr>
            <a:r>
              <a:rPr lang="en-US" sz="2380" b="1" spc="-119" kern="0" dirty="0">
                <a:solidFill>
                  <a:srgbClr val="3E8799"/>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428991"/>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488C85"/>
                </a:solidFill>
                <a:latin typeface="Arial" pitchFamily="34" charset="0"/>
                <a:ea typeface="Arial" pitchFamily="34" charset="-122"/>
                <a:cs typeface="Arial" pitchFamily="34" charset="-120"/>
              </a:rPr>
              <a:t>h</a:t>
            </a:r>
            <a:pPr algn="l" indent="0" marL="0">
              <a:lnSpc>
                <a:spcPts val="2420"/>
              </a:lnSpc>
              <a:buNone/>
            </a:pPr>
            <a:r>
              <a:rPr lang="en-US" sz="2380" b="1" spc="-119" kern="0" dirty="0">
                <a:solidFill>
                  <a:srgbClr val="4F9078"/>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55936D"/>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5D975C"/>
                </a:solidFill>
                <a:latin typeface="Arial" pitchFamily="34" charset="0"/>
                <a:ea typeface="Arial" pitchFamily="34" charset="-122"/>
                <a:cs typeface="Arial" pitchFamily="34" charset="-120"/>
              </a:rPr>
              <a:t> 2</a:t>
            </a:r>
            <a:pPr algn="l" indent="0" marL="0">
              <a:lnSpc>
                <a:spcPts val="2420"/>
              </a:lnSpc>
              <a:buNone/>
            </a:pPr>
            <a:r>
              <a:rPr lang="en-US" sz="2380" b="1" spc="-119" kern="0" dirty="0">
                <a:solidFill>
                  <a:srgbClr val="659B4D"/>
                </a:solidFill>
                <a:latin typeface="Arial" pitchFamily="34" charset="0"/>
                <a:ea typeface="Arial" pitchFamily="34" charset="-122"/>
                <a:cs typeface="Arial" pitchFamily="34" charset="-120"/>
              </a:rPr>
              <a:t>5</a:t>
            </a:r>
            <a:pPr algn="l" indent="0" marL="0">
              <a:lnSpc>
                <a:spcPts val="2420"/>
              </a:lnSpc>
              <a:buNone/>
            </a:pPr>
            <a:r>
              <a:rPr lang="en-US" sz="2380" b="1" spc="-119" kern="0" dirty="0">
                <a:solidFill>
                  <a:srgbClr val="6A9D43"/>
                </a:solidFill>
                <a:latin typeface="Arial" pitchFamily="34" charset="0"/>
                <a:ea typeface="Arial" pitchFamily="34" charset="-122"/>
                <a:cs typeface="Arial" pitchFamily="34" charset="-120"/>
              </a:rPr>
              <a:t>.</a:t>
            </a:r>
            <a:pPr algn="l" indent="0" marL="0">
              <a:lnSpc>
                <a:spcPts val="2420"/>
              </a:lnSpc>
              <a:buNone/>
            </a:pPr>
            <a:r>
              <a:rPr lang="en-US" sz="2380" b="1" spc="-119" kern="0" dirty="0">
                <a:solidFill>
                  <a:srgbClr val="6FA039"/>
                </a:solidFill>
                <a:latin typeface="Arial" pitchFamily="34" charset="0"/>
                <a:ea typeface="Arial" pitchFamily="34" charset="-122"/>
                <a:cs typeface="Arial" pitchFamily="34" charset="-120"/>
              </a:rPr>
              <a:t>2</a:t>
            </a:r>
            <a:pPr algn="l" indent="0" marL="0">
              <a:lnSpc>
                <a:spcPts val="2420"/>
              </a:lnSpc>
              <a:buNone/>
            </a:pPr>
            <a:r>
              <a:rPr lang="en-US" sz="2380" b="1" spc="-119" kern="0" dirty="0">
                <a:solidFill>
                  <a:srgbClr val="78A428"/>
                </a:solidFill>
                <a:latin typeface="Arial" pitchFamily="34" charset="0"/>
                <a:ea typeface="Arial" pitchFamily="34" charset="-122"/>
                <a:cs typeface="Arial" pitchFamily="34" charset="-120"/>
              </a:rPr>
              <a:t>%</a:t>
            </a:r>
            <a:pPr algn="l" indent="0" marL="0">
              <a:lnSpc>
                <a:spcPts val="2420"/>
              </a:lnSpc>
              <a:buNone/>
            </a:pPr>
            <a:r>
              <a:rPr lang="en-US" sz="2380" b="1" spc="-119" kern="0" dirty="0">
                <a:solidFill>
                  <a:srgbClr val="7EA71C"/>
                </a:solidFill>
                <a:latin typeface="Arial" pitchFamily="34" charset="0"/>
                <a:ea typeface="Arial" pitchFamily="34" charset="-122"/>
                <a:cs typeface="Arial" pitchFamily="34" charset="-120"/>
              </a:rPr>
              <a:t>.</a:t>
            </a:r>
            <a:endParaRPr lang="en-US" sz="2380" dirty="0"/>
          </a:p>
        </p:txBody>
      </p:sp>
      <p:sp>
        <p:nvSpPr>
          <p:cNvPr id="7" name="Text 4"/>
          <p:cNvSpPr txBox="1"/>
          <p:nvPr/>
        </p:nvSpPr>
        <p:spPr>
          <a:xfrm>
            <a:off x="457200" y="1752505"/>
            <a:ext cx="4137989" cy="240716"/>
          </a:xfrm>
          <a:prstGeom prst="rect">
            <a:avLst/>
          </a:prstGeom>
          <a:noFill/>
          <a:ln/>
        </p:spPr>
        <p:txBody>
          <a:bodyPr wrap="none" lIns="0" tIns="0" rIns="0" bIns="0" rtlCol="0" anchor="t"/>
          <a:lstStyle/>
          <a:p>
            <a:pPr algn="l" indent="0" marL="0">
              <a:lnSpc>
                <a:spcPts val="1460"/>
              </a:lnSpc>
              <a:buNone/>
            </a:pPr>
            <a:r>
              <a:rPr lang="en-US" sz="970" dirty="0">
                <a:solidFill>
                  <a:srgbClr val="5A6E7E"/>
                </a:solidFill>
                <a:latin typeface="Arial" pitchFamily="34" charset="0"/>
                <a:ea typeface="Arial" pitchFamily="34" charset="-122"/>
                <a:cs typeface="Arial" pitchFamily="34" charset="-120"/>
              </a:rPr>
              <a:t>Redistribute the beverage mix and introduce herbal drinks and tea.</a:t>
            </a:r>
            <a:endParaRPr lang="en-US" sz="970" dirty="0"/>
          </a:p>
        </p:txBody>
      </p:sp>
      <p:sp>
        <p:nvSpPr>
          <p:cNvPr id="8" name="Shape 5"/>
          <p:cNvSpPr/>
          <p:nvPr/>
        </p:nvSpPr>
        <p:spPr>
          <a:xfrm>
            <a:off x="457200" y="1965960"/>
            <a:ext cx="5120640" cy="1940671"/>
          </a:xfrm>
          <a:prstGeom prst="roundRect">
            <a:avLst>
              <a:gd name="adj" fmla="val 7539"/>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9" name="Shape 6"/>
          <p:cNvSpPr/>
          <p:nvPr/>
        </p:nvSpPr>
        <p:spPr>
          <a:xfrm>
            <a:off x="621792" y="2266712"/>
            <a:ext cx="4791456" cy="0"/>
          </a:xfrm>
          <a:prstGeom prst="line">
            <a:avLst/>
          </a:prstGeom>
          <a:noFill/>
          <a:ln w="9144">
            <a:solidFill>
              <a:srgbClr val="062A44">
                <a:alpha val="10000"/>
              </a:srgbClr>
            </a:solidFill>
            <a:prstDash val="solid"/>
          </a:ln>
        </p:spPr>
      </p:sp>
      <p:sp>
        <p:nvSpPr>
          <p:cNvPr id="10" name="Text 7"/>
          <p:cNvSpPr txBox="1"/>
          <p:nvPr/>
        </p:nvSpPr>
        <p:spPr>
          <a:xfrm>
            <a:off x="621792" y="2128695"/>
            <a:ext cx="1291147"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BEVERAGE ALLOCATION</a:t>
            </a:r>
            <a:endParaRPr lang="en-US" sz="650" dirty="0"/>
          </a:p>
        </p:txBody>
      </p:sp>
      <p:sp>
        <p:nvSpPr>
          <p:cNvPr id="11" name="Text 8"/>
          <p:cNvSpPr txBox="1"/>
          <p:nvPr/>
        </p:nvSpPr>
        <p:spPr>
          <a:xfrm>
            <a:off x="2139696" y="2128695"/>
            <a:ext cx="353358"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Y2025</a:t>
            </a:r>
            <a:endParaRPr lang="en-US" sz="650" dirty="0"/>
          </a:p>
        </p:txBody>
      </p:sp>
      <p:sp>
        <p:nvSpPr>
          <p:cNvPr id="12" name="Text 9"/>
          <p:cNvSpPr txBox="1"/>
          <p:nvPr/>
        </p:nvSpPr>
        <p:spPr>
          <a:xfrm>
            <a:off x="3849624" y="2128695"/>
            <a:ext cx="353358"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Y2026</a:t>
            </a:r>
            <a:endParaRPr lang="en-US" sz="650" dirty="0"/>
          </a:p>
        </p:txBody>
      </p:sp>
      <p:sp>
        <p:nvSpPr>
          <p:cNvPr id="13" name="Shape 10"/>
          <p:cNvSpPr/>
          <p:nvPr/>
        </p:nvSpPr>
        <p:spPr>
          <a:xfrm>
            <a:off x="621792" y="2519458"/>
            <a:ext cx="4791456" cy="0"/>
          </a:xfrm>
          <a:prstGeom prst="line">
            <a:avLst/>
          </a:prstGeom>
          <a:noFill/>
          <a:ln w="9144">
            <a:solidFill>
              <a:srgbClr val="062A44">
                <a:alpha val="10000"/>
              </a:srgbClr>
            </a:solidFill>
            <a:prstDash val="solid"/>
          </a:ln>
        </p:spPr>
      </p:sp>
      <p:sp>
        <p:nvSpPr>
          <p:cNvPr id="14" name="Text 11"/>
          <p:cNvSpPr txBox="1"/>
          <p:nvPr/>
        </p:nvSpPr>
        <p:spPr>
          <a:xfrm>
            <a:off x="621792" y="2324291"/>
            <a:ext cx="852978" cy="202648"/>
          </a:xfrm>
          <a:prstGeom prst="rect">
            <a:avLst/>
          </a:prstGeom>
          <a:noFill/>
          <a:ln/>
        </p:spPr>
        <p:txBody>
          <a:bodyPr wrap="none" lIns="0" tIns="0" rIns="0" bIns="0" rtlCol="0" anchor="t"/>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Electrolyte drink</a:t>
            </a:r>
            <a:endParaRPr lang="en-US" sz="790" dirty="0"/>
          </a:p>
        </p:txBody>
      </p:sp>
      <p:sp>
        <p:nvSpPr>
          <p:cNvPr id="15" name="Shape 12"/>
          <p:cNvSpPr/>
          <p:nvPr/>
        </p:nvSpPr>
        <p:spPr>
          <a:xfrm>
            <a:off x="2139696" y="2342721"/>
            <a:ext cx="459772" cy="118872"/>
          </a:xfrm>
          <a:prstGeom prst="roundRect">
            <a:avLst>
              <a:gd name="adj" fmla="val 23077"/>
            </a:avLst>
          </a:prstGeom>
          <a:solidFill>
            <a:srgbClr val="C3CFD9"/>
          </a:solidFill>
          <a:ln/>
        </p:spPr>
      </p:sp>
      <p:sp>
        <p:nvSpPr>
          <p:cNvPr id="16" name="Text 13"/>
          <p:cNvSpPr txBox="1"/>
          <p:nvPr/>
        </p:nvSpPr>
        <p:spPr>
          <a:xfrm>
            <a:off x="3495337" y="2327862"/>
            <a:ext cx="207983" cy="193378"/>
          </a:xfrm>
          <a:prstGeom prst="rect">
            <a:avLst/>
          </a:prstGeom>
          <a:noFill/>
          <a:ln/>
        </p:spPr>
        <p:txBody>
          <a:bodyPr wrap="none" lIns="0" tIns="0" rIns="0" bIns="0" rtlCol="0" anchor="t"/>
          <a:lstStyle/>
          <a:p>
            <a:pPr algn="r" indent="0" marL="0">
              <a:lnSpc>
                <a:spcPts val="1170"/>
              </a:lnSpc>
              <a:buNone/>
            </a:pPr>
            <a:r>
              <a:rPr lang="en-US" sz="760" dirty="0">
                <a:solidFill>
                  <a:srgbClr val="5A6E7E"/>
                </a:solidFill>
                <a:latin typeface="Arial" pitchFamily="34" charset="0"/>
                <a:ea typeface="Arial" pitchFamily="34" charset="-122"/>
                <a:cs typeface="Arial" pitchFamily="34" charset="-120"/>
              </a:rPr>
              <a:t>21%</a:t>
            </a:r>
            <a:endParaRPr lang="en-US" sz="760" dirty="0"/>
          </a:p>
        </p:txBody>
      </p:sp>
      <p:sp>
        <p:nvSpPr>
          <p:cNvPr id="17" name="Shape 14"/>
          <p:cNvSpPr/>
          <p:nvPr/>
        </p:nvSpPr>
        <p:spPr>
          <a:xfrm>
            <a:off x="3849624" y="2342721"/>
            <a:ext cx="1094994" cy="118872"/>
          </a:xfrm>
          <a:prstGeom prst="roundRect">
            <a:avLst>
              <a:gd name="adj" fmla="val 23077"/>
            </a:avLst>
          </a:prstGeom>
          <a:solidFill>
            <a:srgbClr val="8DB828"/>
          </a:solidFill>
          <a:ln/>
        </p:spPr>
      </p:sp>
      <p:sp>
        <p:nvSpPr>
          <p:cNvPr id="18" name="Text 15"/>
          <p:cNvSpPr txBox="1"/>
          <p:nvPr/>
        </p:nvSpPr>
        <p:spPr>
          <a:xfrm>
            <a:off x="5169117" y="2327862"/>
            <a:ext cx="244131" cy="193378"/>
          </a:xfrm>
          <a:prstGeom prst="rect">
            <a:avLst/>
          </a:prstGeom>
          <a:noFill/>
          <a:ln/>
        </p:spPr>
        <p:txBody>
          <a:bodyPr wrap="none" lIns="0" tIns="0" rIns="0" bIns="0" rtlCol="0" anchor="t"/>
          <a:lstStyle/>
          <a:p>
            <a:pPr algn="r" indent="0" marL="0">
              <a:lnSpc>
                <a:spcPts val="1170"/>
              </a:lnSpc>
              <a:buNone/>
            </a:pPr>
            <a:r>
              <a:rPr lang="en-US" sz="760" b="1" dirty="0">
                <a:solidFill>
                  <a:srgbClr val="062A44"/>
                </a:solidFill>
                <a:latin typeface="Arial" pitchFamily="34" charset="0"/>
                <a:ea typeface="Arial" pitchFamily="34" charset="-122"/>
                <a:cs typeface="Arial" pitchFamily="34" charset="-120"/>
              </a:rPr>
              <a:t>50%</a:t>
            </a:r>
            <a:endParaRPr lang="en-US" sz="760" dirty="0"/>
          </a:p>
        </p:txBody>
      </p:sp>
      <p:sp>
        <p:nvSpPr>
          <p:cNvPr id="19" name="Shape 16"/>
          <p:cNvSpPr/>
          <p:nvPr/>
        </p:nvSpPr>
        <p:spPr>
          <a:xfrm>
            <a:off x="621792" y="2772204"/>
            <a:ext cx="4791456" cy="0"/>
          </a:xfrm>
          <a:prstGeom prst="line">
            <a:avLst/>
          </a:prstGeom>
          <a:noFill/>
          <a:ln w="9144">
            <a:solidFill>
              <a:srgbClr val="062A44">
                <a:alpha val="10000"/>
              </a:srgbClr>
            </a:solidFill>
            <a:prstDash val="solid"/>
          </a:ln>
        </p:spPr>
      </p:sp>
      <p:sp>
        <p:nvSpPr>
          <p:cNvPr id="20" name="Text 17"/>
          <p:cNvSpPr txBox="1"/>
          <p:nvPr/>
        </p:nvSpPr>
        <p:spPr>
          <a:xfrm>
            <a:off x="621792" y="2577036"/>
            <a:ext cx="522780" cy="202648"/>
          </a:xfrm>
          <a:prstGeom prst="rect">
            <a:avLst/>
          </a:prstGeom>
          <a:noFill/>
          <a:ln/>
        </p:spPr>
        <p:txBody>
          <a:bodyPr wrap="none" lIns="0" tIns="0" rIns="0" bIns="0" rtlCol="0" anchor="t"/>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Soft drink</a:t>
            </a:r>
            <a:endParaRPr lang="en-US" sz="790" dirty="0"/>
          </a:p>
        </p:txBody>
      </p:sp>
      <p:sp>
        <p:nvSpPr>
          <p:cNvPr id="21" name="Shape 18"/>
          <p:cNvSpPr/>
          <p:nvPr/>
        </p:nvSpPr>
        <p:spPr>
          <a:xfrm>
            <a:off x="2139696" y="2595467"/>
            <a:ext cx="1161288" cy="118872"/>
          </a:xfrm>
          <a:prstGeom prst="roundRect">
            <a:avLst>
              <a:gd name="adj" fmla="val 23077"/>
            </a:avLst>
          </a:prstGeom>
          <a:solidFill>
            <a:srgbClr val="C3CFD9"/>
          </a:solidFill>
          <a:ln/>
        </p:spPr>
      </p:sp>
      <p:sp>
        <p:nvSpPr>
          <p:cNvPr id="22" name="Text 19"/>
          <p:cNvSpPr txBox="1"/>
          <p:nvPr/>
        </p:nvSpPr>
        <p:spPr>
          <a:xfrm>
            <a:off x="3469405" y="2580608"/>
            <a:ext cx="233915" cy="193378"/>
          </a:xfrm>
          <a:prstGeom prst="rect">
            <a:avLst/>
          </a:prstGeom>
          <a:noFill/>
          <a:ln/>
        </p:spPr>
        <p:txBody>
          <a:bodyPr wrap="none" lIns="0" tIns="0" rIns="0" bIns="0" rtlCol="0" anchor="t"/>
          <a:lstStyle/>
          <a:p>
            <a:pPr algn="r" indent="0" marL="0">
              <a:lnSpc>
                <a:spcPts val="1170"/>
              </a:lnSpc>
              <a:buNone/>
            </a:pPr>
            <a:r>
              <a:rPr lang="en-US" sz="760" dirty="0">
                <a:solidFill>
                  <a:srgbClr val="5A6E7E"/>
                </a:solidFill>
                <a:latin typeface="Arial" pitchFamily="34" charset="0"/>
                <a:ea typeface="Arial" pitchFamily="34" charset="-122"/>
                <a:cs typeface="Arial" pitchFamily="34" charset="-120"/>
              </a:rPr>
              <a:t>53%</a:t>
            </a:r>
            <a:endParaRPr lang="en-US" sz="760" dirty="0"/>
          </a:p>
        </p:txBody>
      </p:sp>
      <p:sp>
        <p:nvSpPr>
          <p:cNvPr id="23" name="Shape 20"/>
          <p:cNvSpPr/>
          <p:nvPr/>
        </p:nvSpPr>
        <p:spPr>
          <a:xfrm>
            <a:off x="3849624" y="2595467"/>
            <a:ext cx="306467" cy="118872"/>
          </a:xfrm>
          <a:prstGeom prst="roundRect">
            <a:avLst>
              <a:gd name="adj" fmla="val 23077"/>
            </a:avLst>
          </a:prstGeom>
          <a:solidFill>
            <a:srgbClr val="8DB828"/>
          </a:solidFill>
          <a:ln/>
        </p:spPr>
      </p:sp>
      <p:sp>
        <p:nvSpPr>
          <p:cNvPr id="24" name="Text 21"/>
          <p:cNvSpPr txBox="1"/>
          <p:nvPr/>
        </p:nvSpPr>
        <p:spPr>
          <a:xfrm>
            <a:off x="5199764" y="2580608"/>
            <a:ext cx="213484" cy="193378"/>
          </a:xfrm>
          <a:prstGeom prst="rect">
            <a:avLst/>
          </a:prstGeom>
          <a:noFill/>
          <a:ln/>
        </p:spPr>
        <p:txBody>
          <a:bodyPr wrap="none" lIns="0" tIns="0" rIns="0" bIns="0" rtlCol="0" anchor="t"/>
          <a:lstStyle/>
          <a:p>
            <a:pPr algn="r" indent="0" marL="0">
              <a:lnSpc>
                <a:spcPts val="1170"/>
              </a:lnSpc>
              <a:buNone/>
            </a:pPr>
            <a:r>
              <a:rPr lang="en-US" sz="760" b="1" dirty="0">
                <a:solidFill>
                  <a:srgbClr val="062A44"/>
                </a:solidFill>
                <a:latin typeface="Arial" pitchFamily="34" charset="0"/>
                <a:ea typeface="Arial" pitchFamily="34" charset="-122"/>
                <a:cs typeface="Arial" pitchFamily="34" charset="-120"/>
              </a:rPr>
              <a:t>14%</a:t>
            </a:r>
            <a:endParaRPr lang="en-US" sz="760" dirty="0"/>
          </a:p>
        </p:txBody>
      </p:sp>
      <p:sp>
        <p:nvSpPr>
          <p:cNvPr id="25" name="Shape 22"/>
          <p:cNvSpPr/>
          <p:nvPr/>
        </p:nvSpPr>
        <p:spPr>
          <a:xfrm>
            <a:off x="621792" y="3024950"/>
            <a:ext cx="4791456" cy="0"/>
          </a:xfrm>
          <a:prstGeom prst="line">
            <a:avLst/>
          </a:prstGeom>
          <a:noFill/>
          <a:ln w="9144">
            <a:solidFill>
              <a:srgbClr val="062A44">
                <a:alpha val="10000"/>
              </a:srgbClr>
            </a:solidFill>
            <a:prstDash val="solid"/>
          </a:ln>
        </p:spPr>
      </p:sp>
      <p:sp>
        <p:nvSpPr>
          <p:cNvPr id="26" name="Text 23"/>
          <p:cNvSpPr txBox="1"/>
          <p:nvPr/>
        </p:nvSpPr>
        <p:spPr>
          <a:xfrm>
            <a:off x="621792" y="2829782"/>
            <a:ext cx="658725" cy="202648"/>
          </a:xfrm>
          <a:prstGeom prst="rect">
            <a:avLst/>
          </a:prstGeom>
          <a:noFill/>
          <a:ln/>
        </p:spPr>
        <p:txBody>
          <a:bodyPr wrap="none" lIns="0" tIns="0" rIns="0" bIns="0" rtlCol="0" anchor="t"/>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Energy drink</a:t>
            </a:r>
            <a:endParaRPr lang="en-US" sz="790" dirty="0"/>
          </a:p>
        </p:txBody>
      </p:sp>
      <p:sp>
        <p:nvSpPr>
          <p:cNvPr id="27" name="Shape 24"/>
          <p:cNvSpPr/>
          <p:nvPr/>
        </p:nvSpPr>
        <p:spPr>
          <a:xfrm>
            <a:off x="2139696" y="2848213"/>
            <a:ext cx="459772" cy="118872"/>
          </a:xfrm>
          <a:prstGeom prst="roundRect">
            <a:avLst>
              <a:gd name="adj" fmla="val 23077"/>
            </a:avLst>
          </a:prstGeom>
          <a:solidFill>
            <a:srgbClr val="C3CFD9"/>
          </a:solidFill>
          <a:ln/>
        </p:spPr>
      </p:sp>
      <p:sp>
        <p:nvSpPr>
          <p:cNvPr id="28" name="Text 25"/>
          <p:cNvSpPr txBox="1"/>
          <p:nvPr/>
        </p:nvSpPr>
        <p:spPr>
          <a:xfrm>
            <a:off x="3495337" y="2833354"/>
            <a:ext cx="207983" cy="193378"/>
          </a:xfrm>
          <a:prstGeom prst="rect">
            <a:avLst/>
          </a:prstGeom>
          <a:noFill/>
          <a:ln/>
        </p:spPr>
        <p:txBody>
          <a:bodyPr wrap="none" lIns="0" tIns="0" rIns="0" bIns="0" rtlCol="0" anchor="t"/>
          <a:lstStyle/>
          <a:p>
            <a:pPr algn="r" indent="0" marL="0">
              <a:lnSpc>
                <a:spcPts val="1170"/>
              </a:lnSpc>
              <a:buNone/>
            </a:pPr>
            <a:r>
              <a:rPr lang="en-US" sz="760" dirty="0">
                <a:solidFill>
                  <a:srgbClr val="5A6E7E"/>
                </a:solidFill>
                <a:latin typeface="Arial" pitchFamily="34" charset="0"/>
                <a:ea typeface="Arial" pitchFamily="34" charset="-122"/>
                <a:cs typeface="Arial" pitchFamily="34" charset="-120"/>
              </a:rPr>
              <a:t>21%</a:t>
            </a:r>
            <a:endParaRPr lang="en-US" sz="760" dirty="0"/>
          </a:p>
        </p:txBody>
      </p:sp>
      <p:sp>
        <p:nvSpPr>
          <p:cNvPr id="29" name="Shape 26"/>
          <p:cNvSpPr/>
          <p:nvPr/>
        </p:nvSpPr>
        <p:spPr>
          <a:xfrm>
            <a:off x="3849624" y="2848213"/>
            <a:ext cx="328613" cy="118872"/>
          </a:xfrm>
          <a:prstGeom prst="roundRect">
            <a:avLst>
              <a:gd name="adj" fmla="val 23077"/>
            </a:avLst>
          </a:prstGeom>
          <a:solidFill>
            <a:srgbClr val="8DB828"/>
          </a:solidFill>
          <a:ln/>
        </p:spPr>
      </p:sp>
      <p:sp>
        <p:nvSpPr>
          <p:cNvPr id="30" name="Text 27"/>
          <p:cNvSpPr txBox="1"/>
          <p:nvPr/>
        </p:nvSpPr>
        <p:spPr>
          <a:xfrm>
            <a:off x="5194106" y="2833354"/>
            <a:ext cx="219142" cy="193378"/>
          </a:xfrm>
          <a:prstGeom prst="rect">
            <a:avLst/>
          </a:prstGeom>
          <a:noFill/>
          <a:ln/>
        </p:spPr>
        <p:txBody>
          <a:bodyPr wrap="none" lIns="0" tIns="0" rIns="0" bIns="0" rtlCol="0" anchor="t"/>
          <a:lstStyle/>
          <a:p>
            <a:pPr algn="r" indent="0" marL="0">
              <a:lnSpc>
                <a:spcPts val="1170"/>
              </a:lnSpc>
              <a:buNone/>
            </a:pPr>
            <a:r>
              <a:rPr lang="en-US" sz="760" b="1" dirty="0">
                <a:solidFill>
                  <a:srgbClr val="062A44"/>
                </a:solidFill>
                <a:latin typeface="Arial" pitchFamily="34" charset="0"/>
                <a:ea typeface="Arial" pitchFamily="34" charset="-122"/>
                <a:cs typeface="Arial" pitchFamily="34" charset="-120"/>
              </a:rPr>
              <a:t>15%</a:t>
            </a:r>
            <a:endParaRPr lang="en-US" sz="760" dirty="0"/>
          </a:p>
        </p:txBody>
      </p:sp>
      <p:sp>
        <p:nvSpPr>
          <p:cNvPr id="31" name="Shape 28"/>
          <p:cNvSpPr/>
          <p:nvPr/>
        </p:nvSpPr>
        <p:spPr>
          <a:xfrm>
            <a:off x="621792" y="3277695"/>
            <a:ext cx="4791456" cy="0"/>
          </a:xfrm>
          <a:prstGeom prst="line">
            <a:avLst/>
          </a:prstGeom>
          <a:noFill/>
          <a:ln w="9144">
            <a:solidFill>
              <a:srgbClr val="062A44">
                <a:alpha val="10000"/>
              </a:srgbClr>
            </a:solidFill>
            <a:prstDash val="solid"/>
          </a:ln>
        </p:spPr>
      </p:sp>
      <p:sp>
        <p:nvSpPr>
          <p:cNvPr id="32" name="Text 29"/>
          <p:cNvSpPr txBox="1"/>
          <p:nvPr/>
        </p:nvSpPr>
        <p:spPr>
          <a:xfrm>
            <a:off x="621792" y="3082528"/>
            <a:ext cx="1101138" cy="202648"/>
          </a:xfrm>
          <a:prstGeom prst="rect">
            <a:avLst/>
          </a:prstGeom>
          <a:noFill/>
          <a:ln/>
        </p:spPr>
        <p:txBody>
          <a:bodyPr wrap="none" lIns="0" tIns="0" rIns="0" bIns="0" rtlCol="0" anchor="t"/>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Ready to drink coffee</a:t>
            </a:r>
            <a:endParaRPr lang="en-US" sz="790" dirty="0"/>
          </a:p>
        </p:txBody>
      </p:sp>
      <p:sp>
        <p:nvSpPr>
          <p:cNvPr id="33" name="Shape 30"/>
          <p:cNvSpPr/>
          <p:nvPr/>
        </p:nvSpPr>
        <p:spPr>
          <a:xfrm>
            <a:off x="2139696" y="3100959"/>
            <a:ext cx="175308" cy="118872"/>
          </a:xfrm>
          <a:prstGeom prst="roundRect">
            <a:avLst>
              <a:gd name="adj" fmla="val 23077"/>
            </a:avLst>
          </a:prstGeom>
          <a:solidFill>
            <a:srgbClr val="C3CFD9"/>
          </a:solidFill>
          <a:ln/>
        </p:spPr>
      </p:sp>
      <p:sp>
        <p:nvSpPr>
          <p:cNvPr id="34" name="Text 31"/>
          <p:cNvSpPr txBox="1"/>
          <p:nvPr/>
        </p:nvSpPr>
        <p:spPr>
          <a:xfrm>
            <a:off x="3536513" y="3086100"/>
            <a:ext cx="166807" cy="193378"/>
          </a:xfrm>
          <a:prstGeom prst="rect">
            <a:avLst/>
          </a:prstGeom>
          <a:noFill/>
          <a:ln/>
        </p:spPr>
        <p:txBody>
          <a:bodyPr wrap="none" lIns="0" tIns="0" rIns="0" bIns="0" rtlCol="0" anchor="t"/>
          <a:lstStyle/>
          <a:p>
            <a:pPr algn="r" indent="0" marL="0">
              <a:lnSpc>
                <a:spcPts val="1170"/>
              </a:lnSpc>
              <a:buNone/>
            </a:pPr>
            <a:r>
              <a:rPr lang="en-US" sz="760" dirty="0">
                <a:solidFill>
                  <a:srgbClr val="5A6E7E"/>
                </a:solidFill>
                <a:latin typeface="Arial" pitchFamily="34" charset="0"/>
                <a:ea typeface="Arial" pitchFamily="34" charset="-122"/>
                <a:cs typeface="Arial" pitchFamily="34" charset="-120"/>
              </a:rPr>
              <a:t>8%</a:t>
            </a:r>
            <a:endParaRPr lang="en-US" sz="760" dirty="0"/>
          </a:p>
        </p:txBody>
      </p:sp>
      <p:sp>
        <p:nvSpPr>
          <p:cNvPr id="35" name="Shape 32"/>
          <p:cNvSpPr/>
          <p:nvPr/>
        </p:nvSpPr>
        <p:spPr>
          <a:xfrm>
            <a:off x="3849624" y="3100959"/>
            <a:ext cx="153162" cy="118872"/>
          </a:xfrm>
          <a:prstGeom prst="roundRect">
            <a:avLst>
              <a:gd name="adj" fmla="val 23077"/>
            </a:avLst>
          </a:prstGeom>
          <a:solidFill>
            <a:srgbClr val="8DB828"/>
          </a:solidFill>
          <a:ln/>
        </p:spPr>
      </p:sp>
      <p:sp>
        <p:nvSpPr>
          <p:cNvPr id="36" name="Text 33"/>
          <p:cNvSpPr txBox="1"/>
          <p:nvPr/>
        </p:nvSpPr>
        <p:spPr>
          <a:xfrm>
            <a:off x="5250213" y="3086100"/>
            <a:ext cx="163035" cy="193378"/>
          </a:xfrm>
          <a:prstGeom prst="rect">
            <a:avLst/>
          </a:prstGeom>
          <a:noFill/>
          <a:ln/>
        </p:spPr>
        <p:txBody>
          <a:bodyPr wrap="none" lIns="0" tIns="0" rIns="0" bIns="0" rtlCol="0" anchor="t"/>
          <a:lstStyle/>
          <a:p>
            <a:pPr algn="r" indent="0" marL="0">
              <a:lnSpc>
                <a:spcPts val="1170"/>
              </a:lnSpc>
              <a:buNone/>
            </a:pPr>
            <a:r>
              <a:rPr lang="en-US" sz="760" b="1" dirty="0">
                <a:solidFill>
                  <a:srgbClr val="062A44"/>
                </a:solidFill>
                <a:latin typeface="Arial" pitchFamily="34" charset="0"/>
                <a:ea typeface="Arial" pitchFamily="34" charset="-122"/>
                <a:cs typeface="Arial" pitchFamily="34" charset="-120"/>
              </a:rPr>
              <a:t>7%</a:t>
            </a:r>
            <a:endParaRPr lang="en-US" sz="760" dirty="0"/>
          </a:p>
        </p:txBody>
      </p:sp>
      <p:sp>
        <p:nvSpPr>
          <p:cNvPr id="37" name="Shape 34"/>
          <p:cNvSpPr/>
          <p:nvPr/>
        </p:nvSpPr>
        <p:spPr>
          <a:xfrm>
            <a:off x="621792" y="3530441"/>
            <a:ext cx="4791456" cy="0"/>
          </a:xfrm>
          <a:prstGeom prst="line">
            <a:avLst/>
          </a:prstGeom>
          <a:noFill/>
          <a:ln w="9144">
            <a:solidFill>
              <a:srgbClr val="062A44">
                <a:alpha val="10000"/>
              </a:srgbClr>
            </a:solidFill>
            <a:prstDash val="solid"/>
          </a:ln>
        </p:spPr>
      </p:sp>
      <p:sp>
        <p:nvSpPr>
          <p:cNvPr id="38" name="Text 35"/>
          <p:cNvSpPr txBox="1"/>
          <p:nvPr/>
        </p:nvSpPr>
        <p:spPr>
          <a:xfrm>
            <a:off x="621792" y="3335274"/>
            <a:ext cx="640652" cy="202648"/>
          </a:xfrm>
          <a:prstGeom prst="rect">
            <a:avLst/>
          </a:prstGeom>
          <a:noFill/>
          <a:ln/>
        </p:spPr>
        <p:txBody>
          <a:bodyPr wrap="none" lIns="0" tIns="0" rIns="0" bIns="0" rtlCol="0" anchor="t"/>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Herbal drink</a:t>
            </a:r>
            <a:endParaRPr lang="en-US" sz="790" dirty="0"/>
          </a:p>
        </p:txBody>
      </p:sp>
      <p:sp>
        <p:nvSpPr>
          <p:cNvPr id="39" name="Shape 36"/>
          <p:cNvSpPr/>
          <p:nvPr/>
        </p:nvSpPr>
        <p:spPr>
          <a:xfrm>
            <a:off x="1249299" y="3348990"/>
            <a:ext cx="248031" cy="118872"/>
          </a:xfrm>
          <a:prstGeom prst="roundRect">
            <a:avLst>
              <a:gd name="adj" fmla="val 50000"/>
            </a:avLst>
          </a:prstGeom>
          <a:solidFill>
            <a:srgbClr val="8DB828">
              <a:alpha val="14000"/>
            </a:srgbClr>
          </a:solidFill>
          <a:ln/>
        </p:spPr>
      </p:sp>
      <p:sp>
        <p:nvSpPr>
          <p:cNvPr id="40" name="Text 37"/>
          <p:cNvSpPr txBox="1"/>
          <p:nvPr/>
        </p:nvSpPr>
        <p:spPr>
          <a:xfrm>
            <a:off x="1295019" y="3362706"/>
            <a:ext cx="190538" cy="125456"/>
          </a:xfrm>
          <a:prstGeom prst="rect">
            <a:avLst/>
          </a:prstGeom>
          <a:noFill/>
          <a:ln/>
        </p:spPr>
        <p:txBody>
          <a:bodyPr wrap="none" lIns="0" tIns="0" rIns="0" bIns="0" rtlCol="0" anchor="t"/>
          <a:lstStyle/>
          <a:p>
            <a:pPr algn="l" indent="0" marL="0">
              <a:lnSpc>
                <a:spcPts val="890"/>
              </a:lnSpc>
              <a:buNone/>
            </a:pPr>
            <a:r>
              <a:rPr lang="en-US" sz="580" b="1" dirty="0">
                <a:solidFill>
                  <a:srgbClr val="6E9312"/>
                </a:solidFill>
                <a:latin typeface="Arial" pitchFamily="34" charset="0"/>
                <a:ea typeface="Arial" pitchFamily="34" charset="-122"/>
                <a:cs typeface="Arial" pitchFamily="34" charset="-120"/>
              </a:rPr>
              <a:t>New</a:t>
            </a:r>
            <a:endParaRPr lang="en-US" sz="580" dirty="0"/>
          </a:p>
        </p:txBody>
      </p:sp>
      <p:sp>
        <p:nvSpPr>
          <p:cNvPr id="41" name="Shape 38"/>
          <p:cNvSpPr/>
          <p:nvPr/>
        </p:nvSpPr>
        <p:spPr>
          <a:xfrm>
            <a:off x="2139696" y="3353705"/>
            <a:ext cx="9144" cy="118872"/>
          </a:xfrm>
          <a:prstGeom prst="roundRect">
            <a:avLst>
              <a:gd name="adj" fmla="val 50000"/>
            </a:avLst>
          </a:prstGeom>
          <a:solidFill>
            <a:srgbClr val="C3CFD9"/>
          </a:solidFill>
          <a:ln/>
        </p:spPr>
      </p:sp>
      <p:sp>
        <p:nvSpPr>
          <p:cNvPr id="42" name="Text 39"/>
          <p:cNvSpPr txBox="1"/>
          <p:nvPr/>
        </p:nvSpPr>
        <p:spPr>
          <a:xfrm>
            <a:off x="3640712" y="3338846"/>
            <a:ext cx="62608" cy="193378"/>
          </a:xfrm>
          <a:prstGeom prst="rect">
            <a:avLst/>
          </a:prstGeom>
          <a:noFill/>
          <a:ln/>
        </p:spPr>
        <p:txBody>
          <a:bodyPr wrap="none" lIns="0" tIns="0" rIns="0" bIns="0" rtlCol="0" anchor="t"/>
          <a:lstStyle/>
          <a:p>
            <a:pPr algn="r" indent="0" marL="0">
              <a:lnSpc>
                <a:spcPts val="1170"/>
              </a:lnSpc>
              <a:buNone/>
            </a:pPr>
            <a:r>
              <a:rPr lang="en-US" sz="760" dirty="0">
                <a:solidFill>
                  <a:srgbClr val="5A6E7E"/>
                </a:solidFill>
                <a:latin typeface="Arial" pitchFamily="34" charset="0"/>
                <a:ea typeface="Arial" pitchFamily="34" charset="-122"/>
                <a:cs typeface="Arial" pitchFamily="34" charset="-120"/>
              </a:rPr>
              <a:t>-</a:t>
            </a:r>
            <a:endParaRPr lang="en-US" sz="760" dirty="0"/>
          </a:p>
        </p:txBody>
      </p:sp>
      <p:sp>
        <p:nvSpPr>
          <p:cNvPr id="43" name="Shape 40"/>
          <p:cNvSpPr/>
          <p:nvPr/>
        </p:nvSpPr>
        <p:spPr>
          <a:xfrm>
            <a:off x="3849624" y="3353705"/>
            <a:ext cx="153162" cy="118872"/>
          </a:xfrm>
          <a:prstGeom prst="roundRect">
            <a:avLst>
              <a:gd name="adj" fmla="val 23077"/>
            </a:avLst>
          </a:prstGeom>
          <a:solidFill>
            <a:srgbClr val="8DB828"/>
          </a:solidFill>
          <a:ln/>
        </p:spPr>
      </p:sp>
      <p:sp>
        <p:nvSpPr>
          <p:cNvPr id="44" name="Text 41"/>
          <p:cNvSpPr txBox="1"/>
          <p:nvPr/>
        </p:nvSpPr>
        <p:spPr>
          <a:xfrm>
            <a:off x="5250213" y="3338846"/>
            <a:ext cx="163035" cy="193378"/>
          </a:xfrm>
          <a:prstGeom prst="rect">
            <a:avLst/>
          </a:prstGeom>
          <a:noFill/>
          <a:ln/>
        </p:spPr>
        <p:txBody>
          <a:bodyPr wrap="none" lIns="0" tIns="0" rIns="0" bIns="0" rtlCol="0" anchor="t"/>
          <a:lstStyle/>
          <a:p>
            <a:pPr algn="r" indent="0" marL="0">
              <a:lnSpc>
                <a:spcPts val="1170"/>
              </a:lnSpc>
              <a:buNone/>
            </a:pPr>
            <a:r>
              <a:rPr lang="en-US" sz="760" b="1" dirty="0">
                <a:solidFill>
                  <a:srgbClr val="062A44"/>
                </a:solidFill>
                <a:latin typeface="Arial" pitchFamily="34" charset="0"/>
                <a:ea typeface="Arial" pitchFamily="34" charset="-122"/>
                <a:cs typeface="Arial" pitchFamily="34" charset="-120"/>
              </a:rPr>
              <a:t>7%</a:t>
            </a:r>
            <a:endParaRPr lang="en-US" sz="760" dirty="0"/>
          </a:p>
        </p:txBody>
      </p:sp>
      <p:sp>
        <p:nvSpPr>
          <p:cNvPr id="45" name="Text 42"/>
          <p:cNvSpPr txBox="1"/>
          <p:nvPr/>
        </p:nvSpPr>
        <p:spPr>
          <a:xfrm>
            <a:off x="621792" y="3588020"/>
            <a:ext cx="193996" cy="202648"/>
          </a:xfrm>
          <a:prstGeom prst="rect">
            <a:avLst/>
          </a:prstGeom>
          <a:noFill/>
          <a:ln/>
        </p:spPr>
        <p:txBody>
          <a:bodyPr wrap="none" lIns="0" tIns="0" rIns="0" bIns="0" rtlCol="0" anchor="t"/>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Tea</a:t>
            </a:r>
            <a:endParaRPr lang="en-US" sz="790" dirty="0"/>
          </a:p>
        </p:txBody>
      </p:sp>
      <p:sp>
        <p:nvSpPr>
          <p:cNvPr id="46" name="Shape 43"/>
          <p:cNvSpPr/>
          <p:nvPr/>
        </p:nvSpPr>
        <p:spPr>
          <a:xfrm>
            <a:off x="843248" y="3601736"/>
            <a:ext cx="248031" cy="118872"/>
          </a:xfrm>
          <a:prstGeom prst="roundRect">
            <a:avLst>
              <a:gd name="adj" fmla="val 50000"/>
            </a:avLst>
          </a:prstGeom>
          <a:solidFill>
            <a:srgbClr val="8DB828">
              <a:alpha val="14000"/>
            </a:srgbClr>
          </a:solidFill>
          <a:ln/>
        </p:spPr>
      </p:sp>
      <p:sp>
        <p:nvSpPr>
          <p:cNvPr id="47" name="Text 44"/>
          <p:cNvSpPr txBox="1"/>
          <p:nvPr/>
        </p:nvSpPr>
        <p:spPr>
          <a:xfrm>
            <a:off x="888968" y="3615452"/>
            <a:ext cx="190538" cy="125456"/>
          </a:xfrm>
          <a:prstGeom prst="rect">
            <a:avLst/>
          </a:prstGeom>
          <a:noFill/>
          <a:ln/>
        </p:spPr>
        <p:txBody>
          <a:bodyPr wrap="none" lIns="0" tIns="0" rIns="0" bIns="0" rtlCol="0" anchor="t"/>
          <a:lstStyle/>
          <a:p>
            <a:pPr algn="l" indent="0" marL="0">
              <a:lnSpc>
                <a:spcPts val="890"/>
              </a:lnSpc>
              <a:buNone/>
            </a:pPr>
            <a:r>
              <a:rPr lang="en-US" sz="580" b="1" dirty="0">
                <a:solidFill>
                  <a:srgbClr val="6E9312"/>
                </a:solidFill>
                <a:latin typeface="Arial" pitchFamily="34" charset="0"/>
                <a:ea typeface="Arial" pitchFamily="34" charset="-122"/>
                <a:cs typeface="Arial" pitchFamily="34" charset="-120"/>
              </a:rPr>
              <a:t>New</a:t>
            </a:r>
            <a:endParaRPr lang="en-US" sz="580" dirty="0"/>
          </a:p>
        </p:txBody>
      </p:sp>
      <p:sp>
        <p:nvSpPr>
          <p:cNvPr id="48" name="Shape 45"/>
          <p:cNvSpPr/>
          <p:nvPr/>
        </p:nvSpPr>
        <p:spPr>
          <a:xfrm>
            <a:off x="2139696" y="3606451"/>
            <a:ext cx="9144" cy="118872"/>
          </a:xfrm>
          <a:prstGeom prst="roundRect">
            <a:avLst>
              <a:gd name="adj" fmla="val 50000"/>
            </a:avLst>
          </a:prstGeom>
          <a:solidFill>
            <a:srgbClr val="C3CFD9"/>
          </a:solidFill>
          <a:ln/>
        </p:spPr>
      </p:sp>
      <p:sp>
        <p:nvSpPr>
          <p:cNvPr id="49" name="Text 46"/>
          <p:cNvSpPr txBox="1"/>
          <p:nvPr/>
        </p:nvSpPr>
        <p:spPr>
          <a:xfrm>
            <a:off x="3640712" y="3591592"/>
            <a:ext cx="62608" cy="193378"/>
          </a:xfrm>
          <a:prstGeom prst="rect">
            <a:avLst/>
          </a:prstGeom>
          <a:noFill/>
          <a:ln/>
        </p:spPr>
        <p:txBody>
          <a:bodyPr wrap="none" lIns="0" tIns="0" rIns="0" bIns="0" rtlCol="0" anchor="t"/>
          <a:lstStyle/>
          <a:p>
            <a:pPr algn="r" indent="0" marL="0">
              <a:lnSpc>
                <a:spcPts val="1170"/>
              </a:lnSpc>
              <a:buNone/>
            </a:pPr>
            <a:r>
              <a:rPr lang="en-US" sz="760" dirty="0">
                <a:solidFill>
                  <a:srgbClr val="5A6E7E"/>
                </a:solidFill>
                <a:latin typeface="Arial" pitchFamily="34" charset="0"/>
                <a:ea typeface="Arial" pitchFamily="34" charset="-122"/>
                <a:cs typeface="Arial" pitchFamily="34" charset="-120"/>
              </a:rPr>
              <a:t>-</a:t>
            </a:r>
            <a:endParaRPr lang="en-US" sz="760" dirty="0"/>
          </a:p>
        </p:txBody>
      </p:sp>
      <p:sp>
        <p:nvSpPr>
          <p:cNvPr id="50" name="Shape 47"/>
          <p:cNvSpPr/>
          <p:nvPr/>
        </p:nvSpPr>
        <p:spPr>
          <a:xfrm>
            <a:off x="3849624" y="3606451"/>
            <a:ext cx="153162" cy="118872"/>
          </a:xfrm>
          <a:prstGeom prst="roundRect">
            <a:avLst>
              <a:gd name="adj" fmla="val 23077"/>
            </a:avLst>
          </a:prstGeom>
          <a:solidFill>
            <a:srgbClr val="8DB828"/>
          </a:solidFill>
          <a:ln/>
        </p:spPr>
      </p:sp>
      <p:sp>
        <p:nvSpPr>
          <p:cNvPr id="51" name="Text 48"/>
          <p:cNvSpPr txBox="1"/>
          <p:nvPr/>
        </p:nvSpPr>
        <p:spPr>
          <a:xfrm>
            <a:off x="5250213" y="3591592"/>
            <a:ext cx="163035" cy="193378"/>
          </a:xfrm>
          <a:prstGeom prst="rect">
            <a:avLst/>
          </a:prstGeom>
          <a:noFill/>
          <a:ln/>
        </p:spPr>
        <p:txBody>
          <a:bodyPr wrap="none" lIns="0" tIns="0" rIns="0" bIns="0" rtlCol="0" anchor="t"/>
          <a:lstStyle/>
          <a:p>
            <a:pPr algn="r" indent="0" marL="0">
              <a:lnSpc>
                <a:spcPts val="1170"/>
              </a:lnSpc>
              <a:buNone/>
            </a:pPr>
            <a:r>
              <a:rPr lang="en-US" sz="760" b="1" dirty="0">
                <a:solidFill>
                  <a:srgbClr val="062A44"/>
                </a:solidFill>
                <a:latin typeface="Arial" pitchFamily="34" charset="0"/>
                <a:ea typeface="Arial" pitchFamily="34" charset="-122"/>
                <a:cs typeface="Arial" pitchFamily="34" charset="-120"/>
              </a:rPr>
              <a:t>7%</a:t>
            </a:r>
            <a:endParaRPr lang="en-US" sz="760" dirty="0"/>
          </a:p>
        </p:txBody>
      </p:sp>
      <p:sp>
        <p:nvSpPr>
          <p:cNvPr id="52" name="Shape 49"/>
          <p:cNvSpPr/>
          <p:nvPr/>
        </p:nvSpPr>
        <p:spPr>
          <a:xfrm>
            <a:off x="5852160" y="1965960"/>
            <a:ext cx="2834640" cy="1777651"/>
          </a:xfrm>
          <a:prstGeom prst="roundRect">
            <a:avLst>
              <a:gd name="adj" fmla="val 8230"/>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53" name="Text 50"/>
          <p:cNvSpPr txBox="1"/>
          <p:nvPr/>
        </p:nvSpPr>
        <p:spPr>
          <a:xfrm>
            <a:off x="6016752" y="2084832"/>
            <a:ext cx="1358098"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EXPECTED COST / UNIT</a:t>
            </a:r>
            <a:endParaRPr lang="en-US" sz="650" dirty="0"/>
          </a:p>
        </p:txBody>
      </p:sp>
      <p:sp>
        <p:nvSpPr>
          <p:cNvPr id="54" name="Text 51"/>
          <p:cNvSpPr txBox="1"/>
          <p:nvPr/>
        </p:nvSpPr>
        <p:spPr>
          <a:xfrm>
            <a:off x="6016752" y="2256711"/>
            <a:ext cx="899341" cy="546811"/>
          </a:xfrm>
          <a:prstGeom prst="rect">
            <a:avLst/>
          </a:prstGeom>
          <a:noFill/>
          <a:ln/>
        </p:spPr>
        <p:txBody>
          <a:bodyPr wrap="none" lIns="0" tIns="0" rIns="0" bIns="0" rtlCol="0" anchor="t"/>
          <a:lstStyle/>
          <a:p>
            <a:pPr algn="l" indent="0" marL="0">
              <a:lnSpc>
                <a:spcPts val="3310"/>
              </a:lnSpc>
              <a:buNone/>
            </a:pPr>
            <a:r>
              <a:rPr lang="en-US" sz="3310" b="1" spc="-166" kern="0" dirty="0">
                <a:solidFill>
                  <a:srgbClr val="062A44"/>
                </a:solidFill>
                <a:latin typeface="Arial" pitchFamily="34" charset="0"/>
                <a:ea typeface="Arial" pitchFamily="34" charset="-122"/>
                <a:cs typeface="Arial" pitchFamily="34" charset="-120"/>
              </a:rPr>
              <a:t>11.73</a:t>
            </a:r>
            <a:endParaRPr lang="en-US" sz="3310" dirty="0"/>
          </a:p>
        </p:txBody>
      </p:sp>
      <p:sp>
        <p:nvSpPr>
          <p:cNvPr id="55" name="Text 52"/>
          <p:cNvSpPr txBox="1"/>
          <p:nvPr/>
        </p:nvSpPr>
        <p:spPr>
          <a:xfrm>
            <a:off x="6016752" y="2704767"/>
            <a:ext cx="529695" cy="202648"/>
          </a:xfrm>
          <a:prstGeom prst="rect">
            <a:avLst/>
          </a:prstGeom>
          <a:noFill/>
          <a:ln/>
        </p:spPr>
        <p:txBody>
          <a:bodyPr wrap="none" lIns="0" tIns="0" rIns="0" bIns="0" rtlCol="0" anchor="t"/>
          <a:lstStyle/>
          <a:p>
            <a:pPr algn="l" indent="0" marL="0">
              <a:lnSpc>
                <a:spcPts val="1230"/>
              </a:lnSpc>
              <a:buNone/>
            </a:pPr>
            <a:r>
              <a:rPr lang="en-US" sz="790" dirty="0">
                <a:solidFill>
                  <a:srgbClr val="5A6E7E"/>
                </a:solidFill>
                <a:latin typeface="Arial" pitchFamily="34" charset="0"/>
                <a:ea typeface="Arial" pitchFamily="34" charset="-122"/>
                <a:cs typeface="Arial" pitchFamily="34" charset="-120"/>
              </a:rPr>
              <a:t>THB / unit</a:t>
            </a:r>
            <a:endParaRPr lang="en-US" sz="790" dirty="0"/>
          </a:p>
        </p:txBody>
      </p:sp>
      <p:sp>
        <p:nvSpPr>
          <p:cNvPr id="56" name="Shape 53"/>
          <p:cNvSpPr/>
          <p:nvPr/>
        </p:nvSpPr>
        <p:spPr>
          <a:xfrm>
            <a:off x="6016752" y="3279267"/>
            <a:ext cx="2505456" cy="0"/>
          </a:xfrm>
          <a:prstGeom prst="line">
            <a:avLst/>
          </a:prstGeom>
          <a:noFill/>
          <a:ln w="9144">
            <a:solidFill>
              <a:srgbClr val="062A44">
                <a:alpha val="10000"/>
              </a:srgbClr>
            </a:solidFill>
            <a:prstDash val="solid"/>
          </a:ln>
        </p:spPr>
      </p:sp>
      <p:sp>
        <p:nvSpPr>
          <p:cNvPr id="57" name="Text 54"/>
          <p:cNvSpPr txBox="1"/>
          <p:nvPr/>
        </p:nvSpPr>
        <p:spPr>
          <a:xfrm>
            <a:off x="6016752" y="2971657"/>
            <a:ext cx="435712" cy="249631"/>
          </a:xfrm>
          <a:prstGeom prst="rect">
            <a:avLst/>
          </a:prstGeom>
          <a:noFill/>
          <a:ln/>
        </p:spPr>
        <p:txBody>
          <a:bodyPr wrap="none" lIns="0" tIns="0" rIns="0" bIns="0" rtlCol="0" anchor="t"/>
          <a:lstStyle/>
          <a:p>
            <a:pPr algn="l" indent="0" marL="0">
              <a:lnSpc>
                <a:spcPts val="1510"/>
              </a:lnSpc>
              <a:buNone/>
            </a:pPr>
            <a:r>
              <a:rPr lang="en-US" sz="1510" b="1" spc="-60" kern="0" dirty="0">
                <a:solidFill>
                  <a:srgbClr val="6E9312"/>
                </a:solidFill>
                <a:latin typeface="Arial" pitchFamily="34" charset="0"/>
                <a:ea typeface="Arial" pitchFamily="34" charset="-122"/>
                <a:cs typeface="Arial" pitchFamily="34" charset="-120"/>
              </a:rPr>
              <a:t>3.95</a:t>
            </a:r>
            <a:endParaRPr lang="en-US" sz="1510" dirty="0"/>
          </a:p>
        </p:txBody>
      </p:sp>
      <p:sp>
        <p:nvSpPr>
          <p:cNvPr id="58" name="Text 55"/>
          <p:cNvSpPr txBox="1"/>
          <p:nvPr/>
        </p:nvSpPr>
        <p:spPr>
          <a:xfrm>
            <a:off x="6766560" y="2933795"/>
            <a:ext cx="927945" cy="174628"/>
          </a:xfrm>
          <a:prstGeom prst="rect">
            <a:avLst/>
          </a:prstGeom>
          <a:noFill/>
          <a:ln/>
        </p:spPr>
        <p:txBody>
          <a:bodyPr wrap="non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THB saved per unit</a:t>
            </a:r>
            <a:endParaRPr lang="en-US" sz="760" dirty="0"/>
          </a:p>
        </p:txBody>
      </p:sp>
      <p:sp>
        <p:nvSpPr>
          <p:cNvPr id="59" name="Text 56"/>
          <p:cNvSpPr txBox="1"/>
          <p:nvPr/>
        </p:nvSpPr>
        <p:spPr>
          <a:xfrm>
            <a:off x="6766560" y="3086386"/>
            <a:ext cx="788541" cy="149722"/>
          </a:xfrm>
          <a:prstGeom prst="rect">
            <a:avLst/>
          </a:prstGeom>
          <a:noFill/>
          <a:ln/>
        </p:spPr>
        <p:txBody>
          <a:bodyPr wrap="none" lIns="0" tIns="0" rIns="0" bIns="0" rtlCol="0" anchor="t"/>
          <a:lstStyle/>
          <a:p>
            <a:pPr algn="l" indent="0" marL="0">
              <a:lnSpc>
                <a:spcPts val="910"/>
              </a:lnSpc>
              <a:buNone/>
            </a:pPr>
            <a:r>
              <a:rPr lang="en-US" sz="650" dirty="0">
                <a:solidFill>
                  <a:srgbClr val="7A8C99"/>
                </a:solidFill>
                <a:latin typeface="Arial" pitchFamily="34" charset="0"/>
                <a:ea typeface="Arial" pitchFamily="34" charset="-122"/>
                <a:cs typeface="Arial" pitchFamily="34" charset="-120"/>
              </a:rPr>
              <a:t>15.68 − 11.73 = 3.95</a:t>
            </a:r>
            <a:endParaRPr lang="en-US" sz="650" dirty="0"/>
          </a:p>
        </p:txBody>
      </p:sp>
      <p:sp>
        <p:nvSpPr>
          <p:cNvPr id="60" name="Text 57"/>
          <p:cNvSpPr txBox="1"/>
          <p:nvPr/>
        </p:nvSpPr>
        <p:spPr>
          <a:xfrm>
            <a:off x="6016752" y="3394853"/>
            <a:ext cx="606233" cy="249631"/>
          </a:xfrm>
          <a:prstGeom prst="rect">
            <a:avLst/>
          </a:prstGeom>
          <a:noFill/>
          <a:ln/>
        </p:spPr>
        <p:txBody>
          <a:bodyPr wrap="none" lIns="0" tIns="0" rIns="0" bIns="0" rtlCol="0" anchor="t"/>
          <a:lstStyle/>
          <a:p>
            <a:pPr algn="l" indent="0" marL="0">
              <a:lnSpc>
                <a:spcPts val="1510"/>
              </a:lnSpc>
              <a:buNone/>
            </a:pPr>
            <a:r>
              <a:rPr lang="en-US" sz="1510" b="1" spc="-60" kern="0" dirty="0">
                <a:solidFill>
                  <a:srgbClr val="6E9312"/>
                </a:solidFill>
                <a:latin typeface="Arial" pitchFamily="34" charset="0"/>
                <a:ea typeface="Arial" pitchFamily="34" charset="-122"/>
                <a:cs typeface="Arial" pitchFamily="34" charset="-120"/>
              </a:rPr>
              <a:t>25.2%</a:t>
            </a:r>
            <a:endParaRPr lang="en-US" sz="1510" dirty="0"/>
          </a:p>
        </p:txBody>
      </p:sp>
      <p:sp>
        <p:nvSpPr>
          <p:cNvPr id="61" name="Text 58"/>
          <p:cNvSpPr txBox="1"/>
          <p:nvPr/>
        </p:nvSpPr>
        <p:spPr>
          <a:xfrm>
            <a:off x="6766560" y="3356991"/>
            <a:ext cx="1098309" cy="174628"/>
          </a:xfrm>
          <a:prstGeom prst="rect">
            <a:avLst/>
          </a:prstGeom>
          <a:noFill/>
          <a:ln/>
        </p:spPr>
        <p:txBody>
          <a:bodyPr wrap="none" lIns="0" tIns="0" rIns="0" bIns="0" rtlCol="0" anchor="t"/>
          <a:lstStyle/>
          <a:p>
            <a:pPr algn="l" indent="0" marL="0">
              <a:lnSpc>
                <a:spcPts val="1060"/>
              </a:lnSpc>
              <a:buNone/>
            </a:pPr>
            <a:r>
              <a:rPr lang="en-US" sz="760" dirty="0">
                <a:solidFill>
                  <a:srgbClr val="5A6E7E"/>
                </a:solidFill>
                <a:latin typeface="Arial" pitchFamily="34" charset="0"/>
                <a:ea typeface="Arial" pitchFamily="34" charset="-122"/>
                <a:cs typeface="Arial" pitchFamily="34" charset="-120"/>
              </a:rPr>
              <a:t>below current supplier</a:t>
            </a:r>
            <a:endParaRPr lang="en-US" sz="760" dirty="0"/>
          </a:p>
        </p:txBody>
      </p:sp>
      <p:sp>
        <p:nvSpPr>
          <p:cNvPr id="62" name="Text 59"/>
          <p:cNvSpPr txBox="1"/>
          <p:nvPr/>
        </p:nvSpPr>
        <p:spPr>
          <a:xfrm>
            <a:off x="6766560" y="3509582"/>
            <a:ext cx="514607" cy="149722"/>
          </a:xfrm>
          <a:prstGeom prst="rect">
            <a:avLst/>
          </a:prstGeom>
          <a:noFill/>
          <a:ln/>
        </p:spPr>
        <p:txBody>
          <a:bodyPr wrap="none" lIns="0" tIns="0" rIns="0" bIns="0" rtlCol="0" anchor="t"/>
          <a:lstStyle/>
          <a:p>
            <a:pPr algn="l" indent="0" marL="0">
              <a:lnSpc>
                <a:spcPts val="910"/>
              </a:lnSpc>
              <a:buNone/>
            </a:pPr>
            <a:r>
              <a:rPr lang="en-US" sz="650" dirty="0">
                <a:solidFill>
                  <a:srgbClr val="7A8C99"/>
                </a:solidFill>
                <a:latin typeface="Arial" pitchFamily="34" charset="0"/>
                <a:ea typeface="Arial" pitchFamily="34" charset="-122"/>
                <a:cs typeface="Arial" pitchFamily="34" charset="-120"/>
              </a:rPr>
              <a:t>3.95 ÷ 15.68</a:t>
            </a:r>
            <a:endParaRPr lang="en-US" sz="650" dirty="0"/>
          </a:p>
        </p:txBody>
      </p:sp>
      <p:sp>
        <p:nvSpPr>
          <p:cNvPr id="63" name="Gradient shape"/>
          <p:cNvSpPr/>
          <p:nvPr/>
        </p:nvSpPr>
        <p:spPr>
          <a:xfrm>
            <a:off x="457200" y="4041648"/>
            <a:ext cx="8229600" cy="512064"/>
          </a:xfrm>
          <a:prstGeom prst="roundRect">
            <a:avLst>
              <a:gd name="adj" fmla="val 25000"/>
            </a:avLst>
          </a:prstGeom>
          <a:gradFill rotWithShape="1">
            <a:gsLst>
              <a:gs pos="0">
                <a:srgbClr val="062A44"/>
              </a:gs>
              <a:gs pos="55000">
                <a:srgbClr val="0B3A5C"/>
              </a:gs>
              <a:gs pos="100000">
                <a:srgbClr val="2E7FB8"/>
              </a:gs>
            </a:gsLst>
            <a:lin ang="600000" scaled="0"/>
          </a:gradFill>
          <a:ln/>
          <a:effectLst>
            <a:outerShdw sx="100000" sy="100000" kx="0" ky="0" algn="bl" rotWithShape="0" blurRad="274320" dist="128016" dir="5400000">
              <a:srgbClr val="062A44">
                <a:alpha val="21600"/>
              </a:srgbClr>
            </a:outerShdw>
          </a:effectLst>
        </p:spPr>
      </p:sp>
      <p:sp>
        <p:nvSpPr>
          <p:cNvPr id="64" name="Text 61"/>
          <p:cNvSpPr txBox="1"/>
          <p:nvPr/>
        </p:nvSpPr>
        <p:spPr>
          <a:xfrm>
            <a:off x="658368" y="4198953"/>
            <a:ext cx="1268047" cy="227080"/>
          </a:xfrm>
          <a:prstGeom prst="rect">
            <a:avLst/>
          </a:prstGeom>
          <a:noFill/>
          <a:ln/>
        </p:spPr>
        <p:txBody>
          <a:bodyPr wrap="square" lIns="0" tIns="0" rIns="0" bIns="0" rtlCol="0" anchor="t"/>
          <a:lstStyle/>
          <a:p>
            <a:pPr algn="l" indent="0" marL="0">
              <a:lnSpc>
                <a:spcPts val="780"/>
              </a:lnSpc>
              <a:buNone/>
            </a:pPr>
            <a:r>
              <a:rPr lang="en-US" sz="650" spc="91" kern="0" dirty="0">
                <a:solidFill>
                  <a:srgbClr val="FFFFFF"/>
                </a:solidFill>
                <a:latin typeface="Courier New" pitchFamily="34" charset="0"/>
                <a:ea typeface="Courier New" pitchFamily="34" charset="-122"/>
                <a:cs typeface="Courier New" pitchFamily="34" charset="-120"/>
              </a:rPr>
              <a:t>TOGETHER: SUPPLIER</a:t>
            </a:r>
            <a:endParaRPr lang="en-US" sz="650" dirty="0"/>
          </a:p>
          <a:p>
            <a:pPr algn="l" indent="0" marL="0">
              <a:lnSpc>
                <a:spcPts val="780"/>
              </a:lnSpc>
              <a:buNone/>
            </a:pPr>
            <a:r>
              <a:rPr lang="en-US" sz="650" spc="91" kern="0" dirty="0">
                <a:solidFill>
                  <a:srgbClr val="FFFFFF"/>
                </a:solidFill>
                <a:latin typeface="Courier New" pitchFamily="34" charset="0"/>
                <a:ea typeface="Courier New" pitchFamily="34" charset="-122"/>
                <a:cs typeface="Courier New" pitchFamily="34" charset="-120"/>
              </a:rPr>
              <a:t>CHANGE + DRINK MIX</a:t>
            </a:r>
            <a:endParaRPr lang="en-US" sz="650" dirty="0"/>
          </a:p>
        </p:txBody>
      </p:sp>
      <p:sp>
        <p:nvSpPr>
          <p:cNvPr id="65" name="Text 62"/>
          <p:cNvSpPr txBox="1"/>
          <p:nvPr/>
        </p:nvSpPr>
        <p:spPr>
          <a:xfrm>
            <a:off x="2831354" y="4127659"/>
            <a:ext cx="655425" cy="442090"/>
          </a:xfrm>
          <a:prstGeom prst="rect">
            <a:avLst/>
          </a:prstGeom>
          <a:noFill/>
          <a:ln/>
        </p:spPr>
        <p:txBody>
          <a:bodyPr wrap="none" lIns="0" tIns="0" rIns="0" bIns="0" rtlCol="0" anchor="t"/>
          <a:lstStyle/>
          <a:p>
            <a:pPr algn="l" indent="0" marL="0">
              <a:lnSpc>
                <a:spcPts val="2680"/>
              </a:lnSpc>
              <a:buNone/>
            </a:pPr>
            <a:r>
              <a:rPr lang="en-US" sz="1730" b="1" spc="-52" kern="0" dirty="0">
                <a:solidFill>
                  <a:srgbClr val="FFFFFF"/>
                </a:solidFill>
                <a:latin typeface="Arial" pitchFamily="34" charset="0"/>
                <a:ea typeface="Arial" pitchFamily="34" charset="-122"/>
                <a:cs typeface="Arial" pitchFamily="34" charset="-120"/>
              </a:rPr>
              <a:t>22.34</a:t>
            </a:r>
            <a:endParaRPr lang="en-US" sz="1730" dirty="0"/>
          </a:p>
        </p:txBody>
      </p:sp>
      <p:pic>
        <p:nvPicPr>
          <p:cNvPr id="66" name="Image 1" descr="Icon: arrow forward">    </p:cNvPr>
          <p:cNvPicPr>
            <a:picLocks noChangeAspect="1"/>
          </p:cNvPicPr>
          <p:nvPr/>
        </p:nvPicPr>
        <p:blipFill>
          <a:blip r:embed="rId3"/>
          <a:stretch>
            <a:fillRect/>
          </a:stretch>
        </p:blipFill>
        <p:spPr>
          <a:xfrm>
            <a:off x="3502009" y="4229100"/>
            <a:ext cx="137160" cy="137160"/>
          </a:xfrm>
          <a:prstGeom prst="rect">
            <a:avLst/>
          </a:prstGeom>
        </p:spPr>
      </p:pic>
      <p:sp>
        <p:nvSpPr>
          <p:cNvPr id="67" name="Text 63"/>
          <p:cNvSpPr txBox="1"/>
          <p:nvPr/>
        </p:nvSpPr>
        <p:spPr>
          <a:xfrm>
            <a:off x="3730609" y="4127659"/>
            <a:ext cx="601832" cy="442090"/>
          </a:xfrm>
          <a:prstGeom prst="rect">
            <a:avLst/>
          </a:prstGeom>
          <a:noFill/>
          <a:ln/>
        </p:spPr>
        <p:txBody>
          <a:bodyPr wrap="none" lIns="0" tIns="0" rIns="0" bIns="0" rtlCol="0" anchor="t"/>
          <a:lstStyle/>
          <a:p>
            <a:pPr algn="l" indent="0" marL="0">
              <a:lnSpc>
                <a:spcPts val="2680"/>
              </a:lnSpc>
              <a:buNone/>
            </a:pPr>
            <a:r>
              <a:rPr lang="en-US" sz="1730" b="1" spc="-52" kern="0" dirty="0">
                <a:solidFill>
                  <a:srgbClr val="FFFFFF"/>
                </a:solidFill>
                <a:latin typeface="Arial" pitchFamily="34" charset="0"/>
                <a:ea typeface="Arial" pitchFamily="34" charset="-122"/>
                <a:cs typeface="Arial" pitchFamily="34" charset="-120"/>
              </a:rPr>
              <a:t>15.68</a:t>
            </a:r>
            <a:endParaRPr lang="en-US" sz="1730" dirty="0"/>
          </a:p>
        </p:txBody>
      </p:sp>
      <p:pic>
        <p:nvPicPr>
          <p:cNvPr id="68" name="Image 2" descr="Icon: arrow forward">    </p:cNvPr>
          <p:cNvPicPr>
            <a:picLocks noChangeAspect="1"/>
          </p:cNvPicPr>
          <p:nvPr/>
        </p:nvPicPr>
        <p:blipFill>
          <a:blip r:embed="rId4"/>
          <a:stretch>
            <a:fillRect/>
          </a:stretch>
        </p:blipFill>
        <p:spPr>
          <a:xfrm>
            <a:off x="4352544" y="4229100"/>
            <a:ext cx="137160" cy="137160"/>
          </a:xfrm>
          <a:prstGeom prst="rect">
            <a:avLst/>
          </a:prstGeom>
        </p:spPr>
      </p:pic>
      <p:sp>
        <p:nvSpPr>
          <p:cNvPr id="69" name="Text 64"/>
          <p:cNvSpPr txBox="1"/>
          <p:nvPr/>
        </p:nvSpPr>
        <p:spPr>
          <a:xfrm>
            <a:off x="4581144" y="4127659"/>
            <a:ext cx="502191" cy="442090"/>
          </a:xfrm>
          <a:prstGeom prst="rect">
            <a:avLst/>
          </a:prstGeom>
          <a:noFill/>
          <a:ln/>
        </p:spPr>
        <p:txBody>
          <a:bodyPr wrap="none" lIns="0" tIns="0" rIns="0" bIns="0" rtlCol="0" anchor="t"/>
          <a:lstStyle/>
          <a:p>
            <a:pPr algn="l" indent="0" marL="0">
              <a:lnSpc>
                <a:spcPts val="2680"/>
              </a:lnSpc>
              <a:buNone/>
            </a:pPr>
            <a:r>
              <a:rPr lang="en-US" sz="1730" b="1" spc="-52" kern="0" dirty="0">
                <a:solidFill>
                  <a:srgbClr val="FFFFFF"/>
                </a:solidFill>
                <a:latin typeface="Arial" pitchFamily="34" charset="0"/>
                <a:ea typeface="Arial" pitchFamily="34" charset="-122"/>
                <a:cs typeface="Arial" pitchFamily="34" charset="-120"/>
              </a:rPr>
              <a:t>11.73</a:t>
            </a:r>
            <a:endParaRPr lang="en-US" sz="1730" dirty="0"/>
          </a:p>
        </p:txBody>
      </p:sp>
      <p:sp>
        <p:nvSpPr>
          <p:cNvPr id="70" name="Text 65"/>
          <p:cNvSpPr txBox="1"/>
          <p:nvPr/>
        </p:nvSpPr>
        <p:spPr>
          <a:xfrm>
            <a:off x="5112496" y="4273963"/>
            <a:ext cx="483175" cy="184252"/>
          </a:xfrm>
          <a:prstGeom prst="rect">
            <a:avLst/>
          </a:prstGeom>
          <a:noFill/>
          <a:ln/>
        </p:spPr>
        <p:txBody>
          <a:bodyPr wrap="none" lIns="0" tIns="0" rIns="0" bIns="0" rtlCol="0" anchor="t"/>
          <a:lstStyle/>
          <a:p>
            <a:pPr algn="l" indent="0" marL="0">
              <a:lnSpc>
                <a:spcPts val="1120"/>
              </a:lnSpc>
              <a:buNone/>
            </a:pPr>
            <a:r>
              <a:rPr lang="en-US" sz="720" dirty="0">
                <a:solidFill>
                  <a:srgbClr val="FFFFFF"/>
                </a:solidFill>
                <a:latin typeface="Arial" pitchFamily="34" charset="0"/>
                <a:ea typeface="Arial" pitchFamily="34" charset="-122"/>
                <a:cs typeface="Arial" pitchFamily="34" charset="-120"/>
              </a:rPr>
              <a:t>THB / unit</a:t>
            </a:r>
            <a:endParaRPr lang="en-US" sz="720" dirty="0"/>
          </a:p>
        </p:txBody>
      </p:sp>
      <p:sp>
        <p:nvSpPr>
          <p:cNvPr id="71" name="Text 66"/>
          <p:cNvSpPr txBox="1"/>
          <p:nvPr/>
        </p:nvSpPr>
        <p:spPr>
          <a:xfrm>
            <a:off x="6245066" y="4085082"/>
            <a:ext cx="939889" cy="552755"/>
          </a:xfrm>
          <a:prstGeom prst="rect">
            <a:avLst/>
          </a:prstGeom>
          <a:noFill/>
          <a:ln/>
        </p:spPr>
        <p:txBody>
          <a:bodyPr wrap="none" lIns="0" tIns="0" rIns="0" bIns="0" rtlCol="0" anchor="t"/>
          <a:lstStyle/>
          <a:p>
            <a:pPr algn="l" indent="0" marL="0">
              <a:lnSpc>
                <a:spcPts val="3350"/>
              </a:lnSpc>
              <a:buNone/>
            </a:pPr>
            <a:r>
              <a:rPr lang="en-US" sz="2160" b="1" spc="-86" kern="0" dirty="0">
                <a:solidFill>
                  <a:srgbClr val="B7DC4A"/>
                </a:solidFill>
                <a:latin typeface="Arial" pitchFamily="34" charset="0"/>
                <a:ea typeface="Arial" pitchFamily="34" charset="-122"/>
                <a:cs typeface="Arial" pitchFamily="34" charset="-120"/>
              </a:rPr>
              <a:t>−47.5%</a:t>
            </a:r>
            <a:endParaRPr lang="en-US" sz="2160" dirty="0"/>
          </a:p>
        </p:txBody>
      </p:sp>
      <p:sp>
        <p:nvSpPr>
          <p:cNvPr id="72" name="Text 67"/>
          <p:cNvSpPr txBox="1"/>
          <p:nvPr/>
        </p:nvSpPr>
        <p:spPr>
          <a:xfrm>
            <a:off x="7174325" y="4286250"/>
            <a:ext cx="1460725" cy="184252"/>
          </a:xfrm>
          <a:prstGeom prst="rect">
            <a:avLst/>
          </a:prstGeom>
          <a:noFill/>
          <a:ln/>
        </p:spPr>
        <p:txBody>
          <a:bodyPr wrap="none" lIns="0" tIns="0" rIns="0" bIns="0" rtlCol="0" anchor="t"/>
          <a:lstStyle/>
          <a:p>
            <a:pPr algn="l" indent="0" marL="0">
              <a:lnSpc>
                <a:spcPts val="1120"/>
              </a:lnSpc>
              <a:buNone/>
            </a:pPr>
            <a:r>
              <a:rPr lang="en-US" sz="720" dirty="0">
                <a:solidFill>
                  <a:srgbClr val="FFFFFF"/>
                </a:solidFill>
                <a:latin typeface="Arial" pitchFamily="34" charset="0"/>
                <a:ea typeface="Arial" pitchFamily="34" charset="-122"/>
                <a:cs typeface="Arial" pitchFamily="34" charset="-120"/>
              </a:rPr>
              <a:t>from 2025 (−10.61 THB per unit)</a:t>
            </a:r>
            <a:endParaRPr lang="en-US" sz="720" dirty="0"/>
          </a:p>
        </p:txBody>
      </p:sp>
      <p:sp>
        <p:nvSpPr>
          <p:cNvPr id="73" name="Text 68"/>
          <p:cNvSpPr txBox="1"/>
          <p:nvPr/>
        </p:nvSpPr>
        <p:spPr>
          <a:xfrm>
            <a:off x="457200" y="4681728"/>
            <a:ext cx="6955598" cy="156585"/>
          </a:xfrm>
          <a:prstGeom prst="rect">
            <a:avLst/>
          </a:prstGeom>
          <a:noFill/>
          <a:ln/>
        </p:spPr>
        <p:txBody>
          <a:bodyPr wrap="none" lIns="0" tIns="0" rIns="0" bIns="0" rtlCol="0" anchor="t"/>
          <a:lstStyle/>
          <a:p>
            <a:pPr algn="l" indent="0" marL="0">
              <a:lnSpc>
                <a:spcPts val="950"/>
              </a:lnSpc>
              <a:buNone/>
            </a:pPr>
            <a:r>
              <a:rPr lang="en-US" sz="610" dirty="0">
                <a:solidFill>
                  <a:srgbClr val="7A8C99"/>
                </a:solidFill>
                <a:latin typeface="Arial" pitchFamily="34" charset="0"/>
                <a:ea typeface="Arial" pitchFamily="34" charset="-122"/>
                <a:cs typeface="Arial" pitchFamily="34" charset="-120"/>
              </a:rPr>
              <a:t>Source check required: 2025 electrolyte allocation is 21% in the table but 18% in the source pie. 2025 table totals 103%; all supplied allocations are retained pending confirmation.</a:t>
            </a:r>
            <a:endParaRPr lang="en-US" sz="610" dirty="0"/>
          </a:p>
        </p:txBody>
      </p:sp>
    </p:spTree>
  </p:cSld>
  <p:clrMapOvr>
    <a:masterClrMapping/>
  </p:clrMapOvr>
  <p:transition spd="med">
    <p:push dir="r"/>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920240"/>
            <a:ext cx="1853003"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NON-RAYONG OVERVIEW 2026</a:t>
            </a:r>
            <a:endParaRPr lang="en-US" sz="720" dirty="0"/>
          </a:p>
        </p:txBody>
      </p:sp>
      <p:sp>
        <p:nvSpPr>
          <p:cNvPr id="5" name="Gradient shape"/>
          <p:cNvSpPr/>
          <p:nvPr/>
        </p:nvSpPr>
        <p:spPr>
          <a:xfrm>
            <a:off x="457200" y="195590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2194560"/>
            <a:ext cx="3246194" cy="1372654"/>
          </a:xfrm>
          <a:prstGeom prst="rect">
            <a:avLst/>
          </a:prstGeom>
          <a:noFill/>
          <a:ln/>
        </p:spPr>
        <p:txBody>
          <a:bodyPr wrap="square" lIns="0" tIns="0" rIns="0" bIns="0" rtlCol="0" anchor="t"/>
          <a:lstStyle/>
          <a:p>
            <a:pPr algn="l" indent="0" marL="0">
              <a:lnSpc>
                <a:spcPts val="4700"/>
              </a:lnSpc>
              <a:buNone/>
            </a:pPr>
            <a:r>
              <a:rPr lang="en-US" sz="4610" spc="-230" kern="0" dirty="0">
                <a:solidFill>
                  <a:srgbClr val="062A44"/>
                </a:solidFill>
                <a:latin typeface="Arial" pitchFamily="34" charset="0"/>
                <a:ea typeface="Arial" pitchFamily="34" charset="-122"/>
                <a:cs typeface="Arial" pitchFamily="34" charset="-120"/>
              </a:rPr>
              <a:t>Operation</a:t>
            </a:r>
            <a:endParaRPr lang="en-US" sz="4610" dirty="0"/>
          </a:p>
          <a:p>
            <a:pPr algn="l" indent="0" marL="0">
              <a:lnSpc>
                <a:spcPts val="4700"/>
              </a:lnSpc>
              <a:buNone/>
            </a:pPr>
            <a:r>
              <a:rPr lang="en-US" sz="4610" b="1" spc="-230" kern="0" dirty="0">
                <a:solidFill>
                  <a:srgbClr val="0F4166"/>
                </a:solidFill>
                <a:latin typeface="Arial" pitchFamily="34" charset="0"/>
                <a:ea typeface="Arial" pitchFamily="34" charset="-122"/>
                <a:cs typeface="Arial" pitchFamily="34" charset="-120"/>
              </a:rPr>
              <a:t>e</a:t>
            </a:r>
            <a:pPr algn="l" indent="0" marL="0">
              <a:lnSpc>
                <a:spcPts val="4700"/>
              </a:lnSpc>
              <a:buNone/>
            </a:pPr>
            <a:r>
              <a:rPr lang="en-US" sz="4610" b="1" spc="-230" kern="0" dirty="0">
                <a:solidFill>
                  <a:srgbClr val="165079"/>
                </a:solidFill>
                <a:latin typeface="Arial" pitchFamily="34" charset="0"/>
                <a:ea typeface="Arial" pitchFamily="34" charset="-122"/>
                <a:cs typeface="Arial" pitchFamily="34" charset="-120"/>
              </a:rPr>
              <a:t>x</a:t>
            </a:r>
            <a:pPr algn="l" indent="0" marL="0">
              <a:lnSpc>
                <a:spcPts val="4700"/>
              </a:lnSpc>
              <a:buNone/>
            </a:pPr>
            <a:r>
              <a:rPr lang="en-US" sz="4610" b="1" spc="-230" kern="0" dirty="0">
                <a:solidFill>
                  <a:srgbClr val="1E5F8E"/>
                </a:solidFill>
                <a:latin typeface="Arial" pitchFamily="34" charset="0"/>
                <a:ea typeface="Arial" pitchFamily="34" charset="-122"/>
                <a:cs typeface="Arial" pitchFamily="34" charset="-120"/>
              </a:rPr>
              <a:t>c</a:t>
            </a:r>
            <a:pPr algn="l" indent="0" marL="0">
              <a:lnSpc>
                <a:spcPts val="4700"/>
              </a:lnSpc>
              <a:buNone/>
            </a:pPr>
            <a:r>
              <a:rPr lang="en-US" sz="4610" b="1" spc="-230" kern="0" dirty="0">
                <a:solidFill>
                  <a:srgbClr val="266FA3"/>
                </a:solidFill>
                <a:latin typeface="Arial" pitchFamily="34" charset="0"/>
                <a:ea typeface="Arial" pitchFamily="34" charset="-122"/>
                <a:cs typeface="Arial" pitchFamily="34" charset="-120"/>
              </a:rPr>
              <a:t>e</a:t>
            </a:r>
            <a:pPr algn="l" indent="0" marL="0">
              <a:lnSpc>
                <a:spcPts val="4700"/>
              </a:lnSpc>
              <a:buNone/>
            </a:pPr>
            <a:r>
              <a:rPr lang="en-US" sz="4610" b="1" spc="-230" kern="0" dirty="0">
                <a:solidFill>
                  <a:srgbClr val="2C7BB2"/>
                </a:solidFill>
                <a:latin typeface="Arial" pitchFamily="34" charset="0"/>
                <a:ea typeface="Arial" pitchFamily="34" charset="-122"/>
                <a:cs typeface="Arial" pitchFamily="34" charset="-120"/>
              </a:rPr>
              <a:t>l</a:t>
            </a:r>
            <a:pPr algn="l" indent="0" marL="0">
              <a:lnSpc>
                <a:spcPts val="4700"/>
              </a:lnSpc>
              <a:buNone/>
            </a:pPr>
            <a:r>
              <a:rPr lang="en-US" sz="4610" b="1" spc="-230" kern="0" dirty="0">
                <a:solidFill>
                  <a:srgbClr val="3180B2"/>
                </a:solidFill>
                <a:latin typeface="Arial" pitchFamily="34" charset="0"/>
                <a:ea typeface="Arial" pitchFamily="34" charset="-122"/>
                <a:cs typeface="Arial" pitchFamily="34" charset="-120"/>
              </a:rPr>
              <a:t>l</a:t>
            </a:r>
            <a:pPr algn="l" indent="0" marL="0">
              <a:lnSpc>
                <a:spcPts val="4700"/>
              </a:lnSpc>
              <a:buNone/>
            </a:pPr>
            <a:r>
              <a:rPr lang="en-US" sz="4610" b="1" spc="-230" kern="0" dirty="0">
                <a:solidFill>
                  <a:srgbClr val="3D879A"/>
                </a:solidFill>
                <a:latin typeface="Arial" pitchFamily="34" charset="0"/>
                <a:ea typeface="Arial" pitchFamily="34" charset="-122"/>
                <a:cs typeface="Arial" pitchFamily="34" charset="-120"/>
              </a:rPr>
              <a:t>e</a:t>
            </a:r>
            <a:pPr algn="l" indent="0" marL="0">
              <a:lnSpc>
                <a:spcPts val="4700"/>
              </a:lnSpc>
              <a:buNone/>
            </a:pPr>
            <a:r>
              <a:rPr lang="en-US" sz="4610" b="1" spc="-230" kern="0" dirty="0">
                <a:solidFill>
                  <a:srgbClr val="4F8F79"/>
                </a:solidFill>
                <a:latin typeface="Arial" pitchFamily="34" charset="0"/>
                <a:ea typeface="Arial" pitchFamily="34" charset="-122"/>
                <a:cs typeface="Arial" pitchFamily="34" charset="-120"/>
              </a:rPr>
              <a:t>n</a:t>
            </a:r>
            <a:pPr algn="l" indent="0" marL="0">
              <a:lnSpc>
                <a:spcPts val="4700"/>
              </a:lnSpc>
              <a:buNone/>
            </a:pPr>
            <a:r>
              <a:rPr lang="en-US" sz="4610" b="1" spc="-230" kern="0" dirty="0">
                <a:solidFill>
                  <a:srgbClr val="609857"/>
                </a:solidFill>
                <a:latin typeface="Arial" pitchFamily="34" charset="0"/>
                <a:ea typeface="Arial" pitchFamily="34" charset="-122"/>
                <a:cs typeface="Arial" pitchFamily="34" charset="-120"/>
              </a:rPr>
              <a:t>c</a:t>
            </a:r>
            <a:pPr algn="l" indent="0" marL="0">
              <a:lnSpc>
                <a:spcPts val="4700"/>
              </a:lnSpc>
              <a:buNone/>
            </a:pPr>
            <a:r>
              <a:rPr lang="en-US" sz="4610" b="1" spc="-230" kern="0" dirty="0">
                <a:solidFill>
                  <a:srgbClr val="71A136"/>
                </a:solidFill>
                <a:latin typeface="Arial" pitchFamily="34" charset="0"/>
                <a:ea typeface="Arial" pitchFamily="34" charset="-122"/>
                <a:cs typeface="Arial" pitchFamily="34" charset="-120"/>
              </a:rPr>
              <a:t>e</a:t>
            </a:r>
            <a:pPr algn="l" indent="0" marL="0">
              <a:lnSpc>
                <a:spcPts val="4700"/>
              </a:lnSpc>
              <a:buNone/>
            </a:pPr>
            <a:r>
              <a:rPr lang="en-US" sz="4610" b="1" spc="-230" kern="0" dirty="0">
                <a:solidFill>
                  <a:srgbClr val="7CA720"/>
                </a:solidFill>
                <a:latin typeface="Arial" pitchFamily="34" charset="0"/>
                <a:ea typeface="Arial" pitchFamily="34" charset="-122"/>
                <a:cs typeface="Arial" pitchFamily="34" charset="-120"/>
              </a:rPr>
              <a:t>.</a:t>
            </a:r>
            <a:endParaRPr lang="en-US" sz="4610" dirty="0"/>
          </a:p>
        </p:txBody>
      </p:sp>
      <p:sp>
        <p:nvSpPr>
          <p:cNvPr id="7" name="Text 4"/>
          <p:cNvSpPr txBox="1"/>
          <p:nvPr/>
        </p:nvSpPr>
        <p:spPr>
          <a:xfrm>
            <a:off x="457200" y="3571018"/>
            <a:ext cx="3698016" cy="473202"/>
          </a:xfrm>
          <a:prstGeom prst="rect">
            <a:avLst/>
          </a:prstGeom>
          <a:noFill/>
          <a:ln/>
        </p:spPr>
        <p:txBody>
          <a:bodyPr wrap="square" lIns="0" tIns="0" rIns="0" bIns="0" rtlCol="0" anchor="t"/>
          <a:lstStyle/>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Handheld OCR, a hybrid online and offline workflow,</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and four poka-yoke controls.</a:t>
            </a:r>
            <a:endParaRPr lang="en-US" sz="1080" dirty="0"/>
          </a:p>
        </p:txBody>
      </p:sp>
      <p:sp>
        <p:nvSpPr>
          <p:cNvPr id="8" name="Gradient shape"/>
          <p:cNvSpPr/>
          <p:nvPr/>
        </p:nvSpPr>
        <p:spPr>
          <a:xfrm>
            <a:off x="4663467" y="1133856"/>
            <a:ext cx="4023305" cy="3486864"/>
          </a:xfrm>
          <a:prstGeom prst="roundRect">
            <a:avLst>
              <a:gd name="adj" fmla="val 5641"/>
            </a:avLst>
          </a:prstGeom>
          <a:gradFill rotWithShape="1">
            <a:gsLst>
              <a:gs pos="0">
                <a:srgbClr val="E3F0FB"/>
              </a:gs>
              <a:gs pos="100000">
                <a:srgbClr val="E3F0FB">
                  <a:alpha val="0"/>
                </a:srgbClr>
              </a:gs>
            </a:gsLst>
            <a:path path="circle">
              <a:fillToRect l="50000" t="45000" r="50000" b="55000"/>
            </a:path>
          </a:gradFill>
          <a:ln/>
        </p:spPr>
      </p:sp>
      <p:sp>
        <p:nvSpPr>
          <p:cNvPr id="9" name="Shape 6"/>
          <p:cNvSpPr/>
          <p:nvPr/>
        </p:nvSpPr>
        <p:spPr>
          <a:xfrm>
            <a:off x="5021095" y="1545127"/>
            <a:ext cx="3308051" cy="2020593"/>
          </a:xfrm>
          <a:prstGeom prst="roundRect">
            <a:avLst>
              <a:gd name="adj" fmla="val 11504"/>
            </a:avLst>
          </a:prstGeom>
          <a:solidFill>
            <a:srgbClr val="FFFFFF"/>
          </a:solidFill>
          <a:ln w="8941">
            <a:solidFill>
              <a:srgbClr val="062A44">
                <a:alpha val="10000"/>
              </a:srgbClr>
            </a:solidFill>
            <a:prstDash val="solid"/>
          </a:ln>
        </p:spPr>
      </p:sp>
      <p:sp>
        <p:nvSpPr>
          <p:cNvPr id="10" name="Shape 7"/>
          <p:cNvSpPr/>
          <p:nvPr/>
        </p:nvSpPr>
        <p:spPr>
          <a:xfrm>
            <a:off x="5396603" y="2063687"/>
            <a:ext cx="2557034" cy="983475"/>
          </a:xfrm>
          <a:prstGeom prst="roundRect">
            <a:avLst>
              <a:gd name="adj" fmla="val 12727"/>
            </a:avLst>
          </a:prstGeom>
          <a:solidFill>
            <a:srgbClr val="10273A"/>
          </a:solidFill>
          <a:ln/>
        </p:spPr>
      </p:sp>
      <p:sp>
        <p:nvSpPr>
          <p:cNvPr id="11" name="Text 8"/>
          <p:cNvSpPr txBox="1"/>
          <p:nvPr/>
        </p:nvSpPr>
        <p:spPr>
          <a:xfrm>
            <a:off x="5402390" y="2204901"/>
            <a:ext cx="2545460" cy="630936"/>
          </a:xfrm>
          <a:prstGeom prst="rect">
            <a:avLst/>
          </a:prstGeom>
          <a:noFill/>
          <a:ln/>
        </p:spPr>
        <p:txBody>
          <a:bodyPr wrap="none" lIns="0" tIns="0" rIns="0" bIns="0" rtlCol="0" anchor="ctr"/>
          <a:lstStyle/>
          <a:p>
            <a:pPr algn="ctr" indent="0" marL="0">
              <a:lnSpc>
                <a:spcPts val="4970"/>
              </a:lnSpc>
              <a:buNone/>
            </a:pPr>
            <a:r>
              <a:rPr lang="en-US" sz="3800" b="1" spc="304" kern="0" dirty="0">
                <a:solidFill>
                  <a:srgbClr val="E9F0F6"/>
                </a:solidFill>
                <a:latin typeface="Courier New" pitchFamily="34" charset="0"/>
                <a:ea typeface="Courier New" pitchFamily="34" charset="-122"/>
                <a:cs typeface="Courier New" pitchFamily="34" charset="-120"/>
              </a:rPr>
              <a:t>2610815</a:t>
            </a:r>
            <a:endParaRPr lang="en-US" sz="3800" dirty="0"/>
          </a:p>
        </p:txBody>
      </p:sp>
      <p:sp>
        <p:nvSpPr>
          <p:cNvPr id="12" name="Shape 9"/>
          <p:cNvSpPr/>
          <p:nvPr/>
        </p:nvSpPr>
        <p:spPr>
          <a:xfrm>
            <a:off x="5503891" y="2474958"/>
            <a:ext cx="2342458" cy="303983"/>
          </a:xfrm>
          <a:prstGeom prst="rect">
            <a:avLst/>
          </a:prstGeom>
          <a:solidFill>
            <a:srgbClr val="97C21D">
              <a:alpha val="16000"/>
            </a:srgbClr>
          </a:solidFill>
          <a:ln/>
        </p:spPr>
      </p:sp>
      <p:sp>
        <p:nvSpPr>
          <p:cNvPr id="13" name="Shape 10"/>
          <p:cNvSpPr/>
          <p:nvPr/>
        </p:nvSpPr>
        <p:spPr>
          <a:xfrm>
            <a:off x="5557535" y="2474958"/>
            <a:ext cx="2235169" cy="0"/>
          </a:xfrm>
          <a:prstGeom prst="line">
            <a:avLst/>
          </a:prstGeom>
          <a:noFill/>
          <a:ln w="26822">
            <a:solidFill>
              <a:srgbClr val="97C21D"/>
            </a:solidFill>
            <a:prstDash val="solid"/>
          </a:ln>
        </p:spPr>
      </p:sp>
      <p:sp>
        <p:nvSpPr>
          <p:cNvPr id="14" name="Shape 11"/>
          <p:cNvSpPr/>
          <p:nvPr/>
        </p:nvSpPr>
        <p:spPr>
          <a:xfrm>
            <a:off x="5235671" y="1849110"/>
            <a:ext cx="268220" cy="268220"/>
          </a:xfrm>
          <a:custGeom>
            <a:avLst/>
            <a:gdLst/>
            <a:ahLst/>
            <a:cxnLst/>
            <a:rect l="l" t="t" r="r" b="b"/>
            <a:pathLst>
              <a:path w="268220" h="268220">
                <a:moveTo>
                  <a:pt x="0" y="268220"/>
                </a:moveTo>
                <a:lnTo>
                  <a:pt x="0" y="254809"/>
                </a:lnTo>
                <a:lnTo>
                  <a:pt x="0" y="241398"/>
                </a:lnTo>
                <a:lnTo>
                  <a:pt x="0" y="227987"/>
                </a:lnTo>
                <a:lnTo>
                  <a:pt x="0" y="214576"/>
                </a:lnTo>
                <a:lnTo>
                  <a:pt x="0" y="201165"/>
                </a:lnTo>
                <a:lnTo>
                  <a:pt x="0" y="187754"/>
                </a:lnTo>
                <a:lnTo>
                  <a:pt x="0" y="174343"/>
                </a:lnTo>
                <a:lnTo>
                  <a:pt x="0" y="160932"/>
                </a:lnTo>
                <a:lnTo>
                  <a:pt x="0" y="147521"/>
                </a:lnTo>
                <a:lnTo>
                  <a:pt x="0" y="134110"/>
                </a:lnTo>
                <a:lnTo>
                  <a:pt x="0" y="120699"/>
                </a:lnTo>
                <a:lnTo>
                  <a:pt x="0" y="107288"/>
                </a:lnTo>
                <a:lnTo>
                  <a:pt x="0" y="93877"/>
                </a:lnTo>
                <a:lnTo>
                  <a:pt x="0" y="80466"/>
                </a:lnTo>
                <a:lnTo>
                  <a:pt x="0" y="67055"/>
                </a:lnTo>
                <a:lnTo>
                  <a:pt x="0" y="53644"/>
                </a:lnTo>
                <a:lnTo>
                  <a:pt x="0" y="40233"/>
                </a:lnTo>
                <a:lnTo>
                  <a:pt x="0" y="26822"/>
                </a:lnTo>
                <a:lnTo>
                  <a:pt x="0" y="13411"/>
                </a:lnTo>
                <a:lnTo>
                  <a:pt x="0" y="0"/>
                </a:lnTo>
                <a:lnTo>
                  <a:pt x="13411" y="0"/>
                </a:lnTo>
                <a:lnTo>
                  <a:pt x="26822" y="0"/>
                </a:lnTo>
                <a:lnTo>
                  <a:pt x="40233" y="0"/>
                </a:lnTo>
                <a:lnTo>
                  <a:pt x="53644" y="0"/>
                </a:lnTo>
                <a:lnTo>
                  <a:pt x="67055" y="0"/>
                </a:lnTo>
                <a:lnTo>
                  <a:pt x="80466" y="0"/>
                </a:lnTo>
                <a:lnTo>
                  <a:pt x="93877" y="0"/>
                </a:lnTo>
                <a:lnTo>
                  <a:pt x="107288" y="0"/>
                </a:lnTo>
                <a:lnTo>
                  <a:pt x="120699" y="0"/>
                </a:lnTo>
                <a:lnTo>
                  <a:pt x="134110" y="0"/>
                </a:lnTo>
                <a:lnTo>
                  <a:pt x="147521" y="0"/>
                </a:lnTo>
                <a:lnTo>
                  <a:pt x="160932" y="0"/>
                </a:lnTo>
                <a:lnTo>
                  <a:pt x="174343" y="0"/>
                </a:lnTo>
                <a:lnTo>
                  <a:pt x="187754" y="0"/>
                </a:lnTo>
                <a:lnTo>
                  <a:pt x="201165" y="0"/>
                </a:lnTo>
                <a:lnTo>
                  <a:pt x="214576" y="0"/>
                </a:lnTo>
                <a:lnTo>
                  <a:pt x="227987" y="0"/>
                </a:lnTo>
                <a:lnTo>
                  <a:pt x="241398" y="0"/>
                </a:lnTo>
                <a:lnTo>
                  <a:pt x="254809" y="0"/>
                </a:lnTo>
                <a:lnTo>
                  <a:pt x="268220" y="0"/>
                </a:lnTo>
              </a:path>
            </a:pathLst>
          </a:custGeom>
          <a:ln w="44703">
            <a:solidFill>
              <a:srgbClr val="2E7FB8"/>
            </a:solidFill>
            <a:prstDash val="solid"/>
          </a:ln>
        </p:spPr>
      </p:sp>
      <p:sp>
        <p:nvSpPr>
          <p:cNvPr id="15" name="Shape 12"/>
          <p:cNvSpPr/>
          <p:nvPr/>
        </p:nvSpPr>
        <p:spPr>
          <a:xfrm>
            <a:off x="7846349" y="1849110"/>
            <a:ext cx="268220" cy="268220"/>
          </a:xfrm>
          <a:custGeom>
            <a:avLst/>
            <a:gdLst/>
            <a:ahLst/>
            <a:cxnLst/>
            <a:rect l="l" t="t" r="r" b="b"/>
            <a:pathLst>
              <a:path w="268220" h="268220">
                <a:moveTo>
                  <a:pt x="268220" y="268220"/>
                </a:moveTo>
                <a:lnTo>
                  <a:pt x="268220" y="254809"/>
                </a:lnTo>
                <a:lnTo>
                  <a:pt x="268220" y="241398"/>
                </a:lnTo>
                <a:lnTo>
                  <a:pt x="268220" y="227987"/>
                </a:lnTo>
                <a:lnTo>
                  <a:pt x="268220" y="214576"/>
                </a:lnTo>
                <a:lnTo>
                  <a:pt x="268220" y="201165"/>
                </a:lnTo>
                <a:lnTo>
                  <a:pt x="268220" y="187754"/>
                </a:lnTo>
                <a:lnTo>
                  <a:pt x="268220" y="174343"/>
                </a:lnTo>
                <a:lnTo>
                  <a:pt x="268220" y="160932"/>
                </a:lnTo>
                <a:lnTo>
                  <a:pt x="268220" y="147521"/>
                </a:lnTo>
                <a:lnTo>
                  <a:pt x="268220" y="134110"/>
                </a:lnTo>
                <a:lnTo>
                  <a:pt x="268220" y="120699"/>
                </a:lnTo>
                <a:lnTo>
                  <a:pt x="268220" y="107288"/>
                </a:lnTo>
                <a:lnTo>
                  <a:pt x="268220" y="93877"/>
                </a:lnTo>
                <a:lnTo>
                  <a:pt x="268220" y="80466"/>
                </a:lnTo>
                <a:lnTo>
                  <a:pt x="268220" y="67055"/>
                </a:lnTo>
                <a:lnTo>
                  <a:pt x="268220" y="53644"/>
                </a:lnTo>
                <a:lnTo>
                  <a:pt x="268220" y="40233"/>
                </a:lnTo>
                <a:lnTo>
                  <a:pt x="268220" y="26822"/>
                </a:lnTo>
                <a:lnTo>
                  <a:pt x="268220" y="13411"/>
                </a:lnTo>
                <a:lnTo>
                  <a:pt x="268220" y="0"/>
                </a:lnTo>
                <a:lnTo>
                  <a:pt x="254809" y="0"/>
                </a:lnTo>
                <a:lnTo>
                  <a:pt x="241398" y="0"/>
                </a:lnTo>
                <a:lnTo>
                  <a:pt x="227987" y="0"/>
                </a:lnTo>
                <a:lnTo>
                  <a:pt x="214576" y="0"/>
                </a:lnTo>
                <a:lnTo>
                  <a:pt x="201165" y="0"/>
                </a:lnTo>
                <a:lnTo>
                  <a:pt x="187754" y="0"/>
                </a:lnTo>
                <a:lnTo>
                  <a:pt x="174343" y="0"/>
                </a:lnTo>
                <a:lnTo>
                  <a:pt x="160932" y="0"/>
                </a:lnTo>
                <a:lnTo>
                  <a:pt x="147521" y="0"/>
                </a:lnTo>
                <a:lnTo>
                  <a:pt x="134110" y="0"/>
                </a:lnTo>
                <a:lnTo>
                  <a:pt x="120699" y="0"/>
                </a:lnTo>
                <a:lnTo>
                  <a:pt x="107288" y="0"/>
                </a:lnTo>
                <a:lnTo>
                  <a:pt x="93877" y="0"/>
                </a:lnTo>
                <a:lnTo>
                  <a:pt x="80466" y="0"/>
                </a:lnTo>
                <a:lnTo>
                  <a:pt x="67055" y="0"/>
                </a:lnTo>
                <a:lnTo>
                  <a:pt x="53644" y="0"/>
                </a:lnTo>
                <a:lnTo>
                  <a:pt x="40233" y="0"/>
                </a:lnTo>
                <a:lnTo>
                  <a:pt x="26822" y="0"/>
                </a:lnTo>
                <a:lnTo>
                  <a:pt x="13411" y="0"/>
                </a:lnTo>
                <a:lnTo>
                  <a:pt x="0" y="0"/>
                </a:lnTo>
              </a:path>
            </a:pathLst>
          </a:custGeom>
          <a:ln w="44703">
            <a:solidFill>
              <a:srgbClr val="2E7FB8"/>
            </a:solidFill>
            <a:prstDash val="solid"/>
          </a:ln>
        </p:spPr>
      </p:sp>
      <p:sp>
        <p:nvSpPr>
          <p:cNvPr id="16" name="Shape 13"/>
          <p:cNvSpPr/>
          <p:nvPr/>
        </p:nvSpPr>
        <p:spPr>
          <a:xfrm>
            <a:off x="5235671" y="2993517"/>
            <a:ext cx="268220" cy="268220"/>
          </a:xfrm>
          <a:custGeom>
            <a:avLst/>
            <a:gdLst/>
            <a:ahLst/>
            <a:cxnLst/>
            <a:rect l="l" t="t" r="r" b="b"/>
            <a:pathLst>
              <a:path w="268220" h="268220">
                <a:moveTo>
                  <a:pt x="0" y="0"/>
                </a:moveTo>
                <a:lnTo>
                  <a:pt x="0" y="13411"/>
                </a:lnTo>
                <a:lnTo>
                  <a:pt x="0" y="26822"/>
                </a:lnTo>
                <a:lnTo>
                  <a:pt x="0" y="40233"/>
                </a:lnTo>
                <a:lnTo>
                  <a:pt x="0" y="53644"/>
                </a:lnTo>
                <a:lnTo>
                  <a:pt x="0" y="67055"/>
                </a:lnTo>
                <a:lnTo>
                  <a:pt x="0" y="80466"/>
                </a:lnTo>
                <a:lnTo>
                  <a:pt x="0" y="93877"/>
                </a:lnTo>
                <a:lnTo>
                  <a:pt x="0" y="107288"/>
                </a:lnTo>
                <a:lnTo>
                  <a:pt x="0" y="120699"/>
                </a:lnTo>
                <a:lnTo>
                  <a:pt x="0" y="134110"/>
                </a:lnTo>
                <a:lnTo>
                  <a:pt x="0" y="147521"/>
                </a:lnTo>
                <a:lnTo>
                  <a:pt x="0" y="160932"/>
                </a:lnTo>
                <a:lnTo>
                  <a:pt x="0" y="174343"/>
                </a:lnTo>
                <a:lnTo>
                  <a:pt x="0" y="187754"/>
                </a:lnTo>
                <a:lnTo>
                  <a:pt x="0" y="201165"/>
                </a:lnTo>
                <a:lnTo>
                  <a:pt x="0" y="214576"/>
                </a:lnTo>
                <a:lnTo>
                  <a:pt x="0" y="227987"/>
                </a:lnTo>
                <a:lnTo>
                  <a:pt x="0" y="241398"/>
                </a:lnTo>
                <a:lnTo>
                  <a:pt x="0" y="254809"/>
                </a:lnTo>
                <a:lnTo>
                  <a:pt x="0" y="268220"/>
                </a:lnTo>
                <a:lnTo>
                  <a:pt x="13411" y="268220"/>
                </a:lnTo>
                <a:lnTo>
                  <a:pt x="26822" y="268220"/>
                </a:lnTo>
                <a:lnTo>
                  <a:pt x="40233" y="268220"/>
                </a:lnTo>
                <a:lnTo>
                  <a:pt x="53644" y="268220"/>
                </a:lnTo>
                <a:lnTo>
                  <a:pt x="67055" y="268220"/>
                </a:lnTo>
                <a:lnTo>
                  <a:pt x="80466" y="268220"/>
                </a:lnTo>
                <a:lnTo>
                  <a:pt x="93877" y="268220"/>
                </a:lnTo>
                <a:lnTo>
                  <a:pt x="107288" y="268220"/>
                </a:lnTo>
                <a:lnTo>
                  <a:pt x="120699" y="268220"/>
                </a:lnTo>
                <a:lnTo>
                  <a:pt x="134110" y="268220"/>
                </a:lnTo>
                <a:lnTo>
                  <a:pt x="147521" y="268220"/>
                </a:lnTo>
                <a:lnTo>
                  <a:pt x="160932" y="268220"/>
                </a:lnTo>
                <a:lnTo>
                  <a:pt x="174343" y="268220"/>
                </a:lnTo>
                <a:lnTo>
                  <a:pt x="187754" y="268220"/>
                </a:lnTo>
                <a:lnTo>
                  <a:pt x="201165" y="268220"/>
                </a:lnTo>
                <a:lnTo>
                  <a:pt x="214576" y="268220"/>
                </a:lnTo>
                <a:lnTo>
                  <a:pt x="227987" y="268220"/>
                </a:lnTo>
                <a:lnTo>
                  <a:pt x="241398" y="268220"/>
                </a:lnTo>
                <a:lnTo>
                  <a:pt x="254809" y="268220"/>
                </a:lnTo>
                <a:lnTo>
                  <a:pt x="268220" y="268220"/>
                </a:lnTo>
              </a:path>
            </a:pathLst>
          </a:custGeom>
          <a:ln w="44703">
            <a:solidFill>
              <a:srgbClr val="2E7FB8"/>
            </a:solidFill>
            <a:prstDash val="solid"/>
          </a:ln>
        </p:spPr>
      </p:sp>
      <p:sp>
        <p:nvSpPr>
          <p:cNvPr id="17" name="Shape 14"/>
          <p:cNvSpPr/>
          <p:nvPr/>
        </p:nvSpPr>
        <p:spPr>
          <a:xfrm>
            <a:off x="7846349" y="2993517"/>
            <a:ext cx="268220" cy="268220"/>
          </a:xfrm>
          <a:custGeom>
            <a:avLst/>
            <a:gdLst/>
            <a:ahLst/>
            <a:cxnLst/>
            <a:rect l="l" t="t" r="r" b="b"/>
            <a:pathLst>
              <a:path w="268220" h="268220">
                <a:moveTo>
                  <a:pt x="268220" y="0"/>
                </a:moveTo>
                <a:lnTo>
                  <a:pt x="268220" y="13411"/>
                </a:lnTo>
                <a:lnTo>
                  <a:pt x="268220" y="26822"/>
                </a:lnTo>
                <a:lnTo>
                  <a:pt x="268220" y="40233"/>
                </a:lnTo>
                <a:lnTo>
                  <a:pt x="268220" y="53644"/>
                </a:lnTo>
                <a:lnTo>
                  <a:pt x="268220" y="67055"/>
                </a:lnTo>
                <a:lnTo>
                  <a:pt x="268220" y="80466"/>
                </a:lnTo>
                <a:lnTo>
                  <a:pt x="268220" y="93877"/>
                </a:lnTo>
                <a:lnTo>
                  <a:pt x="268220" y="107288"/>
                </a:lnTo>
                <a:lnTo>
                  <a:pt x="268220" y="120699"/>
                </a:lnTo>
                <a:lnTo>
                  <a:pt x="268220" y="134110"/>
                </a:lnTo>
                <a:lnTo>
                  <a:pt x="268220" y="147521"/>
                </a:lnTo>
                <a:lnTo>
                  <a:pt x="268220" y="160932"/>
                </a:lnTo>
                <a:lnTo>
                  <a:pt x="268220" y="174343"/>
                </a:lnTo>
                <a:lnTo>
                  <a:pt x="268220" y="187754"/>
                </a:lnTo>
                <a:lnTo>
                  <a:pt x="268220" y="201165"/>
                </a:lnTo>
                <a:lnTo>
                  <a:pt x="268220" y="214576"/>
                </a:lnTo>
                <a:lnTo>
                  <a:pt x="268220" y="227987"/>
                </a:lnTo>
                <a:lnTo>
                  <a:pt x="268220" y="241398"/>
                </a:lnTo>
                <a:lnTo>
                  <a:pt x="268220" y="254809"/>
                </a:lnTo>
                <a:lnTo>
                  <a:pt x="268220" y="268220"/>
                </a:lnTo>
                <a:lnTo>
                  <a:pt x="254809" y="268220"/>
                </a:lnTo>
                <a:lnTo>
                  <a:pt x="241398" y="268220"/>
                </a:lnTo>
                <a:lnTo>
                  <a:pt x="227987" y="268220"/>
                </a:lnTo>
                <a:lnTo>
                  <a:pt x="214576" y="268220"/>
                </a:lnTo>
                <a:lnTo>
                  <a:pt x="201165" y="268220"/>
                </a:lnTo>
                <a:lnTo>
                  <a:pt x="187754" y="268220"/>
                </a:lnTo>
                <a:lnTo>
                  <a:pt x="174343" y="268220"/>
                </a:lnTo>
                <a:lnTo>
                  <a:pt x="160932" y="268220"/>
                </a:lnTo>
                <a:lnTo>
                  <a:pt x="147521" y="268220"/>
                </a:lnTo>
                <a:lnTo>
                  <a:pt x="134110" y="268220"/>
                </a:lnTo>
                <a:lnTo>
                  <a:pt x="120699" y="268220"/>
                </a:lnTo>
                <a:lnTo>
                  <a:pt x="107288" y="268220"/>
                </a:lnTo>
                <a:lnTo>
                  <a:pt x="93877" y="268220"/>
                </a:lnTo>
                <a:lnTo>
                  <a:pt x="80466" y="268220"/>
                </a:lnTo>
                <a:lnTo>
                  <a:pt x="67055" y="268220"/>
                </a:lnTo>
                <a:lnTo>
                  <a:pt x="53644" y="268220"/>
                </a:lnTo>
                <a:lnTo>
                  <a:pt x="40233" y="268220"/>
                </a:lnTo>
                <a:lnTo>
                  <a:pt x="26822" y="268220"/>
                </a:lnTo>
                <a:lnTo>
                  <a:pt x="13411" y="268220"/>
                </a:lnTo>
                <a:lnTo>
                  <a:pt x="0" y="268220"/>
                </a:lnTo>
              </a:path>
            </a:pathLst>
          </a:custGeom>
          <a:ln w="44703">
            <a:solidFill>
              <a:srgbClr val="2E7FB8"/>
            </a:solidFill>
            <a:prstDash val="solid"/>
          </a:ln>
        </p:spPr>
      </p:sp>
      <p:sp>
        <p:nvSpPr>
          <p:cNvPr id="18" name="Shape 15"/>
          <p:cNvSpPr/>
          <p:nvPr/>
        </p:nvSpPr>
        <p:spPr>
          <a:xfrm>
            <a:off x="6898637" y="1402076"/>
            <a:ext cx="1233814" cy="286102"/>
          </a:xfrm>
          <a:prstGeom prst="roundRect">
            <a:avLst>
              <a:gd name="adj" fmla="val 50000"/>
            </a:avLst>
          </a:prstGeom>
          <a:solidFill>
            <a:srgbClr val="8DB828"/>
          </a:solidFill>
          <a:ln/>
        </p:spPr>
      </p:sp>
      <p:sp>
        <p:nvSpPr>
          <p:cNvPr id="19" name="Text 16"/>
          <p:cNvSpPr txBox="1"/>
          <p:nvPr/>
        </p:nvSpPr>
        <p:spPr>
          <a:xfrm>
            <a:off x="7142637" y="1480105"/>
            <a:ext cx="747596" cy="137160"/>
          </a:xfrm>
          <a:prstGeom prst="rect">
            <a:avLst/>
          </a:prstGeom>
          <a:noFill/>
          <a:ln/>
        </p:spPr>
        <p:txBody>
          <a:bodyPr wrap="none" lIns="0" tIns="0" rIns="0" bIns="0" rtlCol="0" anchor="ctr"/>
          <a:lstStyle/>
          <a:p>
            <a:pPr algn="ctr" indent="0" marL="0">
              <a:lnSpc>
                <a:spcPts val="1080"/>
              </a:lnSpc>
              <a:buNone/>
            </a:pPr>
            <a:r>
              <a:rPr lang="en-US" sz="840" b="1" dirty="0">
                <a:solidFill>
                  <a:srgbClr val="FFFFFF"/>
                </a:solidFill>
                <a:latin typeface="Arial" pitchFamily="34" charset="0"/>
                <a:ea typeface="Arial" pitchFamily="34" charset="-122"/>
                <a:cs typeface="Arial" pitchFamily="34" charset="-120"/>
              </a:rPr>
              <a:t>Read in 1 sec</a:t>
            </a:r>
            <a:endParaRPr lang="en-US" sz="840" dirty="0"/>
          </a:p>
        </p:txBody>
      </p:sp>
      <p:sp>
        <p:nvSpPr>
          <p:cNvPr id="20" name="Shape 17"/>
          <p:cNvSpPr/>
          <p:nvPr/>
        </p:nvSpPr>
        <p:spPr>
          <a:xfrm>
            <a:off x="4895925" y="3816059"/>
            <a:ext cx="1072881" cy="303983"/>
          </a:xfrm>
          <a:prstGeom prst="roundRect">
            <a:avLst>
              <a:gd name="adj" fmla="val 50000"/>
            </a:avLst>
          </a:prstGeom>
          <a:solidFill>
            <a:srgbClr val="FFFFFF"/>
          </a:solidFill>
          <a:ln w="8941">
            <a:solidFill>
              <a:srgbClr val="2E7FB8">
                <a:alpha val="35000"/>
              </a:srgbClr>
            </a:solidFill>
            <a:prstDash val="solid"/>
          </a:ln>
        </p:spPr>
      </p:sp>
      <p:sp>
        <p:nvSpPr>
          <p:cNvPr id="21" name="Text 18"/>
          <p:cNvSpPr txBox="1"/>
          <p:nvPr/>
        </p:nvSpPr>
        <p:spPr>
          <a:xfrm>
            <a:off x="5159032" y="3903028"/>
            <a:ext cx="546668" cy="137160"/>
          </a:xfrm>
          <a:prstGeom prst="rect">
            <a:avLst/>
          </a:prstGeom>
          <a:noFill/>
          <a:ln/>
        </p:spPr>
        <p:txBody>
          <a:bodyPr wrap="none" lIns="0" tIns="0" rIns="0" bIns="0" rtlCol="0" anchor="ctr"/>
          <a:lstStyle/>
          <a:p>
            <a:pPr algn="ctr" indent="0" marL="0">
              <a:lnSpc>
                <a:spcPts val="1080"/>
              </a:lnSpc>
              <a:buNone/>
            </a:pPr>
            <a:r>
              <a:rPr lang="en-US" sz="840" dirty="0">
                <a:solidFill>
                  <a:srgbClr val="0B3A5C"/>
                </a:solidFill>
                <a:latin typeface="Arial" pitchFamily="34" charset="0"/>
                <a:ea typeface="Arial" pitchFamily="34" charset="-122"/>
                <a:cs typeface="Arial" pitchFamily="34" charset="-120"/>
              </a:rPr>
              <a:t>OCR read</a:t>
            </a:r>
            <a:endParaRPr lang="en-US" sz="840" dirty="0"/>
          </a:p>
        </p:txBody>
      </p:sp>
      <p:sp>
        <p:nvSpPr>
          <p:cNvPr id="22" name="Shape 19"/>
          <p:cNvSpPr/>
          <p:nvPr/>
        </p:nvSpPr>
        <p:spPr>
          <a:xfrm>
            <a:off x="6138679" y="3816059"/>
            <a:ext cx="1072881" cy="303983"/>
          </a:xfrm>
          <a:prstGeom prst="roundRect">
            <a:avLst>
              <a:gd name="adj" fmla="val 50000"/>
            </a:avLst>
          </a:prstGeom>
          <a:solidFill>
            <a:srgbClr val="FFFFFF"/>
          </a:solidFill>
          <a:ln w="8941">
            <a:solidFill>
              <a:srgbClr val="2E7FB8">
                <a:alpha val="35000"/>
              </a:srgbClr>
            </a:solidFill>
            <a:prstDash val="solid"/>
          </a:ln>
        </p:spPr>
      </p:sp>
      <p:sp>
        <p:nvSpPr>
          <p:cNvPr id="23" name="Text 20"/>
          <p:cNvSpPr txBox="1"/>
          <p:nvPr/>
        </p:nvSpPr>
        <p:spPr>
          <a:xfrm>
            <a:off x="6343714" y="3903028"/>
            <a:ext cx="662811" cy="137160"/>
          </a:xfrm>
          <a:prstGeom prst="rect">
            <a:avLst/>
          </a:prstGeom>
          <a:noFill/>
          <a:ln/>
        </p:spPr>
        <p:txBody>
          <a:bodyPr wrap="none" lIns="0" tIns="0" rIns="0" bIns="0" rtlCol="0" anchor="ctr"/>
          <a:lstStyle/>
          <a:p>
            <a:pPr algn="ctr" indent="0" marL="0">
              <a:lnSpc>
                <a:spcPts val="1080"/>
              </a:lnSpc>
              <a:buNone/>
            </a:pPr>
            <a:r>
              <a:rPr lang="en-US" sz="840" dirty="0">
                <a:solidFill>
                  <a:srgbClr val="0B3A5C"/>
                </a:solidFill>
                <a:latin typeface="Arial" pitchFamily="34" charset="0"/>
                <a:ea typeface="Arial" pitchFamily="34" charset="-122"/>
                <a:cs typeface="Arial" pitchFamily="34" charset="-120"/>
              </a:rPr>
              <a:t>Auto record</a:t>
            </a:r>
            <a:endParaRPr lang="en-US" sz="840" dirty="0"/>
          </a:p>
        </p:txBody>
      </p:sp>
      <p:sp>
        <p:nvSpPr>
          <p:cNvPr id="24" name="Shape 21"/>
          <p:cNvSpPr/>
          <p:nvPr/>
        </p:nvSpPr>
        <p:spPr>
          <a:xfrm>
            <a:off x="7381434" y="3816059"/>
            <a:ext cx="1072881" cy="303983"/>
          </a:xfrm>
          <a:prstGeom prst="roundRect">
            <a:avLst>
              <a:gd name="adj" fmla="val 50000"/>
            </a:avLst>
          </a:prstGeom>
          <a:solidFill>
            <a:srgbClr val="FFFFFF"/>
          </a:solidFill>
          <a:ln w="8941">
            <a:solidFill>
              <a:srgbClr val="2E7FB8">
                <a:alpha val="35000"/>
              </a:srgbClr>
            </a:solidFill>
            <a:prstDash val="solid"/>
          </a:ln>
        </p:spPr>
      </p:sp>
      <p:sp>
        <p:nvSpPr>
          <p:cNvPr id="25" name="Text 22"/>
          <p:cNvSpPr txBox="1"/>
          <p:nvPr/>
        </p:nvSpPr>
        <p:spPr>
          <a:xfrm>
            <a:off x="7432763" y="3903028"/>
            <a:ext cx="970221" cy="137160"/>
          </a:xfrm>
          <a:prstGeom prst="rect">
            <a:avLst/>
          </a:prstGeom>
          <a:noFill/>
          <a:ln/>
        </p:spPr>
        <p:txBody>
          <a:bodyPr wrap="none" lIns="0" tIns="0" rIns="0" bIns="0" rtlCol="0" anchor="ctr"/>
          <a:lstStyle/>
          <a:p>
            <a:pPr algn="ctr" indent="0" marL="0">
              <a:lnSpc>
                <a:spcPts val="1080"/>
              </a:lnSpc>
              <a:buNone/>
            </a:pPr>
            <a:r>
              <a:rPr lang="en-US" sz="840" dirty="0">
                <a:solidFill>
                  <a:srgbClr val="0B3A5C"/>
                </a:solidFill>
                <a:latin typeface="Arial" pitchFamily="34" charset="0"/>
                <a:ea typeface="Arial" pitchFamily="34" charset="-122"/>
                <a:cs typeface="Arial" pitchFamily="34" charset="-120"/>
              </a:rPr>
              <a:t>Poka-yoke check</a:t>
            </a:r>
            <a:endParaRPr lang="en-US" sz="840" dirty="0"/>
          </a:p>
        </p:txBody>
      </p:sp>
      <p:sp>
        <p:nvSpPr>
          <p:cNvPr id="26" name="Shape 23"/>
          <p:cNvSpPr/>
          <p:nvPr/>
        </p:nvSpPr>
        <p:spPr>
          <a:xfrm>
            <a:off x="6004569" y="3968051"/>
            <a:ext cx="98347" cy="4572"/>
          </a:xfrm>
          <a:custGeom>
            <a:avLst/>
            <a:gdLst/>
            <a:ahLst/>
            <a:cxnLst/>
            <a:rect l="l" t="t" r="r" b="b"/>
            <a:pathLst>
              <a:path w="98347" h="4572">
                <a:moveTo>
                  <a:pt x="0" y="0"/>
                </a:moveTo>
                <a:lnTo>
                  <a:pt x="12293" y="0"/>
                </a:lnTo>
                <a:lnTo>
                  <a:pt x="24587" y="0"/>
                </a:lnTo>
                <a:lnTo>
                  <a:pt x="36880" y="0"/>
                </a:lnTo>
                <a:lnTo>
                  <a:pt x="49174" y="0"/>
                </a:lnTo>
                <a:lnTo>
                  <a:pt x="61467" y="0"/>
                </a:lnTo>
                <a:lnTo>
                  <a:pt x="73761" y="0"/>
                </a:lnTo>
                <a:lnTo>
                  <a:pt x="86054" y="0"/>
                </a:lnTo>
                <a:lnTo>
                  <a:pt x="98347" y="0"/>
                </a:lnTo>
              </a:path>
            </a:pathLst>
          </a:custGeom>
          <a:ln w="17881">
            <a:solidFill>
              <a:srgbClr val="2E7FB8"/>
            </a:solidFill>
            <a:prstDash val="solid"/>
          </a:ln>
        </p:spPr>
      </p:sp>
      <p:sp>
        <p:nvSpPr>
          <p:cNvPr id="27" name="Shape 24"/>
          <p:cNvSpPr/>
          <p:nvPr/>
        </p:nvSpPr>
        <p:spPr>
          <a:xfrm>
            <a:off x="7247323" y="3968051"/>
            <a:ext cx="98347" cy="4572"/>
          </a:xfrm>
          <a:custGeom>
            <a:avLst/>
            <a:gdLst/>
            <a:ahLst/>
            <a:cxnLst/>
            <a:rect l="l" t="t" r="r" b="b"/>
            <a:pathLst>
              <a:path w="98347" h="4572">
                <a:moveTo>
                  <a:pt x="0" y="0"/>
                </a:moveTo>
                <a:lnTo>
                  <a:pt x="12293" y="0"/>
                </a:lnTo>
                <a:lnTo>
                  <a:pt x="24587" y="0"/>
                </a:lnTo>
                <a:lnTo>
                  <a:pt x="36880" y="0"/>
                </a:lnTo>
                <a:lnTo>
                  <a:pt x="49174" y="0"/>
                </a:lnTo>
                <a:lnTo>
                  <a:pt x="61467" y="0"/>
                </a:lnTo>
                <a:lnTo>
                  <a:pt x="73761" y="0"/>
                </a:lnTo>
                <a:lnTo>
                  <a:pt x="86054" y="0"/>
                </a:lnTo>
                <a:lnTo>
                  <a:pt x="98347" y="0"/>
                </a:lnTo>
              </a:path>
            </a:pathLst>
          </a:custGeom>
          <a:ln w="17881">
            <a:solidFill>
              <a:srgbClr val="2E7FB8"/>
            </a:solidFill>
            <a:prstDash val="solid"/>
          </a:ln>
        </p:spPr>
      </p:sp>
      <p:sp>
        <p:nvSpPr>
          <p:cNvPr id="28" name="Text 25"/>
          <p:cNvSpPr txBox="1"/>
          <p:nvPr/>
        </p:nvSpPr>
        <p:spPr>
          <a:xfrm>
            <a:off x="5655735" y="4296416"/>
            <a:ext cx="2038769" cy="137160"/>
          </a:xfrm>
          <a:prstGeom prst="rect">
            <a:avLst/>
          </a:prstGeom>
          <a:noFill/>
          <a:ln/>
        </p:spPr>
        <p:txBody>
          <a:bodyPr wrap="none" lIns="0" tIns="0" rIns="0" bIns="0" rtlCol="0" anchor="ctr"/>
          <a:lstStyle/>
          <a:p>
            <a:pPr algn="ctr" indent="0" marL="0">
              <a:lnSpc>
                <a:spcPts val="1080"/>
              </a:lnSpc>
              <a:buNone/>
            </a:pPr>
            <a:r>
              <a:rPr lang="en-US" sz="840" dirty="0">
                <a:solidFill>
                  <a:srgbClr val="5A6E7E"/>
                </a:solidFill>
                <a:latin typeface="Arial" pitchFamily="34" charset="0"/>
                <a:ea typeface="Arial" pitchFamily="34" charset="-122"/>
                <a:cs typeface="Arial" pitchFamily="34" charset="-120"/>
              </a:rPr>
              <a:t>Manual entry took 8–10 sec per serial</a:t>
            </a:r>
            <a:endParaRPr lang="en-US" sz="840" dirty="0"/>
          </a:p>
        </p:txBody>
      </p:sp>
    </p:spTree>
  </p:cSld>
  <p:clrMapOvr>
    <a:masterClrMapping/>
  </p:clrMapOvr>
  <p:transition spd="med">
    <p:push dir="r"/>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2693822"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OPERATION EXCELLENCE / HANDHELD OCR</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4530321" cy="707842"/>
          </a:xfrm>
          <a:prstGeom prst="rect">
            <a:avLst/>
          </a:prstGeom>
          <a:noFill/>
          <a:ln/>
        </p:spPr>
        <p:txBody>
          <a:bodyPr wrap="squar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Handheld OCR replaces</a:t>
            </a:r>
            <a:pPr algn="l" indent="0" marL="0">
              <a:lnSpc>
                <a:spcPts val="2420"/>
              </a:lnSpc>
              <a:buNone/>
            </a:pPr>
            <a:r>
              <a:rPr lang="en-US" sz="2380" b="1" spc="-119" kern="0" dirty="0">
                <a:solidFill>
                  <a:srgbClr val="5E975B"/>
                </a:solidFill>
                <a:latin typeface="Arial" pitchFamily="34" charset="0"/>
                <a:ea typeface="Arial" pitchFamily="34" charset="-122"/>
                <a:cs typeface="Arial" pitchFamily="34" charset="-120"/>
              </a:rPr>
              <a:t> m</a:t>
            </a:r>
            <a:pPr algn="l" indent="0" marL="0">
              <a:lnSpc>
                <a:spcPts val="2420"/>
              </a:lnSpc>
              <a:buNone/>
            </a:pPr>
            <a:r>
              <a:rPr lang="en-US" sz="2380" b="1" spc="-119" kern="0" dirty="0">
                <a:solidFill>
                  <a:srgbClr val="669B4B"/>
                </a:solidFill>
                <a:latin typeface="Arial" pitchFamily="34" charset="0"/>
                <a:ea typeface="Arial" pitchFamily="34" charset="-122"/>
                <a:cs typeface="Arial" pitchFamily="34" charset="-120"/>
              </a:rPr>
              <a:t>a</a:t>
            </a:r>
            <a:pPr algn="l" indent="0" marL="0">
              <a:lnSpc>
                <a:spcPts val="2420"/>
              </a:lnSpc>
              <a:buNone/>
            </a:pPr>
            <a:r>
              <a:rPr lang="en-US" sz="2380" b="1" spc="-119" kern="0" dirty="0">
                <a:solidFill>
                  <a:srgbClr val="6C9E3F"/>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73A232"/>
                </a:solidFill>
                <a:latin typeface="Arial" pitchFamily="34" charset="0"/>
                <a:ea typeface="Arial" pitchFamily="34" charset="-122"/>
                <a:cs typeface="Arial" pitchFamily="34" charset="-120"/>
              </a:rPr>
              <a:t>u</a:t>
            </a:r>
            <a:pPr algn="l" indent="0" marL="0">
              <a:lnSpc>
                <a:spcPts val="2420"/>
              </a:lnSpc>
              <a:buNone/>
            </a:pPr>
            <a:r>
              <a:rPr lang="en-US" sz="2380" b="1" spc="-119" kern="0" dirty="0">
                <a:solidFill>
                  <a:srgbClr val="79A526"/>
                </a:solidFill>
                <a:latin typeface="Arial" pitchFamily="34" charset="0"/>
                <a:ea typeface="Arial" pitchFamily="34" charset="-122"/>
                <a:cs typeface="Arial" pitchFamily="34" charset="-120"/>
              </a:rPr>
              <a:t>a</a:t>
            </a:r>
            <a:pPr algn="l" indent="0" marL="0">
              <a:lnSpc>
                <a:spcPts val="2420"/>
              </a:lnSpc>
              <a:buNone/>
            </a:pPr>
            <a:r>
              <a:rPr lang="en-US" sz="2380" b="1" spc="-119" kern="0" dirty="0">
                <a:solidFill>
                  <a:srgbClr val="7EA71D"/>
                </a:solidFill>
                <a:latin typeface="Arial" pitchFamily="34" charset="0"/>
                <a:ea typeface="Arial" pitchFamily="34" charset="-122"/>
                <a:cs typeface="Arial" pitchFamily="34" charset="-120"/>
              </a:rPr>
              <a:t>l</a:t>
            </a:r>
            <a:endParaRPr lang="en-US" sz="2380" dirty="0"/>
          </a:p>
          <a:p>
            <a:pPr algn="l" indent="0" marL="0">
              <a:lnSpc>
                <a:spcPts val="2420"/>
              </a:lnSpc>
              <a:buNone/>
            </a:pPr>
            <a:r>
              <a:rPr lang="en-US" sz="2380" b="1" spc="-119" kern="0" dirty="0">
                <a:solidFill>
                  <a:srgbClr val="0C3D60"/>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0F4267"/>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12476D"/>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134A71"/>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154E77"/>
                </a:solidFill>
                <a:latin typeface="Arial" pitchFamily="34" charset="0"/>
                <a:ea typeface="Arial" pitchFamily="34" charset="-122"/>
                <a:cs typeface="Arial" pitchFamily="34" charset="-120"/>
              </a:rPr>
              <a:t>a</a:t>
            </a:r>
            <a:pPr algn="l" indent="0" marL="0">
              <a:lnSpc>
                <a:spcPts val="2420"/>
              </a:lnSpc>
              <a:buNone/>
            </a:pPr>
            <a:r>
              <a:rPr lang="en-US" sz="2380" b="1" spc="-119" kern="0" dirty="0">
                <a:solidFill>
                  <a:srgbClr val="17527C"/>
                </a:solidFill>
                <a:latin typeface="Arial" pitchFamily="34" charset="0"/>
                <a:ea typeface="Arial" pitchFamily="34" charset="-122"/>
                <a:cs typeface="Arial" pitchFamily="34" charset="-120"/>
              </a:rPr>
              <a:t>l</a:t>
            </a:r>
            <a:pPr algn="l" indent="0" marL="0">
              <a:lnSpc>
                <a:spcPts val="2420"/>
              </a:lnSpc>
              <a:buNone/>
            </a:pPr>
            <a:r>
              <a:rPr lang="en-US" sz="2380" b="1" spc="-119" kern="0" dirty="0">
                <a:solidFill>
                  <a:srgbClr val="195681"/>
                </a:solidFill>
                <a:latin typeface="Arial" pitchFamily="34" charset="0"/>
                <a:ea typeface="Arial" pitchFamily="34" charset="-122"/>
                <a:cs typeface="Arial" pitchFamily="34" charset="-120"/>
              </a:rPr>
              <a:t>-</a:t>
            </a:r>
            <a:pPr algn="l" indent="0" marL="0">
              <a:lnSpc>
                <a:spcPts val="2420"/>
              </a:lnSpc>
              <a:buNone/>
            </a:pPr>
            <a:r>
              <a:rPr lang="en-US" sz="2380" b="1" spc="-119" kern="0" dirty="0">
                <a:solidFill>
                  <a:srgbClr val="1C5B87"/>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1F608F"/>
                </a:solidFill>
                <a:latin typeface="Arial" pitchFamily="34" charset="0"/>
                <a:ea typeface="Arial" pitchFamily="34" charset="-122"/>
                <a:cs typeface="Arial" pitchFamily="34" charset="-120"/>
              </a:rPr>
              <a:t>u</a:t>
            </a:r>
            <a:pPr algn="l" indent="0" marL="0">
              <a:lnSpc>
                <a:spcPts val="2420"/>
              </a:lnSpc>
              <a:buNone/>
            </a:pPr>
            <a:r>
              <a:rPr lang="en-US" sz="2380" b="1" spc="-119" kern="0" dirty="0">
                <a:solidFill>
                  <a:srgbClr val="226899"/>
                </a:solidFill>
                <a:latin typeface="Arial" pitchFamily="34" charset="0"/>
                <a:ea typeface="Arial" pitchFamily="34" charset="-122"/>
                <a:cs typeface="Arial" pitchFamily="34" charset="-120"/>
              </a:rPr>
              <a:t>m</a:t>
            </a:r>
            <a:pPr algn="l" indent="0" marL="0">
              <a:lnSpc>
                <a:spcPts val="2420"/>
              </a:lnSpc>
              <a:buNone/>
            </a:pPr>
            <a:r>
              <a:rPr lang="en-US" sz="2380" b="1" spc="-119" kern="0" dirty="0">
                <a:solidFill>
                  <a:srgbClr val="2670A4"/>
                </a:solidFill>
                <a:latin typeface="Arial" pitchFamily="34" charset="0"/>
                <a:ea typeface="Arial" pitchFamily="34" charset="-122"/>
                <a:cs typeface="Arial" pitchFamily="34" charset="-120"/>
              </a:rPr>
              <a:t>b</a:t>
            </a:r>
            <a:pPr algn="l" indent="0" marL="0">
              <a:lnSpc>
                <a:spcPts val="2420"/>
              </a:lnSpc>
              <a:buNone/>
            </a:pPr>
            <a:r>
              <a:rPr lang="en-US" sz="2380" b="1" spc="-119" kern="0" dirty="0">
                <a:solidFill>
                  <a:srgbClr val="2976AC"/>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2C7BB2"/>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2F80B5"/>
                </a:solidFill>
                <a:latin typeface="Arial" pitchFamily="34" charset="0"/>
                <a:ea typeface="Arial" pitchFamily="34" charset="-122"/>
                <a:cs typeface="Arial" pitchFamily="34" charset="-120"/>
              </a:rPr>
              <a:t> r</a:t>
            </a:r>
            <a:pPr algn="l" indent="0" marL="0">
              <a:lnSpc>
                <a:spcPts val="2420"/>
              </a:lnSpc>
              <a:buNone/>
            </a:pPr>
            <a:r>
              <a:rPr lang="en-US" sz="2380" b="1" spc="-119" kern="0" dirty="0">
                <a:solidFill>
                  <a:srgbClr val="3482AB"/>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3B859F"/>
                </a:solidFill>
                <a:latin typeface="Arial" pitchFamily="34" charset="0"/>
                <a:ea typeface="Arial" pitchFamily="34" charset="-122"/>
                <a:cs typeface="Arial" pitchFamily="34" charset="-120"/>
              </a:rPr>
              <a:t>c</a:t>
            </a:r>
            <a:pPr algn="l" indent="0" marL="0">
              <a:lnSpc>
                <a:spcPts val="2420"/>
              </a:lnSpc>
              <a:buNone/>
            </a:pPr>
            <a:r>
              <a:rPr lang="en-US" sz="2380" b="1" spc="-119" kern="0" dirty="0">
                <a:solidFill>
                  <a:srgbClr val="418993"/>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468B89"/>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4B8E7F"/>
                </a:solidFill>
                <a:latin typeface="Arial" pitchFamily="34" charset="0"/>
                <a:ea typeface="Arial" pitchFamily="34" charset="-122"/>
                <a:cs typeface="Arial" pitchFamily="34" charset="-120"/>
              </a:rPr>
              <a:t>d</a:t>
            </a:r>
            <a:pPr algn="l" indent="0" marL="0">
              <a:lnSpc>
                <a:spcPts val="2420"/>
              </a:lnSpc>
              <a:buNone/>
            </a:pPr>
            <a:r>
              <a:rPr lang="en-US" sz="2380" b="1" spc="-119" kern="0" dirty="0">
                <a:solidFill>
                  <a:srgbClr val="509076"/>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55926D"/>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5B9660"/>
                </a:solidFill>
                <a:latin typeface="Arial" pitchFamily="34" charset="0"/>
                <a:ea typeface="Arial" pitchFamily="34" charset="-122"/>
                <a:cs typeface="Arial" pitchFamily="34" charset="-120"/>
              </a:rPr>
              <a:t>g</a:t>
            </a:r>
            <a:pPr algn="l" indent="0" marL="0">
              <a:lnSpc>
                <a:spcPts val="2420"/>
              </a:lnSpc>
              <a:buNone/>
            </a:pPr>
            <a:r>
              <a:rPr lang="en-US" sz="2380" b="1" spc="-119" kern="0" dirty="0">
                <a:solidFill>
                  <a:srgbClr val="609857"/>
                </a:solidFill>
                <a:latin typeface="Arial" pitchFamily="34" charset="0"/>
                <a:ea typeface="Arial" pitchFamily="34" charset="-122"/>
                <a:cs typeface="Arial" pitchFamily="34" charset="-120"/>
              </a:rPr>
              <a:t>.</a:t>
            </a:r>
            <a:endParaRPr lang="en-US" sz="2380" dirty="0"/>
          </a:p>
        </p:txBody>
      </p:sp>
      <p:sp>
        <p:nvSpPr>
          <p:cNvPr id="7" name="Text 4"/>
          <p:cNvSpPr txBox="1"/>
          <p:nvPr/>
        </p:nvSpPr>
        <p:spPr>
          <a:xfrm>
            <a:off x="457200" y="2060258"/>
            <a:ext cx="5522905" cy="222885"/>
          </a:xfrm>
          <a:prstGeom prst="rect">
            <a:avLst/>
          </a:prstGeom>
          <a:noFill/>
          <a:ln/>
        </p:spPr>
        <p:txBody>
          <a:bodyPr wrap="none" lIns="0" tIns="0" rIns="0" bIns="0" rtlCol="0" anchor="t"/>
          <a:lstStyle/>
          <a:p>
            <a:pPr algn="l" indent="0" marL="0">
              <a:lnSpc>
                <a:spcPts val="1350"/>
              </a:lnSpc>
              <a:buNone/>
            </a:pPr>
            <a:r>
              <a:rPr lang="en-US" sz="900" dirty="0">
                <a:solidFill>
                  <a:srgbClr val="5A6E7E"/>
                </a:solidFill>
                <a:latin typeface="Arial" pitchFamily="34" charset="0"/>
                <a:ea typeface="Arial" pitchFamily="34" charset="-122"/>
                <a:cs typeface="Arial" pitchFamily="34" charset="-120"/>
              </a:rPr>
              <a:t>Read part serials with handheld OCR and automatically record inspection data in Google Sheets.</a:t>
            </a:r>
            <a:endParaRPr lang="en-US" sz="900" dirty="0"/>
          </a:p>
        </p:txBody>
      </p:sp>
      <p:sp>
        <p:nvSpPr>
          <p:cNvPr id="8" name="Text 5"/>
          <p:cNvSpPr txBox="1"/>
          <p:nvPr/>
        </p:nvSpPr>
        <p:spPr>
          <a:xfrm>
            <a:off x="457200" y="2670048"/>
            <a:ext cx="1370514" cy="404165"/>
          </a:xfrm>
          <a:prstGeom prst="rect">
            <a:avLst/>
          </a:prstGeom>
          <a:noFill/>
          <a:ln/>
        </p:spPr>
        <p:txBody>
          <a:bodyPr wrap="none" lIns="0" tIns="0" rIns="0" bIns="0" rtlCol="0" anchor="t"/>
          <a:lstStyle/>
          <a:p>
            <a:pPr algn="l" indent="0" marL="0">
              <a:lnSpc>
                <a:spcPts val="2450"/>
              </a:lnSpc>
              <a:buNone/>
            </a:pPr>
            <a:r>
              <a:rPr lang="en-US" sz="2450" b="1" spc="-98" kern="0" dirty="0">
                <a:solidFill>
                  <a:srgbClr val="7A8C99"/>
                </a:solidFill>
                <a:latin typeface="Arial" pitchFamily="34" charset="0"/>
                <a:ea typeface="Arial" pitchFamily="34" charset="-122"/>
                <a:cs typeface="Arial" pitchFamily="34" charset="-120"/>
              </a:rPr>
              <a:t>8–10 sec</a:t>
            </a:r>
            <a:endParaRPr lang="en-US" sz="2450" dirty="0"/>
          </a:p>
        </p:txBody>
      </p:sp>
      <p:sp>
        <p:nvSpPr>
          <p:cNvPr id="9" name="Text 6"/>
          <p:cNvSpPr txBox="1"/>
          <p:nvPr/>
        </p:nvSpPr>
        <p:spPr>
          <a:xfrm>
            <a:off x="457200" y="3026664"/>
            <a:ext cx="420310"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5A6E7E"/>
                </a:solidFill>
                <a:latin typeface="Courier New" pitchFamily="34" charset="0"/>
                <a:ea typeface="Courier New" pitchFamily="34" charset="-122"/>
                <a:cs typeface="Courier New" pitchFamily="34" charset="-120"/>
              </a:rPr>
              <a:t>MANUAL</a:t>
            </a:r>
            <a:endParaRPr lang="en-US" sz="650" dirty="0"/>
          </a:p>
        </p:txBody>
      </p:sp>
      <p:pic>
        <p:nvPicPr>
          <p:cNvPr id="10" name="Image 1" descr="Icon: arrow forward">    </p:cNvPr>
          <p:cNvPicPr>
            <a:picLocks noChangeAspect="1"/>
          </p:cNvPicPr>
          <p:nvPr/>
        </p:nvPicPr>
        <p:blipFill>
          <a:blip r:embed="rId3"/>
          <a:stretch>
            <a:fillRect/>
          </a:stretch>
        </p:blipFill>
        <p:spPr>
          <a:xfrm>
            <a:off x="1887665" y="2760488"/>
            <a:ext cx="274320" cy="274320"/>
          </a:xfrm>
          <a:prstGeom prst="rect">
            <a:avLst/>
          </a:prstGeom>
        </p:spPr>
      </p:pic>
      <p:sp>
        <p:nvSpPr>
          <p:cNvPr id="11" name="Text 7"/>
          <p:cNvSpPr txBox="1"/>
          <p:nvPr/>
        </p:nvSpPr>
        <p:spPr>
          <a:xfrm>
            <a:off x="2363153" y="2670048"/>
            <a:ext cx="759466" cy="404165"/>
          </a:xfrm>
          <a:prstGeom prst="rect">
            <a:avLst/>
          </a:prstGeom>
          <a:noFill/>
          <a:ln/>
        </p:spPr>
        <p:txBody>
          <a:bodyPr wrap="none" lIns="0" tIns="0" rIns="0" bIns="0" rtlCol="0" anchor="t"/>
          <a:lstStyle/>
          <a:p>
            <a:pPr algn="l" indent="0" marL="0">
              <a:lnSpc>
                <a:spcPts val="2450"/>
              </a:lnSpc>
              <a:buNone/>
            </a:pPr>
            <a:r>
              <a:rPr lang="en-US" sz="2450" b="1" spc="-98" kern="0" dirty="0">
                <a:solidFill>
                  <a:srgbClr val="6E9312"/>
                </a:solidFill>
                <a:latin typeface="Arial" pitchFamily="34" charset="0"/>
                <a:ea typeface="Arial" pitchFamily="34" charset="-122"/>
                <a:cs typeface="Arial" pitchFamily="34" charset="-120"/>
              </a:rPr>
              <a:t>1 sec</a:t>
            </a:r>
            <a:endParaRPr lang="en-US" sz="2450" dirty="0"/>
          </a:p>
        </p:txBody>
      </p:sp>
      <p:sp>
        <p:nvSpPr>
          <p:cNvPr id="12" name="Text 8"/>
          <p:cNvSpPr txBox="1"/>
          <p:nvPr/>
        </p:nvSpPr>
        <p:spPr>
          <a:xfrm>
            <a:off x="2363153" y="3026664"/>
            <a:ext cx="1157245"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5A6E7E"/>
                </a:solidFill>
                <a:latin typeface="Courier New" pitchFamily="34" charset="0"/>
                <a:ea typeface="Courier New" pitchFamily="34" charset="-122"/>
                <a:cs typeface="Courier New" pitchFamily="34" charset="-120"/>
              </a:rPr>
              <a:t>OCR + AUTO RECORD</a:t>
            </a:r>
            <a:endParaRPr lang="en-US" sz="650" dirty="0"/>
          </a:p>
        </p:txBody>
      </p:sp>
      <p:sp>
        <p:nvSpPr>
          <p:cNvPr id="13" name="Shape 9"/>
          <p:cNvSpPr/>
          <p:nvPr/>
        </p:nvSpPr>
        <p:spPr>
          <a:xfrm>
            <a:off x="3672888" y="2596896"/>
            <a:ext cx="1206151" cy="601647"/>
          </a:xfrm>
          <a:prstGeom prst="roundRect">
            <a:avLst>
              <a:gd name="adj" fmla="val 21278"/>
            </a:avLst>
          </a:prstGeom>
          <a:solidFill>
            <a:srgbClr val="8DB828"/>
          </a:solidFill>
          <a:ln/>
          <a:effectLst>
            <a:outerShdw sx="100000" sy="100000" kx="0" ky="0" algn="bl" rotWithShape="0" blurRad="237744" dist="109728" dir="5400000">
              <a:srgbClr val="6E9312">
                <a:alpha val="33600"/>
              </a:srgbClr>
            </a:outerShdw>
          </a:effectLst>
        </p:spPr>
      </p:sp>
      <p:sp>
        <p:nvSpPr>
          <p:cNvPr id="14" name="Text 10"/>
          <p:cNvSpPr txBox="1"/>
          <p:nvPr/>
        </p:nvSpPr>
        <p:spPr>
          <a:xfrm>
            <a:off x="3819192" y="2688336"/>
            <a:ext cx="774240" cy="356616"/>
          </a:xfrm>
          <a:prstGeom prst="rect">
            <a:avLst/>
          </a:prstGeom>
          <a:noFill/>
          <a:ln/>
        </p:spPr>
        <p:txBody>
          <a:bodyPr wrap="none" lIns="0" tIns="0" rIns="0" bIns="0" rtlCol="0" anchor="t"/>
          <a:lstStyle/>
          <a:p>
            <a:pPr algn="l" indent="0" marL="0">
              <a:lnSpc>
                <a:spcPts val="2160"/>
              </a:lnSpc>
              <a:buNone/>
            </a:pPr>
            <a:r>
              <a:rPr lang="en-US" sz="2160" b="1" spc="-86" kern="0" dirty="0">
                <a:solidFill>
                  <a:srgbClr val="FFFFFF"/>
                </a:solidFill>
                <a:latin typeface="Arial" pitchFamily="34" charset="0"/>
                <a:ea typeface="Arial" pitchFamily="34" charset="-122"/>
                <a:cs typeface="Arial" pitchFamily="34" charset="-120"/>
              </a:rPr>
              <a:t>−90%</a:t>
            </a:r>
            <a:endParaRPr lang="en-US" sz="2160" dirty="0"/>
          </a:p>
        </p:txBody>
      </p:sp>
      <p:sp>
        <p:nvSpPr>
          <p:cNvPr id="15" name="Text 11"/>
          <p:cNvSpPr txBox="1"/>
          <p:nvPr/>
        </p:nvSpPr>
        <p:spPr>
          <a:xfrm>
            <a:off x="3819192" y="3008376"/>
            <a:ext cx="1023185"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FFFFFF"/>
                </a:solidFill>
                <a:latin typeface="Courier New" pitchFamily="34" charset="0"/>
                <a:ea typeface="Courier New" pitchFamily="34" charset="-122"/>
                <a:cs typeface="Courier New" pitchFamily="34" charset="-120"/>
              </a:rPr>
              <a:t>TIME PER SERIAL</a:t>
            </a:r>
            <a:endParaRPr lang="en-US" sz="650" dirty="0"/>
          </a:p>
        </p:txBody>
      </p:sp>
      <p:sp>
        <p:nvSpPr>
          <p:cNvPr id="16" name="Shape 12"/>
          <p:cNvSpPr/>
          <p:nvPr/>
        </p:nvSpPr>
        <p:spPr>
          <a:xfrm>
            <a:off x="457200" y="3328416"/>
            <a:ext cx="5120640" cy="1585913"/>
          </a:xfrm>
          <a:prstGeom prst="roundRect">
            <a:avLst>
              <a:gd name="adj" fmla="val 9225"/>
            </a:avLst>
          </a:prstGeom>
          <a:solidFill>
            <a:srgbClr val="FFFFFF">
              <a:alpha val="72000"/>
            </a:srgbClr>
          </a:solidFill>
          <a:ln w="9144">
            <a:solidFill>
              <a:srgbClr val="062A44">
                <a:alpha val="10000"/>
              </a:srgbClr>
            </a:solidFill>
            <a:prstDash val="solid"/>
          </a:ln>
          <a:effectLst>
            <a:outerShdw sx="100000" sy="100000" kx="0" ky="0" algn="bl" rotWithShape="0" blurRad="365760" dist="146304" dir="5400000">
              <a:srgbClr val="062A44">
                <a:alpha val="9600"/>
              </a:srgbClr>
            </a:outerShdw>
          </a:effectLst>
        </p:spPr>
      </p:sp>
      <p:sp>
        <p:nvSpPr>
          <p:cNvPr id="17" name="Shape 13"/>
          <p:cNvSpPr/>
          <p:nvPr/>
        </p:nvSpPr>
        <p:spPr>
          <a:xfrm>
            <a:off x="603504" y="3659886"/>
            <a:ext cx="4828032" cy="0"/>
          </a:xfrm>
          <a:prstGeom prst="line">
            <a:avLst/>
          </a:prstGeom>
          <a:noFill/>
          <a:ln w="9144">
            <a:solidFill>
              <a:srgbClr val="062A44">
                <a:alpha val="10000"/>
              </a:srgbClr>
            </a:solidFill>
            <a:prstDash val="solid"/>
          </a:ln>
        </p:spPr>
      </p:sp>
      <p:sp>
        <p:nvSpPr>
          <p:cNvPr id="18" name="Text 14"/>
          <p:cNvSpPr txBox="1"/>
          <p:nvPr/>
        </p:nvSpPr>
        <p:spPr>
          <a:xfrm>
            <a:off x="603504" y="3430715"/>
            <a:ext cx="449228" cy="214290"/>
          </a:xfrm>
          <a:prstGeom prst="rect">
            <a:avLst/>
          </a:prstGeom>
          <a:noFill/>
          <a:ln/>
        </p:spPr>
        <p:txBody>
          <a:bodyPr wrap="none" lIns="0" tIns="0" rIns="0" bIns="0" rtlCol="0" anchor="t"/>
          <a:lstStyle/>
          <a:p>
            <a:pPr algn="l" indent="0" marL="0">
              <a:lnSpc>
                <a:spcPts val="730"/>
              </a:lnSpc>
              <a:buNone/>
            </a:pPr>
            <a:r>
              <a:rPr lang="en-US" sz="610" spc="73" kern="0" dirty="0">
                <a:solidFill>
                  <a:srgbClr val="2E7FB8"/>
                </a:solidFill>
                <a:latin typeface="Courier New" pitchFamily="34" charset="0"/>
                <a:ea typeface="Courier New" pitchFamily="34" charset="-122"/>
                <a:cs typeface="Courier New" pitchFamily="34" charset="-120"/>
              </a:rPr>
              <a:t>MISSION</a:t>
            </a:r>
            <a:endParaRPr lang="en-US" sz="610" dirty="0"/>
          </a:p>
        </p:txBody>
      </p:sp>
      <p:sp>
        <p:nvSpPr>
          <p:cNvPr id="19" name="Text 15"/>
          <p:cNvSpPr txBox="1"/>
          <p:nvPr/>
        </p:nvSpPr>
        <p:spPr>
          <a:xfrm>
            <a:off x="1883664" y="3430715"/>
            <a:ext cx="449228" cy="214290"/>
          </a:xfrm>
          <a:prstGeom prst="rect">
            <a:avLst/>
          </a:prstGeom>
          <a:noFill/>
          <a:ln/>
        </p:spPr>
        <p:txBody>
          <a:bodyPr wrap="none" lIns="0" tIns="0" rIns="0" bIns="0" rtlCol="0" anchor="t"/>
          <a:lstStyle/>
          <a:p>
            <a:pPr algn="l" indent="0" marL="0">
              <a:lnSpc>
                <a:spcPts val="730"/>
              </a:lnSpc>
              <a:buNone/>
            </a:pPr>
            <a:r>
              <a:rPr lang="en-US" sz="610" spc="73" kern="0" dirty="0">
                <a:solidFill>
                  <a:srgbClr val="2E7FB8"/>
                </a:solidFill>
                <a:latin typeface="Courier New" pitchFamily="34" charset="0"/>
                <a:ea typeface="Courier New" pitchFamily="34" charset="-122"/>
                <a:cs typeface="Courier New" pitchFamily="34" charset="-120"/>
              </a:rPr>
              <a:t>MARKING</a:t>
            </a:r>
            <a:endParaRPr lang="en-US" sz="610" dirty="0"/>
          </a:p>
        </p:txBody>
      </p:sp>
      <p:sp>
        <p:nvSpPr>
          <p:cNvPr id="20" name="Text 16"/>
          <p:cNvSpPr txBox="1"/>
          <p:nvPr/>
        </p:nvSpPr>
        <p:spPr>
          <a:xfrm>
            <a:off x="3145536" y="3430715"/>
            <a:ext cx="387777" cy="214290"/>
          </a:xfrm>
          <a:prstGeom prst="rect">
            <a:avLst/>
          </a:prstGeom>
          <a:noFill/>
          <a:ln/>
        </p:spPr>
        <p:txBody>
          <a:bodyPr wrap="none" lIns="0" tIns="0" rIns="0" bIns="0" rtlCol="0" anchor="t"/>
          <a:lstStyle/>
          <a:p>
            <a:pPr algn="l" indent="0" marL="0">
              <a:lnSpc>
                <a:spcPts val="730"/>
              </a:lnSpc>
              <a:buNone/>
            </a:pPr>
            <a:r>
              <a:rPr lang="en-US" sz="610" spc="73" kern="0" dirty="0">
                <a:solidFill>
                  <a:srgbClr val="2E7FB8"/>
                </a:solidFill>
                <a:latin typeface="Courier New" pitchFamily="34" charset="0"/>
                <a:ea typeface="Courier New" pitchFamily="34" charset="-122"/>
                <a:cs typeface="Courier New" pitchFamily="34" charset="-120"/>
              </a:rPr>
              <a:t>MANUAL</a:t>
            </a:r>
            <a:endParaRPr lang="en-US" sz="610" dirty="0"/>
          </a:p>
        </p:txBody>
      </p:sp>
      <p:sp>
        <p:nvSpPr>
          <p:cNvPr id="21" name="Text 17"/>
          <p:cNvSpPr txBox="1"/>
          <p:nvPr/>
        </p:nvSpPr>
        <p:spPr>
          <a:xfrm>
            <a:off x="3831336" y="3430715"/>
            <a:ext cx="656279" cy="214290"/>
          </a:xfrm>
          <a:prstGeom prst="rect">
            <a:avLst/>
          </a:prstGeom>
          <a:noFill/>
          <a:ln/>
        </p:spPr>
        <p:txBody>
          <a:bodyPr wrap="square" lIns="0" tIns="0" rIns="0" bIns="0" rtlCol="0" anchor="t"/>
          <a:lstStyle/>
          <a:p>
            <a:pPr algn="l" indent="0" marL="0">
              <a:lnSpc>
                <a:spcPts val="730"/>
              </a:lnSpc>
              <a:buNone/>
            </a:pPr>
            <a:r>
              <a:rPr lang="en-US" sz="610" spc="73" kern="0" dirty="0">
                <a:solidFill>
                  <a:srgbClr val="2E7FB8"/>
                </a:solidFill>
                <a:latin typeface="Courier New" pitchFamily="34" charset="0"/>
                <a:ea typeface="Courier New" pitchFamily="34" charset="-122"/>
                <a:cs typeface="Courier New" pitchFamily="34" charset="-120"/>
              </a:rPr>
              <a:t>OCR + AUTO</a:t>
            </a:r>
            <a:endParaRPr lang="en-US" sz="610" dirty="0"/>
          </a:p>
          <a:p>
            <a:pPr algn="l" indent="0" marL="0">
              <a:lnSpc>
                <a:spcPts val="730"/>
              </a:lnSpc>
              <a:buNone/>
            </a:pPr>
            <a:r>
              <a:rPr lang="en-US" sz="610" spc="73" kern="0" dirty="0">
                <a:solidFill>
                  <a:srgbClr val="2E7FB8"/>
                </a:solidFill>
                <a:latin typeface="Courier New" pitchFamily="34" charset="0"/>
                <a:ea typeface="Courier New" pitchFamily="34" charset="-122"/>
                <a:cs typeface="Courier New" pitchFamily="34" charset="-120"/>
              </a:rPr>
              <a:t>RECORD</a:t>
            </a:r>
            <a:endParaRPr lang="en-US" sz="610" dirty="0"/>
          </a:p>
        </p:txBody>
      </p:sp>
      <p:sp>
        <p:nvSpPr>
          <p:cNvPr id="22" name="Text 18"/>
          <p:cNvSpPr txBox="1"/>
          <p:nvPr/>
        </p:nvSpPr>
        <p:spPr>
          <a:xfrm>
            <a:off x="4745736" y="3430715"/>
            <a:ext cx="633894" cy="214290"/>
          </a:xfrm>
          <a:prstGeom prst="rect">
            <a:avLst/>
          </a:prstGeom>
          <a:noFill/>
          <a:ln/>
        </p:spPr>
        <p:txBody>
          <a:bodyPr wrap="none" lIns="0" tIns="0" rIns="0" bIns="0" rtlCol="0" anchor="t"/>
          <a:lstStyle/>
          <a:p>
            <a:pPr algn="l" indent="0" marL="0">
              <a:lnSpc>
                <a:spcPts val="730"/>
              </a:lnSpc>
              <a:buNone/>
            </a:pPr>
            <a:r>
              <a:rPr lang="en-US" sz="610" spc="73" kern="0" dirty="0">
                <a:solidFill>
                  <a:srgbClr val="2E7FB8"/>
                </a:solidFill>
                <a:latin typeface="Courier New" pitchFamily="34" charset="0"/>
                <a:ea typeface="Courier New" pitchFamily="34" charset="-122"/>
                <a:cs typeface="Courier New" pitchFamily="34" charset="-120"/>
              </a:rPr>
              <a:t>TIME SAVED</a:t>
            </a:r>
            <a:endParaRPr lang="en-US" sz="610" dirty="0"/>
          </a:p>
        </p:txBody>
      </p:sp>
      <p:sp>
        <p:nvSpPr>
          <p:cNvPr id="23" name="Shape 19"/>
          <p:cNvSpPr/>
          <p:nvPr/>
        </p:nvSpPr>
        <p:spPr>
          <a:xfrm>
            <a:off x="603504" y="3908489"/>
            <a:ext cx="4828032" cy="0"/>
          </a:xfrm>
          <a:prstGeom prst="line">
            <a:avLst/>
          </a:prstGeom>
          <a:noFill/>
          <a:ln w="9144">
            <a:solidFill>
              <a:srgbClr val="062A44">
                <a:alpha val="10000"/>
              </a:srgbClr>
            </a:solidFill>
            <a:prstDash val="solid"/>
          </a:ln>
        </p:spPr>
      </p:sp>
      <p:sp>
        <p:nvSpPr>
          <p:cNvPr id="24" name="Text 20"/>
          <p:cNvSpPr txBox="1"/>
          <p:nvPr/>
        </p:nvSpPr>
        <p:spPr>
          <a:xfrm>
            <a:off x="603504" y="3702749"/>
            <a:ext cx="786970" cy="204547"/>
          </a:xfrm>
          <a:prstGeom prst="rect">
            <a:avLst/>
          </a:prstGeom>
          <a:noFill/>
          <a:ln/>
        </p:spPr>
        <p:txBody>
          <a:bodyPr wrap="none" lIns="0" tIns="0" rIns="0" bIns="0" rtlCol="0" anchor="t"/>
          <a:lstStyle/>
          <a:p>
            <a:pPr algn="l" indent="0" marL="0">
              <a:lnSpc>
                <a:spcPts val="1090"/>
              </a:lnSpc>
              <a:buNone/>
            </a:pPr>
            <a:r>
              <a:rPr lang="en-US" sz="710" dirty="0">
                <a:solidFill>
                  <a:srgbClr val="062A44"/>
                </a:solidFill>
                <a:latin typeface="Courier New" pitchFamily="34" charset="0"/>
                <a:ea typeface="Courier New" pitchFamily="34" charset="-122"/>
                <a:cs typeface="Courier New" pitchFamily="34" charset="-120"/>
              </a:rPr>
              <a:t>LCBTH.26.0005</a:t>
            </a:r>
            <a:endParaRPr lang="en-US" sz="710" dirty="0"/>
          </a:p>
        </p:txBody>
      </p:sp>
      <p:sp>
        <p:nvSpPr>
          <p:cNvPr id="25" name="Text 21"/>
          <p:cNvSpPr txBox="1"/>
          <p:nvPr/>
        </p:nvSpPr>
        <p:spPr>
          <a:xfrm>
            <a:off x="1883664" y="3702749"/>
            <a:ext cx="444670"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Dot peen</a:t>
            </a:r>
            <a:endParaRPr lang="en-US" sz="730" dirty="0"/>
          </a:p>
        </p:txBody>
      </p:sp>
      <p:sp>
        <p:nvSpPr>
          <p:cNvPr id="26" name="Text 22"/>
          <p:cNvSpPr txBox="1"/>
          <p:nvPr/>
        </p:nvSpPr>
        <p:spPr>
          <a:xfrm>
            <a:off x="3145536" y="3702749"/>
            <a:ext cx="270534"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8 sec</a:t>
            </a:r>
            <a:endParaRPr lang="en-US" sz="730" dirty="0"/>
          </a:p>
        </p:txBody>
      </p:sp>
      <p:sp>
        <p:nvSpPr>
          <p:cNvPr id="27" name="Text 23"/>
          <p:cNvSpPr txBox="1"/>
          <p:nvPr/>
        </p:nvSpPr>
        <p:spPr>
          <a:xfrm>
            <a:off x="3831336" y="3702749"/>
            <a:ext cx="260947" cy="206247"/>
          </a:xfrm>
          <a:prstGeom prst="rect">
            <a:avLst/>
          </a:prstGeom>
          <a:noFill/>
          <a:ln/>
        </p:spPr>
        <p:txBody>
          <a:bodyPr wrap="none" lIns="0" tIns="0" rIns="0" bIns="0" rtlCol="0" anchor="t"/>
          <a:lstStyle/>
          <a:p>
            <a:pPr algn="l" indent="0" marL="0">
              <a:lnSpc>
                <a:spcPts val="1140"/>
              </a:lnSpc>
              <a:buNone/>
            </a:pPr>
            <a:r>
              <a:rPr lang="en-US" sz="730" b="1" dirty="0">
                <a:solidFill>
                  <a:srgbClr val="6E9312"/>
                </a:solidFill>
                <a:latin typeface="Arial" pitchFamily="34" charset="0"/>
                <a:ea typeface="Arial" pitchFamily="34" charset="-122"/>
                <a:cs typeface="Arial" pitchFamily="34" charset="-120"/>
              </a:rPr>
              <a:t>1 sec</a:t>
            </a:r>
            <a:endParaRPr lang="en-US" sz="730" dirty="0"/>
          </a:p>
        </p:txBody>
      </p:sp>
      <p:sp>
        <p:nvSpPr>
          <p:cNvPr id="28" name="Shape 24"/>
          <p:cNvSpPr/>
          <p:nvPr/>
        </p:nvSpPr>
        <p:spPr>
          <a:xfrm>
            <a:off x="4745736" y="3702749"/>
            <a:ext cx="685800" cy="162878"/>
          </a:xfrm>
          <a:prstGeom prst="roundRect">
            <a:avLst>
              <a:gd name="adj" fmla="val 50000"/>
            </a:avLst>
          </a:prstGeom>
          <a:solidFill>
            <a:srgbClr val="8DB828"/>
          </a:solidFill>
          <a:ln/>
        </p:spPr>
      </p:sp>
      <p:sp>
        <p:nvSpPr>
          <p:cNvPr id="29" name="Text 25"/>
          <p:cNvSpPr txBox="1"/>
          <p:nvPr/>
        </p:nvSpPr>
        <p:spPr>
          <a:xfrm>
            <a:off x="4910078" y="3711893"/>
            <a:ext cx="356973"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−87.5%</a:t>
            </a:r>
            <a:endParaRPr lang="en-US" sz="730" dirty="0"/>
          </a:p>
        </p:txBody>
      </p:sp>
      <p:sp>
        <p:nvSpPr>
          <p:cNvPr id="30" name="Shape 26"/>
          <p:cNvSpPr/>
          <p:nvPr/>
        </p:nvSpPr>
        <p:spPr>
          <a:xfrm>
            <a:off x="603504" y="4157091"/>
            <a:ext cx="4828032" cy="0"/>
          </a:xfrm>
          <a:prstGeom prst="line">
            <a:avLst/>
          </a:prstGeom>
          <a:noFill/>
          <a:ln w="9144">
            <a:solidFill>
              <a:srgbClr val="062A44">
                <a:alpha val="10000"/>
              </a:srgbClr>
            </a:solidFill>
            <a:prstDash val="solid"/>
          </a:ln>
        </p:spPr>
      </p:sp>
      <p:sp>
        <p:nvSpPr>
          <p:cNvPr id="31" name="Text 27"/>
          <p:cNvSpPr txBox="1"/>
          <p:nvPr/>
        </p:nvSpPr>
        <p:spPr>
          <a:xfrm>
            <a:off x="603504" y="3951351"/>
            <a:ext cx="786970" cy="204547"/>
          </a:xfrm>
          <a:prstGeom prst="rect">
            <a:avLst/>
          </a:prstGeom>
          <a:noFill/>
          <a:ln/>
        </p:spPr>
        <p:txBody>
          <a:bodyPr wrap="none" lIns="0" tIns="0" rIns="0" bIns="0" rtlCol="0" anchor="t"/>
          <a:lstStyle/>
          <a:p>
            <a:pPr algn="l" indent="0" marL="0">
              <a:lnSpc>
                <a:spcPts val="1090"/>
              </a:lnSpc>
              <a:buNone/>
            </a:pPr>
            <a:r>
              <a:rPr lang="en-US" sz="710" dirty="0">
                <a:solidFill>
                  <a:srgbClr val="062A44"/>
                </a:solidFill>
                <a:latin typeface="Courier New" pitchFamily="34" charset="0"/>
                <a:ea typeface="Courier New" pitchFamily="34" charset="-122"/>
                <a:cs typeface="Courier New" pitchFamily="34" charset="-120"/>
              </a:rPr>
              <a:t>LCBTH.26.0002</a:t>
            </a:r>
            <a:endParaRPr lang="en-US" sz="710" dirty="0"/>
          </a:p>
        </p:txBody>
      </p:sp>
      <p:sp>
        <p:nvSpPr>
          <p:cNvPr id="32" name="Text 28"/>
          <p:cNvSpPr txBox="1"/>
          <p:nvPr/>
        </p:nvSpPr>
        <p:spPr>
          <a:xfrm>
            <a:off x="1883664" y="3951351"/>
            <a:ext cx="444670"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Dot peen</a:t>
            </a:r>
            <a:endParaRPr lang="en-US" sz="730" dirty="0"/>
          </a:p>
        </p:txBody>
      </p:sp>
      <p:sp>
        <p:nvSpPr>
          <p:cNvPr id="33" name="Text 29"/>
          <p:cNvSpPr txBox="1"/>
          <p:nvPr/>
        </p:nvSpPr>
        <p:spPr>
          <a:xfrm>
            <a:off x="3145536" y="3951351"/>
            <a:ext cx="270534"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8 sec</a:t>
            </a:r>
            <a:endParaRPr lang="en-US" sz="730" dirty="0"/>
          </a:p>
        </p:txBody>
      </p:sp>
      <p:sp>
        <p:nvSpPr>
          <p:cNvPr id="34" name="Text 30"/>
          <p:cNvSpPr txBox="1"/>
          <p:nvPr/>
        </p:nvSpPr>
        <p:spPr>
          <a:xfrm>
            <a:off x="3831336" y="3951351"/>
            <a:ext cx="260947" cy="206247"/>
          </a:xfrm>
          <a:prstGeom prst="rect">
            <a:avLst/>
          </a:prstGeom>
          <a:noFill/>
          <a:ln/>
        </p:spPr>
        <p:txBody>
          <a:bodyPr wrap="none" lIns="0" tIns="0" rIns="0" bIns="0" rtlCol="0" anchor="t"/>
          <a:lstStyle/>
          <a:p>
            <a:pPr algn="l" indent="0" marL="0">
              <a:lnSpc>
                <a:spcPts val="1140"/>
              </a:lnSpc>
              <a:buNone/>
            </a:pPr>
            <a:r>
              <a:rPr lang="en-US" sz="730" b="1" dirty="0">
                <a:solidFill>
                  <a:srgbClr val="6E9312"/>
                </a:solidFill>
                <a:latin typeface="Arial" pitchFamily="34" charset="0"/>
                <a:ea typeface="Arial" pitchFamily="34" charset="-122"/>
                <a:cs typeface="Arial" pitchFamily="34" charset="-120"/>
              </a:rPr>
              <a:t>1 sec</a:t>
            </a:r>
            <a:endParaRPr lang="en-US" sz="730" dirty="0"/>
          </a:p>
        </p:txBody>
      </p:sp>
      <p:sp>
        <p:nvSpPr>
          <p:cNvPr id="35" name="Shape 31"/>
          <p:cNvSpPr/>
          <p:nvPr/>
        </p:nvSpPr>
        <p:spPr>
          <a:xfrm>
            <a:off x="4745736" y="3951351"/>
            <a:ext cx="685800" cy="162878"/>
          </a:xfrm>
          <a:prstGeom prst="roundRect">
            <a:avLst>
              <a:gd name="adj" fmla="val 50000"/>
            </a:avLst>
          </a:prstGeom>
          <a:solidFill>
            <a:srgbClr val="8DB828"/>
          </a:solidFill>
          <a:ln/>
        </p:spPr>
      </p:sp>
      <p:sp>
        <p:nvSpPr>
          <p:cNvPr id="36" name="Text 32"/>
          <p:cNvSpPr txBox="1"/>
          <p:nvPr/>
        </p:nvSpPr>
        <p:spPr>
          <a:xfrm>
            <a:off x="4910078" y="3960495"/>
            <a:ext cx="356973"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−87.5%</a:t>
            </a:r>
            <a:endParaRPr lang="en-US" sz="730" dirty="0"/>
          </a:p>
        </p:txBody>
      </p:sp>
      <p:sp>
        <p:nvSpPr>
          <p:cNvPr id="37" name="Shape 33"/>
          <p:cNvSpPr/>
          <p:nvPr/>
        </p:nvSpPr>
        <p:spPr>
          <a:xfrm>
            <a:off x="603504" y="4405694"/>
            <a:ext cx="4828032" cy="0"/>
          </a:xfrm>
          <a:prstGeom prst="line">
            <a:avLst/>
          </a:prstGeom>
          <a:noFill/>
          <a:ln w="9144">
            <a:solidFill>
              <a:srgbClr val="062A44">
                <a:alpha val="10000"/>
              </a:srgbClr>
            </a:solidFill>
            <a:prstDash val="solid"/>
          </a:ln>
        </p:spPr>
      </p:sp>
      <p:sp>
        <p:nvSpPr>
          <p:cNvPr id="38" name="Text 34"/>
          <p:cNvSpPr txBox="1"/>
          <p:nvPr/>
        </p:nvSpPr>
        <p:spPr>
          <a:xfrm>
            <a:off x="603504" y="4199954"/>
            <a:ext cx="786970" cy="204547"/>
          </a:xfrm>
          <a:prstGeom prst="rect">
            <a:avLst/>
          </a:prstGeom>
          <a:noFill/>
          <a:ln/>
        </p:spPr>
        <p:txBody>
          <a:bodyPr wrap="none" lIns="0" tIns="0" rIns="0" bIns="0" rtlCol="0" anchor="t"/>
          <a:lstStyle/>
          <a:p>
            <a:pPr algn="l" indent="0" marL="0">
              <a:lnSpc>
                <a:spcPts val="1090"/>
              </a:lnSpc>
              <a:buNone/>
            </a:pPr>
            <a:r>
              <a:rPr lang="en-US" sz="710" dirty="0">
                <a:solidFill>
                  <a:srgbClr val="062A44"/>
                </a:solidFill>
                <a:latin typeface="Courier New" pitchFamily="34" charset="0"/>
                <a:ea typeface="Courier New" pitchFamily="34" charset="-122"/>
                <a:cs typeface="Courier New" pitchFamily="34" charset="-120"/>
              </a:rPr>
              <a:t>LCBTH.26.0027</a:t>
            </a:r>
            <a:endParaRPr lang="en-US" sz="710" dirty="0"/>
          </a:p>
        </p:txBody>
      </p:sp>
      <p:sp>
        <p:nvSpPr>
          <p:cNvPr id="39" name="Text 35"/>
          <p:cNvSpPr txBox="1"/>
          <p:nvPr/>
        </p:nvSpPr>
        <p:spPr>
          <a:xfrm>
            <a:off x="1883664" y="4199954"/>
            <a:ext cx="441841"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Stamped</a:t>
            </a:r>
            <a:endParaRPr lang="en-US" sz="730" dirty="0"/>
          </a:p>
        </p:txBody>
      </p:sp>
      <p:sp>
        <p:nvSpPr>
          <p:cNvPr id="40" name="Text 36"/>
          <p:cNvSpPr txBox="1"/>
          <p:nvPr/>
        </p:nvSpPr>
        <p:spPr>
          <a:xfrm>
            <a:off x="3145536" y="4199954"/>
            <a:ext cx="314854"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10 sec</a:t>
            </a:r>
            <a:endParaRPr lang="en-US" sz="730" dirty="0"/>
          </a:p>
        </p:txBody>
      </p:sp>
      <p:sp>
        <p:nvSpPr>
          <p:cNvPr id="41" name="Text 37"/>
          <p:cNvSpPr txBox="1"/>
          <p:nvPr/>
        </p:nvSpPr>
        <p:spPr>
          <a:xfrm>
            <a:off x="3831336" y="4199954"/>
            <a:ext cx="260947" cy="206247"/>
          </a:xfrm>
          <a:prstGeom prst="rect">
            <a:avLst/>
          </a:prstGeom>
          <a:noFill/>
          <a:ln/>
        </p:spPr>
        <p:txBody>
          <a:bodyPr wrap="none" lIns="0" tIns="0" rIns="0" bIns="0" rtlCol="0" anchor="t"/>
          <a:lstStyle/>
          <a:p>
            <a:pPr algn="l" indent="0" marL="0">
              <a:lnSpc>
                <a:spcPts val="1140"/>
              </a:lnSpc>
              <a:buNone/>
            </a:pPr>
            <a:r>
              <a:rPr lang="en-US" sz="730" b="1" dirty="0">
                <a:solidFill>
                  <a:srgbClr val="6E9312"/>
                </a:solidFill>
                <a:latin typeface="Arial" pitchFamily="34" charset="0"/>
                <a:ea typeface="Arial" pitchFamily="34" charset="-122"/>
                <a:cs typeface="Arial" pitchFamily="34" charset="-120"/>
              </a:rPr>
              <a:t>1 sec</a:t>
            </a:r>
            <a:endParaRPr lang="en-US" sz="730" dirty="0"/>
          </a:p>
        </p:txBody>
      </p:sp>
      <p:sp>
        <p:nvSpPr>
          <p:cNvPr id="42" name="Shape 38"/>
          <p:cNvSpPr/>
          <p:nvPr/>
        </p:nvSpPr>
        <p:spPr>
          <a:xfrm>
            <a:off x="4745736" y="4199954"/>
            <a:ext cx="685800" cy="162878"/>
          </a:xfrm>
          <a:prstGeom prst="roundRect">
            <a:avLst>
              <a:gd name="adj" fmla="val 50000"/>
            </a:avLst>
          </a:prstGeom>
          <a:solidFill>
            <a:srgbClr val="8DB828"/>
          </a:solidFill>
          <a:ln/>
        </p:spPr>
      </p:sp>
      <p:sp>
        <p:nvSpPr>
          <p:cNvPr id="43" name="Text 39"/>
          <p:cNvSpPr txBox="1"/>
          <p:nvPr/>
        </p:nvSpPr>
        <p:spPr>
          <a:xfrm>
            <a:off x="4942918" y="4209098"/>
            <a:ext cx="291436"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−90%</a:t>
            </a:r>
            <a:endParaRPr lang="en-US" sz="730" dirty="0"/>
          </a:p>
        </p:txBody>
      </p:sp>
      <p:sp>
        <p:nvSpPr>
          <p:cNvPr id="44" name="Shape 40"/>
          <p:cNvSpPr/>
          <p:nvPr/>
        </p:nvSpPr>
        <p:spPr>
          <a:xfrm>
            <a:off x="603504" y="4654296"/>
            <a:ext cx="4828032" cy="0"/>
          </a:xfrm>
          <a:prstGeom prst="line">
            <a:avLst/>
          </a:prstGeom>
          <a:noFill/>
          <a:ln w="9144">
            <a:solidFill>
              <a:srgbClr val="062A44">
                <a:alpha val="10000"/>
              </a:srgbClr>
            </a:solidFill>
            <a:prstDash val="solid"/>
          </a:ln>
        </p:spPr>
      </p:sp>
      <p:sp>
        <p:nvSpPr>
          <p:cNvPr id="45" name="Text 41"/>
          <p:cNvSpPr txBox="1"/>
          <p:nvPr/>
        </p:nvSpPr>
        <p:spPr>
          <a:xfrm>
            <a:off x="603504" y="4448556"/>
            <a:ext cx="786970" cy="204547"/>
          </a:xfrm>
          <a:prstGeom prst="rect">
            <a:avLst/>
          </a:prstGeom>
          <a:noFill/>
          <a:ln/>
        </p:spPr>
        <p:txBody>
          <a:bodyPr wrap="none" lIns="0" tIns="0" rIns="0" bIns="0" rtlCol="0" anchor="t"/>
          <a:lstStyle/>
          <a:p>
            <a:pPr algn="l" indent="0" marL="0">
              <a:lnSpc>
                <a:spcPts val="1090"/>
              </a:lnSpc>
              <a:buNone/>
            </a:pPr>
            <a:r>
              <a:rPr lang="en-US" sz="710" dirty="0">
                <a:solidFill>
                  <a:srgbClr val="062A44"/>
                </a:solidFill>
                <a:latin typeface="Courier New" pitchFamily="34" charset="0"/>
                <a:ea typeface="Courier New" pitchFamily="34" charset="-122"/>
                <a:cs typeface="Courier New" pitchFamily="34" charset="-120"/>
              </a:rPr>
              <a:t>LCBTH.26.0007</a:t>
            </a:r>
            <a:endParaRPr lang="en-US" sz="710" dirty="0"/>
          </a:p>
        </p:txBody>
      </p:sp>
      <p:sp>
        <p:nvSpPr>
          <p:cNvPr id="46" name="Text 42"/>
          <p:cNvSpPr txBox="1"/>
          <p:nvPr/>
        </p:nvSpPr>
        <p:spPr>
          <a:xfrm>
            <a:off x="1883664" y="4448556"/>
            <a:ext cx="508949"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Embossed</a:t>
            </a:r>
            <a:endParaRPr lang="en-US" sz="730" dirty="0"/>
          </a:p>
        </p:txBody>
      </p:sp>
      <p:sp>
        <p:nvSpPr>
          <p:cNvPr id="47" name="Text 43"/>
          <p:cNvSpPr txBox="1"/>
          <p:nvPr/>
        </p:nvSpPr>
        <p:spPr>
          <a:xfrm>
            <a:off x="3145536" y="4448556"/>
            <a:ext cx="269434" cy="206247"/>
          </a:xfrm>
          <a:prstGeom prst="rect">
            <a:avLst/>
          </a:prstGeom>
          <a:noFill/>
          <a:ln/>
        </p:spPr>
        <p:txBody>
          <a:bodyPr wrap="none" lIns="0" tIns="0" rIns="0" bIns="0" rtlCol="0" anchor="t"/>
          <a:lstStyle/>
          <a:p>
            <a:pPr algn="l" indent="0" marL="0">
              <a:lnSpc>
                <a:spcPts val="1140"/>
              </a:lnSpc>
              <a:buNone/>
            </a:pPr>
            <a:r>
              <a:rPr lang="en-US" sz="730" dirty="0">
                <a:solidFill>
                  <a:srgbClr val="062A44"/>
                </a:solidFill>
                <a:latin typeface="Arial" pitchFamily="34" charset="0"/>
                <a:ea typeface="Arial" pitchFamily="34" charset="-122"/>
                <a:cs typeface="Arial" pitchFamily="34" charset="-120"/>
              </a:rPr>
              <a:t>9 sec</a:t>
            </a:r>
            <a:endParaRPr lang="en-US" sz="730" dirty="0"/>
          </a:p>
        </p:txBody>
      </p:sp>
      <p:sp>
        <p:nvSpPr>
          <p:cNvPr id="48" name="Text 44"/>
          <p:cNvSpPr txBox="1"/>
          <p:nvPr/>
        </p:nvSpPr>
        <p:spPr>
          <a:xfrm>
            <a:off x="3831336" y="4448556"/>
            <a:ext cx="260947" cy="206247"/>
          </a:xfrm>
          <a:prstGeom prst="rect">
            <a:avLst/>
          </a:prstGeom>
          <a:noFill/>
          <a:ln/>
        </p:spPr>
        <p:txBody>
          <a:bodyPr wrap="none" lIns="0" tIns="0" rIns="0" bIns="0" rtlCol="0" anchor="t"/>
          <a:lstStyle/>
          <a:p>
            <a:pPr algn="l" indent="0" marL="0">
              <a:lnSpc>
                <a:spcPts val="1140"/>
              </a:lnSpc>
              <a:buNone/>
            </a:pPr>
            <a:r>
              <a:rPr lang="en-US" sz="730" b="1" dirty="0">
                <a:solidFill>
                  <a:srgbClr val="6E9312"/>
                </a:solidFill>
                <a:latin typeface="Arial" pitchFamily="34" charset="0"/>
                <a:ea typeface="Arial" pitchFamily="34" charset="-122"/>
                <a:cs typeface="Arial" pitchFamily="34" charset="-120"/>
              </a:rPr>
              <a:t>1 sec</a:t>
            </a:r>
            <a:endParaRPr lang="en-US" sz="730" dirty="0"/>
          </a:p>
        </p:txBody>
      </p:sp>
      <p:sp>
        <p:nvSpPr>
          <p:cNvPr id="49" name="Shape 45"/>
          <p:cNvSpPr/>
          <p:nvPr/>
        </p:nvSpPr>
        <p:spPr>
          <a:xfrm>
            <a:off x="4745736" y="4448556"/>
            <a:ext cx="685800" cy="162878"/>
          </a:xfrm>
          <a:prstGeom prst="roundRect">
            <a:avLst>
              <a:gd name="adj" fmla="val 50000"/>
            </a:avLst>
          </a:prstGeom>
          <a:solidFill>
            <a:srgbClr val="8DB828"/>
          </a:solidFill>
          <a:ln/>
        </p:spPr>
      </p:sp>
      <p:sp>
        <p:nvSpPr>
          <p:cNvPr id="50" name="Text 46"/>
          <p:cNvSpPr txBox="1"/>
          <p:nvPr/>
        </p:nvSpPr>
        <p:spPr>
          <a:xfrm>
            <a:off x="4900805" y="4457700"/>
            <a:ext cx="375518"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−88.9%</a:t>
            </a:r>
            <a:endParaRPr lang="en-US" sz="730" dirty="0"/>
          </a:p>
        </p:txBody>
      </p:sp>
      <p:sp>
        <p:nvSpPr>
          <p:cNvPr id="51" name="Text 47"/>
          <p:cNvSpPr txBox="1"/>
          <p:nvPr/>
        </p:nvSpPr>
        <p:spPr>
          <a:xfrm>
            <a:off x="603504" y="4722876"/>
            <a:ext cx="4593288" cy="165712"/>
          </a:xfrm>
          <a:prstGeom prst="rect">
            <a:avLst/>
          </a:prstGeom>
          <a:noFill/>
          <a:ln/>
        </p:spPr>
        <p:txBody>
          <a:bodyPr wrap="none" lIns="0" tIns="0" rIns="0" bIns="0" rtlCol="0" anchor="t"/>
          <a:lstStyle/>
          <a:p>
            <a:pPr algn="l" indent="0" marL="0">
              <a:lnSpc>
                <a:spcPts val="1000"/>
              </a:lnSpc>
              <a:buNone/>
            </a:pPr>
            <a:r>
              <a:rPr lang="en-US" sz="650" dirty="0">
                <a:solidFill>
                  <a:srgbClr val="7A8C99"/>
                </a:solidFill>
                <a:latin typeface="Arial" pitchFamily="34" charset="0"/>
                <a:ea typeface="Arial" pitchFamily="34" charset="-122"/>
                <a:cs typeface="Arial" pitchFamily="34" charset="-120"/>
              </a:rPr>
              <a:t>Dot peen / stamped / embossed · Barcode / Data Matrix · Internal configuration; supplied mission comparisons.</a:t>
            </a:r>
            <a:endParaRPr lang="en-US" sz="650" dirty="0"/>
          </a:p>
        </p:txBody>
      </p:sp>
      <p:sp>
        <p:nvSpPr>
          <p:cNvPr id="52" name="Shape 48"/>
          <p:cNvSpPr/>
          <p:nvPr/>
        </p:nvSpPr>
        <p:spPr>
          <a:xfrm>
            <a:off x="6035040" y="1152144"/>
            <a:ext cx="2651760" cy="2505456"/>
          </a:xfrm>
          <a:prstGeom prst="roundRect">
            <a:avLst>
              <a:gd name="adj" fmla="val 7299"/>
            </a:avLst>
          </a:prstGeom>
          <a:ln w="9144">
            <a:solidFill>
              <a:srgbClr val="062A44">
                <a:alpha val="10000"/>
              </a:srgbClr>
            </a:solidFill>
            <a:prstDash val="solid"/>
          </a:ln>
          <a:effectLst>
            <a:outerShdw sx="100000" sy="100000" kx="0" ky="0" algn="bl" rotWithShape="0" blurRad="457200" dist="219456" dir="5400000">
              <a:srgbClr val="062A44">
                <a:alpha val="21600"/>
              </a:srgbClr>
            </a:outerShdw>
          </a:effectLst>
        </p:spPr>
      </p:sp>
      <p:pic>
        <p:nvPicPr>
          <p:cNvPr id="53" name="Picture" descr="Handheld OCR reader scanning a part on the shopfloor">    </p:cNvPr>
          <p:cNvPicPr>
            <a:picLocks noChangeAspect="1"/>
          </p:cNvPicPr>
          <p:nvPr/>
        </p:nvPicPr>
        <p:blipFill>
          <a:blip r:embed="rId4"/>
          <a:stretch>
            <a:fillRect/>
          </a:stretch>
        </p:blipFill>
        <p:spPr>
          <a:xfrm>
            <a:off x="6035040" y="1152144"/>
            <a:ext cx="2651760" cy="2505456"/>
          </a:xfrm>
          <a:prstGeom prst="roundRect">
            <a:avLst>
              <a:gd name="adj" fmla="val 7299"/>
            </a:avLst>
          </a:prstGeom>
        </p:spPr>
      </p:pic>
      <p:pic>
        <p:nvPicPr>
          <p:cNvPr id="54" name="Image 3" descr="Stamped serial number 2610815 read by OCR">    </p:cNvPr>
          <p:cNvPicPr>
            <a:picLocks noChangeAspect="1"/>
          </p:cNvPicPr>
          <p:nvPr/>
        </p:nvPicPr>
        <p:blipFill>
          <a:blip r:embed="rId5"/>
          <a:stretch>
            <a:fillRect/>
          </a:stretch>
        </p:blipFill>
        <p:spPr>
          <a:xfrm>
            <a:off x="6035040" y="3858768"/>
            <a:ext cx="1691640" cy="877681"/>
          </a:xfrm>
          <a:prstGeom prst="rect">
            <a:avLst/>
          </a:prstGeom>
        </p:spPr>
      </p:pic>
      <p:sp>
        <p:nvSpPr>
          <p:cNvPr id="55" name="Text 49"/>
          <p:cNvSpPr txBox="1"/>
          <p:nvPr/>
        </p:nvSpPr>
        <p:spPr>
          <a:xfrm>
            <a:off x="7863840" y="3968496"/>
            <a:ext cx="879747" cy="325984"/>
          </a:xfrm>
          <a:prstGeom prst="rect">
            <a:avLst/>
          </a:prstGeom>
          <a:noFill/>
          <a:ln/>
        </p:spPr>
        <p:txBody>
          <a:bodyPr wrap="square" lIns="0" tIns="0" rIns="0" bIns="0" rtlCol="0" anchor="t"/>
          <a:lstStyle/>
          <a:p>
            <a:pPr algn="l" indent="0" marL="0">
              <a:lnSpc>
                <a:spcPts val="1120"/>
              </a:lnSpc>
              <a:buNone/>
            </a:pPr>
            <a:r>
              <a:rPr lang="en-US" sz="720" b="1" dirty="0">
                <a:solidFill>
                  <a:srgbClr val="062A44"/>
                </a:solidFill>
                <a:latin typeface="Arial" pitchFamily="34" charset="0"/>
                <a:ea typeface="Arial" pitchFamily="34" charset="-122"/>
                <a:cs typeface="Arial" pitchFamily="34" charset="-120"/>
              </a:rPr>
              <a:t>Shopfloor OCR in</a:t>
            </a:r>
            <a:endParaRPr lang="en-US" sz="720" dirty="0"/>
          </a:p>
          <a:p>
            <a:pPr algn="l" indent="0" marL="0">
              <a:lnSpc>
                <a:spcPts val="1120"/>
              </a:lnSpc>
              <a:buNone/>
            </a:pPr>
            <a:r>
              <a:rPr lang="en-US" sz="720" b="1" dirty="0">
                <a:solidFill>
                  <a:srgbClr val="062A44"/>
                </a:solidFill>
                <a:latin typeface="Arial" pitchFamily="34" charset="0"/>
                <a:ea typeface="Arial" pitchFamily="34" charset="-122"/>
                <a:cs typeface="Arial" pitchFamily="34" charset="-120"/>
              </a:rPr>
              <a:t>use</a:t>
            </a:r>
            <a:endParaRPr lang="en-US" sz="720" dirty="0"/>
          </a:p>
        </p:txBody>
      </p:sp>
      <p:sp>
        <p:nvSpPr>
          <p:cNvPr id="56" name="Text 50"/>
          <p:cNvSpPr txBox="1"/>
          <p:nvPr/>
        </p:nvSpPr>
        <p:spPr>
          <a:xfrm>
            <a:off x="7863840" y="4279392"/>
            <a:ext cx="879747" cy="277029"/>
          </a:xfrm>
          <a:prstGeom prst="rect">
            <a:avLst/>
          </a:prstGeom>
          <a:noFill/>
          <a:ln/>
        </p:spPr>
        <p:txBody>
          <a:bodyPr wrap="square" lIns="0" tIns="0" rIns="0" bIns="0" rtlCol="0" anchor="t"/>
          <a:lstStyle/>
          <a:p>
            <a:pPr algn="l" indent="0" marL="0">
              <a:lnSpc>
                <a:spcPts val="950"/>
              </a:lnSpc>
              <a:buNone/>
            </a:pPr>
            <a:r>
              <a:rPr lang="en-US" sz="610" dirty="0">
                <a:solidFill>
                  <a:srgbClr val="5A6E7E"/>
                </a:solidFill>
                <a:latin typeface="Arial" pitchFamily="34" charset="0"/>
                <a:ea typeface="Arial" pitchFamily="34" charset="-122"/>
                <a:cs typeface="Arial" pitchFamily="34" charset="-120"/>
              </a:rPr>
              <a:t>KEYENCE BT-A1000 ·</a:t>
            </a:r>
            <a:endParaRPr lang="en-US" sz="610" dirty="0"/>
          </a:p>
          <a:p>
            <a:pPr algn="l" indent="0" marL="0">
              <a:lnSpc>
                <a:spcPts val="950"/>
              </a:lnSpc>
              <a:buNone/>
            </a:pPr>
            <a:r>
              <a:rPr lang="en-US" sz="610" dirty="0">
                <a:solidFill>
                  <a:srgbClr val="5A6E7E"/>
                </a:solidFill>
                <a:latin typeface="Arial" pitchFamily="34" charset="0"/>
                <a:ea typeface="Arial" pitchFamily="34" charset="-122"/>
                <a:cs typeface="Arial" pitchFamily="34" charset="-120"/>
              </a:rPr>
              <a:t>LCBTH.26.0005</a:t>
            </a:r>
            <a:endParaRPr lang="en-US" sz="610" dirty="0"/>
          </a:p>
        </p:txBody>
      </p:sp>
    </p:spTree>
  </p:cSld>
  <p:clrMapOvr>
    <a:masterClrMapping/>
  </p:clrMapOvr>
  <p:transition spd="med">
    <p:push dir="r"/>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2923280"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OPERATION EXCELLENCE / HYBRID WORKFLOW</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5360996" cy="707842"/>
          </a:xfrm>
          <a:prstGeom prst="rect">
            <a:avLst/>
          </a:prstGeom>
          <a:noFill/>
          <a:ln/>
        </p:spPr>
        <p:txBody>
          <a:bodyPr wrap="squar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A hybrid workflow connects</a:t>
            </a:r>
            <a:pPr algn="l" indent="0" marL="0">
              <a:lnSpc>
                <a:spcPts val="2420"/>
              </a:lnSpc>
              <a:buNone/>
            </a:pPr>
            <a:r>
              <a:rPr lang="en-US" sz="2380" b="1" spc="-119" kern="0" dirty="0">
                <a:solidFill>
                  <a:srgbClr val="589467"/>
                </a:solidFill>
                <a:latin typeface="Arial" pitchFamily="34" charset="0"/>
                <a:ea typeface="Arial" pitchFamily="34" charset="-122"/>
                <a:cs typeface="Arial" pitchFamily="34" charset="-120"/>
              </a:rPr>
              <a:t> s</a:t>
            </a:r>
            <a:pPr algn="l" indent="0" marL="0">
              <a:lnSpc>
                <a:spcPts val="2420"/>
              </a:lnSpc>
              <a:buNone/>
            </a:pPr>
            <a:r>
              <a:rPr lang="en-US" sz="2380" b="1" spc="-119" kern="0" dirty="0">
                <a:solidFill>
                  <a:srgbClr val="5D975D"/>
                </a:solidFill>
                <a:latin typeface="Arial" pitchFamily="34" charset="0"/>
                <a:ea typeface="Arial" pitchFamily="34" charset="-122"/>
                <a:cs typeface="Arial" pitchFamily="34" charset="-120"/>
              </a:rPr>
              <a:t>h</a:t>
            </a:r>
            <a:pPr algn="l" indent="0" marL="0">
              <a:lnSpc>
                <a:spcPts val="2420"/>
              </a:lnSpc>
              <a:buNone/>
            </a:pPr>
            <a:r>
              <a:rPr lang="en-US" sz="2380" b="1" spc="-119" kern="0" dirty="0">
                <a:solidFill>
                  <a:srgbClr val="629952"/>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689C47"/>
                </a:solidFill>
                <a:latin typeface="Arial" pitchFamily="34" charset="0"/>
                <a:ea typeface="Arial" pitchFamily="34" charset="-122"/>
                <a:cs typeface="Arial" pitchFamily="34" charset="-120"/>
              </a:rPr>
              <a:t>p</a:t>
            </a:r>
            <a:pPr algn="l" indent="0" marL="0">
              <a:lnSpc>
                <a:spcPts val="2420"/>
              </a:lnSpc>
              <a:buNone/>
            </a:pPr>
            <a:r>
              <a:rPr lang="en-US" sz="2380" b="1" spc="-119" kern="0" dirty="0">
                <a:solidFill>
                  <a:srgbClr val="6C9F3E"/>
                </a:solidFill>
                <a:latin typeface="Arial" pitchFamily="34" charset="0"/>
                <a:ea typeface="Arial" pitchFamily="34" charset="-122"/>
                <a:cs typeface="Arial" pitchFamily="34" charset="-120"/>
              </a:rPr>
              <a:t>f</a:t>
            </a:r>
            <a:pPr algn="l" indent="0" marL="0">
              <a:lnSpc>
                <a:spcPts val="2420"/>
              </a:lnSpc>
              <a:buNone/>
            </a:pPr>
            <a:r>
              <a:rPr lang="en-US" sz="2380" b="1" spc="-119" kern="0" dirty="0">
                <a:solidFill>
                  <a:srgbClr val="6FA039"/>
                </a:solidFill>
                <a:latin typeface="Arial" pitchFamily="34" charset="0"/>
                <a:ea typeface="Arial" pitchFamily="34" charset="-122"/>
                <a:cs typeface="Arial" pitchFamily="34" charset="-120"/>
              </a:rPr>
              <a:t>l</a:t>
            </a:r>
            <a:pPr algn="l" indent="0" marL="0">
              <a:lnSpc>
                <a:spcPts val="2420"/>
              </a:lnSpc>
              <a:buNone/>
            </a:pPr>
            <a:r>
              <a:rPr lang="en-US" sz="2380" b="1" spc="-119" kern="0" dirty="0">
                <a:solidFill>
                  <a:srgbClr val="73A231"/>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79A526"/>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7DA71E"/>
                </a:solidFill>
                <a:latin typeface="Arial" pitchFamily="34" charset="0"/>
                <a:ea typeface="Arial" pitchFamily="34" charset="-122"/>
                <a:cs typeface="Arial" pitchFamily="34" charset="-120"/>
              </a:rPr>
              <a:t>r</a:t>
            </a:r>
            <a:endParaRPr lang="en-US" sz="2380" dirty="0"/>
          </a:p>
          <a:p>
            <a:pPr algn="l" indent="0" marL="0">
              <a:lnSpc>
                <a:spcPts val="2420"/>
              </a:lnSpc>
              <a:buNone/>
            </a:pPr>
            <a:r>
              <a:rPr lang="en-US" sz="2380" b="1" spc="-119" kern="0" dirty="0">
                <a:solidFill>
                  <a:srgbClr val="0C3C5F"/>
                </a:solidFill>
                <a:latin typeface="Arial" pitchFamily="34" charset="0"/>
                <a:ea typeface="Arial" pitchFamily="34" charset="-122"/>
                <a:cs typeface="Arial" pitchFamily="34" charset="-120"/>
              </a:rPr>
              <a:t>c</a:t>
            </a:r>
            <a:pPr algn="l" indent="0" marL="0">
              <a:lnSpc>
                <a:spcPts val="2420"/>
              </a:lnSpc>
              <a:buNone/>
            </a:pPr>
            <a:r>
              <a:rPr lang="en-US" sz="2380" b="1" spc="-119" kern="0" dirty="0">
                <a:solidFill>
                  <a:srgbClr val="0F4166"/>
                </a:solidFill>
                <a:latin typeface="Arial" pitchFamily="34" charset="0"/>
                <a:ea typeface="Arial" pitchFamily="34" charset="-122"/>
                <a:cs typeface="Arial" pitchFamily="34" charset="-120"/>
              </a:rPr>
              <a:t>a</a:t>
            </a:r>
            <a:pPr algn="l" indent="0" marL="0">
              <a:lnSpc>
                <a:spcPts val="2420"/>
              </a:lnSpc>
              <a:buNone/>
            </a:pPr>
            <a:r>
              <a:rPr lang="en-US" sz="2380" b="1" spc="-119" kern="0" dirty="0">
                <a:solidFill>
                  <a:srgbClr val="11466C"/>
                </a:solidFill>
                <a:latin typeface="Arial" pitchFamily="34" charset="0"/>
                <a:ea typeface="Arial" pitchFamily="34" charset="-122"/>
                <a:cs typeface="Arial" pitchFamily="34" charset="-120"/>
              </a:rPr>
              <a:t>p</a:t>
            </a:r>
            <a:pPr algn="l" indent="0" marL="0">
              <a:lnSpc>
                <a:spcPts val="2420"/>
              </a:lnSpc>
              <a:buNone/>
            </a:pPr>
            <a:r>
              <a:rPr lang="en-US" sz="2380" b="1" spc="-119" kern="0" dirty="0">
                <a:solidFill>
                  <a:srgbClr val="134B72"/>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164F78"/>
                </a:solidFill>
                <a:latin typeface="Arial" pitchFamily="34" charset="0"/>
                <a:ea typeface="Arial" pitchFamily="34" charset="-122"/>
                <a:cs typeface="Arial" pitchFamily="34" charset="-120"/>
              </a:rPr>
              <a:t>u</a:t>
            </a:r>
            <a:pPr algn="l" indent="0" marL="0">
              <a:lnSpc>
                <a:spcPts val="2420"/>
              </a:lnSpc>
              <a:buNone/>
            </a:pPr>
            <a:r>
              <a:rPr lang="en-US" sz="2380" b="1" spc="-119" kern="0" dirty="0">
                <a:solidFill>
                  <a:srgbClr val="18537D"/>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1A5782"/>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1D5D8A"/>
                </a:solidFill>
                <a:latin typeface="Arial" pitchFamily="34" charset="0"/>
                <a:ea typeface="Arial" pitchFamily="34" charset="-122"/>
                <a:cs typeface="Arial" pitchFamily="34" charset="-120"/>
              </a:rPr>
              <a:t> t</a:t>
            </a:r>
            <a:pPr algn="l" indent="0" marL="0">
              <a:lnSpc>
                <a:spcPts val="2420"/>
              </a:lnSpc>
              <a:buNone/>
            </a:pPr>
            <a:r>
              <a:rPr lang="en-US" sz="2380" b="1" spc="-119" kern="0" dirty="0">
                <a:solidFill>
                  <a:srgbClr val="1F6190"/>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226899"/>
                </a:solidFill>
                <a:latin typeface="Arial" pitchFamily="34" charset="0"/>
                <a:ea typeface="Arial" pitchFamily="34" charset="-122"/>
                <a:cs typeface="Arial" pitchFamily="34" charset="-120"/>
              </a:rPr>
              <a:t> c</a:t>
            </a:r>
            <a:pPr algn="l" indent="0" marL="0">
              <a:lnSpc>
                <a:spcPts val="2420"/>
              </a:lnSpc>
              <a:buNone/>
            </a:pPr>
            <a:r>
              <a:rPr lang="en-US" sz="2380" b="1" spc="-119" kern="0" dirty="0">
                <a:solidFill>
                  <a:srgbClr val="256D9F"/>
                </a:solidFill>
                <a:latin typeface="Arial" pitchFamily="34" charset="0"/>
                <a:ea typeface="Arial" pitchFamily="34" charset="-122"/>
                <a:cs typeface="Arial" pitchFamily="34" charset="-120"/>
              </a:rPr>
              <a:t>u</a:t>
            </a:r>
            <a:pPr algn="l" indent="0" marL="0">
              <a:lnSpc>
                <a:spcPts val="2420"/>
              </a:lnSpc>
              <a:buNone/>
            </a:pPr>
            <a:r>
              <a:rPr lang="en-US" sz="2380" b="1" spc="-119" kern="0" dirty="0">
                <a:solidFill>
                  <a:srgbClr val="2771A6"/>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2975AB"/>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2B79B0"/>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2F7FB7"/>
                </a:solidFill>
                <a:latin typeface="Arial" pitchFamily="34" charset="0"/>
                <a:ea typeface="Arial" pitchFamily="34" charset="-122"/>
                <a:cs typeface="Arial" pitchFamily="34" charset="-120"/>
              </a:rPr>
              <a:t>m</a:t>
            </a:r>
            <a:pPr algn="l" indent="0" marL="0">
              <a:lnSpc>
                <a:spcPts val="2420"/>
              </a:lnSpc>
              <a:buNone/>
            </a:pPr>
            <a:r>
              <a:rPr lang="en-US" sz="2380" b="1" spc="-119" kern="0" dirty="0">
                <a:solidFill>
                  <a:srgbClr val="3583A9"/>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3A85A1"/>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3F8896"/>
                </a:solidFill>
                <a:latin typeface="Arial" pitchFamily="34" charset="0"/>
                <a:ea typeface="Arial" pitchFamily="34" charset="-122"/>
                <a:cs typeface="Arial" pitchFamily="34" charset="-120"/>
              </a:rPr>
              <a:t> r</a:t>
            </a:r>
            <a:pPr algn="l" indent="0" marL="0">
              <a:lnSpc>
                <a:spcPts val="2420"/>
              </a:lnSpc>
              <a:buNone/>
            </a:pPr>
            <a:r>
              <a:rPr lang="en-US" sz="2380" b="1" spc="-119" kern="0" dirty="0">
                <a:solidFill>
                  <a:srgbClr val="438A8E"/>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498D83"/>
                </a:solidFill>
                <a:latin typeface="Arial" pitchFamily="34" charset="0"/>
                <a:ea typeface="Arial" pitchFamily="34" charset="-122"/>
                <a:cs typeface="Arial" pitchFamily="34" charset="-120"/>
              </a:rPr>
              <a:t>p</a:t>
            </a:r>
            <a:pPr algn="l" indent="0" marL="0">
              <a:lnSpc>
                <a:spcPts val="2420"/>
              </a:lnSpc>
              <a:buNone/>
            </a:pPr>
            <a:r>
              <a:rPr lang="en-US" sz="2380" b="1" spc="-119" kern="0" dirty="0">
                <a:solidFill>
                  <a:srgbClr val="4E8F79"/>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539270"/>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569369"/>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5B9661"/>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5E975A"/>
                </a:solidFill>
                <a:latin typeface="Arial" pitchFamily="34" charset="0"/>
                <a:ea typeface="Arial" pitchFamily="34" charset="-122"/>
                <a:cs typeface="Arial" pitchFamily="34" charset="-120"/>
              </a:rPr>
              <a:t>.</a:t>
            </a:r>
            <a:endParaRPr lang="en-US" sz="2380" dirty="0"/>
          </a:p>
        </p:txBody>
      </p:sp>
      <p:sp>
        <p:nvSpPr>
          <p:cNvPr id="7" name="Text 4"/>
          <p:cNvSpPr txBox="1"/>
          <p:nvPr/>
        </p:nvSpPr>
        <p:spPr>
          <a:xfrm>
            <a:off x="457200" y="2060258"/>
            <a:ext cx="5401104" cy="240716"/>
          </a:xfrm>
          <a:prstGeom prst="rect">
            <a:avLst/>
          </a:prstGeom>
          <a:noFill/>
          <a:ln/>
        </p:spPr>
        <p:txBody>
          <a:bodyPr wrap="none" lIns="0" tIns="0" rIns="0" bIns="0" rtlCol="0" anchor="t"/>
          <a:lstStyle/>
          <a:p>
            <a:pPr algn="l" indent="0" marL="0">
              <a:lnSpc>
                <a:spcPts val="1460"/>
              </a:lnSpc>
              <a:buNone/>
            </a:pPr>
            <a:r>
              <a:rPr lang="en-US" sz="970" dirty="0">
                <a:solidFill>
                  <a:srgbClr val="5A6E7E"/>
                </a:solidFill>
                <a:latin typeface="Arial" pitchFamily="34" charset="0"/>
                <a:ea typeface="Arial" pitchFamily="34" charset="-122"/>
                <a:cs typeface="Arial" pitchFamily="34" charset="-120"/>
              </a:rPr>
              <a:t>Online cloud records + offline Excel support → administrator review → customer report.</a:t>
            </a:r>
            <a:endParaRPr lang="en-US" sz="970" dirty="0"/>
          </a:p>
        </p:txBody>
      </p:sp>
      <p:sp>
        <p:nvSpPr>
          <p:cNvPr id="8" name="Shape 5"/>
          <p:cNvSpPr/>
          <p:nvPr/>
        </p:nvSpPr>
        <p:spPr>
          <a:xfrm>
            <a:off x="457200" y="2523744"/>
            <a:ext cx="1453896" cy="1207008"/>
          </a:xfrm>
          <a:prstGeom prst="roundRect">
            <a:avLst>
              <a:gd name="adj" fmla="val 10606"/>
            </a:avLst>
          </a:prstGeom>
          <a:solidFill>
            <a:srgbClr val="FFFFFF">
              <a:alpha val="78000"/>
            </a:srgbClr>
          </a:solidFill>
          <a:ln w="9144">
            <a:solidFill>
              <a:srgbClr val="062A44">
                <a:alpha val="10000"/>
              </a:srgbClr>
            </a:solidFill>
            <a:prstDash val="solid"/>
          </a:ln>
          <a:effectLst>
            <a:outerShdw sx="100000" sy="100000" kx="0" ky="0" algn="bl" rotWithShape="0" blurRad="329184" dist="128016" dir="5400000">
              <a:srgbClr val="062A44">
                <a:alpha val="9600"/>
              </a:srgbClr>
            </a:outerShdw>
          </a:effectLst>
        </p:spPr>
      </p:sp>
      <p:sp>
        <p:nvSpPr>
          <p:cNvPr id="9" name="Shape 6"/>
          <p:cNvSpPr/>
          <p:nvPr/>
        </p:nvSpPr>
        <p:spPr>
          <a:xfrm>
            <a:off x="576072" y="2651760"/>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0" name="Image 1" descr="Icon: barcode reader">    </p:cNvPr>
          <p:cNvPicPr>
            <a:picLocks noChangeAspect="1"/>
          </p:cNvPicPr>
          <p:nvPr/>
        </p:nvPicPr>
        <p:blipFill>
          <a:blip r:embed="rId3"/>
          <a:stretch>
            <a:fillRect/>
          </a:stretch>
        </p:blipFill>
        <p:spPr>
          <a:xfrm>
            <a:off x="576072" y="2651760"/>
            <a:ext cx="310896" cy="310896"/>
          </a:xfrm>
          <a:prstGeom prst="rect">
            <a:avLst/>
          </a:prstGeom>
        </p:spPr>
      </p:pic>
      <p:sp>
        <p:nvSpPr>
          <p:cNvPr id="11" name="Text 7"/>
          <p:cNvSpPr txBox="1"/>
          <p:nvPr/>
        </p:nvSpPr>
        <p:spPr>
          <a:xfrm>
            <a:off x="576072" y="3049524"/>
            <a:ext cx="626978"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62A44"/>
                </a:solidFill>
                <a:latin typeface="Arial" pitchFamily="34" charset="0"/>
                <a:ea typeface="Arial" pitchFamily="34" charset="-122"/>
                <a:cs typeface="Arial" pitchFamily="34" charset="-120"/>
              </a:rPr>
              <a:t>Shopfloor</a:t>
            </a:r>
            <a:endParaRPr lang="en-US" sz="940" dirty="0"/>
          </a:p>
        </p:txBody>
      </p:sp>
      <p:sp>
        <p:nvSpPr>
          <p:cNvPr id="12" name="Text 8"/>
          <p:cNvSpPr txBox="1"/>
          <p:nvPr/>
        </p:nvSpPr>
        <p:spPr>
          <a:xfrm>
            <a:off x="576072" y="3265694"/>
            <a:ext cx="937531"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Handheld OCR / QR</a:t>
            </a:r>
            <a:endParaRPr lang="en-US" sz="720" dirty="0"/>
          </a:p>
        </p:txBody>
      </p:sp>
      <p:sp>
        <p:nvSpPr>
          <p:cNvPr id="13" name="Text 9"/>
          <p:cNvSpPr txBox="1"/>
          <p:nvPr/>
        </p:nvSpPr>
        <p:spPr>
          <a:xfrm>
            <a:off x="576072" y="3421142"/>
            <a:ext cx="872781"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Serial + Good / NG</a:t>
            </a:r>
            <a:endParaRPr lang="en-US" sz="720" dirty="0"/>
          </a:p>
        </p:txBody>
      </p:sp>
      <p:pic>
        <p:nvPicPr>
          <p:cNvPr id="14" name="Image 2" descr="Icon: arrow forward">    </p:cNvPr>
          <p:cNvPicPr>
            <a:picLocks noChangeAspect="1"/>
          </p:cNvPicPr>
          <p:nvPr/>
        </p:nvPicPr>
        <p:blipFill>
          <a:blip r:embed="rId4"/>
          <a:stretch>
            <a:fillRect/>
          </a:stretch>
        </p:blipFill>
        <p:spPr>
          <a:xfrm>
            <a:off x="1933956" y="3035808"/>
            <a:ext cx="164592" cy="164592"/>
          </a:xfrm>
          <a:prstGeom prst="rect">
            <a:avLst/>
          </a:prstGeom>
        </p:spPr>
      </p:pic>
      <p:sp>
        <p:nvSpPr>
          <p:cNvPr id="15" name="Shape 10"/>
          <p:cNvSpPr/>
          <p:nvPr/>
        </p:nvSpPr>
        <p:spPr>
          <a:xfrm>
            <a:off x="2148840" y="2523744"/>
            <a:ext cx="1453896" cy="1207008"/>
          </a:xfrm>
          <a:prstGeom prst="roundRect">
            <a:avLst>
              <a:gd name="adj" fmla="val 10606"/>
            </a:avLst>
          </a:prstGeom>
          <a:solidFill>
            <a:srgbClr val="FFFFFF">
              <a:alpha val="78000"/>
            </a:srgbClr>
          </a:solidFill>
          <a:ln w="9144">
            <a:solidFill>
              <a:srgbClr val="062A44">
                <a:alpha val="10000"/>
              </a:srgbClr>
            </a:solidFill>
            <a:prstDash val="solid"/>
          </a:ln>
          <a:effectLst>
            <a:outerShdw sx="100000" sy="100000" kx="0" ky="0" algn="bl" rotWithShape="0" blurRad="329184" dist="128016" dir="5400000">
              <a:srgbClr val="062A44">
                <a:alpha val="9600"/>
              </a:srgbClr>
            </a:outerShdw>
          </a:effectLst>
        </p:spPr>
      </p:sp>
      <p:sp>
        <p:nvSpPr>
          <p:cNvPr id="16" name="Shape 11"/>
          <p:cNvSpPr/>
          <p:nvPr/>
        </p:nvSpPr>
        <p:spPr>
          <a:xfrm>
            <a:off x="2267712" y="2651760"/>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7" name="Image 3" descr="Icon: table view">    </p:cNvPr>
          <p:cNvPicPr>
            <a:picLocks noChangeAspect="1"/>
          </p:cNvPicPr>
          <p:nvPr/>
        </p:nvPicPr>
        <p:blipFill>
          <a:blip r:embed="rId5"/>
          <a:stretch>
            <a:fillRect/>
          </a:stretch>
        </p:blipFill>
        <p:spPr>
          <a:xfrm>
            <a:off x="2267712" y="2651760"/>
            <a:ext cx="310896" cy="310896"/>
          </a:xfrm>
          <a:prstGeom prst="rect">
            <a:avLst/>
          </a:prstGeom>
        </p:spPr>
      </p:pic>
      <p:sp>
        <p:nvSpPr>
          <p:cNvPr id="18" name="Text 12"/>
          <p:cNvSpPr txBox="1"/>
          <p:nvPr/>
        </p:nvSpPr>
        <p:spPr>
          <a:xfrm>
            <a:off x="2267712" y="3049524"/>
            <a:ext cx="920872"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62A44"/>
                </a:solidFill>
                <a:latin typeface="Arial" pitchFamily="34" charset="0"/>
                <a:ea typeface="Arial" pitchFamily="34" charset="-122"/>
                <a:cs typeface="Arial" pitchFamily="34" charset="-120"/>
              </a:rPr>
              <a:t>Google Sheets</a:t>
            </a:r>
            <a:endParaRPr lang="en-US" sz="940" dirty="0"/>
          </a:p>
        </p:txBody>
      </p:sp>
      <p:sp>
        <p:nvSpPr>
          <p:cNvPr id="19" name="Text 13"/>
          <p:cNvSpPr txBox="1"/>
          <p:nvPr/>
        </p:nvSpPr>
        <p:spPr>
          <a:xfrm>
            <a:off x="2267712" y="3265694"/>
            <a:ext cx="798443"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Auto-record data</a:t>
            </a:r>
            <a:endParaRPr lang="en-US" sz="720" dirty="0"/>
          </a:p>
        </p:txBody>
      </p:sp>
      <p:sp>
        <p:nvSpPr>
          <p:cNvPr id="20" name="Text 14"/>
          <p:cNvSpPr txBox="1"/>
          <p:nvPr/>
        </p:nvSpPr>
        <p:spPr>
          <a:xfrm>
            <a:off x="2267712" y="3421142"/>
            <a:ext cx="818245"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Real-time access</a:t>
            </a:r>
            <a:endParaRPr lang="en-US" sz="720" dirty="0"/>
          </a:p>
        </p:txBody>
      </p:sp>
      <p:pic>
        <p:nvPicPr>
          <p:cNvPr id="21" name="Image 4" descr="Icon: arrow forward">    </p:cNvPr>
          <p:cNvPicPr>
            <a:picLocks noChangeAspect="1"/>
          </p:cNvPicPr>
          <p:nvPr/>
        </p:nvPicPr>
        <p:blipFill>
          <a:blip r:embed="rId6"/>
          <a:stretch>
            <a:fillRect/>
          </a:stretch>
        </p:blipFill>
        <p:spPr>
          <a:xfrm>
            <a:off x="3625596" y="3035808"/>
            <a:ext cx="164592" cy="164592"/>
          </a:xfrm>
          <a:prstGeom prst="rect">
            <a:avLst/>
          </a:prstGeom>
        </p:spPr>
      </p:pic>
      <p:sp>
        <p:nvSpPr>
          <p:cNvPr id="22" name="Shape 15"/>
          <p:cNvSpPr/>
          <p:nvPr/>
        </p:nvSpPr>
        <p:spPr>
          <a:xfrm>
            <a:off x="3840480" y="2523744"/>
            <a:ext cx="1453896" cy="1207008"/>
          </a:xfrm>
          <a:prstGeom prst="roundRect">
            <a:avLst>
              <a:gd name="adj" fmla="val 10606"/>
            </a:avLst>
          </a:prstGeom>
          <a:solidFill>
            <a:srgbClr val="FFFFFF">
              <a:alpha val="78000"/>
            </a:srgbClr>
          </a:solidFill>
          <a:ln w="9144">
            <a:solidFill>
              <a:srgbClr val="062A44">
                <a:alpha val="10000"/>
              </a:srgbClr>
            </a:solidFill>
            <a:prstDash val="solid"/>
          </a:ln>
          <a:effectLst>
            <a:outerShdw sx="100000" sy="100000" kx="0" ky="0" algn="bl" rotWithShape="0" blurRad="329184" dist="128016" dir="5400000">
              <a:srgbClr val="062A44">
                <a:alpha val="9600"/>
              </a:srgbClr>
            </a:outerShdw>
          </a:effectLst>
        </p:spPr>
      </p:sp>
      <p:sp>
        <p:nvSpPr>
          <p:cNvPr id="23" name="Shape 16"/>
          <p:cNvSpPr/>
          <p:nvPr/>
        </p:nvSpPr>
        <p:spPr>
          <a:xfrm>
            <a:off x="3959352" y="2651760"/>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24" name="Image 5" descr="Icon: cloud">    </p:cNvPr>
          <p:cNvPicPr>
            <a:picLocks noChangeAspect="1"/>
          </p:cNvPicPr>
          <p:nvPr/>
        </p:nvPicPr>
        <p:blipFill>
          <a:blip r:embed="rId7"/>
          <a:stretch>
            <a:fillRect/>
          </a:stretch>
        </p:blipFill>
        <p:spPr>
          <a:xfrm>
            <a:off x="3959352" y="2651760"/>
            <a:ext cx="310896" cy="310896"/>
          </a:xfrm>
          <a:prstGeom prst="rect">
            <a:avLst/>
          </a:prstGeom>
        </p:spPr>
      </p:pic>
      <p:sp>
        <p:nvSpPr>
          <p:cNvPr id="25" name="Text 17"/>
          <p:cNvSpPr txBox="1"/>
          <p:nvPr/>
        </p:nvSpPr>
        <p:spPr>
          <a:xfrm>
            <a:off x="3959352" y="3049524"/>
            <a:ext cx="807558"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62A44"/>
                </a:solidFill>
                <a:latin typeface="Arial" pitchFamily="34" charset="0"/>
                <a:ea typeface="Arial" pitchFamily="34" charset="-122"/>
                <a:cs typeface="Arial" pitchFamily="34" charset="-120"/>
              </a:rPr>
              <a:t>Google Drive</a:t>
            </a:r>
            <a:endParaRPr lang="en-US" sz="940" dirty="0"/>
          </a:p>
        </p:txBody>
      </p:sp>
      <p:sp>
        <p:nvSpPr>
          <p:cNvPr id="26" name="Text 18"/>
          <p:cNvSpPr txBox="1"/>
          <p:nvPr/>
        </p:nvSpPr>
        <p:spPr>
          <a:xfrm>
            <a:off x="3959352" y="3265694"/>
            <a:ext cx="867751"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Shared online files</a:t>
            </a:r>
            <a:endParaRPr lang="en-US" sz="720" dirty="0"/>
          </a:p>
        </p:txBody>
      </p:sp>
      <p:sp>
        <p:nvSpPr>
          <p:cNvPr id="27" name="Text 19"/>
          <p:cNvSpPr txBox="1"/>
          <p:nvPr/>
        </p:nvSpPr>
        <p:spPr>
          <a:xfrm>
            <a:off x="3959352" y="3421142"/>
            <a:ext cx="859736"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Supervisor access</a:t>
            </a:r>
            <a:endParaRPr lang="en-US" sz="720" dirty="0"/>
          </a:p>
        </p:txBody>
      </p:sp>
      <p:pic>
        <p:nvPicPr>
          <p:cNvPr id="28" name="Image 6" descr="Icon: arrow forward">    </p:cNvPr>
          <p:cNvPicPr>
            <a:picLocks noChangeAspect="1"/>
          </p:cNvPicPr>
          <p:nvPr/>
        </p:nvPicPr>
        <p:blipFill>
          <a:blip r:embed="rId8"/>
          <a:stretch>
            <a:fillRect/>
          </a:stretch>
        </p:blipFill>
        <p:spPr>
          <a:xfrm>
            <a:off x="5317236" y="3035808"/>
            <a:ext cx="164592" cy="164592"/>
          </a:xfrm>
          <a:prstGeom prst="rect">
            <a:avLst/>
          </a:prstGeom>
        </p:spPr>
      </p:pic>
      <p:sp>
        <p:nvSpPr>
          <p:cNvPr id="29" name="Shape 20"/>
          <p:cNvSpPr/>
          <p:nvPr/>
        </p:nvSpPr>
        <p:spPr>
          <a:xfrm>
            <a:off x="5532120" y="2523744"/>
            <a:ext cx="1453896" cy="1207008"/>
          </a:xfrm>
          <a:prstGeom prst="roundRect">
            <a:avLst>
              <a:gd name="adj" fmla="val 10606"/>
            </a:avLst>
          </a:prstGeom>
          <a:solidFill>
            <a:srgbClr val="FFFFFF">
              <a:alpha val="78000"/>
            </a:srgbClr>
          </a:solidFill>
          <a:ln w="9144">
            <a:solidFill>
              <a:srgbClr val="062A44">
                <a:alpha val="10000"/>
              </a:srgbClr>
            </a:solidFill>
            <a:prstDash val="solid"/>
          </a:ln>
          <a:effectLst>
            <a:outerShdw sx="100000" sy="100000" kx="0" ky="0" algn="bl" rotWithShape="0" blurRad="329184" dist="128016" dir="5400000">
              <a:srgbClr val="062A44">
                <a:alpha val="9600"/>
              </a:srgbClr>
            </a:outerShdw>
          </a:effectLst>
        </p:spPr>
      </p:sp>
      <p:sp>
        <p:nvSpPr>
          <p:cNvPr id="30" name="Shape 21"/>
          <p:cNvSpPr/>
          <p:nvPr/>
        </p:nvSpPr>
        <p:spPr>
          <a:xfrm>
            <a:off x="5650992" y="2651760"/>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31" name="Image 7" descr="Icon: manage accounts">    </p:cNvPr>
          <p:cNvPicPr>
            <a:picLocks noChangeAspect="1"/>
          </p:cNvPicPr>
          <p:nvPr/>
        </p:nvPicPr>
        <p:blipFill>
          <a:blip r:embed="rId9"/>
          <a:stretch>
            <a:fillRect/>
          </a:stretch>
        </p:blipFill>
        <p:spPr>
          <a:xfrm>
            <a:off x="5650992" y="2651760"/>
            <a:ext cx="310896" cy="310896"/>
          </a:xfrm>
          <a:prstGeom prst="rect">
            <a:avLst/>
          </a:prstGeom>
        </p:spPr>
      </p:pic>
      <p:sp>
        <p:nvSpPr>
          <p:cNvPr id="32" name="Text 22"/>
          <p:cNvSpPr txBox="1"/>
          <p:nvPr/>
        </p:nvSpPr>
        <p:spPr>
          <a:xfrm>
            <a:off x="5650992" y="3049524"/>
            <a:ext cx="865394"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62A44"/>
                </a:solidFill>
                <a:latin typeface="Arial" pitchFamily="34" charset="0"/>
                <a:ea typeface="Arial" pitchFamily="34" charset="-122"/>
                <a:cs typeface="Arial" pitchFamily="34" charset="-120"/>
              </a:rPr>
              <a:t>Administrator</a:t>
            </a:r>
            <a:endParaRPr lang="en-US" sz="940" dirty="0"/>
          </a:p>
        </p:txBody>
      </p:sp>
      <p:sp>
        <p:nvSpPr>
          <p:cNvPr id="33" name="Text 23"/>
          <p:cNvSpPr txBox="1"/>
          <p:nvPr/>
        </p:nvSpPr>
        <p:spPr>
          <a:xfrm>
            <a:off x="5650992" y="3265694"/>
            <a:ext cx="883153"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Review online data</a:t>
            </a:r>
            <a:endParaRPr lang="en-US" sz="720" dirty="0"/>
          </a:p>
        </p:txBody>
      </p:sp>
      <p:sp>
        <p:nvSpPr>
          <p:cNvPr id="34" name="Text 24"/>
          <p:cNvSpPr txBox="1"/>
          <p:nvPr/>
        </p:nvSpPr>
        <p:spPr>
          <a:xfrm>
            <a:off x="5650992" y="3421142"/>
            <a:ext cx="741393"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Reconcile Excel</a:t>
            </a:r>
            <a:endParaRPr lang="en-US" sz="720" dirty="0"/>
          </a:p>
        </p:txBody>
      </p:sp>
      <p:pic>
        <p:nvPicPr>
          <p:cNvPr id="35" name="Image 8" descr="Icon: arrow forward">    </p:cNvPr>
          <p:cNvPicPr>
            <a:picLocks noChangeAspect="1"/>
          </p:cNvPicPr>
          <p:nvPr/>
        </p:nvPicPr>
        <p:blipFill>
          <a:blip r:embed="rId10"/>
          <a:stretch>
            <a:fillRect/>
          </a:stretch>
        </p:blipFill>
        <p:spPr>
          <a:xfrm>
            <a:off x="7008876" y="3035808"/>
            <a:ext cx="164592" cy="164592"/>
          </a:xfrm>
          <a:prstGeom prst="rect">
            <a:avLst/>
          </a:prstGeom>
        </p:spPr>
      </p:pic>
      <p:sp>
        <p:nvSpPr>
          <p:cNvPr id="36" name="Shape 25"/>
          <p:cNvSpPr/>
          <p:nvPr/>
        </p:nvSpPr>
        <p:spPr>
          <a:xfrm>
            <a:off x="7223760" y="2523744"/>
            <a:ext cx="1453896" cy="1207008"/>
          </a:xfrm>
          <a:prstGeom prst="roundRect">
            <a:avLst>
              <a:gd name="adj" fmla="val 10606"/>
            </a:avLst>
          </a:prstGeom>
          <a:solidFill>
            <a:srgbClr val="FFFFFF">
              <a:alpha val="78000"/>
            </a:srgbClr>
          </a:solidFill>
          <a:ln w="9144">
            <a:solidFill>
              <a:srgbClr val="062A44">
                <a:alpha val="10000"/>
              </a:srgbClr>
            </a:solidFill>
            <a:prstDash val="solid"/>
          </a:ln>
          <a:effectLst>
            <a:outerShdw sx="100000" sy="100000" kx="0" ky="0" algn="bl" rotWithShape="0" blurRad="329184" dist="128016" dir="5400000">
              <a:srgbClr val="062A44">
                <a:alpha val="9600"/>
              </a:srgbClr>
            </a:outerShdw>
          </a:effectLst>
        </p:spPr>
      </p:sp>
      <p:sp>
        <p:nvSpPr>
          <p:cNvPr id="37" name="Shape 26"/>
          <p:cNvSpPr/>
          <p:nvPr/>
        </p:nvSpPr>
        <p:spPr>
          <a:xfrm>
            <a:off x="7342632" y="2651760"/>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38" name="Image 9" descr="Icon: assignment turned in">    </p:cNvPr>
          <p:cNvPicPr>
            <a:picLocks noChangeAspect="1"/>
          </p:cNvPicPr>
          <p:nvPr/>
        </p:nvPicPr>
        <p:blipFill>
          <a:blip r:embed="rId11"/>
          <a:stretch>
            <a:fillRect/>
          </a:stretch>
        </p:blipFill>
        <p:spPr>
          <a:xfrm>
            <a:off x="7342632" y="2651760"/>
            <a:ext cx="310896" cy="310896"/>
          </a:xfrm>
          <a:prstGeom prst="rect">
            <a:avLst/>
          </a:prstGeom>
        </p:spPr>
      </p:pic>
      <p:sp>
        <p:nvSpPr>
          <p:cNvPr id="39" name="Text 27"/>
          <p:cNvSpPr txBox="1"/>
          <p:nvPr/>
        </p:nvSpPr>
        <p:spPr>
          <a:xfrm>
            <a:off x="7342632" y="3049524"/>
            <a:ext cx="1029786"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62A44"/>
                </a:solidFill>
                <a:latin typeface="Arial" pitchFamily="34" charset="0"/>
                <a:ea typeface="Arial" pitchFamily="34" charset="-122"/>
                <a:cs typeface="Arial" pitchFamily="34" charset="-120"/>
              </a:rPr>
              <a:t>Customer report</a:t>
            </a:r>
            <a:endParaRPr lang="en-US" sz="940" dirty="0"/>
          </a:p>
        </p:txBody>
      </p:sp>
      <p:sp>
        <p:nvSpPr>
          <p:cNvPr id="40" name="Text 28"/>
          <p:cNvSpPr txBox="1"/>
          <p:nvPr/>
        </p:nvSpPr>
        <p:spPr>
          <a:xfrm>
            <a:off x="7342632" y="3265694"/>
            <a:ext cx="799857"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Reviewed results</a:t>
            </a:r>
            <a:endParaRPr lang="en-US" sz="720" dirty="0"/>
          </a:p>
        </p:txBody>
      </p:sp>
      <p:sp>
        <p:nvSpPr>
          <p:cNvPr id="41" name="Text 29"/>
          <p:cNvSpPr txBox="1"/>
          <p:nvPr/>
        </p:nvSpPr>
        <p:spPr>
          <a:xfrm>
            <a:off x="7342632" y="3421142"/>
            <a:ext cx="872781" cy="160477"/>
          </a:xfrm>
          <a:prstGeom prst="rect">
            <a:avLst/>
          </a:prstGeom>
          <a:noFill/>
          <a:ln/>
        </p:spPr>
        <p:txBody>
          <a:bodyPr wrap="none" lIns="0" tIns="0" rIns="0" bIns="0" rtlCol="0" anchor="t"/>
          <a:lstStyle/>
          <a:p>
            <a:pPr algn="l" indent="0" marL="0">
              <a:lnSpc>
                <a:spcPts val="970"/>
              </a:lnSpc>
              <a:buNone/>
            </a:pPr>
            <a:r>
              <a:rPr lang="en-US" sz="720" dirty="0">
                <a:solidFill>
                  <a:srgbClr val="5A6E7E"/>
                </a:solidFill>
                <a:latin typeface="Arial" pitchFamily="34" charset="0"/>
                <a:ea typeface="Arial" pitchFamily="34" charset="-122"/>
                <a:cs typeface="Arial" pitchFamily="34" charset="-120"/>
              </a:rPr>
              <a:t>Submit final report</a:t>
            </a:r>
            <a:endParaRPr lang="en-US" sz="720" dirty="0"/>
          </a:p>
        </p:txBody>
      </p:sp>
      <p:sp>
        <p:nvSpPr>
          <p:cNvPr id="42" name="Shape 30"/>
          <p:cNvSpPr/>
          <p:nvPr/>
        </p:nvSpPr>
        <p:spPr>
          <a:xfrm>
            <a:off x="1184148" y="3730752"/>
            <a:ext cx="2107692" cy="713232"/>
          </a:xfrm>
          <a:custGeom>
            <a:avLst/>
            <a:gdLst/>
            <a:ahLst/>
            <a:cxnLst/>
            <a:rect l="l" t="t" r="r" b="b"/>
            <a:pathLst>
              <a:path w="2107692" h="713232">
                <a:moveTo>
                  <a:pt x="0" y="0"/>
                </a:moveTo>
                <a:lnTo>
                  <a:pt x="0" y="134330"/>
                </a:lnTo>
                <a:lnTo>
                  <a:pt x="0" y="268659"/>
                </a:lnTo>
                <a:lnTo>
                  <a:pt x="0" y="402989"/>
                </a:lnTo>
                <a:lnTo>
                  <a:pt x="0" y="537319"/>
                </a:lnTo>
                <a:lnTo>
                  <a:pt x="0" y="671649"/>
                </a:lnTo>
                <a:lnTo>
                  <a:pt x="92746" y="713232"/>
                </a:lnTo>
                <a:lnTo>
                  <a:pt x="227076" y="713232"/>
                </a:lnTo>
                <a:lnTo>
                  <a:pt x="361406" y="713232"/>
                </a:lnTo>
                <a:lnTo>
                  <a:pt x="495736" y="713232"/>
                </a:lnTo>
                <a:lnTo>
                  <a:pt x="630065" y="713232"/>
                </a:lnTo>
                <a:lnTo>
                  <a:pt x="764395" y="713232"/>
                </a:lnTo>
                <a:lnTo>
                  <a:pt x="898725" y="713232"/>
                </a:lnTo>
                <a:lnTo>
                  <a:pt x="1033054" y="713232"/>
                </a:lnTo>
                <a:lnTo>
                  <a:pt x="1167384" y="713232"/>
                </a:lnTo>
                <a:lnTo>
                  <a:pt x="1301714" y="713232"/>
                </a:lnTo>
                <a:lnTo>
                  <a:pt x="1436043" y="713232"/>
                </a:lnTo>
                <a:lnTo>
                  <a:pt x="1570373" y="713232"/>
                </a:lnTo>
                <a:lnTo>
                  <a:pt x="1704703" y="713232"/>
                </a:lnTo>
                <a:lnTo>
                  <a:pt x="1839033" y="713232"/>
                </a:lnTo>
                <a:lnTo>
                  <a:pt x="1973362" y="713232"/>
                </a:lnTo>
                <a:lnTo>
                  <a:pt x="2107692" y="713232"/>
                </a:lnTo>
              </a:path>
            </a:pathLst>
          </a:custGeom>
          <a:ln w="14630">
            <a:solidFill>
              <a:srgbClr val="2E7FB8"/>
            </a:solidFill>
            <a:prstDash val="sysDot"/>
          </a:ln>
        </p:spPr>
      </p:sp>
      <p:sp>
        <p:nvSpPr>
          <p:cNvPr id="43" name="Shape 31"/>
          <p:cNvSpPr/>
          <p:nvPr/>
        </p:nvSpPr>
        <p:spPr>
          <a:xfrm>
            <a:off x="5852160" y="3785616"/>
            <a:ext cx="406908" cy="658368"/>
          </a:xfrm>
          <a:custGeom>
            <a:avLst/>
            <a:gdLst/>
            <a:ahLst/>
            <a:cxnLst/>
            <a:rect l="l" t="t" r="r" b="b"/>
            <a:pathLst>
              <a:path w="406908" h="658368">
                <a:moveTo>
                  <a:pt x="0" y="658368"/>
                </a:moveTo>
                <a:lnTo>
                  <a:pt x="133160" y="658368"/>
                </a:lnTo>
                <a:lnTo>
                  <a:pt x="266319" y="658368"/>
                </a:lnTo>
                <a:lnTo>
                  <a:pt x="399478" y="658368"/>
                </a:lnTo>
                <a:lnTo>
                  <a:pt x="406908" y="532638"/>
                </a:lnTo>
                <a:lnTo>
                  <a:pt x="406908" y="399478"/>
                </a:lnTo>
                <a:lnTo>
                  <a:pt x="406908" y="266319"/>
                </a:lnTo>
                <a:lnTo>
                  <a:pt x="406908" y="133159"/>
                </a:lnTo>
                <a:lnTo>
                  <a:pt x="406908" y="0"/>
                </a:lnTo>
              </a:path>
            </a:pathLst>
          </a:custGeom>
          <a:ln w="14630">
            <a:solidFill>
              <a:srgbClr val="2E7FB8"/>
            </a:solidFill>
            <a:prstDash val="sysDot"/>
          </a:ln>
        </p:spPr>
      </p:sp>
      <p:sp>
        <p:nvSpPr>
          <p:cNvPr id="44" name="Shape 32"/>
          <p:cNvSpPr/>
          <p:nvPr/>
        </p:nvSpPr>
        <p:spPr>
          <a:xfrm>
            <a:off x="6167628" y="3767328"/>
            <a:ext cx="182880" cy="128016"/>
          </a:xfrm>
          <a:custGeom>
            <a:avLst/>
            <a:gdLst/>
            <a:ahLst/>
            <a:cxnLst/>
            <a:rect l="l" t="t" r="r" b="b"/>
            <a:pathLst>
              <a:path w="182880" h="128016">
                <a:moveTo>
                  <a:pt x="0" y="128016"/>
                </a:moveTo>
                <a:lnTo>
                  <a:pt x="22860" y="96012"/>
                </a:lnTo>
                <a:lnTo>
                  <a:pt x="45720" y="64008"/>
                </a:lnTo>
                <a:lnTo>
                  <a:pt x="68580" y="32004"/>
                </a:lnTo>
                <a:lnTo>
                  <a:pt x="91440" y="0"/>
                </a:lnTo>
                <a:lnTo>
                  <a:pt x="114300" y="32004"/>
                </a:lnTo>
                <a:lnTo>
                  <a:pt x="137160" y="64008"/>
                </a:lnTo>
                <a:lnTo>
                  <a:pt x="160020" y="96012"/>
                </a:lnTo>
                <a:lnTo>
                  <a:pt x="182880" y="128016"/>
                </a:lnTo>
              </a:path>
            </a:pathLst>
          </a:custGeom>
          <a:ln w="14630">
            <a:solidFill>
              <a:srgbClr val="2E7FB8"/>
            </a:solidFill>
            <a:prstDash val="sysDot"/>
          </a:ln>
        </p:spPr>
      </p:sp>
      <p:sp>
        <p:nvSpPr>
          <p:cNvPr id="45" name="Shape 33"/>
          <p:cNvSpPr/>
          <p:nvPr/>
        </p:nvSpPr>
        <p:spPr>
          <a:xfrm>
            <a:off x="3291840" y="4151376"/>
            <a:ext cx="2560320" cy="585216"/>
          </a:xfrm>
          <a:prstGeom prst="roundRect">
            <a:avLst>
              <a:gd name="adj" fmla="val 18750"/>
            </a:avLst>
          </a:prstGeom>
          <a:solidFill>
            <a:srgbClr val="FFFFFF">
              <a:alpha val="85000"/>
            </a:srgbClr>
          </a:solidFill>
          <a:ln w="9144">
            <a:solidFill>
              <a:srgbClr val="2E7FB8">
                <a:alpha val="35000"/>
              </a:srgbClr>
            </a:solidFill>
            <a:prstDash val="solid"/>
          </a:ln>
        </p:spPr>
      </p:sp>
      <p:pic>
        <p:nvPicPr>
          <p:cNvPr id="46" name="Image 10" descr="Icon: table chart">    </p:cNvPr>
          <p:cNvPicPr>
            <a:picLocks noChangeAspect="1"/>
          </p:cNvPicPr>
          <p:nvPr/>
        </p:nvPicPr>
        <p:blipFill>
          <a:blip r:embed="rId12"/>
          <a:stretch>
            <a:fillRect/>
          </a:stretch>
        </p:blipFill>
        <p:spPr>
          <a:xfrm>
            <a:off x="3419856" y="4352544"/>
            <a:ext cx="182880" cy="182880"/>
          </a:xfrm>
          <a:prstGeom prst="rect">
            <a:avLst/>
          </a:prstGeom>
        </p:spPr>
      </p:pic>
      <p:sp>
        <p:nvSpPr>
          <p:cNvPr id="47" name="Text 34"/>
          <p:cNvSpPr txBox="1"/>
          <p:nvPr/>
        </p:nvSpPr>
        <p:spPr>
          <a:xfrm>
            <a:off x="3703320" y="4291679"/>
            <a:ext cx="730391" cy="221045"/>
          </a:xfrm>
          <a:prstGeom prst="rect">
            <a:avLst/>
          </a:prstGeom>
          <a:noFill/>
          <a:ln/>
        </p:spPr>
        <p:txBody>
          <a:bodyPr wrap="none" lIns="0" tIns="0" rIns="0" bIns="0" rtlCol="0" anchor="t"/>
          <a:lstStyle/>
          <a:p>
            <a:pPr algn="l" indent="0" marL="0">
              <a:lnSpc>
                <a:spcPts val="1340"/>
              </a:lnSpc>
              <a:buNone/>
            </a:pPr>
            <a:r>
              <a:rPr lang="en-US" sz="860" b="1" dirty="0">
                <a:solidFill>
                  <a:srgbClr val="062A44"/>
                </a:solidFill>
                <a:latin typeface="Arial" pitchFamily="34" charset="0"/>
                <a:ea typeface="Arial" pitchFamily="34" charset="-122"/>
                <a:cs typeface="Arial" pitchFamily="34" charset="-120"/>
              </a:rPr>
              <a:t>Excel offline</a:t>
            </a:r>
            <a:endParaRPr lang="en-US" sz="860" dirty="0"/>
          </a:p>
        </p:txBody>
      </p:sp>
      <p:sp>
        <p:nvSpPr>
          <p:cNvPr id="48" name="Text 35"/>
          <p:cNvSpPr txBox="1"/>
          <p:nvPr/>
        </p:nvSpPr>
        <p:spPr>
          <a:xfrm>
            <a:off x="3703320" y="4461701"/>
            <a:ext cx="1187891" cy="174982"/>
          </a:xfrm>
          <a:prstGeom prst="rect">
            <a:avLst/>
          </a:prstGeom>
          <a:noFill/>
          <a:ln/>
        </p:spPr>
        <p:txBody>
          <a:bodyPr wrap="none" lIns="0" tIns="0" rIns="0" bIns="0" rtlCol="0" anchor="t"/>
          <a:lstStyle/>
          <a:p>
            <a:pPr algn="l" indent="0" marL="0">
              <a:lnSpc>
                <a:spcPts val="1060"/>
              </a:lnSpc>
              <a:buNone/>
            </a:pPr>
            <a:r>
              <a:rPr lang="en-US" sz="680" dirty="0">
                <a:solidFill>
                  <a:srgbClr val="5A6E7E"/>
                </a:solidFill>
                <a:latin typeface="Arial" pitchFamily="34" charset="0"/>
                <a:ea typeface="Arial" pitchFamily="34" charset="-122"/>
                <a:cs typeface="Arial" pitchFamily="34" charset="-120"/>
              </a:rPr>
              <a:t>Local serial + status record</a:t>
            </a:r>
            <a:endParaRPr lang="en-US" sz="680" dirty="0"/>
          </a:p>
        </p:txBody>
      </p:sp>
      <p:sp>
        <p:nvSpPr>
          <p:cNvPr id="49" name="Text 36"/>
          <p:cNvSpPr txBox="1"/>
          <p:nvPr/>
        </p:nvSpPr>
        <p:spPr>
          <a:xfrm>
            <a:off x="6400800" y="4224528"/>
            <a:ext cx="1569010" cy="152339"/>
          </a:xfrm>
          <a:prstGeom prst="rect">
            <a:avLst/>
          </a:prstGeom>
          <a:noFill/>
          <a:ln/>
        </p:spPr>
        <p:txBody>
          <a:bodyPr wrap="none" lIns="0" tIns="0" rIns="0" bIns="0" rtlCol="0" anchor="t"/>
          <a:lstStyle/>
          <a:p>
            <a:pPr algn="l" indent="0" marL="0">
              <a:lnSpc>
                <a:spcPts val="920"/>
              </a:lnSpc>
              <a:buNone/>
            </a:pPr>
            <a:r>
              <a:rPr lang="en-US" sz="680" dirty="0">
                <a:solidFill>
                  <a:srgbClr val="5A6E7E"/>
                </a:solidFill>
                <a:latin typeface="Arial" pitchFamily="34" charset="0"/>
                <a:ea typeface="Arial" pitchFamily="34" charset="-122"/>
                <a:cs typeface="Arial" pitchFamily="34" charset="-120"/>
              </a:rPr>
              <a:t>Reconcile offline and online records</a:t>
            </a:r>
            <a:endParaRPr lang="en-US" sz="680" dirty="0"/>
          </a:p>
        </p:txBody>
      </p:sp>
      <p:sp>
        <p:nvSpPr>
          <p:cNvPr id="50" name="Text 37"/>
          <p:cNvSpPr txBox="1"/>
          <p:nvPr/>
        </p:nvSpPr>
        <p:spPr>
          <a:xfrm>
            <a:off x="457200" y="4789884"/>
            <a:ext cx="4274877" cy="156585"/>
          </a:xfrm>
          <a:prstGeom prst="rect">
            <a:avLst/>
          </a:prstGeom>
          <a:noFill/>
          <a:ln/>
        </p:spPr>
        <p:txBody>
          <a:bodyPr wrap="none" lIns="0" tIns="0" rIns="0" bIns="0" rtlCol="0" anchor="t"/>
          <a:lstStyle/>
          <a:p>
            <a:pPr algn="l" indent="0" marL="0">
              <a:lnSpc>
                <a:spcPts val="950"/>
              </a:lnSpc>
              <a:buNone/>
            </a:pPr>
            <a:r>
              <a:rPr lang="en-US" sz="610" dirty="0">
                <a:solidFill>
                  <a:srgbClr val="7A8C99"/>
                </a:solidFill>
                <a:latin typeface="Arial" pitchFamily="34" charset="0"/>
                <a:ea typeface="Arial" pitchFamily="34" charset="-122"/>
                <a:cs typeface="Arial" pitchFamily="34" charset="-120"/>
              </a:rPr>
              <a:t>Source: supplied OCR capture and MMTH hybrid workflow. Generic icons denote functions, not product logos.</a:t>
            </a:r>
            <a:endParaRPr lang="en-US" sz="610" dirty="0"/>
          </a:p>
        </p:txBody>
      </p:sp>
    </p:spTree>
  </p:cSld>
  <p:clrMapOvr>
    <a:masterClrMapping/>
  </p:clrMapOvr>
  <p:transition spd="med">
    <p:push dir="r"/>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52144"/>
            <a:ext cx="2464522"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OPERATION EXCELLENCE / POKA-YOKE</a:t>
            </a:r>
            <a:endParaRPr lang="en-US" sz="720" dirty="0"/>
          </a:p>
        </p:txBody>
      </p:sp>
      <p:sp>
        <p:nvSpPr>
          <p:cNvPr id="5" name="Gradient shape"/>
          <p:cNvSpPr/>
          <p:nvPr/>
        </p:nvSpPr>
        <p:spPr>
          <a:xfrm>
            <a:off x="457200" y="1187806"/>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44168"/>
            <a:ext cx="6277599" cy="400089"/>
          </a:xfrm>
          <a:prstGeom prst="rect">
            <a:avLst/>
          </a:prstGeom>
          <a:noFill/>
          <a:ln/>
        </p:spPr>
        <p:txBody>
          <a:bodyPr wrap="none" lIns="0" tIns="0" rIns="0" bIns="0" rtlCol="0" anchor="t"/>
          <a:lstStyle/>
          <a:p>
            <a:pPr algn="l" indent="0" marL="0">
              <a:lnSpc>
                <a:spcPts val="2420"/>
              </a:lnSpc>
              <a:buNone/>
            </a:pPr>
            <a:r>
              <a:rPr lang="en-US" sz="2380" spc="-119" kern="0" dirty="0">
                <a:solidFill>
                  <a:srgbClr val="062A44"/>
                </a:solidFill>
                <a:latin typeface="Arial" pitchFamily="34" charset="0"/>
                <a:ea typeface="Arial" pitchFamily="34" charset="-122"/>
                <a:cs typeface="Arial" pitchFamily="34" charset="-120"/>
              </a:rPr>
              <a:t>Four controls protect</a:t>
            </a:r>
            <a:pPr algn="l" indent="0" marL="0">
              <a:lnSpc>
                <a:spcPts val="2420"/>
              </a:lnSpc>
              <a:buNone/>
            </a:pPr>
            <a:r>
              <a:rPr lang="en-US" sz="2380" b="1" spc="-119" kern="0" dirty="0">
                <a:solidFill>
                  <a:srgbClr val="0D3E61"/>
                </a:solidFill>
                <a:latin typeface="Arial" pitchFamily="34" charset="0"/>
                <a:ea typeface="Arial" pitchFamily="34" charset="-122"/>
                <a:cs typeface="Arial" pitchFamily="34" charset="-120"/>
              </a:rPr>
              <a:t> e</a:t>
            </a:r>
            <a:pPr algn="l" indent="0" marL="0">
              <a:lnSpc>
                <a:spcPts val="2420"/>
              </a:lnSpc>
              <a:buNone/>
            </a:pPr>
            <a:r>
              <a:rPr lang="en-US" sz="2380" b="1" spc="-119" kern="0" dirty="0">
                <a:solidFill>
                  <a:srgbClr val="10456A"/>
                </a:solidFill>
                <a:latin typeface="Arial" pitchFamily="34" charset="0"/>
                <a:ea typeface="Arial" pitchFamily="34" charset="-122"/>
                <a:cs typeface="Arial" pitchFamily="34" charset="-120"/>
              </a:rPr>
              <a:t>v</a:t>
            </a:r>
            <a:pPr algn="l" indent="0" marL="0">
              <a:lnSpc>
                <a:spcPts val="2420"/>
              </a:lnSpc>
              <a:buNone/>
            </a:pPr>
            <a:r>
              <a:rPr lang="en-US" sz="2380" b="1" spc="-119" kern="0" dirty="0">
                <a:solidFill>
                  <a:srgbClr val="144C74"/>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17527C"/>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1A5884"/>
                </a:solidFill>
                <a:latin typeface="Arial" pitchFamily="34" charset="0"/>
                <a:ea typeface="Arial" pitchFamily="34" charset="-122"/>
                <a:cs typeface="Arial" pitchFamily="34" charset="-120"/>
              </a:rPr>
              <a:t>y</a:t>
            </a:r>
            <a:pPr algn="l" indent="0" marL="0">
              <a:lnSpc>
                <a:spcPts val="2420"/>
              </a:lnSpc>
              <a:buNone/>
            </a:pPr>
            <a:r>
              <a:rPr lang="en-US" sz="2380" b="1" spc="-119" kern="0" dirty="0">
                <a:solidFill>
                  <a:srgbClr val="1E608E"/>
                </a:solidFill>
                <a:latin typeface="Arial" pitchFamily="34" charset="0"/>
                <a:ea typeface="Arial" pitchFamily="34" charset="-122"/>
                <a:cs typeface="Arial" pitchFamily="34" charset="-120"/>
              </a:rPr>
              <a:t> i</a:t>
            </a:r>
            <a:pPr algn="l" indent="0" marL="0">
              <a:lnSpc>
                <a:spcPts val="2420"/>
              </a:lnSpc>
              <a:buNone/>
            </a:pPr>
            <a:r>
              <a:rPr lang="en-US" sz="2380" b="1" spc="-119" kern="0" dirty="0">
                <a:solidFill>
                  <a:srgbClr val="216596"/>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256C9F"/>
                </a:solidFill>
                <a:latin typeface="Arial" pitchFamily="34" charset="0"/>
                <a:ea typeface="Arial" pitchFamily="34" charset="-122"/>
                <a:cs typeface="Arial" pitchFamily="34" charset="-120"/>
              </a:rPr>
              <a:t>s</a:t>
            </a:r>
            <a:pPr algn="l" indent="0" marL="0">
              <a:lnSpc>
                <a:spcPts val="2420"/>
              </a:lnSpc>
              <a:buNone/>
            </a:pPr>
            <a:r>
              <a:rPr lang="en-US" sz="2380" b="1" spc="-119" kern="0" dirty="0">
                <a:solidFill>
                  <a:srgbClr val="2874A9"/>
                </a:solidFill>
                <a:latin typeface="Arial" pitchFamily="34" charset="0"/>
                <a:ea typeface="Arial" pitchFamily="34" charset="-122"/>
                <a:cs typeface="Arial" pitchFamily="34" charset="-120"/>
              </a:rPr>
              <a:t>p</a:t>
            </a:r>
            <a:pPr algn="l" indent="0" marL="0">
              <a:lnSpc>
                <a:spcPts val="2420"/>
              </a:lnSpc>
              <a:buNone/>
            </a:pPr>
            <a:r>
              <a:rPr lang="en-US" sz="2380" b="1" spc="-119" kern="0" dirty="0">
                <a:solidFill>
                  <a:srgbClr val="2C7BB3"/>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3281B0"/>
                </a:solidFill>
                <a:latin typeface="Arial" pitchFamily="34" charset="0"/>
                <a:ea typeface="Arial" pitchFamily="34" charset="-122"/>
                <a:cs typeface="Arial" pitchFamily="34" charset="-120"/>
              </a:rPr>
              <a:t>c</a:t>
            </a:r>
            <a:pPr algn="l" indent="0" marL="0">
              <a:lnSpc>
                <a:spcPts val="2420"/>
              </a:lnSpc>
              <a:buNone/>
            </a:pPr>
            <a:r>
              <a:rPr lang="en-US" sz="2380" b="1" spc="-119" kern="0" dirty="0">
                <a:solidFill>
                  <a:srgbClr val="3984A3"/>
                </a:solidFill>
                <a:latin typeface="Arial" pitchFamily="34" charset="0"/>
                <a:ea typeface="Arial" pitchFamily="34" charset="-122"/>
                <a:cs typeface="Arial" pitchFamily="34" charset="-120"/>
              </a:rPr>
              <a:t>t</a:t>
            </a:r>
            <a:pPr algn="l" indent="0" marL="0">
              <a:lnSpc>
                <a:spcPts val="2420"/>
              </a:lnSpc>
              <a:buNone/>
            </a:pPr>
            <a:r>
              <a:rPr lang="en-US" sz="2380" b="1" spc="-119" kern="0" dirty="0">
                <a:solidFill>
                  <a:srgbClr val="3D879B"/>
                </a:solidFill>
                <a:latin typeface="Arial" pitchFamily="34" charset="0"/>
                <a:ea typeface="Arial" pitchFamily="34" charset="-122"/>
                <a:cs typeface="Arial" pitchFamily="34" charset="-120"/>
              </a:rPr>
              <a:t>i</a:t>
            </a:r>
            <a:pPr algn="l" indent="0" marL="0">
              <a:lnSpc>
                <a:spcPts val="2420"/>
              </a:lnSpc>
              <a:buNone/>
            </a:pPr>
            <a:r>
              <a:rPr lang="en-US" sz="2380" b="1" spc="-119" kern="0" dirty="0">
                <a:solidFill>
                  <a:srgbClr val="438990"/>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4B8E80"/>
                </a:solidFill>
                <a:latin typeface="Arial" pitchFamily="34" charset="0"/>
                <a:ea typeface="Arial" pitchFamily="34" charset="-122"/>
                <a:cs typeface="Arial" pitchFamily="34" charset="-120"/>
              </a:rPr>
              <a:t>n</a:t>
            </a:r>
            <a:pPr algn="l" indent="0" marL="0">
              <a:lnSpc>
                <a:spcPts val="2420"/>
              </a:lnSpc>
              <a:buNone/>
            </a:pPr>
            <a:r>
              <a:rPr lang="en-US" sz="2380" b="1" spc="-119" kern="0" dirty="0">
                <a:solidFill>
                  <a:srgbClr val="54926D"/>
                </a:solidFill>
                <a:latin typeface="Arial" pitchFamily="34" charset="0"/>
                <a:ea typeface="Arial" pitchFamily="34" charset="-122"/>
                <a:cs typeface="Arial" pitchFamily="34" charset="-120"/>
              </a:rPr>
              <a:t> r</a:t>
            </a:r>
            <a:pPr algn="l" indent="0" marL="0">
              <a:lnSpc>
                <a:spcPts val="2420"/>
              </a:lnSpc>
              <a:buNone/>
            </a:pPr>
            <a:r>
              <a:rPr lang="en-US" sz="2380" b="1" spc="-119" kern="0" dirty="0">
                <a:solidFill>
                  <a:srgbClr val="5B9661"/>
                </a:solidFill>
                <a:latin typeface="Arial" pitchFamily="34" charset="0"/>
                <a:ea typeface="Arial" pitchFamily="34" charset="-122"/>
                <a:cs typeface="Arial" pitchFamily="34" charset="-120"/>
              </a:rPr>
              <a:t>e</a:t>
            </a:r>
            <a:pPr algn="l" indent="0" marL="0">
              <a:lnSpc>
                <a:spcPts val="2420"/>
              </a:lnSpc>
              <a:buNone/>
            </a:pPr>
            <a:r>
              <a:rPr lang="en-US" sz="2380" b="1" spc="-119" kern="0" dirty="0">
                <a:solidFill>
                  <a:srgbClr val="639A51"/>
                </a:solidFill>
                <a:latin typeface="Arial" pitchFamily="34" charset="0"/>
                <a:ea typeface="Arial" pitchFamily="34" charset="-122"/>
                <a:cs typeface="Arial" pitchFamily="34" charset="-120"/>
              </a:rPr>
              <a:t>c</a:t>
            </a:r>
            <a:pPr algn="l" indent="0" marL="0">
              <a:lnSpc>
                <a:spcPts val="2420"/>
              </a:lnSpc>
              <a:buNone/>
            </a:pPr>
            <a:r>
              <a:rPr lang="en-US" sz="2380" b="1" spc="-119" kern="0" dirty="0">
                <a:solidFill>
                  <a:srgbClr val="6B9E42"/>
                </a:solidFill>
                <a:latin typeface="Arial" pitchFamily="34" charset="0"/>
                <a:ea typeface="Arial" pitchFamily="34" charset="-122"/>
                <a:cs typeface="Arial" pitchFamily="34" charset="-120"/>
              </a:rPr>
              <a:t>o</a:t>
            </a:r>
            <a:pPr algn="l" indent="0" marL="0">
              <a:lnSpc>
                <a:spcPts val="2420"/>
              </a:lnSpc>
              <a:buNone/>
            </a:pPr>
            <a:r>
              <a:rPr lang="en-US" sz="2380" b="1" spc="-119" kern="0" dirty="0">
                <a:solidFill>
                  <a:srgbClr val="71A135"/>
                </a:solidFill>
                <a:latin typeface="Arial" pitchFamily="34" charset="0"/>
                <a:ea typeface="Arial" pitchFamily="34" charset="-122"/>
                <a:cs typeface="Arial" pitchFamily="34" charset="-120"/>
              </a:rPr>
              <a:t>r</a:t>
            </a:r>
            <a:pPr algn="l" indent="0" marL="0">
              <a:lnSpc>
                <a:spcPts val="2420"/>
              </a:lnSpc>
              <a:buNone/>
            </a:pPr>
            <a:r>
              <a:rPr lang="en-US" sz="2380" b="1" spc="-119" kern="0" dirty="0">
                <a:solidFill>
                  <a:srgbClr val="78A428"/>
                </a:solidFill>
                <a:latin typeface="Arial" pitchFamily="34" charset="0"/>
                <a:ea typeface="Arial" pitchFamily="34" charset="-122"/>
                <a:cs typeface="Arial" pitchFamily="34" charset="-120"/>
              </a:rPr>
              <a:t>d</a:t>
            </a:r>
            <a:pPr algn="l" indent="0" marL="0">
              <a:lnSpc>
                <a:spcPts val="2420"/>
              </a:lnSpc>
              <a:buNone/>
            </a:pPr>
            <a:r>
              <a:rPr lang="en-US" sz="2380" b="1" spc="-119" kern="0" dirty="0">
                <a:solidFill>
                  <a:srgbClr val="7EA71D"/>
                </a:solidFill>
                <a:latin typeface="Arial" pitchFamily="34" charset="0"/>
                <a:ea typeface="Arial" pitchFamily="34" charset="-122"/>
                <a:cs typeface="Arial" pitchFamily="34" charset="-120"/>
              </a:rPr>
              <a:t>.</a:t>
            </a:r>
            <a:endParaRPr lang="en-US" sz="2380" dirty="0"/>
          </a:p>
        </p:txBody>
      </p:sp>
      <p:sp>
        <p:nvSpPr>
          <p:cNvPr id="7" name="Text 4"/>
          <p:cNvSpPr txBox="1"/>
          <p:nvPr/>
        </p:nvSpPr>
        <p:spPr>
          <a:xfrm>
            <a:off x="457200" y="1752505"/>
            <a:ext cx="5160016" cy="240716"/>
          </a:xfrm>
          <a:prstGeom prst="rect">
            <a:avLst/>
          </a:prstGeom>
          <a:noFill/>
          <a:ln/>
        </p:spPr>
        <p:txBody>
          <a:bodyPr wrap="none" lIns="0" tIns="0" rIns="0" bIns="0" rtlCol="0" anchor="t"/>
          <a:lstStyle/>
          <a:p>
            <a:pPr algn="l" indent="0" marL="0">
              <a:lnSpc>
                <a:spcPts val="1460"/>
              </a:lnSpc>
              <a:buNone/>
            </a:pPr>
            <a:r>
              <a:rPr lang="en-US" sz="970" dirty="0">
                <a:solidFill>
                  <a:srgbClr val="5A6E7E"/>
                </a:solidFill>
                <a:latin typeface="Arial" pitchFamily="34" charset="0"/>
                <a:ea typeface="Arial" pitchFamily="34" charset="-122"/>
                <a:cs typeface="Arial" pitchFamily="34" charset="-120"/>
              </a:rPr>
              <a:t>Visual + voice guidance at capture. Administrator review before customer reporting.</a:t>
            </a:r>
            <a:endParaRPr lang="en-US" sz="970" dirty="0"/>
          </a:p>
        </p:txBody>
      </p:sp>
      <p:sp>
        <p:nvSpPr>
          <p:cNvPr id="8" name="Shape 5"/>
          <p:cNvSpPr/>
          <p:nvPr/>
        </p:nvSpPr>
        <p:spPr>
          <a:xfrm>
            <a:off x="457200" y="2322576"/>
            <a:ext cx="4023360" cy="676656"/>
          </a:xfrm>
          <a:prstGeom prst="roundRect">
            <a:avLst>
              <a:gd name="adj" fmla="val 18919"/>
            </a:avLst>
          </a:prstGeom>
          <a:solidFill>
            <a:srgbClr val="FFFFFF">
              <a:alpha val="75000"/>
            </a:srgbClr>
          </a:solidFill>
          <a:ln w="9144">
            <a:solidFill>
              <a:srgbClr val="062A44">
                <a:alpha val="10000"/>
              </a:srgbClr>
            </a:solidFill>
            <a:prstDash val="solid"/>
          </a:ln>
          <a:effectLst>
            <a:outerShdw sx="100000" sy="100000" kx="0" ky="0" algn="bl" rotWithShape="0" blurRad="329184" dist="128016" dir="5400000">
              <a:srgbClr val="062A44">
                <a:alpha val="8400"/>
              </a:srgbClr>
            </a:outerShdw>
          </a:effectLst>
        </p:spPr>
      </p:sp>
      <p:sp>
        <p:nvSpPr>
          <p:cNvPr id="9" name="Shape 6"/>
          <p:cNvSpPr/>
          <p:nvPr/>
        </p:nvSpPr>
        <p:spPr>
          <a:xfrm>
            <a:off x="621792" y="2459736"/>
            <a:ext cx="402336" cy="402336"/>
          </a:xfrm>
          <a:prstGeom prst="roundRect">
            <a:avLst>
              <a:gd name="adj" fmla="val 27273"/>
            </a:avLst>
          </a:prstGeom>
          <a:solidFill>
            <a:srgbClr val="2E7FB8">
              <a:alpha val="7000"/>
            </a:srgbClr>
          </a:solidFill>
          <a:ln w="9144">
            <a:solidFill>
              <a:srgbClr val="2E7FB8">
                <a:alpha val="28000"/>
              </a:srgbClr>
            </a:solidFill>
            <a:prstDash val="solid"/>
          </a:ln>
        </p:spPr>
      </p:sp>
      <p:pic>
        <p:nvPicPr>
          <p:cNvPr id="10" name="Image 1" descr="Icon: rule">    </p:cNvPr>
          <p:cNvPicPr>
            <a:picLocks noChangeAspect="1"/>
          </p:cNvPicPr>
          <p:nvPr/>
        </p:nvPicPr>
        <p:blipFill>
          <a:blip r:embed="rId3"/>
          <a:stretch>
            <a:fillRect/>
          </a:stretch>
        </p:blipFill>
        <p:spPr>
          <a:xfrm>
            <a:off x="621792" y="2459736"/>
            <a:ext cx="402336" cy="402336"/>
          </a:xfrm>
          <a:prstGeom prst="rect">
            <a:avLst/>
          </a:prstGeom>
        </p:spPr>
      </p:pic>
      <p:sp>
        <p:nvSpPr>
          <p:cNvPr id="11" name="Text 7"/>
          <p:cNvSpPr txBox="1"/>
          <p:nvPr/>
        </p:nvSpPr>
        <p:spPr>
          <a:xfrm>
            <a:off x="1152144" y="2471595"/>
            <a:ext cx="1298534"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62A44"/>
                </a:solidFill>
                <a:latin typeface="Arial" pitchFamily="34" charset="0"/>
                <a:ea typeface="Arial" pitchFamily="34" charset="-122"/>
                <a:cs typeface="Arial" pitchFamily="34" charset="-120"/>
              </a:rPr>
              <a:t>Wrong part / serial</a:t>
            </a:r>
            <a:endParaRPr lang="en-US" sz="1040" dirty="0"/>
          </a:p>
        </p:txBody>
      </p:sp>
      <p:sp>
        <p:nvSpPr>
          <p:cNvPr id="12" name="Text 8"/>
          <p:cNvSpPr txBox="1"/>
          <p:nvPr/>
        </p:nvSpPr>
        <p:spPr>
          <a:xfrm>
            <a:off x="1152144" y="2704481"/>
            <a:ext cx="3422271" cy="189487"/>
          </a:xfrm>
          <a:prstGeom prst="rect">
            <a:avLst/>
          </a:prstGeom>
          <a:noFill/>
          <a:ln/>
        </p:spPr>
        <p:txBody>
          <a:bodyPr wrap="none" lIns="0" tIns="0" rIns="0" bIns="0" rtlCol="0" anchor="t"/>
          <a:lstStyle/>
          <a:p>
            <a:pPr algn="l" indent="0" marL="0">
              <a:lnSpc>
                <a:spcPts val="1150"/>
              </a:lnSpc>
              <a:buNone/>
            </a:pPr>
            <a:r>
              <a:rPr lang="en-US" sz="790" dirty="0">
                <a:solidFill>
                  <a:srgbClr val="5A6E7E"/>
                </a:solidFill>
                <a:latin typeface="Arial" pitchFamily="34" charset="0"/>
                <a:ea typeface="Arial" pitchFamily="34" charset="-122"/>
                <a:cs typeface="Arial" pitchFamily="34" charset="-120"/>
              </a:rPr>
              <a:t>Validate against customer list / production plan. Warn on mismatch.</a:t>
            </a:r>
            <a:endParaRPr lang="en-US" sz="790" dirty="0"/>
          </a:p>
        </p:txBody>
      </p:sp>
      <p:sp>
        <p:nvSpPr>
          <p:cNvPr id="13" name="Shape 9"/>
          <p:cNvSpPr/>
          <p:nvPr/>
        </p:nvSpPr>
        <p:spPr>
          <a:xfrm>
            <a:off x="4663440" y="2322576"/>
            <a:ext cx="4023360" cy="676656"/>
          </a:xfrm>
          <a:prstGeom prst="roundRect">
            <a:avLst>
              <a:gd name="adj" fmla="val 18919"/>
            </a:avLst>
          </a:prstGeom>
          <a:solidFill>
            <a:srgbClr val="FFFFFF">
              <a:alpha val="75000"/>
            </a:srgbClr>
          </a:solidFill>
          <a:ln w="9144">
            <a:solidFill>
              <a:srgbClr val="062A44">
                <a:alpha val="10000"/>
              </a:srgbClr>
            </a:solidFill>
            <a:prstDash val="solid"/>
          </a:ln>
          <a:effectLst>
            <a:outerShdw sx="100000" sy="100000" kx="0" ky="0" algn="bl" rotWithShape="0" blurRad="329184" dist="128016" dir="5400000">
              <a:srgbClr val="062A44">
                <a:alpha val="8400"/>
              </a:srgbClr>
            </a:outerShdw>
          </a:effectLst>
        </p:spPr>
      </p:sp>
      <p:sp>
        <p:nvSpPr>
          <p:cNvPr id="14" name="Shape 10"/>
          <p:cNvSpPr/>
          <p:nvPr/>
        </p:nvSpPr>
        <p:spPr>
          <a:xfrm>
            <a:off x="4828032" y="2459736"/>
            <a:ext cx="402336" cy="402336"/>
          </a:xfrm>
          <a:prstGeom prst="roundRect">
            <a:avLst>
              <a:gd name="adj" fmla="val 27273"/>
            </a:avLst>
          </a:prstGeom>
          <a:solidFill>
            <a:srgbClr val="2E7FB8">
              <a:alpha val="7000"/>
            </a:srgbClr>
          </a:solidFill>
          <a:ln w="9144">
            <a:solidFill>
              <a:srgbClr val="2E7FB8">
                <a:alpha val="28000"/>
              </a:srgbClr>
            </a:solidFill>
            <a:prstDash val="solid"/>
          </a:ln>
        </p:spPr>
      </p:sp>
      <p:pic>
        <p:nvPicPr>
          <p:cNvPr id="15" name="Image 2" descr="Icon: content copy">    </p:cNvPr>
          <p:cNvPicPr>
            <a:picLocks noChangeAspect="1"/>
          </p:cNvPicPr>
          <p:nvPr/>
        </p:nvPicPr>
        <p:blipFill>
          <a:blip r:embed="rId4"/>
          <a:stretch>
            <a:fillRect/>
          </a:stretch>
        </p:blipFill>
        <p:spPr>
          <a:xfrm>
            <a:off x="4828032" y="2459736"/>
            <a:ext cx="402336" cy="402336"/>
          </a:xfrm>
          <a:prstGeom prst="rect">
            <a:avLst/>
          </a:prstGeom>
        </p:spPr>
      </p:pic>
      <p:sp>
        <p:nvSpPr>
          <p:cNvPr id="16" name="Text 11"/>
          <p:cNvSpPr txBox="1"/>
          <p:nvPr/>
        </p:nvSpPr>
        <p:spPr>
          <a:xfrm>
            <a:off x="5358384" y="2471595"/>
            <a:ext cx="1036701"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62A44"/>
                </a:solidFill>
                <a:latin typeface="Arial" pitchFamily="34" charset="0"/>
                <a:ea typeface="Arial" pitchFamily="34" charset="-122"/>
                <a:cs typeface="Arial" pitchFamily="34" charset="-120"/>
              </a:rPr>
              <a:t>Duplicate scan</a:t>
            </a:r>
            <a:endParaRPr lang="en-US" sz="1040" dirty="0"/>
          </a:p>
        </p:txBody>
      </p:sp>
      <p:sp>
        <p:nvSpPr>
          <p:cNvPr id="17" name="Text 12"/>
          <p:cNvSpPr txBox="1"/>
          <p:nvPr/>
        </p:nvSpPr>
        <p:spPr>
          <a:xfrm>
            <a:off x="5358384" y="2704481"/>
            <a:ext cx="2687850" cy="189487"/>
          </a:xfrm>
          <a:prstGeom prst="rect">
            <a:avLst/>
          </a:prstGeom>
          <a:noFill/>
          <a:ln/>
        </p:spPr>
        <p:txBody>
          <a:bodyPr wrap="none" lIns="0" tIns="0" rIns="0" bIns="0" rtlCol="0" anchor="t"/>
          <a:lstStyle/>
          <a:p>
            <a:pPr algn="l" indent="0" marL="0">
              <a:lnSpc>
                <a:spcPts val="1150"/>
              </a:lnSpc>
              <a:buNone/>
            </a:pPr>
            <a:r>
              <a:rPr lang="en-US" sz="790" dirty="0">
                <a:solidFill>
                  <a:srgbClr val="5A6E7E"/>
                </a:solidFill>
                <a:latin typeface="Arial" pitchFamily="34" charset="0"/>
                <a:ea typeface="Arial" pitchFamily="34" charset="-122"/>
                <a:cs typeface="Arial" pitchFamily="34" charset="-120"/>
              </a:rPr>
              <a:t>Lock out repeated scans. Prevent duplicate counting.</a:t>
            </a:r>
            <a:endParaRPr lang="en-US" sz="790" dirty="0"/>
          </a:p>
        </p:txBody>
      </p:sp>
      <p:sp>
        <p:nvSpPr>
          <p:cNvPr id="18" name="Shape 13"/>
          <p:cNvSpPr/>
          <p:nvPr/>
        </p:nvSpPr>
        <p:spPr>
          <a:xfrm>
            <a:off x="457200" y="3145536"/>
            <a:ext cx="4023360" cy="798671"/>
          </a:xfrm>
          <a:prstGeom prst="roundRect">
            <a:avLst>
              <a:gd name="adj" fmla="val 16029"/>
            </a:avLst>
          </a:prstGeom>
          <a:solidFill>
            <a:srgbClr val="FFFFFF">
              <a:alpha val="75000"/>
            </a:srgbClr>
          </a:solidFill>
          <a:ln w="9144">
            <a:solidFill>
              <a:srgbClr val="062A44">
                <a:alpha val="10000"/>
              </a:srgbClr>
            </a:solidFill>
            <a:prstDash val="solid"/>
          </a:ln>
          <a:effectLst>
            <a:outerShdw sx="100000" sy="100000" kx="0" ky="0" algn="bl" rotWithShape="0" blurRad="329184" dist="128016" dir="5400000">
              <a:srgbClr val="062A44">
                <a:alpha val="8400"/>
              </a:srgbClr>
            </a:outerShdw>
          </a:effectLst>
        </p:spPr>
      </p:sp>
      <p:sp>
        <p:nvSpPr>
          <p:cNvPr id="19" name="Shape 14"/>
          <p:cNvSpPr/>
          <p:nvPr/>
        </p:nvSpPr>
        <p:spPr>
          <a:xfrm>
            <a:off x="621792" y="3343704"/>
            <a:ext cx="402336" cy="402336"/>
          </a:xfrm>
          <a:prstGeom prst="roundRect">
            <a:avLst>
              <a:gd name="adj" fmla="val 27273"/>
            </a:avLst>
          </a:prstGeom>
          <a:solidFill>
            <a:srgbClr val="2E7FB8">
              <a:alpha val="7000"/>
            </a:srgbClr>
          </a:solidFill>
          <a:ln w="9144">
            <a:solidFill>
              <a:srgbClr val="2E7FB8">
                <a:alpha val="28000"/>
              </a:srgbClr>
            </a:solidFill>
            <a:prstDash val="solid"/>
          </a:ln>
        </p:spPr>
      </p:sp>
      <p:pic>
        <p:nvPicPr>
          <p:cNvPr id="20" name="Image 3" descr="Icon: inventory 2">    </p:cNvPr>
          <p:cNvPicPr>
            <a:picLocks noChangeAspect="1"/>
          </p:cNvPicPr>
          <p:nvPr/>
        </p:nvPicPr>
        <p:blipFill>
          <a:blip r:embed="rId5"/>
          <a:stretch>
            <a:fillRect/>
          </a:stretch>
        </p:blipFill>
        <p:spPr>
          <a:xfrm>
            <a:off x="621792" y="3343704"/>
            <a:ext cx="402336" cy="402336"/>
          </a:xfrm>
          <a:prstGeom prst="rect">
            <a:avLst/>
          </a:prstGeom>
        </p:spPr>
      </p:pic>
      <p:sp>
        <p:nvSpPr>
          <p:cNvPr id="21" name="Text 15"/>
          <p:cNvSpPr txBox="1"/>
          <p:nvPr/>
        </p:nvSpPr>
        <p:spPr>
          <a:xfrm>
            <a:off x="1152144" y="3355562"/>
            <a:ext cx="556570"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62A44"/>
                </a:solidFill>
                <a:latin typeface="Arial" pitchFamily="34" charset="0"/>
                <a:ea typeface="Arial" pitchFamily="34" charset="-122"/>
                <a:cs typeface="Arial" pitchFamily="34" charset="-120"/>
              </a:rPr>
              <a:t>Full box</a:t>
            </a:r>
            <a:endParaRPr lang="en-US" sz="1040" dirty="0"/>
          </a:p>
        </p:txBody>
      </p:sp>
      <p:sp>
        <p:nvSpPr>
          <p:cNvPr id="22" name="Text 16"/>
          <p:cNvSpPr txBox="1"/>
          <p:nvPr/>
        </p:nvSpPr>
        <p:spPr>
          <a:xfrm>
            <a:off x="1152144" y="3588449"/>
            <a:ext cx="2978915" cy="189487"/>
          </a:xfrm>
          <a:prstGeom prst="rect">
            <a:avLst/>
          </a:prstGeom>
          <a:noFill/>
          <a:ln/>
        </p:spPr>
        <p:txBody>
          <a:bodyPr wrap="none" lIns="0" tIns="0" rIns="0" bIns="0" rtlCol="0" anchor="t"/>
          <a:lstStyle/>
          <a:p>
            <a:pPr algn="l" indent="0" marL="0">
              <a:lnSpc>
                <a:spcPts val="1150"/>
              </a:lnSpc>
              <a:buNone/>
            </a:pPr>
            <a:r>
              <a:rPr lang="en-US" sz="790" dirty="0">
                <a:solidFill>
                  <a:srgbClr val="5A6E7E"/>
                </a:solidFill>
                <a:latin typeface="Arial" pitchFamily="34" charset="0"/>
                <a:ea typeface="Arial" pitchFamily="34" charset="-122"/>
                <a:cs typeface="Arial" pitchFamily="34" charset="-120"/>
              </a:rPr>
              <a:t>Voice + popup notification when target quantity is reached.</a:t>
            </a:r>
            <a:endParaRPr lang="en-US" sz="790" dirty="0"/>
          </a:p>
        </p:txBody>
      </p:sp>
      <p:sp>
        <p:nvSpPr>
          <p:cNvPr id="23" name="Shape 17"/>
          <p:cNvSpPr/>
          <p:nvPr/>
        </p:nvSpPr>
        <p:spPr>
          <a:xfrm>
            <a:off x="4663440" y="3145536"/>
            <a:ext cx="4023360" cy="798671"/>
          </a:xfrm>
          <a:prstGeom prst="roundRect">
            <a:avLst>
              <a:gd name="adj" fmla="val 16029"/>
            </a:avLst>
          </a:prstGeom>
          <a:solidFill>
            <a:srgbClr val="FFFFFF">
              <a:alpha val="75000"/>
            </a:srgbClr>
          </a:solidFill>
          <a:ln w="9144">
            <a:solidFill>
              <a:srgbClr val="062A44">
                <a:alpha val="10000"/>
              </a:srgbClr>
            </a:solidFill>
            <a:prstDash val="solid"/>
          </a:ln>
          <a:effectLst>
            <a:outerShdw sx="100000" sy="100000" kx="0" ky="0" algn="bl" rotWithShape="0" blurRad="329184" dist="128016" dir="5400000">
              <a:srgbClr val="062A44">
                <a:alpha val="8400"/>
              </a:srgbClr>
            </a:outerShdw>
          </a:effectLst>
        </p:spPr>
      </p:sp>
      <p:sp>
        <p:nvSpPr>
          <p:cNvPr id="24" name="Shape 18"/>
          <p:cNvSpPr/>
          <p:nvPr/>
        </p:nvSpPr>
        <p:spPr>
          <a:xfrm>
            <a:off x="4828032" y="3343704"/>
            <a:ext cx="402336" cy="402336"/>
          </a:xfrm>
          <a:prstGeom prst="roundRect">
            <a:avLst>
              <a:gd name="adj" fmla="val 27273"/>
            </a:avLst>
          </a:prstGeom>
          <a:solidFill>
            <a:srgbClr val="2E7FB8">
              <a:alpha val="7000"/>
            </a:srgbClr>
          </a:solidFill>
          <a:ln w="9144">
            <a:solidFill>
              <a:srgbClr val="2E7FB8">
                <a:alpha val="28000"/>
              </a:srgbClr>
            </a:solidFill>
            <a:prstDash val="solid"/>
          </a:ln>
        </p:spPr>
      </p:sp>
      <p:pic>
        <p:nvPicPr>
          <p:cNvPr id="25" name="Image 4" descr="Icon: verified user">    </p:cNvPr>
          <p:cNvPicPr>
            <a:picLocks noChangeAspect="1"/>
          </p:cNvPicPr>
          <p:nvPr/>
        </p:nvPicPr>
        <p:blipFill>
          <a:blip r:embed="rId6"/>
          <a:stretch>
            <a:fillRect/>
          </a:stretch>
        </p:blipFill>
        <p:spPr>
          <a:xfrm>
            <a:off x="4828032" y="3343704"/>
            <a:ext cx="402336" cy="402336"/>
          </a:xfrm>
          <a:prstGeom prst="rect">
            <a:avLst/>
          </a:prstGeom>
        </p:spPr>
      </p:pic>
      <p:sp>
        <p:nvSpPr>
          <p:cNvPr id="26" name="Text 19"/>
          <p:cNvSpPr txBox="1"/>
          <p:nvPr/>
        </p:nvSpPr>
        <p:spPr>
          <a:xfrm>
            <a:off x="5358384" y="3282696"/>
            <a:ext cx="1185062"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62A44"/>
                </a:solidFill>
                <a:latin typeface="Arial" pitchFamily="34" charset="0"/>
                <a:ea typeface="Arial" pitchFamily="34" charset="-122"/>
                <a:cs typeface="Arial" pitchFamily="34" charset="-120"/>
              </a:rPr>
              <a:t>Review &amp; release</a:t>
            </a:r>
            <a:endParaRPr lang="en-US" sz="1040" dirty="0"/>
          </a:p>
        </p:txBody>
      </p:sp>
      <p:sp>
        <p:nvSpPr>
          <p:cNvPr id="27" name="Text 20"/>
          <p:cNvSpPr txBox="1"/>
          <p:nvPr/>
        </p:nvSpPr>
        <p:spPr>
          <a:xfrm>
            <a:off x="5358384" y="3515582"/>
            <a:ext cx="3497026" cy="335219"/>
          </a:xfrm>
          <a:prstGeom prst="rect">
            <a:avLst/>
          </a:prstGeom>
          <a:noFill/>
          <a:ln/>
        </p:spPr>
        <p:txBody>
          <a:bodyPr wrap="square" lIns="0" tIns="0" rIns="0" bIns="0" rtlCol="0" anchor="t"/>
          <a:lstStyle/>
          <a:p>
            <a:pPr algn="l" indent="0" marL="0">
              <a:lnSpc>
                <a:spcPts val="1150"/>
              </a:lnSpc>
              <a:buNone/>
            </a:pPr>
            <a:r>
              <a:rPr lang="en-US" sz="790" dirty="0">
                <a:solidFill>
                  <a:srgbClr val="5A6E7E"/>
                </a:solidFill>
                <a:latin typeface="Arial" pitchFamily="34" charset="0"/>
                <a:ea typeface="Arial" pitchFamily="34" charset="-122"/>
                <a:cs typeface="Arial" pitchFamily="34" charset="-120"/>
              </a:rPr>
              <a:t>Administrator checks offline + online records before submitting the</a:t>
            </a:r>
            <a:endParaRPr lang="en-US" sz="790" dirty="0"/>
          </a:p>
          <a:p>
            <a:pPr algn="l" indent="0" marL="0">
              <a:lnSpc>
                <a:spcPts val="1150"/>
              </a:lnSpc>
              <a:buNone/>
            </a:pPr>
            <a:r>
              <a:rPr lang="en-US" sz="790" dirty="0">
                <a:solidFill>
                  <a:srgbClr val="5A6E7E"/>
                </a:solidFill>
                <a:latin typeface="Arial" pitchFamily="34" charset="0"/>
                <a:ea typeface="Arial" pitchFamily="34" charset="-122"/>
                <a:cs typeface="Arial" pitchFamily="34" charset="-120"/>
              </a:rPr>
              <a:t>customer report.</a:t>
            </a:r>
            <a:endParaRPr lang="en-US" sz="790" dirty="0"/>
          </a:p>
        </p:txBody>
      </p:sp>
      <p:sp>
        <p:nvSpPr>
          <p:cNvPr id="28" name="Shape 21"/>
          <p:cNvSpPr/>
          <p:nvPr/>
        </p:nvSpPr>
        <p:spPr>
          <a:xfrm>
            <a:off x="457200" y="4315968"/>
            <a:ext cx="8229600" cy="327470"/>
          </a:xfrm>
          <a:prstGeom prst="roundRect">
            <a:avLst>
              <a:gd name="adj" fmla="val 27923"/>
            </a:avLst>
          </a:prstGeom>
          <a:solidFill>
            <a:srgbClr val="2E7FB8">
              <a:alpha val="7000"/>
            </a:srgbClr>
          </a:solidFill>
          <a:ln w="9144">
            <a:solidFill>
              <a:srgbClr val="2E7FB8">
                <a:alpha val="22000"/>
              </a:srgbClr>
            </a:solidFill>
            <a:prstDash val="solid"/>
          </a:ln>
        </p:spPr>
      </p:sp>
      <p:sp>
        <p:nvSpPr>
          <p:cNvPr id="29" name="Text 22"/>
          <p:cNvSpPr txBox="1"/>
          <p:nvPr/>
        </p:nvSpPr>
        <p:spPr>
          <a:xfrm>
            <a:off x="603504" y="4407408"/>
            <a:ext cx="6182830" cy="187959"/>
          </a:xfrm>
          <a:prstGeom prst="rect">
            <a:avLst/>
          </a:prstGeom>
          <a:noFill/>
          <a:ln/>
        </p:spPr>
        <p:txBody>
          <a:bodyPr wrap="none" lIns="0" tIns="0" rIns="0" bIns="0" rtlCol="0" anchor="t"/>
          <a:lstStyle/>
          <a:p>
            <a:pPr algn="l" indent="0" marL="0">
              <a:lnSpc>
                <a:spcPts val="1140"/>
              </a:lnSpc>
              <a:buNone/>
            </a:pPr>
            <a:r>
              <a:rPr lang="en-US" sz="730" dirty="0">
                <a:solidFill>
                  <a:srgbClr val="0B3A5C"/>
                </a:solidFill>
                <a:latin typeface="Arial" pitchFamily="34" charset="0"/>
                <a:ea typeface="Arial" pitchFamily="34" charset="-122"/>
                <a:cs typeface="Arial" pitchFamily="34" charset="-120"/>
              </a:rPr>
              <a:t>Linked data: Customer • Material • Batch • Order | Missions 04, 29, 31 · Internal configuration + Text-to-Speech support shopfloor use.</a:t>
            </a:r>
            <a:endParaRPr lang="en-US" sz="730" dirty="0"/>
          </a:p>
        </p:txBody>
      </p:sp>
      <p:sp>
        <p:nvSpPr>
          <p:cNvPr id="30" name="Text 23"/>
          <p:cNvSpPr txBox="1"/>
          <p:nvPr/>
        </p:nvSpPr>
        <p:spPr>
          <a:xfrm>
            <a:off x="457200" y="4789884"/>
            <a:ext cx="3927705" cy="156585"/>
          </a:xfrm>
          <a:prstGeom prst="rect">
            <a:avLst/>
          </a:prstGeom>
          <a:noFill/>
          <a:ln/>
        </p:spPr>
        <p:txBody>
          <a:bodyPr wrap="none" lIns="0" tIns="0" rIns="0" bIns="0" rtlCol="0" anchor="t"/>
          <a:lstStyle/>
          <a:p>
            <a:pPr algn="l" indent="0" marL="0">
              <a:lnSpc>
                <a:spcPts val="950"/>
              </a:lnSpc>
              <a:buNone/>
            </a:pPr>
            <a:r>
              <a:rPr lang="en-US" sz="610" dirty="0">
                <a:solidFill>
                  <a:srgbClr val="7A8C99"/>
                </a:solidFill>
                <a:latin typeface="Arial" pitchFamily="34" charset="0"/>
                <a:ea typeface="Arial" pitchFamily="34" charset="-122"/>
                <a:cs typeface="Arial" pitchFamily="34" charset="-120"/>
              </a:rPr>
              <a:t>Source: supplied error-prevention workflow. Next: two web apps supporting Non-Rayong operations.</a:t>
            </a:r>
            <a:endParaRPr lang="en-US" sz="610" dirty="0"/>
          </a:p>
        </p:txBody>
      </p:sp>
    </p:spTree>
  </p:cSld>
  <p:clrMapOvr>
    <a:masterClrMapping/>
  </p:clrMapOvr>
  <p:transition spd="med">
    <p:push dir="r"/>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920240"/>
            <a:ext cx="1853003"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NON-RAYONG OVERVIEW 2026</a:t>
            </a:r>
            <a:endParaRPr lang="en-US" sz="720" dirty="0"/>
          </a:p>
        </p:txBody>
      </p:sp>
      <p:sp>
        <p:nvSpPr>
          <p:cNvPr id="5" name="Gradient shape"/>
          <p:cNvSpPr/>
          <p:nvPr/>
        </p:nvSpPr>
        <p:spPr>
          <a:xfrm>
            <a:off x="457200" y="195590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2194560"/>
            <a:ext cx="3739110" cy="775865"/>
          </a:xfrm>
          <a:prstGeom prst="rect">
            <a:avLst/>
          </a:prstGeom>
          <a:noFill/>
          <a:ln/>
        </p:spPr>
        <p:txBody>
          <a:bodyPr wrap="none" lIns="0" tIns="0" rIns="0" bIns="0" rtlCol="0" anchor="t"/>
          <a:lstStyle/>
          <a:p>
            <a:pPr algn="l" indent="0" marL="0">
              <a:lnSpc>
                <a:spcPts val="4700"/>
              </a:lnSpc>
              <a:buNone/>
            </a:pPr>
            <a:r>
              <a:rPr lang="en-US" sz="4610" spc="-230" kern="0" dirty="0">
                <a:solidFill>
                  <a:srgbClr val="062A44"/>
                </a:solidFill>
                <a:latin typeface="Arial" pitchFamily="34" charset="0"/>
                <a:ea typeface="Arial" pitchFamily="34" charset="-122"/>
                <a:cs typeface="Arial" pitchFamily="34" charset="-120"/>
              </a:rPr>
              <a:t>The two</a:t>
            </a:r>
            <a:pPr algn="l" indent="0" marL="0">
              <a:lnSpc>
                <a:spcPts val="4700"/>
              </a:lnSpc>
              <a:buNone/>
            </a:pPr>
            <a:r>
              <a:rPr lang="en-US" sz="4610" b="1" spc="-230" kern="0" dirty="0">
                <a:solidFill>
                  <a:srgbClr val="134A72"/>
                </a:solidFill>
                <a:latin typeface="Arial" pitchFamily="34" charset="0"/>
                <a:ea typeface="Arial" pitchFamily="34" charset="-122"/>
                <a:cs typeface="Arial" pitchFamily="34" charset="-120"/>
              </a:rPr>
              <a:t> a</a:t>
            </a:r>
            <a:pPr algn="l" indent="0" marL="0">
              <a:lnSpc>
                <a:spcPts val="4700"/>
              </a:lnSpc>
              <a:buNone/>
            </a:pPr>
            <a:r>
              <a:rPr lang="en-US" sz="4610" b="1" spc="-230" kern="0" dirty="0">
                <a:solidFill>
                  <a:srgbClr val="246C9F"/>
                </a:solidFill>
                <a:latin typeface="Arial" pitchFamily="34" charset="0"/>
                <a:ea typeface="Arial" pitchFamily="34" charset="-122"/>
                <a:cs typeface="Arial" pitchFamily="34" charset="-120"/>
              </a:rPr>
              <a:t>p</a:t>
            </a:r>
            <a:pPr algn="l" indent="0" marL="0">
              <a:lnSpc>
                <a:spcPts val="4700"/>
              </a:lnSpc>
              <a:buNone/>
            </a:pPr>
            <a:r>
              <a:rPr lang="en-US" sz="4610" b="1" spc="-230" kern="0" dirty="0">
                <a:solidFill>
                  <a:srgbClr val="3F8897"/>
                </a:solidFill>
                <a:latin typeface="Arial" pitchFamily="34" charset="0"/>
                <a:ea typeface="Arial" pitchFamily="34" charset="-122"/>
                <a:cs typeface="Arial" pitchFamily="34" charset="-120"/>
              </a:rPr>
              <a:t>p</a:t>
            </a:r>
            <a:pPr algn="l" indent="0" marL="0">
              <a:lnSpc>
                <a:spcPts val="4700"/>
              </a:lnSpc>
              <a:buNone/>
            </a:pPr>
            <a:r>
              <a:rPr lang="en-US" sz="4610" b="1" spc="-230" kern="0" dirty="0">
                <a:solidFill>
                  <a:srgbClr val="629A52"/>
                </a:solidFill>
                <a:latin typeface="Arial" pitchFamily="34" charset="0"/>
                <a:ea typeface="Arial" pitchFamily="34" charset="-122"/>
                <a:cs typeface="Arial" pitchFamily="34" charset="-120"/>
              </a:rPr>
              <a:t>s</a:t>
            </a:r>
            <a:pPr algn="l" indent="0" marL="0">
              <a:lnSpc>
                <a:spcPts val="4700"/>
              </a:lnSpc>
              <a:buNone/>
            </a:pPr>
            <a:r>
              <a:rPr lang="en-US" sz="4610" b="1" spc="-230" kern="0" dirty="0">
                <a:solidFill>
                  <a:srgbClr val="79A525"/>
                </a:solidFill>
                <a:latin typeface="Arial" pitchFamily="34" charset="0"/>
                <a:ea typeface="Arial" pitchFamily="34" charset="-122"/>
                <a:cs typeface="Arial" pitchFamily="34" charset="-120"/>
              </a:rPr>
              <a:t>.</a:t>
            </a:r>
            <a:endParaRPr lang="en-US" sz="4610" dirty="0"/>
          </a:p>
        </p:txBody>
      </p:sp>
      <p:sp>
        <p:nvSpPr>
          <p:cNvPr id="7" name="Text 4"/>
          <p:cNvSpPr txBox="1"/>
          <p:nvPr/>
        </p:nvSpPr>
        <p:spPr>
          <a:xfrm>
            <a:off x="457200" y="2974229"/>
            <a:ext cx="3507287" cy="678942"/>
          </a:xfrm>
          <a:prstGeom prst="rect">
            <a:avLst/>
          </a:prstGeom>
          <a:noFill/>
          <a:ln/>
        </p:spPr>
        <p:txBody>
          <a:bodyPr wrap="square" lIns="0" tIns="0" rIns="0" bIns="0" rtlCol="0" anchor="t"/>
          <a:lstStyle/>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The Manpower Board plans who goes where. The</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Inventory &amp; Quality System tracks tools, parts</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and consumables.</a:t>
            </a:r>
            <a:endParaRPr lang="en-US" sz="1080" dirty="0"/>
          </a:p>
        </p:txBody>
      </p:sp>
      <p:sp>
        <p:nvSpPr>
          <p:cNvPr id="8" name="Shape 5"/>
          <p:cNvSpPr/>
          <p:nvPr/>
        </p:nvSpPr>
        <p:spPr>
          <a:xfrm>
            <a:off x="4663440" y="1280160"/>
            <a:ext cx="4023360" cy="1297019"/>
          </a:xfrm>
          <a:prstGeom prst="roundRect">
            <a:avLst>
              <a:gd name="adj" fmla="val 12690"/>
            </a:avLst>
          </a:prstGeom>
          <a:solidFill>
            <a:srgbClr val="FFFFFF">
              <a:alpha val="82000"/>
            </a:srgbClr>
          </a:solidFill>
          <a:ln w="9144">
            <a:solidFill>
              <a:srgbClr val="062A44">
                <a:alpha val="10000"/>
              </a:srgbClr>
            </a:solidFill>
            <a:prstDash val="solid"/>
          </a:ln>
          <a:effectLst>
            <a:outerShdw sx="100000" sy="100000" kx="0" ky="0" algn="bl" rotWithShape="0" blurRad="365760" dist="146304" dir="5400000">
              <a:srgbClr val="062A44">
                <a:alpha val="12000"/>
              </a:srgbClr>
            </a:outerShdw>
          </a:effectLst>
        </p:spPr>
      </p:sp>
      <p:sp>
        <p:nvSpPr>
          <p:cNvPr id="9" name="Text 6"/>
          <p:cNvSpPr txBox="1"/>
          <p:nvPr/>
        </p:nvSpPr>
        <p:spPr>
          <a:xfrm>
            <a:off x="4828032" y="1426464"/>
            <a:ext cx="1693169"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MANPOWER BOARD · WHO GOES</a:t>
            </a:r>
            <a:endParaRPr lang="en-US" sz="650" dirty="0"/>
          </a:p>
        </p:txBody>
      </p:sp>
      <p:sp>
        <p:nvSpPr>
          <p:cNvPr id="10" name="Shape 7"/>
          <p:cNvSpPr/>
          <p:nvPr/>
        </p:nvSpPr>
        <p:spPr>
          <a:xfrm>
            <a:off x="4828032" y="1625775"/>
            <a:ext cx="854964" cy="805101"/>
          </a:xfrm>
          <a:prstGeom prst="roundRect">
            <a:avLst>
              <a:gd name="adj" fmla="val 13629"/>
            </a:avLst>
          </a:prstGeom>
          <a:solidFill>
            <a:srgbClr val="2E7FB8">
              <a:alpha val="6000"/>
            </a:srgbClr>
          </a:solidFill>
          <a:ln w="9144">
            <a:solidFill>
              <a:srgbClr val="2E7FB8">
                <a:alpha val="16000"/>
              </a:srgbClr>
            </a:solidFill>
            <a:prstDash val="solid"/>
          </a:ln>
        </p:spPr>
      </p:sp>
      <p:sp>
        <p:nvSpPr>
          <p:cNvPr id="11" name="Shape 8"/>
          <p:cNvSpPr/>
          <p:nvPr/>
        </p:nvSpPr>
        <p:spPr>
          <a:xfrm>
            <a:off x="5100066" y="1717215"/>
            <a:ext cx="310896" cy="310896"/>
          </a:xfrm>
          <a:prstGeom prst="ellipse">
            <a:avLst/>
          </a:prstGeom>
          <a:solidFill>
            <a:srgbClr val="97C21D"/>
          </a:solidFill>
          <a:ln/>
        </p:spPr>
      </p:sp>
      <p:sp>
        <p:nvSpPr>
          <p:cNvPr id="12" name="Text 9"/>
          <p:cNvSpPr txBox="1"/>
          <p:nvPr/>
        </p:nvSpPr>
        <p:spPr>
          <a:xfrm>
            <a:off x="5181219" y="1717215"/>
            <a:ext cx="181737" cy="310896"/>
          </a:xfrm>
          <a:prstGeom prst="rect">
            <a:avLst/>
          </a:prstGeom>
          <a:noFill/>
          <a:ln/>
        </p:spPr>
        <p:txBody>
          <a:bodyPr wrap="none" lIns="0" tIns="0" rIns="0" bIns="0" rtlCol="0" anchor="ctr"/>
          <a:lstStyle/>
          <a:p>
            <a:pPr algn="l" indent="0" marL="0">
              <a:lnSpc>
                <a:spcPts val="860"/>
              </a:lnSpc>
              <a:buNone/>
            </a:pPr>
            <a:r>
              <a:rPr lang="en-US" sz="860" b="1" dirty="0">
                <a:solidFill>
                  <a:srgbClr val="062A44"/>
                </a:solidFill>
                <a:latin typeface="Arial" pitchFamily="34" charset="0"/>
                <a:ea typeface="Arial" pitchFamily="34" charset="-122"/>
                <a:cs typeface="Arial" pitchFamily="34" charset="-120"/>
              </a:rPr>
              <a:t>BS</a:t>
            </a:r>
            <a:endParaRPr lang="en-US" sz="860" dirty="0"/>
          </a:p>
        </p:txBody>
      </p:sp>
      <p:sp>
        <p:nvSpPr>
          <p:cNvPr id="13" name="Text 10"/>
          <p:cNvSpPr txBox="1"/>
          <p:nvPr/>
        </p:nvSpPr>
        <p:spPr>
          <a:xfrm>
            <a:off x="5028486" y="2078403"/>
            <a:ext cx="517593" cy="202648"/>
          </a:xfrm>
          <a:prstGeom prst="rect">
            <a:avLst/>
          </a:prstGeom>
          <a:noFill/>
          <a:ln/>
        </p:spPr>
        <p:txBody>
          <a:bodyPr wrap="none" lIns="0" tIns="0" rIns="0" bIns="0" rtlCol="0" anchor="t"/>
          <a:lstStyle/>
          <a:p>
            <a:pPr algn="l" indent="0" marL="0">
              <a:lnSpc>
                <a:spcPts val="1230"/>
              </a:lnSpc>
              <a:buNone/>
            </a:pPr>
            <a:r>
              <a:rPr lang="en-US" sz="790" b="1" dirty="0">
                <a:solidFill>
                  <a:srgbClr val="062A44"/>
                </a:solidFill>
                <a:latin typeface="Arial" pitchFamily="34" charset="0"/>
                <a:ea typeface="Arial" pitchFamily="34" charset="-122"/>
                <a:cs typeface="Arial" pitchFamily="34" charset="-120"/>
              </a:rPr>
              <a:t>Boonmee</a:t>
            </a:r>
            <a:endParaRPr lang="en-US" sz="790" dirty="0"/>
          </a:p>
        </p:txBody>
      </p:sp>
      <p:sp>
        <p:nvSpPr>
          <p:cNvPr id="14" name="Text 11"/>
          <p:cNvSpPr txBox="1"/>
          <p:nvPr/>
        </p:nvSpPr>
        <p:spPr>
          <a:xfrm>
            <a:off x="5123783" y="2266283"/>
            <a:ext cx="308096" cy="95098"/>
          </a:xfrm>
          <a:prstGeom prst="rect">
            <a:avLst/>
          </a:prstGeom>
          <a:noFill/>
          <a:ln/>
        </p:spPr>
        <p:txBody>
          <a:bodyPr wrap="none" lIns="0" tIns="0" rIns="0" bIns="0" rtlCol="0" anchor="t"/>
          <a:lstStyle/>
          <a:p>
            <a:pPr algn="l" indent="0" marL="0">
              <a:lnSpc>
                <a:spcPts val="580"/>
              </a:lnSpc>
              <a:buNone/>
            </a:pPr>
            <a:r>
              <a:rPr lang="en-US" sz="580" spc="69" kern="0" dirty="0">
                <a:solidFill>
                  <a:srgbClr val="5A6E7E"/>
                </a:solidFill>
                <a:latin typeface="Courier New" pitchFamily="34" charset="0"/>
                <a:ea typeface="Courier New" pitchFamily="34" charset="-122"/>
                <a:cs typeface="Courier New" pitchFamily="34" charset="-120"/>
              </a:rPr>
              <a:t>BANGN</a:t>
            </a:r>
            <a:endParaRPr lang="en-US" sz="580" dirty="0"/>
          </a:p>
        </p:txBody>
      </p:sp>
      <p:sp>
        <p:nvSpPr>
          <p:cNvPr id="15" name="Shape 12"/>
          <p:cNvSpPr/>
          <p:nvPr/>
        </p:nvSpPr>
        <p:spPr>
          <a:xfrm>
            <a:off x="5774436" y="1625775"/>
            <a:ext cx="854964" cy="805101"/>
          </a:xfrm>
          <a:prstGeom prst="roundRect">
            <a:avLst>
              <a:gd name="adj" fmla="val 13629"/>
            </a:avLst>
          </a:prstGeom>
          <a:solidFill>
            <a:srgbClr val="2E7FB8">
              <a:alpha val="6000"/>
            </a:srgbClr>
          </a:solidFill>
          <a:ln w="9144">
            <a:solidFill>
              <a:srgbClr val="2E7FB8">
                <a:alpha val="16000"/>
              </a:srgbClr>
            </a:solidFill>
            <a:prstDash val="solid"/>
          </a:ln>
        </p:spPr>
      </p:sp>
      <p:sp>
        <p:nvSpPr>
          <p:cNvPr id="16" name="Shape 13"/>
          <p:cNvSpPr/>
          <p:nvPr/>
        </p:nvSpPr>
        <p:spPr>
          <a:xfrm>
            <a:off x="6046470" y="1717215"/>
            <a:ext cx="310896" cy="310896"/>
          </a:xfrm>
          <a:prstGeom prst="ellipse">
            <a:avLst/>
          </a:prstGeom>
          <a:solidFill>
            <a:srgbClr val="A3B3C1"/>
          </a:solidFill>
          <a:ln/>
        </p:spPr>
      </p:sp>
      <p:sp>
        <p:nvSpPr>
          <p:cNvPr id="17" name="Text 14"/>
          <p:cNvSpPr txBox="1"/>
          <p:nvPr/>
        </p:nvSpPr>
        <p:spPr>
          <a:xfrm>
            <a:off x="6123051" y="1717215"/>
            <a:ext cx="191795" cy="310896"/>
          </a:xfrm>
          <a:prstGeom prst="rect">
            <a:avLst/>
          </a:prstGeom>
          <a:noFill/>
          <a:ln/>
        </p:spPr>
        <p:txBody>
          <a:bodyPr wrap="none" lIns="0" tIns="0" rIns="0" bIns="0" rtlCol="0" anchor="ctr"/>
          <a:lstStyle/>
          <a:p>
            <a:pPr algn="l" indent="0" marL="0">
              <a:lnSpc>
                <a:spcPts val="860"/>
              </a:lnSpc>
              <a:buNone/>
            </a:pPr>
            <a:r>
              <a:rPr lang="en-US" sz="860" b="1" dirty="0">
                <a:solidFill>
                  <a:srgbClr val="062A44"/>
                </a:solidFill>
                <a:latin typeface="Arial" pitchFamily="34" charset="0"/>
                <a:ea typeface="Arial" pitchFamily="34" charset="-122"/>
                <a:cs typeface="Arial" pitchFamily="34" charset="-120"/>
              </a:rPr>
              <a:t>CH</a:t>
            </a:r>
            <a:endParaRPr lang="en-US" sz="860" dirty="0"/>
          </a:p>
        </p:txBody>
      </p:sp>
      <p:sp>
        <p:nvSpPr>
          <p:cNvPr id="18" name="Text 15"/>
          <p:cNvSpPr txBox="1"/>
          <p:nvPr/>
        </p:nvSpPr>
        <p:spPr>
          <a:xfrm>
            <a:off x="5999893" y="2078403"/>
            <a:ext cx="462586" cy="202648"/>
          </a:xfrm>
          <a:prstGeom prst="rect">
            <a:avLst/>
          </a:prstGeom>
          <a:noFill/>
          <a:ln/>
        </p:spPr>
        <p:txBody>
          <a:bodyPr wrap="none" lIns="0" tIns="0" rIns="0" bIns="0" rtlCol="0" anchor="t"/>
          <a:lstStyle/>
          <a:p>
            <a:pPr algn="l" indent="0" marL="0">
              <a:lnSpc>
                <a:spcPts val="1230"/>
              </a:lnSpc>
              <a:buNone/>
            </a:pPr>
            <a:r>
              <a:rPr lang="en-US" sz="790" b="1" dirty="0">
                <a:solidFill>
                  <a:srgbClr val="062A44"/>
                </a:solidFill>
                <a:latin typeface="Arial" pitchFamily="34" charset="0"/>
                <a:ea typeface="Arial" pitchFamily="34" charset="-122"/>
                <a:cs typeface="Arial" pitchFamily="34" charset="-120"/>
              </a:rPr>
              <a:t>Chalerm</a:t>
            </a:r>
            <a:endParaRPr lang="en-US" sz="790" dirty="0"/>
          </a:p>
        </p:txBody>
      </p:sp>
      <p:sp>
        <p:nvSpPr>
          <p:cNvPr id="19" name="Text 16"/>
          <p:cNvSpPr txBox="1"/>
          <p:nvPr/>
        </p:nvSpPr>
        <p:spPr>
          <a:xfrm>
            <a:off x="6070187" y="2266283"/>
            <a:ext cx="308096" cy="95098"/>
          </a:xfrm>
          <a:prstGeom prst="rect">
            <a:avLst/>
          </a:prstGeom>
          <a:noFill/>
          <a:ln/>
        </p:spPr>
        <p:txBody>
          <a:bodyPr wrap="none" lIns="0" tIns="0" rIns="0" bIns="0" rtlCol="0" anchor="t"/>
          <a:lstStyle/>
          <a:p>
            <a:pPr algn="l" indent="0" marL="0">
              <a:lnSpc>
                <a:spcPts val="580"/>
              </a:lnSpc>
              <a:buNone/>
            </a:pPr>
            <a:r>
              <a:rPr lang="en-US" sz="580" spc="69" kern="0" dirty="0">
                <a:solidFill>
                  <a:srgbClr val="5A6E7E"/>
                </a:solidFill>
                <a:latin typeface="Courier New" pitchFamily="34" charset="0"/>
                <a:ea typeface="Courier New" pitchFamily="34" charset="-122"/>
                <a:cs typeface="Courier New" pitchFamily="34" charset="-120"/>
              </a:rPr>
              <a:t>LCBTH</a:t>
            </a:r>
            <a:endParaRPr lang="en-US" sz="580" dirty="0"/>
          </a:p>
        </p:txBody>
      </p:sp>
      <p:sp>
        <p:nvSpPr>
          <p:cNvPr id="20" name="Shape 17"/>
          <p:cNvSpPr/>
          <p:nvPr/>
        </p:nvSpPr>
        <p:spPr>
          <a:xfrm>
            <a:off x="6720840" y="1625775"/>
            <a:ext cx="854964" cy="805101"/>
          </a:xfrm>
          <a:prstGeom prst="roundRect">
            <a:avLst>
              <a:gd name="adj" fmla="val 13629"/>
            </a:avLst>
          </a:prstGeom>
          <a:solidFill>
            <a:srgbClr val="2E7FB8">
              <a:alpha val="6000"/>
            </a:srgbClr>
          </a:solidFill>
          <a:ln w="9144">
            <a:solidFill>
              <a:srgbClr val="2E7FB8">
                <a:alpha val="16000"/>
              </a:srgbClr>
            </a:solidFill>
            <a:prstDash val="solid"/>
          </a:ln>
        </p:spPr>
      </p:sp>
      <p:sp>
        <p:nvSpPr>
          <p:cNvPr id="21" name="Shape 18"/>
          <p:cNvSpPr/>
          <p:nvPr/>
        </p:nvSpPr>
        <p:spPr>
          <a:xfrm>
            <a:off x="6992874" y="1717215"/>
            <a:ext cx="310896" cy="310896"/>
          </a:xfrm>
          <a:prstGeom prst="ellipse">
            <a:avLst/>
          </a:prstGeom>
          <a:solidFill>
            <a:srgbClr val="97C21D"/>
          </a:solidFill>
          <a:ln/>
        </p:spPr>
      </p:sp>
      <p:sp>
        <p:nvSpPr>
          <p:cNvPr id="22" name="Text 19"/>
          <p:cNvSpPr txBox="1"/>
          <p:nvPr/>
        </p:nvSpPr>
        <p:spPr>
          <a:xfrm>
            <a:off x="7076027" y="1717215"/>
            <a:ext cx="177179" cy="310896"/>
          </a:xfrm>
          <a:prstGeom prst="rect">
            <a:avLst/>
          </a:prstGeom>
          <a:noFill/>
          <a:ln/>
        </p:spPr>
        <p:txBody>
          <a:bodyPr wrap="none" lIns="0" tIns="0" rIns="0" bIns="0" rtlCol="0" anchor="ctr"/>
          <a:lstStyle/>
          <a:p>
            <a:pPr algn="l" indent="0" marL="0">
              <a:lnSpc>
                <a:spcPts val="860"/>
              </a:lnSpc>
              <a:buNone/>
            </a:pPr>
            <a:r>
              <a:rPr lang="en-US" sz="860" b="1" dirty="0">
                <a:solidFill>
                  <a:srgbClr val="062A44"/>
                </a:solidFill>
                <a:latin typeface="Arial" pitchFamily="34" charset="0"/>
                <a:ea typeface="Arial" pitchFamily="34" charset="-122"/>
                <a:cs typeface="Arial" pitchFamily="34" charset="-120"/>
              </a:rPr>
              <a:t>DJ</a:t>
            </a:r>
            <a:endParaRPr lang="en-US" sz="860" dirty="0"/>
          </a:p>
        </p:txBody>
      </p:sp>
      <p:sp>
        <p:nvSpPr>
          <p:cNvPr id="23" name="Text 20"/>
          <p:cNvSpPr txBox="1"/>
          <p:nvPr/>
        </p:nvSpPr>
        <p:spPr>
          <a:xfrm>
            <a:off x="6995446" y="2078403"/>
            <a:ext cx="354459" cy="202648"/>
          </a:xfrm>
          <a:prstGeom prst="rect">
            <a:avLst/>
          </a:prstGeom>
          <a:noFill/>
          <a:ln/>
        </p:spPr>
        <p:txBody>
          <a:bodyPr wrap="none" lIns="0" tIns="0" rIns="0" bIns="0" rtlCol="0" anchor="t"/>
          <a:lstStyle/>
          <a:p>
            <a:pPr algn="l" indent="0" marL="0">
              <a:lnSpc>
                <a:spcPts val="1230"/>
              </a:lnSpc>
              <a:buNone/>
            </a:pPr>
            <a:r>
              <a:rPr lang="en-US" sz="790" b="1" dirty="0">
                <a:solidFill>
                  <a:srgbClr val="062A44"/>
                </a:solidFill>
                <a:latin typeface="Arial" pitchFamily="34" charset="0"/>
                <a:ea typeface="Arial" pitchFamily="34" charset="-122"/>
                <a:cs typeface="Arial" pitchFamily="34" charset="-120"/>
              </a:rPr>
              <a:t>Decha</a:t>
            </a:r>
            <a:endParaRPr lang="en-US" sz="790" dirty="0"/>
          </a:p>
        </p:txBody>
      </p:sp>
      <p:sp>
        <p:nvSpPr>
          <p:cNvPr id="24" name="Text 21"/>
          <p:cNvSpPr txBox="1"/>
          <p:nvPr/>
        </p:nvSpPr>
        <p:spPr>
          <a:xfrm>
            <a:off x="7016591" y="2266283"/>
            <a:ext cx="308096" cy="95098"/>
          </a:xfrm>
          <a:prstGeom prst="rect">
            <a:avLst/>
          </a:prstGeom>
          <a:noFill/>
          <a:ln/>
        </p:spPr>
        <p:txBody>
          <a:bodyPr wrap="none" lIns="0" tIns="0" rIns="0" bIns="0" rtlCol="0" anchor="t"/>
          <a:lstStyle/>
          <a:p>
            <a:pPr algn="l" indent="0" marL="0">
              <a:lnSpc>
                <a:spcPts val="580"/>
              </a:lnSpc>
              <a:buNone/>
            </a:pPr>
            <a:r>
              <a:rPr lang="en-US" sz="580" spc="69" kern="0" dirty="0">
                <a:solidFill>
                  <a:srgbClr val="5A6E7E"/>
                </a:solidFill>
                <a:latin typeface="Courier New" pitchFamily="34" charset="0"/>
                <a:ea typeface="Courier New" pitchFamily="34" charset="-122"/>
                <a:cs typeface="Courier New" pitchFamily="34" charset="-120"/>
              </a:rPr>
              <a:t>BANGN</a:t>
            </a:r>
            <a:endParaRPr lang="en-US" sz="580" dirty="0"/>
          </a:p>
        </p:txBody>
      </p:sp>
      <p:sp>
        <p:nvSpPr>
          <p:cNvPr id="25" name="Shape 22"/>
          <p:cNvSpPr/>
          <p:nvPr/>
        </p:nvSpPr>
        <p:spPr>
          <a:xfrm>
            <a:off x="7667244" y="1625775"/>
            <a:ext cx="854964" cy="805101"/>
          </a:xfrm>
          <a:prstGeom prst="roundRect">
            <a:avLst>
              <a:gd name="adj" fmla="val 13629"/>
            </a:avLst>
          </a:prstGeom>
          <a:solidFill>
            <a:srgbClr val="2E7FB8">
              <a:alpha val="6000"/>
            </a:srgbClr>
          </a:solidFill>
          <a:ln w="9144">
            <a:solidFill>
              <a:srgbClr val="2E7FB8">
                <a:alpha val="16000"/>
              </a:srgbClr>
            </a:solidFill>
            <a:prstDash val="solid"/>
          </a:ln>
        </p:spPr>
      </p:sp>
      <p:sp>
        <p:nvSpPr>
          <p:cNvPr id="26" name="Shape 23"/>
          <p:cNvSpPr/>
          <p:nvPr/>
        </p:nvSpPr>
        <p:spPr>
          <a:xfrm>
            <a:off x="7939278" y="1717215"/>
            <a:ext cx="310896" cy="310896"/>
          </a:xfrm>
          <a:prstGeom prst="ellipse">
            <a:avLst/>
          </a:prstGeom>
          <a:solidFill>
            <a:srgbClr val="0B3A5C"/>
          </a:solidFill>
          <a:ln/>
        </p:spPr>
      </p:sp>
      <p:sp>
        <p:nvSpPr>
          <p:cNvPr id="27" name="Text 24"/>
          <p:cNvSpPr txBox="1"/>
          <p:nvPr/>
        </p:nvSpPr>
        <p:spPr>
          <a:xfrm>
            <a:off x="8023289" y="1717215"/>
            <a:ext cx="175293" cy="310896"/>
          </a:xfrm>
          <a:prstGeom prst="rect">
            <a:avLst/>
          </a:prstGeom>
          <a:noFill/>
          <a:ln/>
        </p:spPr>
        <p:txBody>
          <a:bodyPr wrap="none" lIns="0" tIns="0" rIns="0" bIns="0" rtlCol="0" anchor="ctr"/>
          <a:lstStyle/>
          <a:p>
            <a:pPr algn="l" indent="0" marL="0">
              <a:lnSpc>
                <a:spcPts val="860"/>
              </a:lnSpc>
              <a:buNone/>
            </a:pPr>
            <a:r>
              <a:rPr lang="en-US" sz="860" b="1" dirty="0">
                <a:solidFill>
                  <a:srgbClr val="FFFFFF"/>
                </a:solidFill>
                <a:latin typeface="Arial" pitchFamily="34" charset="0"/>
                <a:ea typeface="Arial" pitchFamily="34" charset="-122"/>
                <a:cs typeface="Arial" pitchFamily="34" charset="-120"/>
              </a:rPr>
              <a:t>KS</a:t>
            </a:r>
            <a:endParaRPr lang="en-US" sz="860" dirty="0"/>
          </a:p>
        </p:txBody>
      </p:sp>
      <p:sp>
        <p:nvSpPr>
          <p:cNvPr id="28" name="Text 25"/>
          <p:cNvSpPr txBox="1"/>
          <p:nvPr/>
        </p:nvSpPr>
        <p:spPr>
          <a:xfrm>
            <a:off x="7931849" y="2078403"/>
            <a:ext cx="376619" cy="202648"/>
          </a:xfrm>
          <a:prstGeom prst="rect">
            <a:avLst/>
          </a:prstGeom>
          <a:noFill/>
          <a:ln/>
        </p:spPr>
        <p:txBody>
          <a:bodyPr wrap="none" lIns="0" tIns="0" rIns="0" bIns="0" rtlCol="0" anchor="t"/>
          <a:lstStyle/>
          <a:p>
            <a:pPr algn="l" indent="0" marL="0">
              <a:lnSpc>
                <a:spcPts val="1230"/>
              </a:lnSpc>
              <a:buNone/>
            </a:pPr>
            <a:r>
              <a:rPr lang="en-US" sz="790" b="1" dirty="0">
                <a:solidFill>
                  <a:srgbClr val="062A44"/>
                </a:solidFill>
                <a:latin typeface="Arial" pitchFamily="34" charset="0"/>
                <a:ea typeface="Arial" pitchFamily="34" charset="-122"/>
                <a:cs typeface="Arial" pitchFamily="34" charset="-120"/>
              </a:rPr>
              <a:t>Kasem</a:t>
            </a:r>
            <a:endParaRPr lang="en-US" sz="790" dirty="0"/>
          </a:p>
        </p:txBody>
      </p:sp>
      <p:sp>
        <p:nvSpPr>
          <p:cNvPr id="29" name="Text 26"/>
          <p:cNvSpPr txBox="1"/>
          <p:nvPr/>
        </p:nvSpPr>
        <p:spPr>
          <a:xfrm>
            <a:off x="7962995" y="2266283"/>
            <a:ext cx="308096" cy="95098"/>
          </a:xfrm>
          <a:prstGeom prst="rect">
            <a:avLst/>
          </a:prstGeom>
          <a:noFill/>
          <a:ln/>
        </p:spPr>
        <p:txBody>
          <a:bodyPr wrap="none" lIns="0" tIns="0" rIns="0" bIns="0" rtlCol="0" anchor="t"/>
          <a:lstStyle/>
          <a:p>
            <a:pPr algn="l" indent="0" marL="0">
              <a:lnSpc>
                <a:spcPts val="580"/>
              </a:lnSpc>
              <a:buNone/>
            </a:pPr>
            <a:r>
              <a:rPr lang="en-US" sz="580" spc="69" kern="0" dirty="0">
                <a:solidFill>
                  <a:srgbClr val="5A6E7E"/>
                </a:solidFill>
                <a:latin typeface="Courier New" pitchFamily="34" charset="0"/>
                <a:ea typeface="Courier New" pitchFamily="34" charset="-122"/>
                <a:cs typeface="Courier New" pitchFamily="34" charset="-120"/>
              </a:rPr>
              <a:t>AMATA</a:t>
            </a:r>
            <a:endParaRPr lang="en-US" sz="580" dirty="0"/>
          </a:p>
        </p:txBody>
      </p:sp>
      <p:sp>
        <p:nvSpPr>
          <p:cNvPr id="30" name="Shape 27"/>
          <p:cNvSpPr/>
          <p:nvPr/>
        </p:nvSpPr>
        <p:spPr>
          <a:xfrm>
            <a:off x="5403533" y="2686907"/>
            <a:ext cx="2543032" cy="298037"/>
          </a:xfrm>
          <a:prstGeom prst="roundRect">
            <a:avLst>
              <a:gd name="adj" fmla="val 50000"/>
            </a:avLst>
          </a:prstGeom>
          <a:solidFill>
            <a:srgbClr val="8DB828"/>
          </a:solidFill>
          <a:ln/>
          <a:effectLst>
            <a:outerShdw sx="100000" sy="100000" kx="0" ky="0" algn="bl" rotWithShape="0" blurRad="201168" dist="91440" dir="5400000">
              <a:srgbClr val="6E9312">
                <a:alpha val="36000"/>
              </a:srgbClr>
            </a:outerShdw>
          </a:effectLst>
        </p:spPr>
      </p:sp>
      <p:pic>
        <p:nvPicPr>
          <p:cNvPr id="31" name="Image 1" descr="Icon: assignment">    </p:cNvPr>
          <p:cNvPicPr>
            <a:picLocks noChangeAspect="1"/>
          </p:cNvPicPr>
          <p:nvPr/>
        </p:nvPicPr>
        <p:blipFill>
          <a:blip r:embed="rId3"/>
          <a:stretch>
            <a:fillRect/>
          </a:stretch>
        </p:blipFill>
        <p:spPr>
          <a:xfrm>
            <a:off x="5540693" y="2762774"/>
            <a:ext cx="146304" cy="146304"/>
          </a:xfrm>
          <a:prstGeom prst="rect">
            <a:avLst/>
          </a:prstGeom>
        </p:spPr>
      </p:pic>
      <p:sp>
        <p:nvSpPr>
          <p:cNvPr id="32" name="Text 28"/>
          <p:cNvSpPr txBox="1"/>
          <p:nvPr/>
        </p:nvSpPr>
        <p:spPr>
          <a:xfrm>
            <a:off x="5760149" y="2750915"/>
            <a:ext cx="742650" cy="221045"/>
          </a:xfrm>
          <a:prstGeom prst="rect">
            <a:avLst/>
          </a:prstGeom>
          <a:noFill/>
          <a:ln/>
        </p:spPr>
        <p:txBody>
          <a:bodyPr wrap="none" lIns="0" tIns="0" rIns="0" bIns="0" rtlCol="0" anchor="t"/>
          <a:lstStyle/>
          <a:p>
            <a:pPr algn="l" indent="0" marL="0">
              <a:lnSpc>
                <a:spcPts val="1340"/>
              </a:lnSpc>
              <a:buNone/>
            </a:pPr>
            <a:r>
              <a:rPr lang="en-US" sz="860" b="1" dirty="0">
                <a:solidFill>
                  <a:srgbClr val="FFFFFF"/>
                </a:solidFill>
                <a:latin typeface="Arial" pitchFamily="34" charset="0"/>
                <a:ea typeface="Arial" pitchFamily="34" charset="-122"/>
                <a:cs typeface="Arial" pitchFamily="34" charset="-120"/>
              </a:rPr>
              <a:t>Mission 4411</a:t>
            </a:r>
            <a:endParaRPr lang="en-US" sz="860" dirty="0"/>
          </a:p>
        </p:txBody>
      </p:sp>
      <p:sp>
        <p:nvSpPr>
          <p:cNvPr id="33" name="Text 29"/>
          <p:cNvSpPr txBox="1"/>
          <p:nvPr/>
        </p:nvSpPr>
        <p:spPr>
          <a:xfrm>
            <a:off x="6491811" y="2765060"/>
            <a:ext cx="1467641" cy="184252"/>
          </a:xfrm>
          <a:prstGeom prst="rect">
            <a:avLst/>
          </a:prstGeom>
          <a:noFill/>
          <a:ln/>
        </p:spPr>
        <p:txBody>
          <a:bodyPr wrap="none" lIns="0" tIns="0" rIns="0" bIns="0" rtlCol="0" anchor="t"/>
          <a:lstStyle/>
          <a:p>
            <a:pPr algn="l" indent="0" marL="0">
              <a:lnSpc>
                <a:spcPts val="1120"/>
              </a:lnSpc>
              <a:buNone/>
            </a:pPr>
            <a:r>
              <a:rPr lang="en-US" sz="720" dirty="0">
                <a:solidFill>
                  <a:srgbClr val="FFFFFF"/>
                </a:solidFill>
                <a:latin typeface="Arial" pitchFamily="34" charset="0"/>
                <a:ea typeface="Arial" pitchFamily="34" charset="-122"/>
                <a:cs typeface="Arial" pitchFamily="34" charset="-120"/>
              </a:rPr>
              <a:t>AutoAlliance Rayong · Fri 16 Oct</a:t>
            </a:r>
            <a:endParaRPr lang="en-US" sz="720" dirty="0"/>
          </a:p>
        </p:txBody>
      </p:sp>
      <p:sp>
        <p:nvSpPr>
          <p:cNvPr id="34" name="Shape 30"/>
          <p:cNvSpPr/>
          <p:nvPr/>
        </p:nvSpPr>
        <p:spPr>
          <a:xfrm>
            <a:off x="4663440" y="3094673"/>
            <a:ext cx="4023360" cy="1200436"/>
          </a:xfrm>
          <a:prstGeom prst="roundRect">
            <a:avLst>
              <a:gd name="adj" fmla="val 13711"/>
            </a:avLst>
          </a:prstGeom>
          <a:solidFill>
            <a:srgbClr val="FFFFFF">
              <a:alpha val="82000"/>
            </a:srgbClr>
          </a:solidFill>
          <a:ln w="9144">
            <a:solidFill>
              <a:srgbClr val="062A44">
                <a:alpha val="10000"/>
              </a:srgbClr>
            </a:solidFill>
            <a:prstDash val="solid"/>
          </a:ln>
          <a:effectLst>
            <a:outerShdw sx="100000" sy="100000" kx="0" ky="0" algn="bl" rotWithShape="0" blurRad="365760" dist="146304" dir="5400000">
              <a:srgbClr val="062A44">
                <a:alpha val="12000"/>
              </a:srgbClr>
            </a:outerShdw>
          </a:effectLst>
        </p:spPr>
      </p:sp>
      <p:sp>
        <p:nvSpPr>
          <p:cNvPr id="35" name="Text 31"/>
          <p:cNvSpPr txBox="1"/>
          <p:nvPr/>
        </p:nvSpPr>
        <p:spPr>
          <a:xfrm>
            <a:off x="4828032" y="3240977"/>
            <a:ext cx="2429947" cy="128353"/>
          </a:xfrm>
          <a:prstGeom prst="rect">
            <a:avLst/>
          </a:prstGeom>
          <a:noFill/>
          <a:ln/>
        </p:spPr>
        <p:txBody>
          <a:bodyPr wrap="none" lIns="0" tIns="0" rIns="0" bIns="0" rtlCol="0" anchor="t"/>
          <a:lstStyle/>
          <a:p>
            <a:pPr algn="l" indent="0" marL="0">
              <a:lnSpc>
                <a:spcPts val="780"/>
              </a:lnSpc>
              <a:buNone/>
            </a:pPr>
            <a:r>
              <a:rPr lang="en-US" sz="650" spc="91" kern="0" dirty="0">
                <a:solidFill>
                  <a:srgbClr val="2E7FB8"/>
                </a:solidFill>
                <a:latin typeface="Courier New" pitchFamily="34" charset="0"/>
                <a:ea typeface="Courier New" pitchFamily="34" charset="-122"/>
                <a:cs typeface="Courier New" pitchFamily="34" charset="-120"/>
              </a:rPr>
              <a:t>INVENTORY &amp; QUALITY · WHAT THEY TAKE</a:t>
            </a:r>
            <a:endParaRPr lang="en-US" sz="650" dirty="0"/>
          </a:p>
        </p:txBody>
      </p:sp>
      <p:sp>
        <p:nvSpPr>
          <p:cNvPr id="36" name="Shape 32"/>
          <p:cNvSpPr/>
          <p:nvPr/>
        </p:nvSpPr>
        <p:spPr>
          <a:xfrm>
            <a:off x="4828032" y="3440287"/>
            <a:ext cx="1170432" cy="708517"/>
          </a:xfrm>
          <a:prstGeom prst="roundRect">
            <a:avLst>
              <a:gd name="adj" fmla="val 15487"/>
            </a:avLst>
          </a:prstGeom>
          <a:solidFill>
            <a:srgbClr val="2E7FB8">
              <a:alpha val="6000"/>
            </a:srgbClr>
          </a:solidFill>
          <a:ln w="9144">
            <a:solidFill>
              <a:srgbClr val="2E7FB8">
                <a:alpha val="16000"/>
              </a:srgbClr>
            </a:solidFill>
            <a:prstDash val="solid"/>
          </a:ln>
        </p:spPr>
      </p:sp>
      <p:sp>
        <p:nvSpPr>
          <p:cNvPr id="37" name="Text 33"/>
          <p:cNvSpPr txBox="1"/>
          <p:nvPr/>
        </p:nvSpPr>
        <p:spPr>
          <a:xfrm>
            <a:off x="4919472" y="3531727"/>
            <a:ext cx="521208" cy="202648"/>
          </a:xfrm>
          <a:prstGeom prst="rect">
            <a:avLst/>
          </a:prstGeom>
          <a:noFill/>
          <a:ln/>
        </p:spPr>
        <p:txBody>
          <a:bodyPr wrap="none" lIns="0" tIns="0" rIns="0" bIns="0" rtlCol="0" anchor="t"/>
          <a:lstStyle/>
          <a:p>
            <a:pPr algn="l" indent="0" marL="0">
              <a:lnSpc>
                <a:spcPts val="1230"/>
              </a:lnSpc>
              <a:buNone/>
            </a:pPr>
            <a:r>
              <a:rPr lang="en-US" sz="790" b="1" dirty="0">
                <a:solidFill>
                  <a:srgbClr val="062A44"/>
                </a:solidFill>
                <a:latin typeface="Arial" pitchFamily="34" charset="0"/>
                <a:ea typeface="Arial" pitchFamily="34" charset="-122"/>
                <a:cs typeface="Arial" pitchFamily="34" charset="-120"/>
              </a:rPr>
              <a:t>Cap Trigo</a:t>
            </a:r>
            <a:endParaRPr lang="en-US" sz="790" dirty="0"/>
          </a:p>
        </p:txBody>
      </p:sp>
      <p:sp>
        <p:nvSpPr>
          <p:cNvPr id="38" name="Shape 34"/>
          <p:cNvSpPr/>
          <p:nvPr/>
        </p:nvSpPr>
        <p:spPr>
          <a:xfrm>
            <a:off x="4919472" y="3765328"/>
            <a:ext cx="987552" cy="82296"/>
          </a:xfrm>
          <a:prstGeom prst="roundRect">
            <a:avLst>
              <a:gd name="adj" fmla="val 50000"/>
            </a:avLst>
          </a:prstGeom>
          <a:solidFill>
            <a:srgbClr val="DDE6ED"/>
          </a:solidFill>
          <a:ln/>
        </p:spPr>
      </p:sp>
      <p:sp>
        <p:nvSpPr>
          <p:cNvPr id="39" name="Shape 35"/>
          <p:cNvSpPr/>
          <p:nvPr/>
        </p:nvSpPr>
        <p:spPr>
          <a:xfrm>
            <a:off x="4919472" y="3765328"/>
            <a:ext cx="987552" cy="82296"/>
          </a:xfrm>
          <a:prstGeom prst="roundRect">
            <a:avLst>
              <a:gd name="adj" fmla="val 50000"/>
            </a:avLst>
          </a:prstGeom>
          <a:solidFill>
            <a:srgbClr val="8DB828"/>
          </a:solidFill>
          <a:ln/>
        </p:spPr>
      </p:sp>
      <p:sp>
        <p:nvSpPr>
          <p:cNvPr id="40" name="Shape 36"/>
          <p:cNvSpPr/>
          <p:nvPr/>
        </p:nvSpPr>
        <p:spPr>
          <a:xfrm>
            <a:off x="5314379" y="3737896"/>
            <a:ext cx="20003" cy="137160"/>
          </a:xfrm>
          <a:prstGeom prst="rect">
            <a:avLst/>
          </a:prstGeom>
          <a:solidFill>
            <a:srgbClr val="062A44"/>
          </a:solidFill>
          <a:ln/>
        </p:spPr>
      </p:sp>
      <p:sp>
        <p:nvSpPr>
          <p:cNvPr id="41" name="Text 37"/>
          <p:cNvSpPr txBox="1"/>
          <p:nvPr/>
        </p:nvSpPr>
        <p:spPr>
          <a:xfrm>
            <a:off x="4919472" y="3925348"/>
            <a:ext cx="925587" cy="165712"/>
          </a:xfrm>
          <a:prstGeom prst="rect">
            <a:avLst/>
          </a:prstGeom>
          <a:noFill/>
          <a:ln/>
        </p:spPr>
        <p:txBody>
          <a:bodyPr wrap="none" lIns="0" tIns="0" rIns="0" bIns="0" rtlCol="0" anchor="t"/>
          <a:lstStyle/>
          <a:p>
            <a:pPr algn="l" indent="0" marL="0">
              <a:lnSpc>
                <a:spcPts val="1000"/>
              </a:lnSpc>
              <a:buNone/>
            </a:pPr>
            <a:r>
              <a:rPr lang="en-US" sz="650" dirty="0">
                <a:solidFill>
                  <a:srgbClr val="5A6E7E"/>
                </a:solidFill>
                <a:latin typeface="Arial" pitchFamily="34" charset="0"/>
                <a:ea typeface="Arial" pitchFamily="34" charset="-122"/>
                <a:cs typeface="Arial" pitchFamily="34" charset="-120"/>
              </a:rPr>
              <a:t>25 on hand · safety 10</a:t>
            </a:r>
            <a:endParaRPr lang="en-US" sz="650" dirty="0"/>
          </a:p>
        </p:txBody>
      </p:sp>
      <p:sp>
        <p:nvSpPr>
          <p:cNvPr id="42" name="Shape 38"/>
          <p:cNvSpPr/>
          <p:nvPr/>
        </p:nvSpPr>
        <p:spPr>
          <a:xfrm>
            <a:off x="6089904" y="3440287"/>
            <a:ext cx="1170432" cy="708517"/>
          </a:xfrm>
          <a:prstGeom prst="roundRect">
            <a:avLst>
              <a:gd name="adj" fmla="val 15487"/>
            </a:avLst>
          </a:prstGeom>
          <a:solidFill>
            <a:srgbClr val="2E7FB8">
              <a:alpha val="6000"/>
            </a:srgbClr>
          </a:solidFill>
          <a:ln w="9144">
            <a:solidFill>
              <a:srgbClr val="2E7FB8">
                <a:alpha val="16000"/>
              </a:srgbClr>
            </a:solidFill>
            <a:prstDash val="solid"/>
          </a:ln>
        </p:spPr>
      </p:sp>
      <p:sp>
        <p:nvSpPr>
          <p:cNvPr id="43" name="Text 39"/>
          <p:cNvSpPr txBox="1"/>
          <p:nvPr/>
        </p:nvSpPr>
        <p:spPr>
          <a:xfrm>
            <a:off x="6181344" y="3531727"/>
            <a:ext cx="721433" cy="202648"/>
          </a:xfrm>
          <a:prstGeom prst="rect">
            <a:avLst/>
          </a:prstGeom>
          <a:noFill/>
          <a:ln/>
        </p:spPr>
        <p:txBody>
          <a:bodyPr wrap="none" lIns="0" tIns="0" rIns="0" bIns="0" rtlCol="0" anchor="t"/>
          <a:lstStyle/>
          <a:p>
            <a:pPr algn="l" indent="0" marL="0">
              <a:lnSpc>
                <a:spcPts val="1230"/>
              </a:lnSpc>
              <a:buNone/>
            </a:pPr>
            <a:r>
              <a:rPr lang="en-US" sz="790" b="1" dirty="0">
                <a:solidFill>
                  <a:srgbClr val="062A44"/>
                </a:solidFill>
                <a:latin typeface="Arial" pitchFamily="34" charset="0"/>
                <a:ea typeface="Arial" pitchFamily="34" charset="-122"/>
                <a:cs typeface="Arial" pitchFamily="34" charset="-120"/>
              </a:rPr>
              <a:t>Carbon Mask</a:t>
            </a:r>
            <a:endParaRPr lang="en-US" sz="790" dirty="0"/>
          </a:p>
        </p:txBody>
      </p:sp>
      <p:sp>
        <p:nvSpPr>
          <p:cNvPr id="44" name="Shape 40"/>
          <p:cNvSpPr/>
          <p:nvPr/>
        </p:nvSpPr>
        <p:spPr>
          <a:xfrm>
            <a:off x="6181344" y="3765328"/>
            <a:ext cx="987552" cy="82296"/>
          </a:xfrm>
          <a:prstGeom prst="roundRect">
            <a:avLst>
              <a:gd name="adj" fmla="val 50000"/>
            </a:avLst>
          </a:prstGeom>
          <a:solidFill>
            <a:srgbClr val="DDE6ED"/>
          </a:solidFill>
          <a:ln/>
        </p:spPr>
      </p:sp>
      <p:sp>
        <p:nvSpPr>
          <p:cNvPr id="45" name="Shape 41"/>
          <p:cNvSpPr/>
          <p:nvPr/>
        </p:nvSpPr>
        <p:spPr>
          <a:xfrm>
            <a:off x="6181344" y="3765328"/>
            <a:ext cx="987552" cy="82296"/>
          </a:xfrm>
          <a:prstGeom prst="roundRect">
            <a:avLst>
              <a:gd name="adj" fmla="val 50000"/>
            </a:avLst>
          </a:prstGeom>
          <a:solidFill>
            <a:srgbClr val="8DB828"/>
          </a:solidFill>
          <a:ln/>
        </p:spPr>
      </p:sp>
      <p:sp>
        <p:nvSpPr>
          <p:cNvPr id="46" name="Shape 42"/>
          <p:cNvSpPr/>
          <p:nvPr/>
        </p:nvSpPr>
        <p:spPr>
          <a:xfrm>
            <a:off x="6645402" y="3737896"/>
            <a:ext cx="20003" cy="137160"/>
          </a:xfrm>
          <a:prstGeom prst="rect">
            <a:avLst/>
          </a:prstGeom>
          <a:solidFill>
            <a:srgbClr val="062A44"/>
          </a:solidFill>
          <a:ln/>
        </p:spPr>
      </p:sp>
      <p:sp>
        <p:nvSpPr>
          <p:cNvPr id="47" name="Text 43"/>
          <p:cNvSpPr txBox="1"/>
          <p:nvPr/>
        </p:nvSpPr>
        <p:spPr>
          <a:xfrm>
            <a:off x="6181344" y="3925348"/>
            <a:ext cx="857850" cy="165712"/>
          </a:xfrm>
          <a:prstGeom prst="rect">
            <a:avLst/>
          </a:prstGeom>
          <a:noFill/>
          <a:ln/>
        </p:spPr>
        <p:txBody>
          <a:bodyPr wrap="none" lIns="0" tIns="0" rIns="0" bIns="0" rtlCol="0" anchor="t"/>
          <a:lstStyle/>
          <a:p>
            <a:pPr algn="l" indent="0" marL="0">
              <a:lnSpc>
                <a:spcPts val="1000"/>
              </a:lnSpc>
              <a:buNone/>
            </a:pPr>
            <a:r>
              <a:rPr lang="en-US" sz="650" dirty="0">
                <a:solidFill>
                  <a:srgbClr val="5A6E7E"/>
                </a:solidFill>
                <a:latin typeface="Arial" pitchFamily="34" charset="0"/>
                <a:ea typeface="Arial" pitchFamily="34" charset="-122"/>
                <a:cs typeface="Arial" pitchFamily="34" charset="-120"/>
              </a:rPr>
              <a:t>15 on hand · safety 7</a:t>
            </a:r>
            <a:endParaRPr lang="en-US" sz="650" dirty="0"/>
          </a:p>
        </p:txBody>
      </p:sp>
      <p:sp>
        <p:nvSpPr>
          <p:cNvPr id="48" name="Shape 44"/>
          <p:cNvSpPr/>
          <p:nvPr/>
        </p:nvSpPr>
        <p:spPr>
          <a:xfrm>
            <a:off x="7351776" y="3440287"/>
            <a:ext cx="1170432" cy="708517"/>
          </a:xfrm>
          <a:prstGeom prst="roundRect">
            <a:avLst>
              <a:gd name="adj" fmla="val 15487"/>
            </a:avLst>
          </a:prstGeom>
          <a:solidFill>
            <a:srgbClr val="2E7FB8">
              <a:alpha val="6000"/>
            </a:srgbClr>
          </a:solidFill>
          <a:ln w="9144">
            <a:solidFill>
              <a:srgbClr val="2E7FB8">
                <a:alpha val="16000"/>
              </a:srgbClr>
            </a:solidFill>
            <a:prstDash val="solid"/>
          </a:ln>
        </p:spPr>
      </p:sp>
      <p:sp>
        <p:nvSpPr>
          <p:cNvPr id="49" name="Text 45"/>
          <p:cNvSpPr txBox="1"/>
          <p:nvPr/>
        </p:nvSpPr>
        <p:spPr>
          <a:xfrm>
            <a:off x="7443216" y="3531727"/>
            <a:ext cx="770153" cy="202648"/>
          </a:xfrm>
          <a:prstGeom prst="rect">
            <a:avLst/>
          </a:prstGeom>
          <a:noFill/>
          <a:ln/>
        </p:spPr>
        <p:txBody>
          <a:bodyPr wrap="none" lIns="0" tIns="0" rIns="0" bIns="0" rtlCol="0" anchor="t"/>
          <a:lstStyle/>
          <a:p>
            <a:pPr algn="l" indent="0" marL="0">
              <a:lnSpc>
                <a:spcPts val="1230"/>
              </a:lnSpc>
              <a:buNone/>
            </a:pPr>
            <a:r>
              <a:rPr lang="en-US" sz="790" b="1" dirty="0">
                <a:solidFill>
                  <a:srgbClr val="062A44"/>
                </a:solidFill>
                <a:latin typeface="Arial" pitchFamily="34" charset="0"/>
                <a:ea typeface="Arial" pitchFamily="34" charset="-122"/>
                <a:cs typeface="Arial" pitchFamily="34" charset="-120"/>
              </a:rPr>
              <a:t>Digital Caliper</a:t>
            </a:r>
            <a:endParaRPr lang="en-US" sz="790" dirty="0"/>
          </a:p>
        </p:txBody>
      </p:sp>
      <p:sp>
        <p:nvSpPr>
          <p:cNvPr id="50" name="Text 46"/>
          <p:cNvSpPr txBox="1"/>
          <p:nvPr/>
        </p:nvSpPr>
        <p:spPr>
          <a:xfrm>
            <a:off x="7443216" y="3737896"/>
            <a:ext cx="1060275" cy="184252"/>
          </a:xfrm>
          <a:prstGeom prst="rect">
            <a:avLst/>
          </a:prstGeom>
          <a:noFill/>
          <a:ln/>
        </p:spPr>
        <p:txBody>
          <a:bodyPr wrap="none" lIns="0" tIns="0" rIns="0" bIns="0" rtlCol="0" anchor="t"/>
          <a:lstStyle/>
          <a:p>
            <a:pPr algn="l" indent="0" marL="0">
              <a:lnSpc>
                <a:spcPts val="1120"/>
              </a:lnSpc>
              <a:buNone/>
            </a:pPr>
            <a:r>
              <a:rPr lang="en-US" sz="720" b="1" dirty="0">
                <a:solidFill>
                  <a:srgbClr val="6E9312"/>
                </a:solidFill>
                <a:latin typeface="Arial" pitchFamily="34" charset="0"/>
                <a:ea typeface="Arial" pitchFamily="34" charset="-122"/>
                <a:cs typeface="Arial" pitchFamily="34" charset="-120"/>
              </a:rPr>
              <a:t>Calibration valid · 12 d</a:t>
            </a:r>
            <a:endParaRPr lang="en-US" sz="720" dirty="0"/>
          </a:p>
        </p:txBody>
      </p:sp>
      <p:sp>
        <p:nvSpPr>
          <p:cNvPr id="51" name="Text 47"/>
          <p:cNvSpPr txBox="1"/>
          <p:nvPr/>
        </p:nvSpPr>
        <p:spPr>
          <a:xfrm>
            <a:off x="7443216" y="3929920"/>
            <a:ext cx="1031829" cy="165712"/>
          </a:xfrm>
          <a:prstGeom prst="rect">
            <a:avLst/>
          </a:prstGeom>
          <a:noFill/>
          <a:ln/>
        </p:spPr>
        <p:txBody>
          <a:bodyPr wrap="none" lIns="0" tIns="0" rIns="0" bIns="0" rtlCol="0" anchor="t"/>
          <a:lstStyle/>
          <a:p>
            <a:pPr algn="l" indent="0" marL="0">
              <a:lnSpc>
                <a:spcPts val="1000"/>
              </a:lnSpc>
              <a:buNone/>
            </a:pPr>
            <a:r>
              <a:rPr lang="en-US" sz="650" dirty="0">
                <a:solidFill>
                  <a:srgbClr val="5A6E7E"/>
                </a:solidFill>
                <a:latin typeface="Arial" pitchFamily="34" charset="0"/>
                <a:ea typeface="Arial" pitchFamily="34" charset="-122"/>
                <a:cs typeface="Arial" pitchFamily="34" charset="-120"/>
              </a:rPr>
              <a:t>Borrow, return, on record</a:t>
            </a:r>
            <a:endParaRPr lang="en-US" sz="650" dirty="0"/>
          </a:p>
        </p:txBody>
      </p:sp>
    </p:spTree>
  </p:cSld>
  <p:clrMapOvr>
    <a:masterClrMapping/>
  </p:clrMapOvr>
  <p:transition spd="med">
    <p:push dir="r"/>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88720"/>
            <a:ext cx="1776622"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GLOBAL QUALITY SOLUTION</a:t>
            </a:r>
            <a:endParaRPr lang="en-US" sz="720" dirty="0"/>
          </a:p>
        </p:txBody>
      </p:sp>
      <p:sp>
        <p:nvSpPr>
          <p:cNvPr id="5" name="Gradient shape"/>
          <p:cNvSpPr/>
          <p:nvPr/>
        </p:nvSpPr>
        <p:spPr>
          <a:xfrm>
            <a:off x="457200" y="122438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463040"/>
            <a:ext cx="3019143" cy="1600253"/>
          </a:xfrm>
          <a:prstGeom prst="rect">
            <a:avLst/>
          </a:prstGeom>
          <a:noFill/>
          <a:ln/>
        </p:spPr>
        <p:txBody>
          <a:bodyPr wrap="square" lIns="0" tIns="0" rIns="0" bIns="0" rtlCol="0" anchor="t"/>
          <a:lstStyle/>
          <a:p>
            <a:pPr algn="l" indent="0" marL="0">
              <a:lnSpc>
                <a:spcPts val="3820"/>
              </a:lnSpc>
              <a:buNone/>
            </a:pPr>
            <a:r>
              <a:rPr lang="en-US" sz="3740" spc="-187" kern="0" dirty="0">
                <a:solidFill>
                  <a:srgbClr val="062A44"/>
                </a:solidFill>
                <a:latin typeface="Arial" pitchFamily="34" charset="0"/>
                <a:ea typeface="Arial" pitchFamily="34" charset="-122"/>
                <a:cs typeface="Arial" pitchFamily="34" charset="-120"/>
              </a:rPr>
              <a:t>Two apps for</a:t>
            </a:r>
            <a:endParaRPr lang="en-US" sz="3740" dirty="0"/>
          </a:p>
          <a:p>
            <a:pPr algn="l" indent="0" marL="0">
              <a:lnSpc>
                <a:spcPts val="3820"/>
              </a:lnSpc>
              <a:buNone/>
            </a:pPr>
            <a:r>
              <a:rPr lang="en-US" sz="3740" spc="-187" kern="0" dirty="0">
                <a:solidFill>
                  <a:srgbClr val="062A44"/>
                </a:solidFill>
                <a:latin typeface="Arial" pitchFamily="34" charset="0"/>
                <a:ea typeface="Arial" pitchFamily="34" charset="-122"/>
                <a:cs typeface="Arial" pitchFamily="34" charset="-120"/>
              </a:rPr>
              <a:t>the work we</a:t>
            </a:r>
            <a:endParaRPr lang="en-US" sz="3740" dirty="0"/>
          </a:p>
          <a:p>
            <a:pPr algn="l" indent="0" marL="0">
              <a:lnSpc>
                <a:spcPts val="3820"/>
              </a:lnSpc>
              <a:buNone/>
            </a:pPr>
            <a:r>
              <a:rPr lang="en-US" sz="3740" spc="-187" kern="0" dirty="0">
                <a:solidFill>
                  <a:srgbClr val="062A44"/>
                </a:solidFill>
                <a:latin typeface="Arial" pitchFamily="34" charset="0"/>
                <a:ea typeface="Arial" pitchFamily="34" charset="-122"/>
                <a:cs typeface="Arial" pitchFamily="34" charset="-120"/>
              </a:rPr>
              <a:t>do</a:t>
            </a:r>
            <a:pPr algn="l" indent="0" marL="0">
              <a:lnSpc>
                <a:spcPts val="3820"/>
              </a:lnSpc>
              <a:buNone/>
            </a:pPr>
            <a:r>
              <a:rPr lang="en-US" sz="3740" b="1" spc="-187" kern="0" dirty="0">
                <a:solidFill>
                  <a:srgbClr val="0F4367"/>
                </a:solidFill>
                <a:latin typeface="Arial" pitchFamily="34" charset="0"/>
                <a:ea typeface="Arial" pitchFamily="34" charset="-122"/>
                <a:cs typeface="Arial" pitchFamily="34" charset="-120"/>
              </a:rPr>
              <a:t> e</a:t>
            </a:r>
            <a:pPr algn="l" indent="0" marL="0">
              <a:lnSpc>
                <a:spcPts val="3820"/>
              </a:lnSpc>
              <a:buNone/>
            </a:pPr>
            <a:r>
              <a:rPr lang="en-US" sz="3740" b="1" spc="-187" kern="0" dirty="0">
                <a:solidFill>
                  <a:srgbClr val="18547E"/>
                </a:solidFill>
                <a:latin typeface="Arial" pitchFamily="34" charset="0"/>
                <a:ea typeface="Arial" pitchFamily="34" charset="-122"/>
                <a:cs typeface="Arial" pitchFamily="34" charset="-120"/>
              </a:rPr>
              <a:t>v</a:t>
            </a:r>
            <a:pPr algn="l" indent="0" marL="0">
              <a:lnSpc>
                <a:spcPts val="3820"/>
              </a:lnSpc>
              <a:buNone/>
            </a:pPr>
            <a:r>
              <a:rPr lang="en-US" sz="3740" b="1" spc="-187" kern="0" dirty="0">
                <a:solidFill>
                  <a:srgbClr val="216595"/>
                </a:solidFill>
                <a:latin typeface="Arial" pitchFamily="34" charset="0"/>
                <a:ea typeface="Arial" pitchFamily="34" charset="-122"/>
                <a:cs typeface="Arial" pitchFamily="34" charset="-120"/>
              </a:rPr>
              <a:t>e</a:t>
            </a:r>
            <a:pPr algn="l" indent="0" marL="0">
              <a:lnSpc>
                <a:spcPts val="3820"/>
              </a:lnSpc>
              <a:buNone/>
            </a:pPr>
            <a:r>
              <a:rPr lang="en-US" sz="3740" b="1" spc="-187" kern="0" dirty="0">
                <a:solidFill>
                  <a:srgbClr val="2874A9"/>
                </a:solidFill>
                <a:latin typeface="Arial" pitchFamily="34" charset="0"/>
                <a:ea typeface="Arial" pitchFamily="34" charset="-122"/>
                <a:cs typeface="Arial" pitchFamily="34" charset="-120"/>
              </a:rPr>
              <a:t>r</a:t>
            </a:r>
            <a:pPr algn="l" indent="0" marL="0">
              <a:lnSpc>
                <a:spcPts val="3820"/>
              </a:lnSpc>
              <a:buNone/>
            </a:pPr>
            <a:r>
              <a:rPr lang="en-US" sz="3740" b="1" spc="-187" kern="0" dirty="0">
                <a:solidFill>
                  <a:srgbClr val="3181B2"/>
                </a:solidFill>
                <a:latin typeface="Arial" pitchFamily="34" charset="0"/>
                <a:ea typeface="Arial" pitchFamily="34" charset="-122"/>
                <a:cs typeface="Arial" pitchFamily="34" charset="-120"/>
              </a:rPr>
              <a:t>y</a:t>
            </a:r>
            <a:pPr algn="l" indent="0" marL="0">
              <a:lnSpc>
                <a:spcPts val="3820"/>
              </a:lnSpc>
              <a:buNone/>
            </a:pPr>
            <a:r>
              <a:rPr lang="en-US" sz="3740" b="1" spc="-187" kern="0" dirty="0">
                <a:solidFill>
                  <a:srgbClr val="4B8E7F"/>
                </a:solidFill>
                <a:latin typeface="Arial" pitchFamily="34" charset="0"/>
                <a:ea typeface="Arial" pitchFamily="34" charset="-122"/>
                <a:cs typeface="Arial" pitchFamily="34" charset="-120"/>
              </a:rPr>
              <a:t> d</a:t>
            </a:r>
            <a:pPr algn="l" indent="0" marL="0">
              <a:lnSpc>
                <a:spcPts val="3820"/>
              </a:lnSpc>
              <a:buNone/>
            </a:pPr>
            <a:r>
              <a:rPr lang="en-US" sz="3740" b="1" spc="-187" kern="0" dirty="0">
                <a:solidFill>
                  <a:srgbClr val="5F9859"/>
                </a:solidFill>
                <a:latin typeface="Arial" pitchFamily="34" charset="0"/>
                <a:ea typeface="Arial" pitchFamily="34" charset="-122"/>
                <a:cs typeface="Arial" pitchFamily="34" charset="-120"/>
              </a:rPr>
              <a:t>a</a:t>
            </a:r>
            <a:pPr algn="l" indent="0" marL="0">
              <a:lnSpc>
                <a:spcPts val="3820"/>
              </a:lnSpc>
              <a:buNone/>
            </a:pPr>
            <a:r>
              <a:rPr lang="en-US" sz="3740" b="1" spc="-187" kern="0" dirty="0">
                <a:solidFill>
                  <a:srgbClr val="70A137"/>
                </a:solidFill>
                <a:latin typeface="Arial" pitchFamily="34" charset="0"/>
                <a:ea typeface="Arial" pitchFamily="34" charset="-122"/>
                <a:cs typeface="Arial" pitchFamily="34" charset="-120"/>
              </a:rPr>
              <a:t>y</a:t>
            </a:r>
            <a:pPr algn="l" indent="0" marL="0">
              <a:lnSpc>
                <a:spcPts val="3820"/>
              </a:lnSpc>
              <a:buNone/>
            </a:pPr>
            <a:r>
              <a:rPr lang="en-US" sz="3740" b="1" spc="-187" kern="0" dirty="0">
                <a:solidFill>
                  <a:srgbClr val="7CA620"/>
                </a:solidFill>
                <a:latin typeface="Arial" pitchFamily="34" charset="0"/>
                <a:ea typeface="Arial" pitchFamily="34" charset="-122"/>
                <a:cs typeface="Arial" pitchFamily="34" charset="-120"/>
              </a:rPr>
              <a:t>.</a:t>
            </a:r>
            <a:endParaRPr lang="en-US" sz="3740" dirty="0"/>
          </a:p>
        </p:txBody>
      </p:sp>
      <p:sp>
        <p:nvSpPr>
          <p:cNvPr id="7" name="Text 4"/>
          <p:cNvSpPr txBox="1"/>
          <p:nvPr/>
        </p:nvSpPr>
        <p:spPr>
          <a:xfrm>
            <a:off x="457200" y="3100673"/>
            <a:ext cx="3550124" cy="884682"/>
          </a:xfrm>
          <a:prstGeom prst="rect">
            <a:avLst/>
          </a:prstGeom>
          <a:noFill/>
          <a:ln/>
        </p:spPr>
        <p:txBody>
          <a:bodyPr wrap="square" lIns="0" tIns="0" rIns="0" bIns="0" rtlCol="0" anchor="t"/>
          <a:lstStyle/>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The Manpower Board plans who goes where. The</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Inventory &amp; Quality System tracks tools, parts</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and consumables. Both run in the browser and on</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your phone.</a:t>
            </a:r>
            <a:endParaRPr lang="en-US" sz="1080" dirty="0"/>
          </a:p>
        </p:txBody>
      </p:sp>
      <p:sp>
        <p:nvSpPr>
          <p:cNvPr id="8" name="Shape 5"/>
          <p:cNvSpPr/>
          <p:nvPr/>
        </p:nvSpPr>
        <p:spPr>
          <a:xfrm>
            <a:off x="457200" y="4106513"/>
            <a:ext cx="1195864" cy="283893"/>
          </a:xfrm>
          <a:prstGeom prst="roundRect">
            <a:avLst>
              <a:gd name="adj" fmla="val 50000"/>
            </a:avLst>
          </a:prstGeom>
          <a:solidFill>
            <a:srgbClr val="FFFFFF">
              <a:alpha val="55000"/>
            </a:srgbClr>
          </a:solidFill>
          <a:ln w="9144">
            <a:solidFill>
              <a:srgbClr val="062A44">
                <a:alpha val="18000"/>
              </a:srgbClr>
            </a:solidFill>
            <a:prstDash val="solid"/>
          </a:ln>
        </p:spPr>
      </p:sp>
      <p:sp>
        <p:nvSpPr>
          <p:cNvPr id="9" name="Text 6"/>
          <p:cNvSpPr txBox="1"/>
          <p:nvPr/>
        </p:nvSpPr>
        <p:spPr>
          <a:xfrm>
            <a:off x="745379" y="4170521"/>
            <a:ext cx="901070"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Manpower Board</a:t>
            </a:r>
            <a:endParaRPr lang="en-US" sz="790" dirty="0"/>
          </a:p>
        </p:txBody>
      </p:sp>
      <p:pic>
        <p:nvPicPr>
          <p:cNvPr id="10" name="Image 1" descr="Icon: groups">    </p:cNvPr>
          <p:cNvPicPr>
            <a:picLocks noChangeAspect="1"/>
          </p:cNvPicPr>
          <p:nvPr/>
        </p:nvPicPr>
        <p:blipFill>
          <a:blip r:embed="rId3"/>
          <a:stretch>
            <a:fillRect/>
          </a:stretch>
        </p:blipFill>
        <p:spPr>
          <a:xfrm>
            <a:off x="562356" y="4184380"/>
            <a:ext cx="128159" cy="128016"/>
          </a:xfrm>
          <a:prstGeom prst="rect">
            <a:avLst/>
          </a:prstGeom>
        </p:spPr>
      </p:pic>
      <p:sp>
        <p:nvSpPr>
          <p:cNvPr id="11" name="Shape 7"/>
          <p:cNvSpPr/>
          <p:nvPr/>
        </p:nvSpPr>
        <p:spPr>
          <a:xfrm>
            <a:off x="1726216" y="4106513"/>
            <a:ext cx="1284446" cy="283893"/>
          </a:xfrm>
          <a:prstGeom prst="roundRect">
            <a:avLst>
              <a:gd name="adj" fmla="val 50000"/>
            </a:avLst>
          </a:prstGeom>
          <a:solidFill>
            <a:srgbClr val="FFFFFF">
              <a:alpha val="55000"/>
            </a:srgbClr>
          </a:solidFill>
          <a:ln w="9144">
            <a:solidFill>
              <a:srgbClr val="062A44">
                <a:alpha val="18000"/>
              </a:srgbClr>
            </a:solidFill>
            <a:prstDash val="solid"/>
          </a:ln>
        </p:spPr>
      </p:sp>
      <p:sp>
        <p:nvSpPr>
          <p:cNvPr id="12" name="Text 8"/>
          <p:cNvSpPr txBox="1"/>
          <p:nvPr/>
        </p:nvSpPr>
        <p:spPr>
          <a:xfrm>
            <a:off x="2014395" y="4170521"/>
            <a:ext cx="998511"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Inventory &amp; Quality</a:t>
            </a:r>
            <a:endParaRPr lang="en-US" sz="790" dirty="0"/>
          </a:p>
        </p:txBody>
      </p:sp>
      <p:pic>
        <p:nvPicPr>
          <p:cNvPr id="13" name="Image 2" descr="Icon: inventory 2">    </p:cNvPr>
          <p:cNvPicPr>
            <a:picLocks noChangeAspect="1"/>
          </p:cNvPicPr>
          <p:nvPr/>
        </p:nvPicPr>
        <p:blipFill>
          <a:blip r:embed="rId4"/>
          <a:stretch>
            <a:fillRect/>
          </a:stretch>
        </p:blipFill>
        <p:spPr>
          <a:xfrm>
            <a:off x="1831372" y="4184380"/>
            <a:ext cx="128159" cy="128016"/>
          </a:xfrm>
          <a:prstGeom prst="rect">
            <a:avLst/>
          </a:prstGeom>
        </p:spPr>
      </p:pic>
      <p:sp>
        <p:nvSpPr>
          <p:cNvPr id="14" name="Shape 9"/>
          <p:cNvSpPr/>
          <p:nvPr/>
        </p:nvSpPr>
        <p:spPr>
          <a:xfrm>
            <a:off x="3083814" y="4106513"/>
            <a:ext cx="1079564" cy="283893"/>
          </a:xfrm>
          <a:prstGeom prst="roundRect">
            <a:avLst>
              <a:gd name="adj" fmla="val 50000"/>
            </a:avLst>
          </a:prstGeom>
          <a:solidFill>
            <a:srgbClr val="FFFFFF">
              <a:alpha val="55000"/>
            </a:srgbClr>
          </a:solidFill>
          <a:ln w="9144">
            <a:solidFill>
              <a:srgbClr val="062A44">
                <a:alpha val="18000"/>
              </a:srgbClr>
            </a:solidFill>
            <a:prstDash val="solid"/>
          </a:ln>
        </p:spPr>
      </p:sp>
      <p:sp>
        <p:nvSpPr>
          <p:cNvPr id="15" name="Text 10"/>
          <p:cNvSpPr txBox="1"/>
          <p:nvPr/>
        </p:nvSpPr>
        <p:spPr>
          <a:xfrm>
            <a:off x="3371993" y="4170521"/>
            <a:ext cx="773139"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On your phone</a:t>
            </a:r>
            <a:endParaRPr lang="en-US" sz="790" dirty="0"/>
          </a:p>
        </p:txBody>
      </p:sp>
      <p:pic>
        <p:nvPicPr>
          <p:cNvPr id="16" name="Image 3" descr="Icon: smartphone">    </p:cNvPr>
          <p:cNvPicPr>
            <a:picLocks noChangeAspect="1"/>
          </p:cNvPicPr>
          <p:nvPr/>
        </p:nvPicPr>
        <p:blipFill>
          <a:blip r:embed="rId5"/>
          <a:stretch>
            <a:fillRect/>
          </a:stretch>
        </p:blipFill>
        <p:spPr>
          <a:xfrm>
            <a:off x="3188970" y="4184380"/>
            <a:ext cx="128159" cy="128016"/>
          </a:xfrm>
          <a:prstGeom prst="rect">
            <a:avLst/>
          </a:prstGeom>
        </p:spPr>
      </p:pic>
      <p:sp>
        <p:nvSpPr>
          <p:cNvPr id="17" name="Shape 11"/>
          <p:cNvSpPr/>
          <p:nvPr/>
        </p:nvSpPr>
        <p:spPr>
          <a:xfrm>
            <a:off x="4572000" y="1143000"/>
            <a:ext cx="3749040" cy="2583752"/>
          </a:xfrm>
          <a:prstGeom prst="roundRect">
            <a:avLst>
              <a:gd name="adj" fmla="val 4955"/>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18" name="Shape 12"/>
          <p:cNvSpPr/>
          <p:nvPr/>
        </p:nvSpPr>
        <p:spPr>
          <a:xfrm>
            <a:off x="4572000" y="1143000"/>
            <a:ext cx="3749040" cy="173736"/>
          </a:xfrm>
          <a:prstGeom prst="rect">
            <a:avLst/>
          </a:prstGeom>
          <a:solidFill>
            <a:srgbClr val="F4F7FA"/>
          </a:solidFill>
          <a:ln/>
        </p:spPr>
      </p:sp>
      <p:sp>
        <p:nvSpPr>
          <p:cNvPr id="19" name="Shape 13"/>
          <p:cNvSpPr/>
          <p:nvPr/>
        </p:nvSpPr>
        <p:spPr>
          <a:xfrm>
            <a:off x="4572000" y="1312164"/>
            <a:ext cx="3749040" cy="0"/>
          </a:xfrm>
          <a:prstGeom prst="line">
            <a:avLst/>
          </a:prstGeom>
          <a:noFill/>
          <a:ln w="9144">
            <a:solidFill>
              <a:srgbClr val="062A44">
                <a:alpha val="10000"/>
              </a:srgbClr>
            </a:solidFill>
            <a:prstDash val="solid"/>
          </a:ln>
        </p:spPr>
      </p:sp>
      <p:sp>
        <p:nvSpPr>
          <p:cNvPr id="20" name="Shape 14"/>
          <p:cNvSpPr/>
          <p:nvPr/>
        </p:nvSpPr>
        <p:spPr>
          <a:xfrm>
            <a:off x="4672584" y="1197007"/>
            <a:ext cx="56579" cy="56579"/>
          </a:xfrm>
          <a:prstGeom prst="ellipse">
            <a:avLst/>
          </a:prstGeom>
          <a:solidFill>
            <a:srgbClr val="D3DCE4"/>
          </a:solidFill>
          <a:ln/>
        </p:spPr>
      </p:sp>
      <p:sp>
        <p:nvSpPr>
          <p:cNvPr id="21" name="Shape 15"/>
          <p:cNvSpPr/>
          <p:nvPr/>
        </p:nvSpPr>
        <p:spPr>
          <a:xfrm>
            <a:off x="4774883" y="1197007"/>
            <a:ext cx="56579" cy="56579"/>
          </a:xfrm>
          <a:prstGeom prst="ellipse">
            <a:avLst/>
          </a:prstGeom>
          <a:solidFill>
            <a:srgbClr val="D3DCE4"/>
          </a:solidFill>
          <a:ln/>
        </p:spPr>
      </p:sp>
      <p:sp>
        <p:nvSpPr>
          <p:cNvPr id="22" name="Shape 16"/>
          <p:cNvSpPr/>
          <p:nvPr/>
        </p:nvSpPr>
        <p:spPr>
          <a:xfrm>
            <a:off x="4877181" y="1197007"/>
            <a:ext cx="56579" cy="56579"/>
          </a:xfrm>
          <a:prstGeom prst="ellipse">
            <a:avLst/>
          </a:prstGeom>
          <a:solidFill>
            <a:srgbClr val="D3DCE4"/>
          </a:solidFill>
          <a:ln/>
        </p:spPr>
      </p:sp>
      <p:pic>
        <p:nvPicPr>
          <p:cNvPr id="23" name="Image 4" descr="Inventory and Quality dashboard">    </p:cNvPr>
          <p:cNvPicPr>
            <a:picLocks noChangeAspect="1"/>
          </p:cNvPicPr>
          <p:nvPr/>
        </p:nvPicPr>
        <p:blipFill>
          <a:blip r:embed="rId6"/>
          <a:stretch>
            <a:fillRect/>
          </a:stretch>
        </p:blipFill>
        <p:spPr>
          <a:xfrm>
            <a:off x="4572000" y="1316736"/>
            <a:ext cx="3749040" cy="2410016"/>
          </a:xfrm>
          <a:prstGeom prst="rect">
            <a:avLst/>
          </a:prstGeom>
        </p:spPr>
      </p:pic>
      <p:sp>
        <p:nvSpPr>
          <p:cNvPr id="24" name="Shape 17"/>
          <p:cNvSpPr/>
          <p:nvPr/>
        </p:nvSpPr>
        <p:spPr>
          <a:xfrm>
            <a:off x="5349240" y="2743200"/>
            <a:ext cx="3337560" cy="2319290"/>
          </a:xfrm>
          <a:prstGeom prst="roundRect">
            <a:avLst>
              <a:gd name="adj" fmla="val 5520"/>
            </a:avLst>
          </a:prstGeom>
          <a:solidFill>
            <a:srgbClr val="FFFFFF"/>
          </a:solidFill>
          <a:ln w="36576">
            <a:solidFill>
              <a:srgbClr val="FFFFFF"/>
            </a:solidFill>
            <a:prstDash val="solid"/>
          </a:ln>
          <a:effectLst>
            <a:outerShdw sx="100000" sy="100000" kx="0" ky="0" algn="bl" rotWithShape="0" blurRad="508000" dist="310896" dir="5400000">
              <a:srgbClr val="062A44">
                <a:alpha val="36000"/>
              </a:srgbClr>
            </a:outerShdw>
          </a:effectLst>
        </p:spPr>
      </p:sp>
      <p:sp>
        <p:nvSpPr>
          <p:cNvPr id="25" name="Shape 18"/>
          <p:cNvSpPr/>
          <p:nvPr/>
        </p:nvSpPr>
        <p:spPr>
          <a:xfrm>
            <a:off x="5349240" y="2743200"/>
            <a:ext cx="3337560" cy="173736"/>
          </a:xfrm>
          <a:prstGeom prst="rect">
            <a:avLst/>
          </a:prstGeom>
          <a:solidFill>
            <a:srgbClr val="F4F7FA"/>
          </a:solidFill>
          <a:ln/>
        </p:spPr>
      </p:sp>
      <p:sp>
        <p:nvSpPr>
          <p:cNvPr id="26" name="Shape 19"/>
          <p:cNvSpPr/>
          <p:nvPr/>
        </p:nvSpPr>
        <p:spPr>
          <a:xfrm>
            <a:off x="5349240" y="2912364"/>
            <a:ext cx="3337560" cy="0"/>
          </a:xfrm>
          <a:prstGeom prst="line">
            <a:avLst/>
          </a:prstGeom>
          <a:noFill/>
          <a:ln w="9144">
            <a:solidFill>
              <a:srgbClr val="062A44">
                <a:alpha val="10000"/>
              </a:srgbClr>
            </a:solidFill>
            <a:prstDash val="solid"/>
          </a:ln>
        </p:spPr>
      </p:sp>
      <p:sp>
        <p:nvSpPr>
          <p:cNvPr id="27" name="Shape 20"/>
          <p:cNvSpPr/>
          <p:nvPr/>
        </p:nvSpPr>
        <p:spPr>
          <a:xfrm>
            <a:off x="5449824" y="2797207"/>
            <a:ext cx="56579" cy="56579"/>
          </a:xfrm>
          <a:prstGeom prst="ellipse">
            <a:avLst/>
          </a:prstGeom>
          <a:solidFill>
            <a:srgbClr val="D3DCE4"/>
          </a:solidFill>
          <a:ln/>
        </p:spPr>
      </p:sp>
      <p:sp>
        <p:nvSpPr>
          <p:cNvPr id="28" name="Shape 21"/>
          <p:cNvSpPr/>
          <p:nvPr/>
        </p:nvSpPr>
        <p:spPr>
          <a:xfrm>
            <a:off x="5552123" y="2797207"/>
            <a:ext cx="56579" cy="56579"/>
          </a:xfrm>
          <a:prstGeom prst="ellipse">
            <a:avLst/>
          </a:prstGeom>
          <a:solidFill>
            <a:srgbClr val="D3DCE4"/>
          </a:solidFill>
          <a:ln/>
        </p:spPr>
      </p:sp>
      <p:sp>
        <p:nvSpPr>
          <p:cNvPr id="29" name="Shape 22"/>
          <p:cNvSpPr/>
          <p:nvPr/>
        </p:nvSpPr>
        <p:spPr>
          <a:xfrm>
            <a:off x="5654421" y="2797207"/>
            <a:ext cx="56579" cy="56579"/>
          </a:xfrm>
          <a:prstGeom prst="ellipse">
            <a:avLst/>
          </a:prstGeom>
          <a:solidFill>
            <a:srgbClr val="D3DCE4"/>
          </a:solidFill>
          <a:ln/>
        </p:spPr>
      </p:sp>
      <p:pic>
        <p:nvPicPr>
          <p:cNvPr id="30" name="Image 5" descr="Manpower Board for one day">    </p:cNvPr>
          <p:cNvPicPr>
            <a:picLocks noChangeAspect="1"/>
          </p:cNvPicPr>
          <p:nvPr/>
        </p:nvPicPr>
        <p:blipFill>
          <a:blip r:embed="rId7"/>
          <a:stretch>
            <a:fillRect/>
          </a:stretch>
        </p:blipFill>
        <p:spPr>
          <a:xfrm>
            <a:off x="5349240" y="2916936"/>
            <a:ext cx="3337560" cy="2145554"/>
          </a:xfrm>
          <a:prstGeom prst="rect">
            <a:avLst/>
          </a:prstGeom>
        </p:spPr>
      </p:pic>
    </p:spTree>
  </p:cSld>
  <p:clrMapOvr>
    <a:masterClrMapping/>
  </p:clrMapOvr>
  <p:transition spd="med">
    <p:push dir="r"/>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pic>
        <p:nvPicPr>
          <p:cNvPr id="4" name="Picture" descr="Manpower Board app icon">    </p:cNvPr>
          <p:cNvPicPr>
            <a:picLocks noChangeAspect="1"/>
          </p:cNvPicPr>
          <p:nvPr/>
        </p:nvPicPr>
        <p:blipFill>
          <a:blip r:embed="rId3"/>
          <a:stretch>
            <a:fillRect/>
          </a:stretch>
        </p:blipFill>
        <p:spPr>
          <a:xfrm>
            <a:off x="457200" y="1051560"/>
            <a:ext cx="420624" cy="420624"/>
          </a:xfrm>
          <a:prstGeom prst="roundRect">
            <a:avLst>
              <a:gd name="adj" fmla="val 23913"/>
            </a:avLst>
          </a:prstGeom>
        </p:spPr>
      </p:pic>
      <p:sp>
        <p:nvSpPr>
          <p:cNvPr id="5" name="Text 1"/>
          <p:cNvSpPr txBox="1"/>
          <p:nvPr/>
        </p:nvSpPr>
        <p:spPr>
          <a:xfrm>
            <a:off x="978408" y="1102566"/>
            <a:ext cx="1520290" cy="259678"/>
          </a:xfrm>
          <a:prstGeom prst="rect">
            <a:avLst/>
          </a:prstGeom>
          <a:noFill/>
          <a:ln/>
        </p:spPr>
        <p:txBody>
          <a:bodyPr wrap="none" lIns="0" tIns="0" rIns="0" bIns="0" rtlCol="0" anchor="t"/>
          <a:lstStyle/>
          <a:p>
            <a:pPr algn="l" indent="0" marL="0">
              <a:lnSpc>
                <a:spcPts val="1570"/>
              </a:lnSpc>
              <a:buNone/>
            </a:pPr>
            <a:r>
              <a:rPr lang="en-US" sz="1370" b="1" spc="-27" kern="0" dirty="0">
                <a:solidFill>
                  <a:srgbClr val="062A44"/>
                </a:solidFill>
                <a:latin typeface="Arial" pitchFamily="34" charset="0"/>
                <a:ea typeface="Arial" pitchFamily="34" charset="-122"/>
                <a:cs typeface="Arial" pitchFamily="34" charset="-120"/>
              </a:rPr>
              <a:t>Manpower Board</a:t>
            </a:r>
            <a:endParaRPr lang="en-US" sz="1370" dirty="0"/>
          </a:p>
        </p:txBody>
      </p:sp>
      <p:sp>
        <p:nvSpPr>
          <p:cNvPr id="6" name="Text 2"/>
          <p:cNvSpPr txBox="1"/>
          <p:nvPr/>
        </p:nvSpPr>
        <p:spPr>
          <a:xfrm>
            <a:off x="978408" y="1334310"/>
            <a:ext cx="725519" cy="112928"/>
          </a:xfrm>
          <a:prstGeom prst="rect">
            <a:avLst/>
          </a:prstGeom>
          <a:noFill/>
          <a:ln/>
        </p:spPr>
        <p:txBody>
          <a:bodyPr wrap="none" lIns="0" tIns="0" rIns="0" bIns="0" rtlCol="0" anchor="t"/>
          <a:lstStyle/>
          <a:p>
            <a:pPr algn="l" indent="0" marL="0">
              <a:lnSpc>
                <a:spcPts val="680"/>
              </a:lnSpc>
              <a:buNone/>
            </a:pPr>
            <a:r>
              <a:rPr lang="en-US" sz="680" spc="96" kern="0" dirty="0">
                <a:solidFill>
                  <a:srgbClr val="5A6E7E"/>
                </a:solidFill>
                <a:latin typeface="Courier New" pitchFamily="34" charset="0"/>
                <a:ea typeface="Courier New" pitchFamily="34" charset="-122"/>
                <a:cs typeface="Courier New" pitchFamily="34" charset="-120"/>
              </a:rPr>
              <a:t>APP 1 OF 2</a:t>
            </a:r>
            <a:endParaRPr lang="en-US" sz="680" dirty="0"/>
          </a:p>
        </p:txBody>
      </p:sp>
      <p:sp>
        <p:nvSpPr>
          <p:cNvPr id="7" name="Text 3"/>
          <p:cNvSpPr txBox="1"/>
          <p:nvPr/>
        </p:nvSpPr>
        <p:spPr>
          <a:xfrm>
            <a:off x="457200" y="1618488"/>
            <a:ext cx="2352811" cy="1199975"/>
          </a:xfrm>
          <a:prstGeom prst="rect">
            <a:avLst/>
          </a:prstGeom>
          <a:noFill/>
          <a:ln/>
        </p:spPr>
        <p:txBody>
          <a:bodyPr wrap="square" lIns="0" tIns="0" rIns="0" bIns="0" rtlCol="0" anchor="t"/>
          <a:lstStyle/>
          <a:p>
            <a:pPr algn="l" indent="0" marL="0">
              <a:lnSpc>
                <a:spcPts val="2860"/>
              </a:lnSpc>
              <a:buNone/>
            </a:pPr>
            <a:r>
              <a:rPr lang="en-US" sz="2810" spc="-140" kern="0" dirty="0">
                <a:solidFill>
                  <a:srgbClr val="062A44"/>
                </a:solidFill>
                <a:latin typeface="Arial" pitchFamily="34" charset="0"/>
                <a:ea typeface="Arial" pitchFamily="34" charset="-122"/>
                <a:cs typeface="Arial" pitchFamily="34" charset="-120"/>
              </a:rPr>
              <a:t>Tomorrow's</a:t>
            </a:r>
            <a:endParaRPr lang="en-US" sz="2810" dirty="0"/>
          </a:p>
          <a:p>
            <a:pPr algn="l" indent="0" marL="0">
              <a:lnSpc>
                <a:spcPts val="2860"/>
              </a:lnSpc>
              <a:buNone/>
            </a:pPr>
            <a:r>
              <a:rPr lang="en-US" sz="2810" spc="-140" kern="0" dirty="0">
                <a:solidFill>
                  <a:srgbClr val="062A44"/>
                </a:solidFill>
                <a:latin typeface="Arial" pitchFamily="34" charset="0"/>
                <a:ea typeface="Arial" pitchFamily="34" charset="-122"/>
                <a:cs typeface="Arial" pitchFamily="34" charset="-120"/>
              </a:rPr>
              <a:t>crew, planned</a:t>
            </a:r>
            <a:endParaRPr lang="en-US" sz="2810" dirty="0"/>
          </a:p>
          <a:p>
            <a:pPr algn="l" indent="0" marL="0">
              <a:lnSpc>
                <a:spcPts val="2860"/>
              </a:lnSpc>
              <a:buNone/>
            </a:pPr>
            <a:r>
              <a:rPr lang="en-US" sz="2810" spc="-140" kern="0" dirty="0">
                <a:solidFill>
                  <a:srgbClr val="062A44"/>
                </a:solidFill>
                <a:latin typeface="Arial" pitchFamily="34" charset="0"/>
                <a:ea typeface="Arial" pitchFamily="34" charset="-122"/>
                <a:cs typeface="Arial" pitchFamily="34" charset="-120"/>
              </a:rPr>
              <a:t>on</a:t>
            </a:r>
            <a:pPr algn="l" indent="0" marL="0">
              <a:lnSpc>
                <a:spcPts val="2860"/>
              </a:lnSpc>
              <a:buNone/>
            </a:pPr>
            <a:r>
              <a:rPr lang="en-US" sz="2810" b="1" spc="-140" kern="0" dirty="0">
                <a:solidFill>
                  <a:srgbClr val="0F4368"/>
                </a:solidFill>
                <a:latin typeface="Arial" pitchFamily="34" charset="0"/>
                <a:ea typeface="Arial" pitchFamily="34" charset="-122"/>
                <a:cs typeface="Arial" pitchFamily="34" charset="-120"/>
              </a:rPr>
              <a:t> o</a:t>
            </a:r>
            <a:pPr algn="l" indent="0" marL="0">
              <a:lnSpc>
                <a:spcPts val="2860"/>
              </a:lnSpc>
              <a:buNone/>
            </a:pPr>
            <a:r>
              <a:rPr lang="en-US" sz="2810" b="1" spc="-140" kern="0" dirty="0">
                <a:solidFill>
                  <a:srgbClr val="18547E"/>
                </a:solidFill>
                <a:latin typeface="Arial" pitchFamily="34" charset="0"/>
                <a:ea typeface="Arial" pitchFamily="34" charset="-122"/>
                <a:cs typeface="Arial" pitchFamily="34" charset="-120"/>
              </a:rPr>
              <a:t>n</a:t>
            </a:r>
            <a:pPr algn="l" indent="0" marL="0">
              <a:lnSpc>
                <a:spcPts val="2860"/>
              </a:lnSpc>
              <a:buNone/>
            </a:pPr>
            <a:r>
              <a:rPr lang="en-US" sz="2810" b="1" spc="-140" kern="0" dirty="0">
                <a:solidFill>
                  <a:srgbClr val="216595"/>
                </a:solidFill>
                <a:latin typeface="Arial" pitchFamily="34" charset="0"/>
                <a:ea typeface="Arial" pitchFamily="34" charset="-122"/>
                <a:cs typeface="Arial" pitchFamily="34" charset="-120"/>
              </a:rPr>
              <a:t>e</a:t>
            </a:r>
            <a:pPr algn="l" indent="0" marL="0">
              <a:lnSpc>
                <a:spcPts val="2860"/>
              </a:lnSpc>
              <a:buNone/>
            </a:pPr>
            <a:r>
              <a:rPr lang="en-US" sz="2810" b="1" spc="-140" kern="0" dirty="0">
                <a:solidFill>
                  <a:srgbClr val="2D7DB5"/>
                </a:solidFill>
                <a:latin typeface="Arial" pitchFamily="34" charset="0"/>
                <a:ea typeface="Arial" pitchFamily="34" charset="-122"/>
                <a:cs typeface="Arial" pitchFamily="34" charset="-120"/>
              </a:rPr>
              <a:t> b</a:t>
            </a:r>
            <a:pPr algn="l" indent="0" marL="0">
              <a:lnSpc>
                <a:spcPts val="2860"/>
              </a:lnSpc>
              <a:buNone/>
            </a:pPr>
            <a:r>
              <a:rPr lang="en-US" sz="2810" b="1" spc="-140" kern="0" dirty="0">
                <a:solidFill>
                  <a:srgbClr val="3E8798"/>
                </a:solidFill>
                <a:latin typeface="Arial" pitchFamily="34" charset="0"/>
                <a:ea typeface="Arial" pitchFamily="34" charset="-122"/>
                <a:cs typeface="Arial" pitchFamily="34" charset="-120"/>
              </a:rPr>
              <a:t>o</a:t>
            </a:r>
            <a:pPr algn="l" indent="0" marL="0">
              <a:lnSpc>
                <a:spcPts val="2860"/>
              </a:lnSpc>
              <a:buNone/>
            </a:pPr>
            <a:r>
              <a:rPr lang="en-US" sz="2810" b="1" spc="-140" kern="0" dirty="0">
                <a:solidFill>
                  <a:srgbClr val="519173"/>
                </a:solidFill>
                <a:latin typeface="Arial" pitchFamily="34" charset="0"/>
                <a:ea typeface="Arial" pitchFamily="34" charset="-122"/>
                <a:cs typeface="Arial" pitchFamily="34" charset="-120"/>
              </a:rPr>
              <a:t>a</a:t>
            </a:r>
            <a:pPr algn="l" indent="0" marL="0">
              <a:lnSpc>
                <a:spcPts val="2860"/>
              </a:lnSpc>
              <a:buNone/>
            </a:pPr>
            <a:r>
              <a:rPr lang="en-US" sz="2810" b="1" spc="-140" kern="0" dirty="0">
                <a:solidFill>
                  <a:srgbClr val="609857"/>
                </a:solidFill>
                <a:latin typeface="Arial" pitchFamily="34" charset="0"/>
                <a:ea typeface="Arial" pitchFamily="34" charset="-122"/>
                <a:cs typeface="Arial" pitchFamily="34" charset="-120"/>
              </a:rPr>
              <a:t>r</a:t>
            </a:r>
            <a:pPr algn="l" indent="0" marL="0">
              <a:lnSpc>
                <a:spcPts val="2860"/>
              </a:lnSpc>
              <a:buNone/>
            </a:pPr>
            <a:r>
              <a:rPr lang="en-US" sz="2810" b="1" spc="-140" kern="0" dirty="0">
                <a:solidFill>
                  <a:srgbClr val="6FA039"/>
                </a:solidFill>
                <a:latin typeface="Arial" pitchFamily="34" charset="0"/>
                <a:ea typeface="Arial" pitchFamily="34" charset="-122"/>
                <a:cs typeface="Arial" pitchFamily="34" charset="-120"/>
              </a:rPr>
              <a:t>d</a:t>
            </a:r>
            <a:pPr algn="l" indent="0" marL="0">
              <a:lnSpc>
                <a:spcPts val="2860"/>
              </a:lnSpc>
              <a:buNone/>
            </a:pPr>
            <a:r>
              <a:rPr lang="en-US" sz="2810" b="1" spc="-140" kern="0" dirty="0">
                <a:solidFill>
                  <a:srgbClr val="7CA620"/>
                </a:solidFill>
                <a:latin typeface="Arial" pitchFamily="34" charset="0"/>
                <a:ea typeface="Arial" pitchFamily="34" charset="-122"/>
                <a:cs typeface="Arial" pitchFamily="34" charset="-120"/>
              </a:rPr>
              <a:t>.</a:t>
            </a:r>
            <a:endParaRPr lang="en-US" sz="2810" dirty="0"/>
          </a:p>
        </p:txBody>
      </p:sp>
      <p:sp>
        <p:nvSpPr>
          <p:cNvPr id="8" name="Text 4"/>
          <p:cNvSpPr txBox="1"/>
          <p:nvPr/>
        </p:nvSpPr>
        <p:spPr>
          <a:xfrm>
            <a:off x="457200" y="2855643"/>
            <a:ext cx="3198471" cy="678942"/>
          </a:xfrm>
          <a:prstGeom prst="rect">
            <a:avLst/>
          </a:prstGeom>
          <a:noFill/>
          <a:ln/>
        </p:spPr>
        <p:txBody>
          <a:bodyPr wrap="square" lIns="0" tIns="0" rIns="0" bIns="0" rtlCol="0" anchor="t"/>
          <a:lstStyle/>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The magnet board, made digital. Drag people</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onto missions, leave or standby, and</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everyone sees the same plan, live.</a:t>
            </a:r>
            <a:endParaRPr lang="en-US" sz="1080" dirty="0"/>
          </a:p>
        </p:txBody>
      </p:sp>
      <p:sp>
        <p:nvSpPr>
          <p:cNvPr id="9" name="Shape 5"/>
          <p:cNvSpPr/>
          <p:nvPr/>
        </p:nvSpPr>
        <p:spPr>
          <a:xfrm>
            <a:off x="457200" y="3655743"/>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0" name="Image 2" descr="Icon: drag pan">    </p:cNvPr>
          <p:cNvPicPr>
            <a:picLocks noChangeAspect="1"/>
          </p:cNvPicPr>
          <p:nvPr/>
        </p:nvPicPr>
        <p:blipFill>
          <a:blip r:embed="rId4"/>
          <a:stretch>
            <a:fillRect/>
          </a:stretch>
        </p:blipFill>
        <p:spPr>
          <a:xfrm>
            <a:off x="457200" y="3655743"/>
            <a:ext cx="310896" cy="310896"/>
          </a:xfrm>
          <a:prstGeom prst="rect">
            <a:avLst/>
          </a:prstGeom>
        </p:spPr>
      </p:pic>
      <p:sp>
        <p:nvSpPr>
          <p:cNvPr id="11" name="Text 6"/>
          <p:cNvSpPr txBox="1"/>
          <p:nvPr/>
        </p:nvSpPr>
        <p:spPr>
          <a:xfrm>
            <a:off x="877824" y="3656886"/>
            <a:ext cx="1532549"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Drag and drop planning</a:t>
            </a:r>
            <a:endParaRPr lang="en-US" sz="990" dirty="0"/>
          </a:p>
        </p:txBody>
      </p:sp>
      <p:sp>
        <p:nvSpPr>
          <p:cNvPr id="12" name="Text 7"/>
          <p:cNvSpPr txBox="1"/>
          <p:nvPr/>
        </p:nvSpPr>
        <p:spPr>
          <a:xfrm>
            <a:off x="877824" y="3820763"/>
            <a:ext cx="2063286"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One board per site, one card per person</a:t>
            </a:r>
            <a:endParaRPr lang="en-US" sz="810" dirty="0"/>
          </a:p>
        </p:txBody>
      </p:sp>
      <p:sp>
        <p:nvSpPr>
          <p:cNvPr id="13" name="Shape 8"/>
          <p:cNvSpPr/>
          <p:nvPr/>
        </p:nvSpPr>
        <p:spPr>
          <a:xfrm>
            <a:off x="457200" y="4151948"/>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4" name="Image 3" descr="Icon: location on">    </p:cNvPr>
          <p:cNvPicPr>
            <a:picLocks noChangeAspect="1"/>
          </p:cNvPicPr>
          <p:nvPr/>
        </p:nvPicPr>
        <p:blipFill>
          <a:blip r:embed="rId5"/>
          <a:stretch>
            <a:fillRect/>
          </a:stretch>
        </p:blipFill>
        <p:spPr>
          <a:xfrm>
            <a:off x="457200" y="4151948"/>
            <a:ext cx="310896" cy="310896"/>
          </a:xfrm>
          <a:prstGeom prst="rect">
            <a:avLst/>
          </a:prstGeom>
        </p:spPr>
      </p:pic>
      <p:sp>
        <p:nvSpPr>
          <p:cNvPr id="15" name="Text 9"/>
          <p:cNvSpPr txBox="1"/>
          <p:nvPr/>
        </p:nvSpPr>
        <p:spPr>
          <a:xfrm>
            <a:off x="877824" y="4080939"/>
            <a:ext cx="1719886"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Where to go, what to wear</a:t>
            </a:r>
            <a:endParaRPr lang="en-US" sz="990" dirty="0"/>
          </a:p>
        </p:txBody>
      </p:sp>
      <p:sp>
        <p:nvSpPr>
          <p:cNvPr id="16" name="Text 10"/>
          <p:cNvSpPr txBox="1"/>
          <p:nvPr/>
        </p:nvSpPr>
        <p:spPr>
          <a:xfrm>
            <a:off x="877824" y="4244816"/>
            <a:ext cx="2677752" cy="332576"/>
          </a:xfrm>
          <a:prstGeom prst="rect">
            <a:avLst/>
          </a:prstGeom>
          <a:noFill/>
          <a:ln/>
        </p:spPr>
        <p:txBody>
          <a:bodyPr wrap="squar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The host name opens Google Maps; PPE is on the</a:t>
            </a:r>
            <a:endParaRPr lang="en-US" sz="810" dirty="0"/>
          </a:p>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card</a:t>
            </a:r>
            <a:endParaRPr lang="en-US" sz="810" dirty="0"/>
          </a:p>
        </p:txBody>
      </p:sp>
      <p:sp>
        <p:nvSpPr>
          <p:cNvPr id="17" name="Shape 11"/>
          <p:cNvSpPr/>
          <p:nvPr/>
        </p:nvSpPr>
        <p:spPr>
          <a:xfrm>
            <a:off x="457200" y="4648295"/>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8" name="Image 4" descr="Icon: lock">    </p:cNvPr>
          <p:cNvPicPr>
            <a:picLocks noChangeAspect="1"/>
          </p:cNvPicPr>
          <p:nvPr/>
        </p:nvPicPr>
        <p:blipFill>
          <a:blip r:embed="rId6"/>
          <a:stretch>
            <a:fillRect/>
          </a:stretch>
        </p:blipFill>
        <p:spPr>
          <a:xfrm>
            <a:off x="457200" y="4648295"/>
            <a:ext cx="310896" cy="310896"/>
          </a:xfrm>
          <a:prstGeom prst="rect">
            <a:avLst/>
          </a:prstGeom>
        </p:spPr>
      </p:pic>
      <p:sp>
        <p:nvSpPr>
          <p:cNvPr id="19" name="Text 12"/>
          <p:cNvSpPr txBox="1"/>
          <p:nvPr/>
        </p:nvSpPr>
        <p:spPr>
          <a:xfrm>
            <a:off x="877824" y="4649438"/>
            <a:ext cx="132069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Lock a finished plan</a:t>
            </a:r>
            <a:endParaRPr lang="en-US" sz="990" dirty="0"/>
          </a:p>
        </p:txBody>
      </p:sp>
      <p:sp>
        <p:nvSpPr>
          <p:cNvPr id="20" name="Text 13"/>
          <p:cNvSpPr txBox="1"/>
          <p:nvPr/>
        </p:nvSpPr>
        <p:spPr>
          <a:xfrm>
            <a:off x="877824" y="4813316"/>
            <a:ext cx="1530820"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Nobody bumps it by accident</a:t>
            </a:r>
            <a:endParaRPr lang="en-US" sz="810" dirty="0"/>
          </a:p>
        </p:txBody>
      </p:sp>
      <p:sp>
        <p:nvSpPr>
          <p:cNvPr id="21" name="Shape 14"/>
          <p:cNvSpPr/>
          <p:nvPr/>
        </p:nvSpPr>
        <p:spPr>
          <a:xfrm>
            <a:off x="4389120" y="1234440"/>
            <a:ext cx="4297680" cy="2936510"/>
          </a:xfrm>
          <a:prstGeom prst="roundRect">
            <a:avLst>
              <a:gd name="adj" fmla="val 4359"/>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22" name="Shape 15"/>
          <p:cNvSpPr/>
          <p:nvPr/>
        </p:nvSpPr>
        <p:spPr>
          <a:xfrm>
            <a:off x="4389120" y="1234440"/>
            <a:ext cx="4297680" cy="173736"/>
          </a:xfrm>
          <a:prstGeom prst="rect">
            <a:avLst/>
          </a:prstGeom>
          <a:solidFill>
            <a:srgbClr val="F4F7FA"/>
          </a:solidFill>
          <a:ln/>
        </p:spPr>
      </p:sp>
      <p:sp>
        <p:nvSpPr>
          <p:cNvPr id="23" name="Shape 16"/>
          <p:cNvSpPr/>
          <p:nvPr/>
        </p:nvSpPr>
        <p:spPr>
          <a:xfrm>
            <a:off x="4389120" y="1403604"/>
            <a:ext cx="4297680" cy="0"/>
          </a:xfrm>
          <a:prstGeom prst="line">
            <a:avLst/>
          </a:prstGeom>
          <a:noFill/>
          <a:ln w="9144">
            <a:solidFill>
              <a:srgbClr val="062A44">
                <a:alpha val="10000"/>
              </a:srgbClr>
            </a:solidFill>
            <a:prstDash val="solid"/>
          </a:ln>
        </p:spPr>
      </p:sp>
      <p:sp>
        <p:nvSpPr>
          <p:cNvPr id="24" name="Shape 17"/>
          <p:cNvSpPr/>
          <p:nvPr/>
        </p:nvSpPr>
        <p:spPr>
          <a:xfrm>
            <a:off x="4489704" y="1288447"/>
            <a:ext cx="56579" cy="56579"/>
          </a:xfrm>
          <a:prstGeom prst="ellipse">
            <a:avLst/>
          </a:prstGeom>
          <a:solidFill>
            <a:srgbClr val="D3DCE4"/>
          </a:solidFill>
          <a:ln/>
        </p:spPr>
      </p:sp>
      <p:sp>
        <p:nvSpPr>
          <p:cNvPr id="25" name="Shape 18"/>
          <p:cNvSpPr/>
          <p:nvPr/>
        </p:nvSpPr>
        <p:spPr>
          <a:xfrm>
            <a:off x="4592003" y="1288447"/>
            <a:ext cx="56579" cy="56579"/>
          </a:xfrm>
          <a:prstGeom prst="ellipse">
            <a:avLst/>
          </a:prstGeom>
          <a:solidFill>
            <a:srgbClr val="D3DCE4"/>
          </a:solidFill>
          <a:ln/>
        </p:spPr>
      </p:sp>
      <p:sp>
        <p:nvSpPr>
          <p:cNvPr id="26" name="Shape 19"/>
          <p:cNvSpPr/>
          <p:nvPr/>
        </p:nvSpPr>
        <p:spPr>
          <a:xfrm>
            <a:off x="4694301" y="1288447"/>
            <a:ext cx="56579" cy="56579"/>
          </a:xfrm>
          <a:prstGeom prst="ellipse">
            <a:avLst/>
          </a:prstGeom>
          <a:solidFill>
            <a:srgbClr val="D3DCE4"/>
          </a:solidFill>
          <a:ln/>
        </p:spPr>
      </p:sp>
      <p:pic>
        <p:nvPicPr>
          <p:cNvPr id="27" name="Image 5" descr="Manpower Board with missions, leave and the standby pool">    </p:cNvPr>
          <p:cNvPicPr>
            <a:picLocks noChangeAspect="1"/>
          </p:cNvPicPr>
          <p:nvPr/>
        </p:nvPicPr>
        <p:blipFill>
          <a:blip r:embed="rId7"/>
          <a:stretch>
            <a:fillRect/>
          </a:stretch>
        </p:blipFill>
        <p:spPr>
          <a:xfrm>
            <a:off x="4389120" y="1408176"/>
            <a:ext cx="4297680" cy="2762774"/>
          </a:xfrm>
          <a:prstGeom prst="rect">
            <a:avLst/>
          </a:prstGeom>
        </p:spPr>
      </p:pic>
      <p:sp>
        <p:nvSpPr>
          <p:cNvPr id="28" name="Gradient shape"/>
          <p:cNvSpPr/>
          <p:nvPr/>
        </p:nvSpPr>
        <p:spPr>
          <a:xfrm>
            <a:off x="3749040" y="1920240"/>
            <a:ext cx="1188720" cy="2572464"/>
          </a:xfrm>
          <a:prstGeom prst="roundRect">
            <a:avLst>
              <a:gd name="adj" fmla="val 20000"/>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62A44">
                <a:alpha val="33600"/>
              </a:srgbClr>
            </a:outerShdw>
          </a:effectLst>
        </p:spPr>
      </p:sp>
      <p:pic>
        <p:nvPicPr>
          <p:cNvPr id="29" name="Picture" descr="Merging a forecast day on a phone, one clash at a time">    </p:cNvPr>
          <p:cNvPicPr>
            <a:picLocks noChangeAspect="1"/>
          </p:cNvPicPr>
          <p:nvPr/>
        </p:nvPicPr>
        <p:blipFill>
          <a:blip r:embed="rId8"/>
          <a:stretch>
            <a:fillRect/>
          </a:stretch>
        </p:blipFill>
        <p:spPr>
          <a:xfrm>
            <a:off x="3790188" y="1961388"/>
            <a:ext cx="1106424" cy="2490168"/>
          </a:xfrm>
          <a:prstGeom prst="roundRect">
            <a:avLst>
              <a:gd name="adj" fmla="val 18181"/>
            </a:avLst>
          </a:prstGeom>
        </p:spPr>
      </p:pic>
    </p:spTree>
  </p:cSld>
  <p:clrMapOvr>
    <a:masterClrMapping/>
  </p:clrMapOvr>
  <p:transition spd="med">
    <p:push dir="r"/>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88720"/>
            <a:ext cx="1088565"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MANPOWER BOARD</a:t>
            </a:r>
            <a:endParaRPr lang="en-US" sz="720" dirty="0"/>
          </a:p>
        </p:txBody>
      </p:sp>
      <p:sp>
        <p:nvSpPr>
          <p:cNvPr id="5" name="Gradient shape"/>
          <p:cNvSpPr/>
          <p:nvPr/>
        </p:nvSpPr>
        <p:spPr>
          <a:xfrm>
            <a:off x="457200" y="122438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426464"/>
            <a:ext cx="2945522" cy="772243"/>
          </a:xfrm>
          <a:prstGeom prst="rect">
            <a:avLst/>
          </a:prstGeom>
          <a:noFill/>
          <a:ln/>
        </p:spPr>
        <p:txBody>
          <a:bodyPr wrap="square" lIns="0" tIns="0" rIns="0" bIns="0" rtlCol="0" anchor="t"/>
          <a:lstStyle/>
          <a:p>
            <a:pPr algn="l" indent="0" marL="0">
              <a:lnSpc>
                <a:spcPts val="2640"/>
              </a:lnSpc>
              <a:buNone/>
            </a:pPr>
            <a:r>
              <a:rPr lang="en-US" sz="2590" spc="-130" kern="0" dirty="0">
                <a:solidFill>
                  <a:srgbClr val="062A44"/>
                </a:solidFill>
                <a:latin typeface="Arial" pitchFamily="34" charset="0"/>
                <a:ea typeface="Arial" pitchFamily="34" charset="-122"/>
                <a:cs typeface="Arial" pitchFamily="34" charset="-120"/>
              </a:rPr>
              <a:t>Plan weeks ahead,</a:t>
            </a:r>
            <a:endParaRPr lang="en-US" sz="2590" dirty="0"/>
          </a:p>
          <a:p>
            <a:pPr algn="l" indent="0" marL="0">
              <a:lnSpc>
                <a:spcPts val="2640"/>
              </a:lnSpc>
              <a:buNone/>
            </a:pPr>
            <a:r>
              <a:rPr lang="en-US" sz="2590" b="1" spc="-130" kern="0" dirty="0">
                <a:solidFill>
                  <a:srgbClr val="0E3F63"/>
                </a:solidFill>
                <a:latin typeface="Arial" pitchFamily="34" charset="0"/>
                <a:ea typeface="Arial" pitchFamily="34" charset="-122"/>
                <a:cs typeface="Arial" pitchFamily="34" charset="-120"/>
              </a:rPr>
              <a:t>n</a:t>
            </a:r>
            <a:pPr algn="l" indent="0" marL="0">
              <a:lnSpc>
                <a:spcPts val="2640"/>
              </a:lnSpc>
              <a:buNone/>
            </a:pPr>
            <a:r>
              <a:rPr lang="en-US" sz="2590" b="1" spc="-130" kern="0" dirty="0">
                <a:solidFill>
                  <a:srgbClr val="124970"/>
                </a:solidFill>
                <a:latin typeface="Arial" pitchFamily="34" charset="0"/>
                <a:ea typeface="Arial" pitchFamily="34" charset="-122"/>
                <a:cs typeface="Arial" pitchFamily="34" charset="-120"/>
              </a:rPr>
              <a:t>o</a:t>
            </a:r>
            <a:pPr algn="l" indent="0" marL="0">
              <a:lnSpc>
                <a:spcPts val="2640"/>
              </a:lnSpc>
              <a:buNone/>
            </a:pPr>
            <a:r>
              <a:rPr lang="en-US" sz="2590" b="1" spc="-130" kern="0" dirty="0">
                <a:solidFill>
                  <a:srgbClr val="17517B"/>
                </a:solidFill>
                <a:latin typeface="Arial" pitchFamily="34" charset="0"/>
                <a:ea typeface="Arial" pitchFamily="34" charset="-122"/>
                <a:cs typeface="Arial" pitchFamily="34" charset="-120"/>
              </a:rPr>
              <a:t>t</a:t>
            </a:r>
            <a:pPr algn="l" indent="0" marL="0">
              <a:lnSpc>
                <a:spcPts val="2640"/>
              </a:lnSpc>
              <a:buNone/>
            </a:pPr>
            <a:r>
              <a:rPr lang="en-US" sz="2590" b="1" spc="-130" kern="0" dirty="0">
                <a:solidFill>
                  <a:srgbClr val="1B5A87"/>
                </a:solidFill>
                <a:latin typeface="Arial" pitchFamily="34" charset="0"/>
                <a:ea typeface="Arial" pitchFamily="34" charset="-122"/>
                <a:cs typeface="Arial" pitchFamily="34" charset="-120"/>
              </a:rPr>
              <a:t> j</a:t>
            </a:r>
            <a:pPr algn="l" indent="0" marL="0">
              <a:lnSpc>
                <a:spcPts val="2640"/>
              </a:lnSpc>
              <a:buNone/>
            </a:pPr>
            <a:r>
              <a:rPr lang="en-US" sz="2590" b="1" spc="-130" kern="0" dirty="0">
                <a:solidFill>
                  <a:srgbClr val="1F6190"/>
                </a:solidFill>
                <a:latin typeface="Arial" pitchFamily="34" charset="0"/>
                <a:ea typeface="Arial" pitchFamily="34" charset="-122"/>
                <a:cs typeface="Arial" pitchFamily="34" charset="-120"/>
              </a:rPr>
              <a:t>u</a:t>
            </a:r>
            <a:pPr algn="l" indent="0" marL="0">
              <a:lnSpc>
                <a:spcPts val="2640"/>
              </a:lnSpc>
              <a:buNone/>
            </a:pPr>
            <a:r>
              <a:rPr lang="en-US" sz="2590" b="1" spc="-130" kern="0" dirty="0">
                <a:solidFill>
                  <a:srgbClr val="246B9D"/>
                </a:solidFill>
                <a:latin typeface="Arial" pitchFamily="34" charset="0"/>
                <a:ea typeface="Arial" pitchFamily="34" charset="-122"/>
                <a:cs typeface="Arial" pitchFamily="34" charset="-120"/>
              </a:rPr>
              <a:t>s</a:t>
            </a:r>
            <a:pPr algn="l" indent="0" marL="0">
              <a:lnSpc>
                <a:spcPts val="2640"/>
              </a:lnSpc>
              <a:buNone/>
            </a:pPr>
            <a:r>
              <a:rPr lang="en-US" sz="2590" b="1" spc="-130" kern="0" dirty="0">
                <a:solidFill>
                  <a:srgbClr val="2873A7"/>
                </a:solidFill>
                <a:latin typeface="Arial" pitchFamily="34" charset="0"/>
                <a:ea typeface="Arial" pitchFamily="34" charset="-122"/>
                <a:cs typeface="Arial" pitchFamily="34" charset="-120"/>
              </a:rPr>
              <a:t>t</a:t>
            </a:r>
            <a:pPr algn="l" indent="0" marL="0">
              <a:lnSpc>
                <a:spcPts val="2640"/>
              </a:lnSpc>
              <a:buNone/>
            </a:pPr>
            <a:r>
              <a:rPr lang="en-US" sz="2590" b="1" spc="-130" kern="0" dirty="0">
                <a:solidFill>
                  <a:srgbClr val="2D7DB5"/>
                </a:solidFill>
                <a:latin typeface="Arial" pitchFamily="34" charset="0"/>
                <a:ea typeface="Arial" pitchFamily="34" charset="-122"/>
                <a:cs typeface="Arial" pitchFamily="34" charset="-120"/>
              </a:rPr>
              <a:t> t</a:t>
            </a:r>
            <a:pPr algn="l" indent="0" marL="0">
              <a:lnSpc>
                <a:spcPts val="2640"/>
              </a:lnSpc>
              <a:buNone/>
            </a:pPr>
            <a:r>
              <a:rPr lang="en-US" sz="2590" b="1" spc="-130" kern="0" dirty="0">
                <a:solidFill>
                  <a:srgbClr val="3582AB"/>
                </a:solidFill>
                <a:latin typeface="Arial" pitchFamily="34" charset="0"/>
                <a:ea typeface="Arial" pitchFamily="34" charset="-122"/>
                <a:cs typeface="Arial" pitchFamily="34" charset="-120"/>
              </a:rPr>
              <a:t>o</a:t>
            </a:r>
            <a:pPr algn="l" indent="0" marL="0">
              <a:lnSpc>
                <a:spcPts val="2640"/>
              </a:lnSpc>
              <a:buNone/>
            </a:pPr>
            <a:r>
              <a:rPr lang="en-US" sz="2590" b="1" spc="-130" kern="0" dirty="0">
                <a:solidFill>
                  <a:srgbClr val="428990"/>
                </a:solidFill>
                <a:latin typeface="Arial" pitchFamily="34" charset="0"/>
                <a:ea typeface="Arial" pitchFamily="34" charset="-122"/>
                <a:cs typeface="Arial" pitchFamily="34" charset="-120"/>
              </a:rPr>
              <a:t>m</a:t>
            </a:r>
            <a:pPr algn="l" indent="0" marL="0">
              <a:lnSpc>
                <a:spcPts val="2640"/>
              </a:lnSpc>
              <a:buNone/>
            </a:pPr>
            <a:r>
              <a:rPr lang="en-US" sz="2590" b="1" spc="-130" kern="0" dirty="0">
                <a:solidFill>
                  <a:srgbClr val="509076"/>
                </a:solidFill>
                <a:latin typeface="Arial" pitchFamily="34" charset="0"/>
                <a:ea typeface="Arial" pitchFamily="34" charset="-122"/>
                <a:cs typeface="Arial" pitchFamily="34" charset="-120"/>
              </a:rPr>
              <a:t>o</a:t>
            </a:r>
            <a:pPr algn="l" indent="0" marL="0">
              <a:lnSpc>
                <a:spcPts val="2640"/>
              </a:lnSpc>
              <a:buNone/>
            </a:pPr>
            <a:r>
              <a:rPr lang="en-US" sz="2590" b="1" spc="-130" kern="0" dirty="0">
                <a:solidFill>
                  <a:srgbClr val="599565"/>
                </a:solidFill>
                <a:latin typeface="Arial" pitchFamily="34" charset="0"/>
                <a:ea typeface="Arial" pitchFamily="34" charset="-122"/>
                <a:cs typeface="Arial" pitchFamily="34" charset="-120"/>
              </a:rPr>
              <a:t>r</a:t>
            </a:r>
            <a:pPr algn="l" indent="0" marL="0">
              <a:lnSpc>
                <a:spcPts val="2640"/>
              </a:lnSpc>
              <a:buNone/>
            </a:pPr>
            <a:r>
              <a:rPr lang="en-US" sz="2590" b="1" spc="-130" kern="0" dirty="0">
                <a:solidFill>
                  <a:srgbClr val="5F9858"/>
                </a:solidFill>
                <a:latin typeface="Arial" pitchFamily="34" charset="0"/>
                <a:ea typeface="Arial" pitchFamily="34" charset="-122"/>
                <a:cs typeface="Arial" pitchFamily="34" charset="-120"/>
              </a:rPr>
              <a:t>r</a:t>
            </a:r>
            <a:pPr algn="l" indent="0" marL="0">
              <a:lnSpc>
                <a:spcPts val="2640"/>
              </a:lnSpc>
              <a:buNone/>
            </a:pPr>
            <a:r>
              <a:rPr lang="en-US" sz="2590" b="1" spc="-130" kern="0" dirty="0">
                <a:solidFill>
                  <a:srgbClr val="689C48"/>
                </a:solidFill>
                <a:latin typeface="Arial" pitchFamily="34" charset="0"/>
                <a:ea typeface="Arial" pitchFamily="34" charset="-122"/>
                <a:cs typeface="Arial" pitchFamily="34" charset="-120"/>
              </a:rPr>
              <a:t>o</a:t>
            </a:r>
            <a:pPr algn="l" indent="0" marL="0">
              <a:lnSpc>
                <a:spcPts val="2640"/>
              </a:lnSpc>
              <a:buNone/>
            </a:pPr>
            <a:r>
              <a:rPr lang="en-US" sz="2590" b="1" spc="-130" kern="0" dirty="0">
                <a:solidFill>
                  <a:srgbClr val="74A32F"/>
                </a:solidFill>
                <a:latin typeface="Arial" pitchFamily="34" charset="0"/>
                <a:ea typeface="Arial" pitchFamily="34" charset="-122"/>
                <a:cs typeface="Arial" pitchFamily="34" charset="-120"/>
              </a:rPr>
              <a:t>w</a:t>
            </a:r>
            <a:pPr algn="l" indent="0" marL="0">
              <a:lnSpc>
                <a:spcPts val="2640"/>
              </a:lnSpc>
              <a:buNone/>
            </a:pPr>
            <a:r>
              <a:rPr lang="en-US" sz="2590" b="1" spc="-130" kern="0" dirty="0">
                <a:solidFill>
                  <a:srgbClr val="7DA71D"/>
                </a:solidFill>
                <a:latin typeface="Arial" pitchFamily="34" charset="0"/>
                <a:ea typeface="Arial" pitchFamily="34" charset="-122"/>
                <a:cs typeface="Arial" pitchFamily="34" charset="-120"/>
              </a:rPr>
              <a:t>.</a:t>
            </a:r>
            <a:endParaRPr lang="en-US" sz="2590" dirty="0"/>
          </a:p>
        </p:txBody>
      </p:sp>
      <p:sp>
        <p:nvSpPr>
          <p:cNvPr id="7" name="Shape 4"/>
          <p:cNvSpPr/>
          <p:nvPr/>
        </p:nvSpPr>
        <p:spPr>
          <a:xfrm>
            <a:off x="457200" y="2280857"/>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8" name="Image 1" descr="Icon: redo">    </p:cNvPr>
          <p:cNvPicPr>
            <a:picLocks noChangeAspect="1"/>
          </p:cNvPicPr>
          <p:nvPr/>
        </p:nvPicPr>
        <p:blipFill>
          <a:blip r:embed="rId3"/>
          <a:stretch>
            <a:fillRect/>
          </a:stretch>
        </p:blipFill>
        <p:spPr>
          <a:xfrm>
            <a:off x="457200" y="2280857"/>
            <a:ext cx="310896" cy="310896"/>
          </a:xfrm>
          <a:prstGeom prst="rect">
            <a:avLst/>
          </a:prstGeom>
        </p:spPr>
      </p:pic>
      <p:sp>
        <p:nvSpPr>
          <p:cNvPr id="9" name="Text 5"/>
          <p:cNvSpPr txBox="1"/>
          <p:nvPr/>
        </p:nvSpPr>
        <p:spPr>
          <a:xfrm>
            <a:off x="877824" y="2282000"/>
            <a:ext cx="2046156"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Carry over the last working day</a:t>
            </a:r>
            <a:endParaRPr lang="en-US" sz="990" dirty="0"/>
          </a:p>
        </p:txBody>
      </p:sp>
      <p:sp>
        <p:nvSpPr>
          <p:cNvPr id="10" name="Text 6"/>
          <p:cNvSpPr txBox="1"/>
          <p:nvPr/>
        </p:nvSpPr>
        <p:spPr>
          <a:xfrm>
            <a:off x="877824" y="2445877"/>
            <a:ext cx="2109807"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One click, then change only what moved</a:t>
            </a:r>
            <a:endParaRPr lang="en-US" sz="810" dirty="0"/>
          </a:p>
        </p:txBody>
      </p:sp>
      <p:sp>
        <p:nvSpPr>
          <p:cNvPr id="11" name="Shape 7"/>
          <p:cNvSpPr/>
          <p:nvPr/>
        </p:nvSpPr>
        <p:spPr>
          <a:xfrm>
            <a:off x="457200" y="2706053"/>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2" name="Image 2" descr="Icon: event upcoming">    </p:cNvPr>
          <p:cNvPicPr>
            <a:picLocks noChangeAspect="1"/>
          </p:cNvPicPr>
          <p:nvPr/>
        </p:nvPicPr>
        <p:blipFill>
          <a:blip r:embed="rId4"/>
          <a:stretch>
            <a:fillRect/>
          </a:stretch>
        </p:blipFill>
        <p:spPr>
          <a:xfrm>
            <a:off x="457200" y="2706053"/>
            <a:ext cx="310896" cy="310896"/>
          </a:xfrm>
          <a:prstGeom prst="rect">
            <a:avLst/>
          </a:prstGeom>
        </p:spPr>
      </p:pic>
      <p:sp>
        <p:nvSpPr>
          <p:cNvPr id="13" name="Text 8"/>
          <p:cNvSpPr txBox="1"/>
          <p:nvPr/>
        </p:nvSpPr>
        <p:spPr>
          <a:xfrm>
            <a:off x="877824" y="2707196"/>
            <a:ext cx="931716"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Forecast days</a:t>
            </a:r>
            <a:endParaRPr lang="en-US" sz="990" dirty="0"/>
          </a:p>
        </p:txBody>
      </p:sp>
      <p:sp>
        <p:nvSpPr>
          <p:cNvPr id="14" name="Text 9"/>
          <p:cNvSpPr txBox="1"/>
          <p:nvPr/>
        </p:nvSpPr>
        <p:spPr>
          <a:xfrm>
            <a:off x="877824" y="2871073"/>
            <a:ext cx="3202243"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Tentative plans kept apart, merged with a side-by-side review</a:t>
            </a:r>
            <a:endParaRPr lang="en-US" sz="810" dirty="0"/>
          </a:p>
        </p:txBody>
      </p:sp>
      <p:sp>
        <p:nvSpPr>
          <p:cNvPr id="15" name="Shape 10"/>
          <p:cNvSpPr/>
          <p:nvPr/>
        </p:nvSpPr>
        <p:spPr>
          <a:xfrm>
            <a:off x="457200" y="3131249"/>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6" name="Image 3" descr="Icon: back hand">    </p:cNvPr>
          <p:cNvPicPr>
            <a:picLocks noChangeAspect="1"/>
          </p:cNvPicPr>
          <p:nvPr/>
        </p:nvPicPr>
        <p:blipFill>
          <a:blip r:embed="rId5"/>
          <a:stretch>
            <a:fillRect/>
          </a:stretch>
        </p:blipFill>
        <p:spPr>
          <a:xfrm>
            <a:off x="457200" y="3131249"/>
            <a:ext cx="310896" cy="310896"/>
          </a:xfrm>
          <a:prstGeom prst="rect">
            <a:avLst/>
          </a:prstGeom>
        </p:spPr>
      </p:pic>
      <p:sp>
        <p:nvSpPr>
          <p:cNvPr id="17" name="Text 11"/>
          <p:cNvSpPr txBox="1"/>
          <p:nvPr/>
        </p:nvSpPr>
        <p:spPr>
          <a:xfrm>
            <a:off x="877824" y="3132392"/>
            <a:ext cx="39437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Holds</a:t>
            </a:r>
            <a:endParaRPr lang="en-US" sz="990" dirty="0"/>
          </a:p>
        </p:txBody>
      </p:sp>
      <p:sp>
        <p:nvSpPr>
          <p:cNvPr id="18" name="Text 12"/>
          <p:cNvSpPr txBox="1"/>
          <p:nvPr/>
        </p:nvSpPr>
        <p:spPr>
          <a:xfrm>
            <a:off x="877824" y="3296269"/>
            <a:ext cx="3029207"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Take someone another engineer planned and they are told</a:t>
            </a:r>
            <a:endParaRPr lang="en-US" sz="810" dirty="0"/>
          </a:p>
        </p:txBody>
      </p:sp>
      <p:sp>
        <p:nvSpPr>
          <p:cNvPr id="19" name="Shape 13"/>
          <p:cNvSpPr/>
          <p:nvPr/>
        </p:nvSpPr>
        <p:spPr>
          <a:xfrm>
            <a:off x="457200" y="3556445"/>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20" name="Image 4" descr="Icon: ios share">    </p:cNvPr>
          <p:cNvPicPr>
            <a:picLocks noChangeAspect="1"/>
          </p:cNvPicPr>
          <p:nvPr/>
        </p:nvPicPr>
        <p:blipFill>
          <a:blip r:embed="rId6"/>
          <a:stretch>
            <a:fillRect/>
          </a:stretch>
        </p:blipFill>
        <p:spPr>
          <a:xfrm>
            <a:off x="457200" y="3556445"/>
            <a:ext cx="310896" cy="310896"/>
          </a:xfrm>
          <a:prstGeom prst="rect">
            <a:avLst/>
          </a:prstGeom>
        </p:spPr>
      </p:pic>
      <p:sp>
        <p:nvSpPr>
          <p:cNvPr id="21" name="Text 14"/>
          <p:cNvSpPr txBox="1"/>
          <p:nvPr/>
        </p:nvSpPr>
        <p:spPr>
          <a:xfrm>
            <a:off x="877824" y="3557588"/>
            <a:ext cx="45032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Export</a:t>
            </a:r>
            <a:endParaRPr lang="en-US" sz="990" dirty="0"/>
          </a:p>
        </p:txBody>
      </p:sp>
      <p:sp>
        <p:nvSpPr>
          <p:cNvPr id="22" name="Text 15"/>
          <p:cNvSpPr txBox="1"/>
          <p:nvPr/>
        </p:nvSpPr>
        <p:spPr>
          <a:xfrm>
            <a:off x="877824" y="3721465"/>
            <a:ext cx="2783248"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JPG, PDF and Excel, plus the org chart as PowerPoint</a:t>
            </a:r>
            <a:endParaRPr lang="en-US" sz="810" dirty="0"/>
          </a:p>
        </p:txBody>
      </p:sp>
      <p:sp>
        <p:nvSpPr>
          <p:cNvPr id="23" name="Shape 16"/>
          <p:cNvSpPr/>
          <p:nvPr/>
        </p:nvSpPr>
        <p:spPr>
          <a:xfrm>
            <a:off x="4389120" y="1143000"/>
            <a:ext cx="4297680" cy="2936510"/>
          </a:xfrm>
          <a:prstGeom prst="roundRect">
            <a:avLst>
              <a:gd name="adj" fmla="val 4359"/>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24" name="Shape 17"/>
          <p:cNvSpPr/>
          <p:nvPr/>
        </p:nvSpPr>
        <p:spPr>
          <a:xfrm>
            <a:off x="4389120" y="1143000"/>
            <a:ext cx="4297680" cy="173736"/>
          </a:xfrm>
          <a:prstGeom prst="rect">
            <a:avLst/>
          </a:prstGeom>
          <a:solidFill>
            <a:srgbClr val="F4F7FA"/>
          </a:solidFill>
          <a:ln/>
        </p:spPr>
      </p:sp>
      <p:sp>
        <p:nvSpPr>
          <p:cNvPr id="25" name="Shape 18"/>
          <p:cNvSpPr/>
          <p:nvPr/>
        </p:nvSpPr>
        <p:spPr>
          <a:xfrm>
            <a:off x="4389120" y="1312164"/>
            <a:ext cx="4297680" cy="0"/>
          </a:xfrm>
          <a:prstGeom prst="line">
            <a:avLst/>
          </a:prstGeom>
          <a:noFill/>
          <a:ln w="9144">
            <a:solidFill>
              <a:srgbClr val="062A44">
                <a:alpha val="10000"/>
              </a:srgbClr>
            </a:solidFill>
            <a:prstDash val="solid"/>
          </a:ln>
        </p:spPr>
      </p:sp>
      <p:sp>
        <p:nvSpPr>
          <p:cNvPr id="26" name="Shape 19"/>
          <p:cNvSpPr/>
          <p:nvPr/>
        </p:nvSpPr>
        <p:spPr>
          <a:xfrm>
            <a:off x="4489704" y="1197007"/>
            <a:ext cx="56579" cy="56579"/>
          </a:xfrm>
          <a:prstGeom prst="ellipse">
            <a:avLst/>
          </a:prstGeom>
          <a:solidFill>
            <a:srgbClr val="D3DCE4"/>
          </a:solidFill>
          <a:ln/>
        </p:spPr>
      </p:sp>
      <p:sp>
        <p:nvSpPr>
          <p:cNvPr id="27" name="Shape 20"/>
          <p:cNvSpPr/>
          <p:nvPr/>
        </p:nvSpPr>
        <p:spPr>
          <a:xfrm>
            <a:off x="4592003" y="1197007"/>
            <a:ext cx="56579" cy="56579"/>
          </a:xfrm>
          <a:prstGeom prst="ellipse">
            <a:avLst/>
          </a:prstGeom>
          <a:solidFill>
            <a:srgbClr val="D3DCE4"/>
          </a:solidFill>
          <a:ln/>
        </p:spPr>
      </p:sp>
      <p:sp>
        <p:nvSpPr>
          <p:cNvPr id="28" name="Shape 21"/>
          <p:cNvSpPr/>
          <p:nvPr/>
        </p:nvSpPr>
        <p:spPr>
          <a:xfrm>
            <a:off x="4694301" y="1197007"/>
            <a:ext cx="56579" cy="56579"/>
          </a:xfrm>
          <a:prstGeom prst="ellipse">
            <a:avLst/>
          </a:prstGeom>
          <a:solidFill>
            <a:srgbClr val="D3DCE4"/>
          </a:solidFill>
          <a:ln/>
        </p:spPr>
      </p:sp>
      <p:pic>
        <p:nvPicPr>
          <p:cNvPr id="29" name="Image 5" descr="Capacity grid showing demand against available people, with two short days">    </p:cNvPr>
          <p:cNvPicPr>
            <a:picLocks noChangeAspect="1"/>
          </p:cNvPicPr>
          <p:nvPr/>
        </p:nvPicPr>
        <p:blipFill>
          <a:blip r:embed="rId7"/>
          <a:stretch>
            <a:fillRect/>
          </a:stretch>
        </p:blipFill>
        <p:spPr>
          <a:xfrm>
            <a:off x="4389120" y="1316736"/>
            <a:ext cx="4297680" cy="2762774"/>
          </a:xfrm>
          <a:prstGeom prst="rect">
            <a:avLst/>
          </a:prstGeom>
        </p:spPr>
      </p:pic>
      <p:sp>
        <p:nvSpPr>
          <p:cNvPr id="30" name="Shape 22"/>
          <p:cNvSpPr/>
          <p:nvPr/>
        </p:nvSpPr>
        <p:spPr>
          <a:xfrm>
            <a:off x="4389120" y="4119372"/>
            <a:ext cx="2048256" cy="0"/>
          </a:xfrm>
          <a:prstGeom prst="line">
            <a:avLst/>
          </a:prstGeom>
          <a:noFill/>
          <a:ln w="9144">
            <a:solidFill>
              <a:srgbClr val="062A44">
                <a:alpha val="14000"/>
              </a:srgbClr>
            </a:solidFill>
            <a:prstDash val="solid"/>
          </a:ln>
        </p:spPr>
      </p:sp>
      <p:sp>
        <p:nvSpPr>
          <p:cNvPr id="31" name="Text 23"/>
          <p:cNvSpPr txBox="1"/>
          <p:nvPr/>
        </p:nvSpPr>
        <p:spPr>
          <a:xfrm>
            <a:off x="4389120" y="4215384"/>
            <a:ext cx="937531" cy="135428"/>
          </a:xfrm>
          <a:prstGeom prst="rect">
            <a:avLst/>
          </a:prstGeom>
          <a:noFill/>
          <a:ln/>
        </p:spPr>
        <p:txBody>
          <a:bodyPr wrap="none" lIns="0" tIns="0" rIns="0" bIns="0" rtlCol="0" anchor="t"/>
          <a:lstStyle/>
          <a:p>
            <a:pPr algn="l" indent="0" marL="0">
              <a:lnSpc>
                <a:spcPts val="820"/>
              </a:lnSpc>
              <a:buNone/>
            </a:pPr>
            <a:r>
              <a:rPr lang="en-US" sz="680" spc="96" kern="0" dirty="0">
                <a:solidFill>
                  <a:srgbClr val="2E7FB8"/>
                </a:solidFill>
                <a:latin typeface="Courier New" pitchFamily="34" charset="0"/>
                <a:ea typeface="Courier New" pitchFamily="34" charset="-122"/>
                <a:cs typeface="Courier New" pitchFamily="34" charset="-120"/>
              </a:rPr>
              <a:t>FOR ENGINEERS</a:t>
            </a:r>
            <a:endParaRPr lang="en-US" sz="680" dirty="0"/>
          </a:p>
        </p:txBody>
      </p:sp>
      <p:sp>
        <p:nvSpPr>
          <p:cNvPr id="32" name="Text 24"/>
          <p:cNvSpPr txBox="1"/>
          <p:nvPr/>
        </p:nvSpPr>
        <p:spPr>
          <a:xfrm>
            <a:off x="4389120" y="4374404"/>
            <a:ext cx="2312743" cy="520522"/>
          </a:xfrm>
          <a:prstGeom prst="rect">
            <a:avLst/>
          </a:prstGeom>
          <a:noFill/>
          <a:ln/>
        </p:spPr>
        <p:txBody>
          <a:bodyPr wrap="square" lIns="0" tIns="0" rIns="0" bIns="0" rtlCol="0" anchor="t"/>
          <a:lstStyle/>
          <a:p>
            <a:pPr algn="l" indent="0" marL="0">
              <a:lnSpc>
                <a:spcPts val="1240"/>
              </a:lnSpc>
              <a:buNone/>
            </a:pPr>
            <a:r>
              <a:rPr lang="en-US" sz="830" dirty="0">
                <a:solidFill>
                  <a:srgbClr val="5A6E7E"/>
                </a:solidFill>
                <a:latin typeface="Arial" pitchFamily="34" charset="0"/>
                <a:ea typeface="Arial" pitchFamily="34" charset="-122"/>
                <a:cs typeface="Arial" pitchFamily="34" charset="-120"/>
              </a:rPr>
              <a:t>Enter the people each host needs per day.</a:t>
            </a:r>
            <a:endParaRPr lang="en-US" sz="830" dirty="0"/>
          </a:p>
          <a:p>
            <a:pPr algn="l" indent="0" marL="0">
              <a:lnSpc>
                <a:spcPts val="1240"/>
              </a:lnSpc>
              <a:buNone/>
            </a:pPr>
            <a:r>
              <a:rPr lang="en-US" sz="830" dirty="0">
                <a:solidFill>
                  <a:srgbClr val="5A6E7E"/>
                </a:solidFill>
                <a:latin typeface="Arial" pitchFamily="34" charset="0"/>
                <a:ea typeface="Arial" pitchFamily="34" charset="-122"/>
                <a:cs typeface="Arial" pitchFamily="34" charset="-120"/>
              </a:rPr>
              <a:t>The grid shows every short day as you</a:t>
            </a:r>
            <a:endParaRPr lang="en-US" sz="830" dirty="0"/>
          </a:p>
          <a:p>
            <a:pPr algn="l" indent="0" marL="0">
              <a:lnSpc>
                <a:spcPts val="1240"/>
              </a:lnSpc>
              <a:buNone/>
            </a:pPr>
            <a:r>
              <a:rPr lang="en-US" sz="830" dirty="0">
                <a:solidFill>
                  <a:srgbClr val="5A6E7E"/>
                </a:solidFill>
                <a:latin typeface="Arial" pitchFamily="34" charset="0"/>
                <a:ea typeface="Arial" pitchFamily="34" charset="-122"/>
                <a:cs typeface="Arial" pitchFamily="34" charset="-120"/>
              </a:rPr>
              <a:t>type.</a:t>
            </a:r>
            <a:endParaRPr lang="en-US" sz="830" dirty="0"/>
          </a:p>
        </p:txBody>
      </p:sp>
      <p:sp>
        <p:nvSpPr>
          <p:cNvPr id="33" name="Shape 25"/>
          <p:cNvSpPr/>
          <p:nvPr/>
        </p:nvSpPr>
        <p:spPr>
          <a:xfrm>
            <a:off x="6638544" y="4119372"/>
            <a:ext cx="2048256" cy="0"/>
          </a:xfrm>
          <a:prstGeom prst="line">
            <a:avLst/>
          </a:prstGeom>
          <a:noFill/>
          <a:ln w="9144">
            <a:solidFill>
              <a:srgbClr val="062A44">
                <a:alpha val="14000"/>
              </a:srgbClr>
            </a:solidFill>
            <a:prstDash val="solid"/>
          </a:ln>
        </p:spPr>
      </p:sp>
      <p:sp>
        <p:nvSpPr>
          <p:cNvPr id="34" name="Text 26"/>
          <p:cNvSpPr txBox="1"/>
          <p:nvPr/>
        </p:nvSpPr>
        <p:spPr>
          <a:xfrm>
            <a:off x="6638544" y="4215384"/>
            <a:ext cx="1008255" cy="135428"/>
          </a:xfrm>
          <a:prstGeom prst="rect">
            <a:avLst/>
          </a:prstGeom>
          <a:noFill/>
          <a:ln/>
        </p:spPr>
        <p:txBody>
          <a:bodyPr wrap="none" lIns="0" tIns="0" rIns="0" bIns="0" rtlCol="0" anchor="t"/>
          <a:lstStyle/>
          <a:p>
            <a:pPr algn="l" indent="0" marL="0">
              <a:lnSpc>
                <a:spcPts val="820"/>
              </a:lnSpc>
              <a:buNone/>
            </a:pPr>
            <a:r>
              <a:rPr lang="en-US" sz="680" spc="96" kern="0" dirty="0">
                <a:solidFill>
                  <a:srgbClr val="2E7FB8"/>
                </a:solidFill>
                <a:latin typeface="Courier New" pitchFamily="34" charset="0"/>
                <a:ea typeface="Courier New" pitchFamily="34" charset="-122"/>
                <a:cs typeface="Courier New" pitchFamily="34" charset="-120"/>
              </a:rPr>
              <a:t>FOR MANAGEMENT</a:t>
            </a:r>
            <a:endParaRPr lang="en-US" sz="680" dirty="0"/>
          </a:p>
        </p:txBody>
      </p:sp>
      <p:sp>
        <p:nvSpPr>
          <p:cNvPr id="35" name="Text 27"/>
          <p:cNvSpPr txBox="1"/>
          <p:nvPr/>
        </p:nvSpPr>
        <p:spPr>
          <a:xfrm>
            <a:off x="6638544" y="4374404"/>
            <a:ext cx="2303622" cy="520522"/>
          </a:xfrm>
          <a:prstGeom prst="rect">
            <a:avLst/>
          </a:prstGeom>
          <a:noFill/>
          <a:ln/>
        </p:spPr>
        <p:txBody>
          <a:bodyPr wrap="square" lIns="0" tIns="0" rIns="0" bIns="0" rtlCol="0" anchor="t"/>
          <a:lstStyle/>
          <a:p>
            <a:pPr algn="l" indent="0" marL="0">
              <a:lnSpc>
                <a:spcPts val="1240"/>
              </a:lnSpc>
              <a:buNone/>
            </a:pPr>
            <a:r>
              <a:rPr lang="en-US" sz="830" dirty="0">
                <a:solidFill>
                  <a:srgbClr val="5A6E7E"/>
                </a:solidFill>
                <a:latin typeface="Arial" pitchFamily="34" charset="0"/>
                <a:ea typeface="Arial" pitchFamily="34" charset="-122"/>
                <a:cs typeface="Arial" pitchFamily="34" charset="-120"/>
              </a:rPr>
              <a:t>Short days show in red weeks before they</a:t>
            </a:r>
            <a:endParaRPr lang="en-US" sz="830" dirty="0"/>
          </a:p>
          <a:p>
            <a:pPr algn="l" indent="0" marL="0">
              <a:lnSpc>
                <a:spcPts val="1240"/>
              </a:lnSpc>
              <a:buNone/>
            </a:pPr>
            <a:r>
              <a:rPr lang="en-US" sz="830" dirty="0">
                <a:solidFill>
                  <a:srgbClr val="5A6E7E"/>
                </a:solidFill>
                <a:latin typeface="Arial" pitchFamily="34" charset="0"/>
                <a:ea typeface="Arial" pitchFamily="34" charset="-122"/>
                <a:cs typeface="Arial" pitchFamily="34" charset="-120"/>
              </a:rPr>
              <a:t>happen, with the worst day and peak</a:t>
            </a:r>
            <a:endParaRPr lang="en-US" sz="830" dirty="0"/>
          </a:p>
          <a:p>
            <a:pPr algn="l" indent="0" marL="0">
              <a:lnSpc>
                <a:spcPts val="1240"/>
              </a:lnSpc>
              <a:buNone/>
            </a:pPr>
            <a:r>
              <a:rPr lang="en-US" sz="830" dirty="0">
                <a:solidFill>
                  <a:srgbClr val="5A6E7E"/>
                </a:solidFill>
                <a:latin typeface="Arial" pitchFamily="34" charset="0"/>
                <a:ea typeface="Arial" pitchFamily="34" charset="-122"/>
                <a:cs typeface="Arial" pitchFamily="34" charset="-120"/>
              </a:rPr>
              <a:t>demand on top.</a:t>
            </a:r>
            <a:endParaRPr lang="en-US" sz="830" dirty="0"/>
          </a:p>
        </p:txBody>
      </p:sp>
    </p:spTree>
  </p:cSld>
  <p:clrMapOvr>
    <a:masterClrMapping/>
  </p:clrMapOvr>
  <p:transition spd="med">
    <p:push dir="r"/>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88720"/>
            <a:ext cx="1088565"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MANPOWER BOARD</a:t>
            </a:r>
            <a:endParaRPr lang="en-US" sz="720" dirty="0"/>
          </a:p>
        </p:txBody>
      </p:sp>
      <p:sp>
        <p:nvSpPr>
          <p:cNvPr id="5" name="Gradient shape"/>
          <p:cNvSpPr/>
          <p:nvPr/>
        </p:nvSpPr>
        <p:spPr>
          <a:xfrm>
            <a:off x="457200" y="122438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426464"/>
            <a:ext cx="2405095" cy="772243"/>
          </a:xfrm>
          <a:prstGeom prst="rect">
            <a:avLst/>
          </a:prstGeom>
          <a:noFill/>
          <a:ln/>
        </p:spPr>
        <p:txBody>
          <a:bodyPr wrap="square" lIns="0" tIns="0" rIns="0" bIns="0" rtlCol="0" anchor="t"/>
          <a:lstStyle/>
          <a:p>
            <a:pPr algn="l" indent="0" marL="0">
              <a:lnSpc>
                <a:spcPts val="2640"/>
              </a:lnSpc>
              <a:buNone/>
            </a:pPr>
            <a:r>
              <a:rPr lang="en-US" sz="2590" spc="-130" kern="0" dirty="0">
                <a:solidFill>
                  <a:srgbClr val="062A44"/>
                </a:solidFill>
                <a:latin typeface="Arial" pitchFamily="34" charset="0"/>
                <a:ea typeface="Arial" pitchFamily="34" charset="-122"/>
                <a:cs typeface="Arial" pitchFamily="34" charset="-120"/>
              </a:rPr>
              <a:t>The whole crew</a:t>
            </a:r>
            <a:endParaRPr lang="en-US" sz="2590" dirty="0"/>
          </a:p>
          <a:p>
            <a:pPr algn="l" indent="0" marL="0">
              <a:lnSpc>
                <a:spcPts val="2640"/>
              </a:lnSpc>
              <a:buNone/>
            </a:pPr>
            <a:r>
              <a:rPr lang="en-US" sz="2590" spc="-130" kern="0" dirty="0">
                <a:solidFill>
                  <a:srgbClr val="062A44"/>
                </a:solidFill>
                <a:latin typeface="Arial" pitchFamily="34" charset="0"/>
                <a:ea typeface="Arial" pitchFamily="34" charset="-122"/>
                <a:cs typeface="Arial" pitchFamily="34" charset="-120"/>
              </a:rPr>
              <a:t>in</a:t>
            </a:r>
            <a:pPr algn="l" indent="0" marL="0">
              <a:lnSpc>
                <a:spcPts val="2640"/>
              </a:lnSpc>
              <a:buNone/>
            </a:pPr>
            <a:r>
              <a:rPr lang="en-US" sz="2590" b="1" spc="-130" kern="0" dirty="0">
                <a:solidFill>
                  <a:srgbClr val="104469"/>
                </a:solidFill>
                <a:latin typeface="Arial" pitchFamily="34" charset="0"/>
                <a:ea typeface="Arial" pitchFamily="34" charset="-122"/>
                <a:cs typeface="Arial" pitchFamily="34" charset="-120"/>
              </a:rPr>
              <a:t> o</a:t>
            </a:r>
            <a:pPr algn="l" indent="0" marL="0">
              <a:lnSpc>
                <a:spcPts val="2640"/>
              </a:lnSpc>
              <a:buNone/>
            </a:pPr>
            <a:r>
              <a:rPr lang="en-US" sz="2590" b="1" spc="-130" kern="0" dirty="0">
                <a:solidFill>
                  <a:srgbClr val="1A5783"/>
                </a:solidFill>
                <a:latin typeface="Arial" pitchFamily="34" charset="0"/>
                <a:ea typeface="Arial" pitchFamily="34" charset="-122"/>
                <a:cs typeface="Arial" pitchFamily="34" charset="-120"/>
              </a:rPr>
              <a:t>n</a:t>
            </a:r>
            <a:pPr algn="l" indent="0" marL="0">
              <a:lnSpc>
                <a:spcPts val="2640"/>
              </a:lnSpc>
              <a:buNone/>
            </a:pPr>
            <a:r>
              <a:rPr lang="en-US" sz="2590" b="1" spc="-130" kern="0" dirty="0">
                <a:solidFill>
                  <a:srgbClr val="246B9D"/>
                </a:solidFill>
                <a:latin typeface="Arial" pitchFamily="34" charset="0"/>
                <a:ea typeface="Arial" pitchFamily="34" charset="-122"/>
                <a:cs typeface="Arial" pitchFamily="34" charset="-120"/>
              </a:rPr>
              <a:t>e</a:t>
            </a:r>
            <a:pPr algn="l" indent="0" marL="0">
              <a:lnSpc>
                <a:spcPts val="2640"/>
              </a:lnSpc>
              <a:buNone/>
            </a:pPr>
            <a:r>
              <a:rPr lang="en-US" sz="2590" b="1" spc="-130" kern="0" dirty="0">
                <a:solidFill>
                  <a:srgbClr val="3582AB"/>
                </a:solidFill>
                <a:latin typeface="Arial" pitchFamily="34" charset="0"/>
                <a:ea typeface="Arial" pitchFamily="34" charset="-122"/>
                <a:cs typeface="Arial" pitchFamily="34" charset="-120"/>
              </a:rPr>
              <a:t> v</a:t>
            </a:r>
            <a:pPr algn="l" indent="0" marL="0">
              <a:lnSpc>
                <a:spcPts val="2640"/>
              </a:lnSpc>
              <a:buNone/>
            </a:pPr>
            <a:r>
              <a:rPr lang="en-US" sz="2590" b="1" spc="-130" kern="0" dirty="0">
                <a:solidFill>
                  <a:srgbClr val="438A8F"/>
                </a:solidFill>
                <a:latin typeface="Arial" pitchFamily="34" charset="0"/>
                <a:ea typeface="Arial" pitchFamily="34" charset="-122"/>
                <a:cs typeface="Arial" pitchFamily="34" charset="-120"/>
              </a:rPr>
              <a:t>i</a:t>
            </a:r>
            <a:pPr algn="l" indent="0" marL="0">
              <a:lnSpc>
                <a:spcPts val="2640"/>
              </a:lnSpc>
              <a:buNone/>
            </a:pPr>
            <a:r>
              <a:rPr lang="en-US" sz="2590" b="1" spc="-130" kern="0" dirty="0">
                <a:solidFill>
                  <a:srgbClr val="519173"/>
                </a:solidFill>
                <a:latin typeface="Arial" pitchFamily="34" charset="0"/>
                <a:ea typeface="Arial" pitchFamily="34" charset="-122"/>
                <a:cs typeface="Arial" pitchFamily="34" charset="-120"/>
              </a:rPr>
              <a:t>e</a:t>
            </a:r>
            <a:pPr algn="l" indent="0" marL="0">
              <a:lnSpc>
                <a:spcPts val="2640"/>
              </a:lnSpc>
              <a:buNone/>
            </a:pPr>
            <a:r>
              <a:rPr lang="en-US" sz="2590" b="1" spc="-130" kern="0" dirty="0">
                <a:solidFill>
                  <a:srgbClr val="6A9D44"/>
                </a:solidFill>
                <a:latin typeface="Arial" pitchFamily="34" charset="0"/>
                <a:ea typeface="Arial" pitchFamily="34" charset="-122"/>
                <a:cs typeface="Arial" pitchFamily="34" charset="-120"/>
              </a:rPr>
              <a:t>w</a:t>
            </a:r>
            <a:pPr algn="l" indent="0" marL="0">
              <a:lnSpc>
                <a:spcPts val="2640"/>
              </a:lnSpc>
              <a:buNone/>
            </a:pPr>
            <a:r>
              <a:rPr lang="en-US" sz="2590" b="1" spc="-130" kern="0" dirty="0">
                <a:solidFill>
                  <a:srgbClr val="7CA621"/>
                </a:solidFill>
                <a:latin typeface="Arial" pitchFamily="34" charset="0"/>
                <a:ea typeface="Arial" pitchFamily="34" charset="-122"/>
                <a:cs typeface="Arial" pitchFamily="34" charset="-120"/>
              </a:rPr>
              <a:t>.</a:t>
            </a:r>
            <a:endParaRPr lang="en-US" sz="2590" dirty="0"/>
          </a:p>
        </p:txBody>
      </p:sp>
      <p:sp>
        <p:nvSpPr>
          <p:cNvPr id="7" name="Shape 4"/>
          <p:cNvSpPr/>
          <p:nvPr/>
        </p:nvSpPr>
        <p:spPr>
          <a:xfrm>
            <a:off x="457200" y="2280857"/>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8" name="Image 1" descr="Icon: speed">    </p:cNvPr>
          <p:cNvPicPr>
            <a:picLocks noChangeAspect="1"/>
          </p:cNvPicPr>
          <p:nvPr/>
        </p:nvPicPr>
        <p:blipFill>
          <a:blip r:embed="rId3"/>
          <a:stretch>
            <a:fillRect/>
          </a:stretch>
        </p:blipFill>
        <p:spPr>
          <a:xfrm>
            <a:off x="457200" y="2280857"/>
            <a:ext cx="310896" cy="310896"/>
          </a:xfrm>
          <a:prstGeom prst="rect">
            <a:avLst/>
          </a:prstGeom>
        </p:spPr>
      </p:pic>
      <p:sp>
        <p:nvSpPr>
          <p:cNvPr id="9" name="Text 5"/>
          <p:cNvSpPr txBox="1"/>
          <p:nvPr/>
        </p:nvSpPr>
        <p:spPr>
          <a:xfrm>
            <a:off x="877824" y="2282000"/>
            <a:ext cx="1568696"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Utilization you can trust</a:t>
            </a:r>
            <a:endParaRPr lang="en-US" sz="990" dirty="0"/>
          </a:p>
        </p:txBody>
      </p:sp>
      <p:sp>
        <p:nvSpPr>
          <p:cNvPr id="10" name="Text 6"/>
          <p:cNvSpPr txBox="1"/>
          <p:nvPr/>
        </p:nvSpPr>
        <p:spPr>
          <a:xfrm>
            <a:off x="877824" y="2445877"/>
            <a:ext cx="2852242"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On-call staff who were not called stay out of the figure</a:t>
            </a:r>
            <a:endParaRPr lang="en-US" sz="810" dirty="0"/>
          </a:p>
        </p:txBody>
      </p:sp>
      <p:sp>
        <p:nvSpPr>
          <p:cNvPr id="11" name="Shape 7"/>
          <p:cNvSpPr/>
          <p:nvPr/>
        </p:nvSpPr>
        <p:spPr>
          <a:xfrm>
            <a:off x="457200" y="2706053"/>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2" name="Image 2" descr="Icon: person alert">    </p:cNvPr>
          <p:cNvPicPr>
            <a:picLocks noChangeAspect="1"/>
          </p:cNvPicPr>
          <p:nvPr/>
        </p:nvPicPr>
        <p:blipFill>
          <a:blip r:embed="rId4"/>
          <a:stretch>
            <a:fillRect/>
          </a:stretch>
        </p:blipFill>
        <p:spPr>
          <a:xfrm>
            <a:off x="457200" y="2706053"/>
            <a:ext cx="310896" cy="310896"/>
          </a:xfrm>
          <a:prstGeom prst="rect">
            <a:avLst/>
          </a:prstGeom>
        </p:spPr>
      </p:pic>
      <p:sp>
        <p:nvSpPr>
          <p:cNvPr id="13" name="Text 8"/>
          <p:cNvSpPr txBox="1"/>
          <p:nvPr/>
        </p:nvSpPr>
        <p:spPr>
          <a:xfrm>
            <a:off x="877824" y="2707196"/>
            <a:ext cx="108086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Idle staff named</a:t>
            </a:r>
            <a:endParaRPr lang="en-US" sz="990" dirty="0"/>
          </a:p>
        </p:txBody>
      </p:sp>
      <p:sp>
        <p:nvSpPr>
          <p:cNvPr id="14" name="Text 9"/>
          <p:cNvSpPr txBox="1"/>
          <p:nvPr/>
        </p:nvSpPr>
        <p:spPr>
          <a:xfrm>
            <a:off x="877824" y="2871073"/>
            <a:ext cx="2505856"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Permanent staff with no mission, listed by board</a:t>
            </a:r>
            <a:endParaRPr lang="en-US" sz="810" dirty="0"/>
          </a:p>
        </p:txBody>
      </p:sp>
      <p:sp>
        <p:nvSpPr>
          <p:cNvPr id="15" name="Shape 10"/>
          <p:cNvSpPr/>
          <p:nvPr/>
        </p:nvSpPr>
        <p:spPr>
          <a:xfrm>
            <a:off x="457200" y="3131249"/>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6" name="Image 3" descr="Icon: table rows">    </p:cNvPr>
          <p:cNvPicPr>
            <a:picLocks noChangeAspect="1"/>
          </p:cNvPicPr>
          <p:nvPr/>
        </p:nvPicPr>
        <p:blipFill>
          <a:blip r:embed="rId5"/>
          <a:stretch>
            <a:fillRect/>
          </a:stretch>
        </p:blipFill>
        <p:spPr>
          <a:xfrm>
            <a:off x="457200" y="3131249"/>
            <a:ext cx="310896" cy="310896"/>
          </a:xfrm>
          <a:prstGeom prst="rect">
            <a:avLst/>
          </a:prstGeom>
        </p:spPr>
      </p:pic>
      <p:sp>
        <p:nvSpPr>
          <p:cNvPr id="17" name="Text 11"/>
          <p:cNvSpPr txBox="1"/>
          <p:nvPr/>
        </p:nvSpPr>
        <p:spPr>
          <a:xfrm>
            <a:off x="877824" y="3132392"/>
            <a:ext cx="596175"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By board</a:t>
            </a:r>
            <a:endParaRPr lang="en-US" sz="990" dirty="0"/>
          </a:p>
        </p:txBody>
      </p:sp>
      <p:sp>
        <p:nvSpPr>
          <p:cNvPr id="18" name="Text 12"/>
          <p:cNvSpPr txBox="1"/>
          <p:nvPr/>
        </p:nvSpPr>
        <p:spPr>
          <a:xfrm>
            <a:off x="877824" y="3296269"/>
            <a:ext cx="2484953"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Missions, headcount, leave and idle side by side</a:t>
            </a:r>
            <a:endParaRPr lang="en-US" sz="810" dirty="0"/>
          </a:p>
        </p:txBody>
      </p:sp>
      <p:sp>
        <p:nvSpPr>
          <p:cNvPr id="19" name="Shape 13"/>
          <p:cNvSpPr/>
          <p:nvPr/>
        </p:nvSpPr>
        <p:spPr>
          <a:xfrm>
            <a:off x="457200" y="3556445"/>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20" name="Image 4" descr="Icon: trending up">    </p:cNvPr>
          <p:cNvPicPr>
            <a:picLocks noChangeAspect="1"/>
          </p:cNvPicPr>
          <p:nvPr/>
        </p:nvPicPr>
        <p:blipFill>
          <a:blip r:embed="rId6"/>
          <a:stretch>
            <a:fillRect/>
          </a:stretch>
        </p:blipFill>
        <p:spPr>
          <a:xfrm>
            <a:off x="457200" y="3556445"/>
            <a:ext cx="310896" cy="310896"/>
          </a:xfrm>
          <a:prstGeom prst="rect">
            <a:avLst/>
          </a:prstGeom>
        </p:spPr>
      </p:pic>
      <p:sp>
        <p:nvSpPr>
          <p:cNvPr id="21" name="Text 14"/>
          <p:cNvSpPr txBox="1"/>
          <p:nvPr/>
        </p:nvSpPr>
        <p:spPr>
          <a:xfrm>
            <a:off x="877824" y="3557588"/>
            <a:ext cx="1400689"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History and workload</a:t>
            </a:r>
            <a:endParaRPr lang="en-US" sz="990" dirty="0"/>
          </a:p>
        </p:txBody>
      </p:sp>
      <p:sp>
        <p:nvSpPr>
          <p:cNvPr id="22" name="Text 15"/>
          <p:cNvSpPr txBox="1"/>
          <p:nvPr/>
        </p:nvSpPr>
        <p:spPr>
          <a:xfrm>
            <a:off x="877824" y="3721465"/>
            <a:ext cx="2441577"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Utilization over time and missions per engineer</a:t>
            </a:r>
            <a:endParaRPr lang="en-US" sz="810" dirty="0"/>
          </a:p>
        </p:txBody>
      </p:sp>
      <p:sp>
        <p:nvSpPr>
          <p:cNvPr id="23" name="Shape 16"/>
          <p:cNvSpPr/>
          <p:nvPr/>
        </p:nvSpPr>
        <p:spPr>
          <a:xfrm>
            <a:off x="3931920" y="1188720"/>
            <a:ext cx="4754880" cy="3230404"/>
          </a:xfrm>
          <a:prstGeom prst="roundRect">
            <a:avLst>
              <a:gd name="adj" fmla="val 3963"/>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24" name="Shape 17"/>
          <p:cNvSpPr/>
          <p:nvPr/>
        </p:nvSpPr>
        <p:spPr>
          <a:xfrm>
            <a:off x="3931920" y="1188720"/>
            <a:ext cx="4754880" cy="173736"/>
          </a:xfrm>
          <a:prstGeom prst="rect">
            <a:avLst/>
          </a:prstGeom>
          <a:solidFill>
            <a:srgbClr val="F4F7FA"/>
          </a:solidFill>
          <a:ln/>
        </p:spPr>
      </p:sp>
      <p:sp>
        <p:nvSpPr>
          <p:cNvPr id="25" name="Shape 18"/>
          <p:cNvSpPr/>
          <p:nvPr/>
        </p:nvSpPr>
        <p:spPr>
          <a:xfrm>
            <a:off x="3931920" y="1357884"/>
            <a:ext cx="4754880" cy="0"/>
          </a:xfrm>
          <a:prstGeom prst="line">
            <a:avLst/>
          </a:prstGeom>
          <a:noFill/>
          <a:ln w="9144">
            <a:solidFill>
              <a:srgbClr val="062A44">
                <a:alpha val="10000"/>
              </a:srgbClr>
            </a:solidFill>
            <a:prstDash val="solid"/>
          </a:ln>
        </p:spPr>
      </p:sp>
      <p:sp>
        <p:nvSpPr>
          <p:cNvPr id="26" name="Shape 19"/>
          <p:cNvSpPr/>
          <p:nvPr/>
        </p:nvSpPr>
        <p:spPr>
          <a:xfrm>
            <a:off x="4032504" y="1242727"/>
            <a:ext cx="56579" cy="56579"/>
          </a:xfrm>
          <a:prstGeom prst="ellipse">
            <a:avLst/>
          </a:prstGeom>
          <a:solidFill>
            <a:srgbClr val="D3DCE4"/>
          </a:solidFill>
          <a:ln/>
        </p:spPr>
      </p:sp>
      <p:sp>
        <p:nvSpPr>
          <p:cNvPr id="27" name="Shape 20"/>
          <p:cNvSpPr/>
          <p:nvPr/>
        </p:nvSpPr>
        <p:spPr>
          <a:xfrm>
            <a:off x="4134803" y="1242727"/>
            <a:ext cx="56579" cy="56579"/>
          </a:xfrm>
          <a:prstGeom prst="ellipse">
            <a:avLst/>
          </a:prstGeom>
          <a:solidFill>
            <a:srgbClr val="D3DCE4"/>
          </a:solidFill>
          <a:ln/>
        </p:spPr>
      </p:sp>
      <p:sp>
        <p:nvSpPr>
          <p:cNvPr id="28" name="Shape 21"/>
          <p:cNvSpPr/>
          <p:nvPr/>
        </p:nvSpPr>
        <p:spPr>
          <a:xfrm>
            <a:off x="4237101" y="1242727"/>
            <a:ext cx="56579" cy="56579"/>
          </a:xfrm>
          <a:prstGeom prst="ellipse">
            <a:avLst/>
          </a:prstGeom>
          <a:solidFill>
            <a:srgbClr val="D3DCE4"/>
          </a:solidFill>
          <a:ln/>
        </p:spPr>
      </p:sp>
      <p:pic>
        <p:nvPicPr>
          <p:cNvPr id="29" name="Image 5" descr="Overview dashboard with utilization, deployment and by-board table">    </p:cNvPr>
          <p:cNvPicPr>
            <a:picLocks noChangeAspect="1"/>
          </p:cNvPicPr>
          <p:nvPr/>
        </p:nvPicPr>
        <p:blipFill>
          <a:blip r:embed="rId7"/>
          <a:stretch>
            <a:fillRect/>
          </a:stretch>
        </p:blipFill>
        <p:spPr>
          <a:xfrm>
            <a:off x="3931920" y="1362456"/>
            <a:ext cx="4754880" cy="3056668"/>
          </a:xfrm>
          <a:prstGeom prst="rect">
            <a:avLst/>
          </a:prstGeom>
        </p:spPr>
      </p:pic>
    </p:spTree>
  </p:cSld>
  <p:clrMapOvr>
    <a:masterClrMapping/>
  </p:clrMapOvr>
  <p:transition spd="med">
    <p:push dir="r"/>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Shape 1"/>
          <p:cNvSpPr/>
          <p:nvPr/>
        </p:nvSpPr>
        <p:spPr>
          <a:xfrm>
            <a:off x="457200" y="1188720"/>
            <a:ext cx="4206240" cy="2877645"/>
          </a:xfrm>
          <a:prstGeom prst="roundRect">
            <a:avLst>
              <a:gd name="adj" fmla="val 4449"/>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5" name="Shape 2"/>
          <p:cNvSpPr/>
          <p:nvPr/>
        </p:nvSpPr>
        <p:spPr>
          <a:xfrm>
            <a:off x="457200" y="1188720"/>
            <a:ext cx="4206240" cy="173736"/>
          </a:xfrm>
          <a:prstGeom prst="rect">
            <a:avLst/>
          </a:prstGeom>
          <a:solidFill>
            <a:srgbClr val="F4F7FA"/>
          </a:solidFill>
          <a:ln/>
        </p:spPr>
      </p:sp>
      <p:sp>
        <p:nvSpPr>
          <p:cNvPr id="6" name="Shape 3"/>
          <p:cNvSpPr/>
          <p:nvPr/>
        </p:nvSpPr>
        <p:spPr>
          <a:xfrm>
            <a:off x="457200" y="1357884"/>
            <a:ext cx="4206240" cy="0"/>
          </a:xfrm>
          <a:prstGeom prst="line">
            <a:avLst/>
          </a:prstGeom>
          <a:noFill/>
          <a:ln w="9144">
            <a:solidFill>
              <a:srgbClr val="062A44">
                <a:alpha val="10000"/>
              </a:srgbClr>
            </a:solidFill>
            <a:prstDash val="solid"/>
          </a:ln>
        </p:spPr>
      </p:sp>
      <p:sp>
        <p:nvSpPr>
          <p:cNvPr id="7" name="Shape 4"/>
          <p:cNvSpPr/>
          <p:nvPr/>
        </p:nvSpPr>
        <p:spPr>
          <a:xfrm>
            <a:off x="557784" y="1242727"/>
            <a:ext cx="56579" cy="56579"/>
          </a:xfrm>
          <a:prstGeom prst="ellipse">
            <a:avLst/>
          </a:prstGeom>
          <a:solidFill>
            <a:srgbClr val="D3DCE4"/>
          </a:solidFill>
          <a:ln/>
        </p:spPr>
      </p:sp>
      <p:sp>
        <p:nvSpPr>
          <p:cNvPr id="8" name="Shape 5"/>
          <p:cNvSpPr/>
          <p:nvPr/>
        </p:nvSpPr>
        <p:spPr>
          <a:xfrm>
            <a:off x="660083" y="1242727"/>
            <a:ext cx="56579" cy="56579"/>
          </a:xfrm>
          <a:prstGeom prst="ellipse">
            <a:avLst/>
          </a:prstGeom>
          <a:solidFill>
            <a:srgbClr val="D3DCE4"/>
          </a:solidFill>
          <a:ln/>
        </p:spPr>
      </p:sp>
      <p:sp>
        <p:nvSpPr>
          <p:cNvPr id="9" name="Shape 6"/>
          <p:cNvSpPr/>
          <p:nvPr/>
        </p:nvSpPr>
        <p:spPr>
          <a:xfrm>
            <a:off x="762381" y="1242727"/>
            <a:ext cx="56579" cy="56579"/>
          </a:xfrm>
          <a:prstGeom prst="ellipse">
            <a:avLst/>
          </a:prstGeom>
          <a:solidFill>
            <a:srgbClr val="D3DCE4"/>
          </a:solidFill>
          <a:ln/>
        </p:spPr>
      </p:sp>
      <p:pic>
        <p:nvPicPr>
          <p:cNvPr id="10" name="Image 1" descr="Inventory and Quality dashboard">    </p:cNvPr>
          <p:cNvPicPr>
            <a:picLocks noChangeAspect="1"/>
          </p:cNvPicPr>
          <p:nvPr/>
        </p:nvPicPr>
        <p:blipFill>
          <a:blip r:embed="rId3"/>
          <a:stretch>
            <a:fillRect/>
          </a:stretch>
        </p:blipFill>
        <p:spPr>
          <a:xfrm>
            <a:off x="457200" y="1362456"/>
            <a:ext cx="4206240" cy="2703909"/>
          </a:xfrm>
          <a:prstGeom prst="rect">
            <a:avLst/>
          </a:prstGeom>
        </p:spPr>
      </p:pic>
      <p:sp>
        <p:nvSpPr>
          <p:cNvPr id="11" name="Gradient shape"/>
          <p:cNvSpPr/>
          <p:nvPr/>
        </p:nvSpPr>
        <p:spPr>
          <a:xfrm>
            <a:off x="3749040" y="2286000"/>
            <a:ext cx="1280160" cy="2770346"/>
          </a:xfrm>
          <a:prstGeom prst="roundRect">
            <a:avLst>
              <a:gd name="adj" fmla="val 18571"/>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62A44">
                <a:alpha val="33600"/>
              </a:srgbClr>
            </a:outerShdw>
          </a:effectLst>
        </p:spPr>
      </p:sp>
      <p:pic>
        <p:nvPicPr>
          <p:cNvPr id="12" name="Picture" descr="The cart on a phone with the consumables listed, ready to check out">    </p:cNvPr>
          <p:cNvPicPr>
            <a:picLocks noChangeAspect="1"/>
          </p:cNvPicPr>
          <p:nvPr/>
        </p:nvPicPr>
        <p:blipFill>
          <a:blip r:embed="rId4"/>
          <a:stretch>
            <a:fillRect/>
          </a:stretch>
        </p:blipFill>
        <p:spPr>
          <a:xfrm>
            <a:off x="3790188" y="2327148"/>
            <a:ext cx="1197864" cy="2688050"/>
          </a:xfrm>
          <a:prstGeom prst="roundRect">
            <a:avLst>
              <a:gd name="adj" fmla="val 16793"/>
            </a:avLst>
          </a:prstGeom>
        </p:spPr>
      </p:pic>
      <p:sp>
        <p:nvSpPr>
          <p:cNvPr id="13" name="Shape 8"/>
          <p:cNvSpPr/>
          <p:nvPr/>
        </p:nvSpPr>
        <p:spPr>
          <a:xfrm>
            <a:off x="457200" y="4251960"/>
            <a:ext cx="884111" cy="283893"/>
          </a:xfrm>
          <a:prstGeom prst="roundRect">
            <a:avLst>
              <a:gd name="adj" fmla="val 50000"/>
            </a:avLst>
          </a:prstGeom>
          <a:solidFill>
            <a:srgbClr val="FFFFFF">
              <a:alpha val="85000"/>
            </a:srgbClr>
          </a:solidFill>
          <a:ln w="9144">
            <a:solidFill>
              <a:srgbClr val="062A44">
                <a:alpha val="10000"/>
              </a:srgbClr>
            </a:solidFill>
            <a:prstDash val="solid"/>
          </a:ln>
          <a:effectLst>
            <a:outerShdw sx="100000" sy="100000" kx="0" ky="0" algn="bl" rotWithShape="0" blurRad="146304" dist="54864" dir="5400000">
              <a:srgbClr val="062A44">
                <a:alpha val="7200"/>
              </a:srgbClr>
            </a:outerShdw>
          </a:effectLst>
        </p:spPr>
      </p:sp>
      <p:sp>
        <p:nvSpPr>
          <p:cNvPr id="14" name="Text 9"/>
          <p:cNvSpPr txBox="1"/>
          <p:nvPr/>
        </p:nvSpPr>
        <p:spPr>
          <a:xfrm>
            <a:off x="745379" y="4315968"/>
            <a:ext cx="558141"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Pick items</a:t>
            </a:r>
            <a:endParaRPr lang="en-US" sz="790" dirty="0"/>
          </a:p>
        </p:txBody>
      </p:sp>
      <p:pic>
        <p:nvPicPr>
          <p:cNvPr id="15" name="Image 3" descr="Icon: touch app">    </p:cNvPr>
          <p:cNvPicPr>
            <a:picLocks noChangeAspect="1"/>
          </p:cNvPicPr>
          <p:nvPr/>
        </p:nvPicPr>
        <p:blipFill>
          <a:blip r:embed="rId5"/>
          <a:stretch>
            <a:fillRect/>
          </a:stretch>
        </p:blipFill>
        <p:spPr>
          <a:xfrm>
            <a:off x="562356" y="4329827"/>
            <a:ext cx="128159" cy="128016"/>
          </a:xfrm>
          <a:prstGeom prst="rect">
            <a:avLst/>
          </a:prstGeom>
        </p:spPr>
      </p:pic>
      <p:pic>
        <p:nvPicPr>
          <p:cNvPr id="16" name="Image 4" descr="Icon: arrow forward">    </p:cNvPr>
          <p:cNvPicPr>
            <a:picLocks noChangeAspect="1"/>
          </p:cNvPicPr>
          <p:nvPr/>
        </p:nvPicPr>
        <p:blipFill>
          <a:blip r:embed="rId6"/>
          <a:stretch>
            <a:fillRect/>
          </a:stretch>
        </p:blipFill>
        <p:spPr>
          <a:xfrm>
            <a:off x="1405319" y="4338971"/>
            <a:ext cx="109871" cy="109728"/>
          </a:xfrm>
          <a:prstGeom prst="rect">
            <a:avLst/>
          </a:prstGeom>
        </p:spPr>
      </p:pic>
      <p:sp>
        <p:nvSpPr>
          <p:cNvPr id="17" name="Shape 10"/>
          <p:cNvSpPr/>
          <p:nvPr/>
        </p:nvSpPr>
        <p:spPr>
          <a:xfrm>
            <a:off x="1579197" y="4251960"/>
            <a:ext cx="919401" cy="283893"/>
          </a:xfrm>
          <a:prstGeom prst="roundRect">
            <a:avLst>
              <a:gd name="adj" fmla="val 50000"/>
            </a:avLst>
          </a:prstGeom>
          <a:solidFill>
            <a:srgbClr val="FFFFFF">
              <a:alpha val="85000"/>
            </a:srgbClr>
          </a:solidFill>
          <a:ln w="9144">
            <a:solidFill>
              <a:srgbClr val="062A44">
                <a:alpha val="10000"/>
              </a:srgbClr>
            </a:solidFill>
            <a:prstDash val="solid"/>
          </a:ln>
          <a:effectLst>
            <a:outerShdw sx="100000" sy="100000" kx="0" ky="0" algn="bl" rotWithShape="0" blurRad="146304" dist="54864" dir="5400000">
              <a:srgbClr val="062A44">
                <a:alpha val="7200"/>
              </a:srgbClr>
            </a:outerShdw>
          </a:effectLst>
        </p:spPr>
      </p:sp>
      <p:sp>
        <p:nvSpPr>
          <p:cNvPr id="18" name="Text 11"/>
          <p:cNvSpPr txBox="1"/>
          <p:nvPr/>
        </p:nvSpPr>
        <p:spPr>
          <a:xfrm>
            <a:off x="1867376" y="4315968"/>
            <a:ext cx="596960"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Add to cart</a:t>
            </a:r>
            <a:endParaRPr lang="en-US" sz="790" dirty="0"/>
          </a:p>
        </p:txBody>
      </p:sp>
      <p:pic>
        <p:nvPicPr>
          <p:cNvPr id="19" name="Image 5" descr="Icon: shopping cart">    </p:cNvPr>
          <p:cNvPicPr>
            <a:picLocks noChangeAspect="1"/>
          </p:cNvPicPr>
          <p:nvPr/>
        </p:nvPicPr>
        <p:blipFill>
          <a:blip r:embed="rId7"/>
          <a:stretch>
            <a:fillRect/>
          </a:stretch>
        </p:blipFill>
        <p:spPr>
          <a:xfrm>
            <a:off x="1684353" y="4329827"/>
            <a:ext cx="128159" cy="128016"/>
          </a:xfrm>
          <a:prstGeom prst="rect">
            <a:avLst/>
          </a:prstGeom>
        </p:spPr>
      </p:pic>
      <p:pic>
        <p:nvPicPr>
          <p:cNvPr id="20" name="Image 6" descr="Icon: arrow forward">    </p:cNvPr>
          <p:cNvPicPr>
            <a:picLocks noChangeAspect="1"/>
          </p:cNvPicPr>
          <p:nvPr/>
        </p:nvPicPr>
        <p:blipFill>
          <a:blip r:embed="rId8"/>
          <a:stretch>
            <a:fillRect/>
          </a:stretch>
        </p:blipFill>
        <p:spPr>
          <a:xfrm>
            <a:off x="2562606" y="4338971"/>
            <a:ext cx="109871" cy="109728"/>
          </a:xfrm>
          <a:prstGeom prst="rect">
            <a:avLst/>
          </a:prstGeom>
        </p:spPr>
      </p:pic>
      <p:sp>
        <p:nvSpPr>
          <p:cNvPr id="21" name="Shape 12"/>
          <p:cNvSpPr/>
          <p:nvPr/>
        </p:nvSpPr>
        <p:spPr>
          <a:xfrm>
            <a:off x="2736485" y="4251960"/>
            <a:ext cx="877110" cy="283893"/>
          </a:xfrm>
          <a:prstGeom prst="roundRect">
            <a:avLst>
              <a:gd name="adj" fmla="val 50000"/>
            </a:avLst>
          </a:prstGeom>
          <a:solidFill>
            <a:srgbClr val="FFFFFF">
              <a:alpha val="85000"/>
            </a:srgbClr>
          </a:solidFill>
          <a:ln w="9144">
            <a:solidFill>
              <a:srgbClr val="062A44">
                <a:alpha val="10000"/>
              </a:srgbClr>
            </a:solidFill>
            <a:prstDash val="solid"/>
          </a:ln>
          <a:effectLst>
            <a:outerShdw sx="100000" sy="100000" kx="0" ky="0" algn="bl" rotWithShape="0" blurRad="146304" dist="54864" dir="5400000">
              <a:srgbClr val="062A44">
                <a:alpha val="7200"/>
              </a:srgbClr>
            </a:outerShdw>
          </a:effectLst>
        </p:spPr>
      </p:sp>
      <p:sp>
        <p:nvSpPr>
          <p:cNvPr id="22" name="Text 13"/>
          <p:cNvSpPr txBox="1"/>
          <p:nvPr/>
        </p:nvSpPr>
        <p:spPr>
          <a:xfrm>
            <a:off x="3024664" y="4315968"/>
            <a:ext cx="550440"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Check out</a:t>
            </a:r>
            <a:endParaRPr lang="en-US" sz="790" dirty="0"/>
          </a:p>
        </p:txBody>
      </p:sp>
      <p:pic>
        <p:nvPicPr>
          <p:cNvPr id="23" name="Image 7" descr="Icon: shopping cart checkout">    </p:cNvPr>
          <p:cNvPicPr>
            <a:picLocks noChangeAspect="1"/>
          </p:cNvPicPr>
          <p:nvPr/>
        </p:nvPicPr>
        <p:blipFill>
          <a:blip r:embed="rId9"/>
          <a:stretch>
            <a:fillRect/>
          </a:stretch>
        </p:blipFill>
        <p:spPr>
          <a:xfrm>
            <a:off x="2841641" y="4329827"/>
            <a:ext cx="128159" cy="128016"/>
          </a:xfrm>
          <a:prstGeom prst="rect">
            <a:avLst/>
          </a:prstGeom>
        </p:spPr>
      </p:pic>
      <p:pic>
        <p:nvPicPr>
          <p:cNvPr id="24" name="Picture" descr="Inventory and Quality app icon">    </p:cNvPr>
          <p:cNvPicPr>
            <a:picLocks noChangeAspect="1"/>
          </p:cNvPicPr>
          <p:nvPr/>
        </p:nvPicPr>
        <p:blipFill>
          <a:blip r:embed="rId10"/>
          <a:stretch>
            <a:fillRect/>
          </a:stretch>
        </p:blipFill>
        <p:spPr>
          <a:xfrm>
            <a:off x="5486400" y="1051560"/>
            <a:ext cx="420624" cy="420624"/>
          </a:xfrm>
          <a:prstGeom prst="roundRect">
            <a:avLst>
              <a:gd name="adj" fmla="val 23913"/>
            </a:avLst>
          </a:prstGeom>
        </p:spPr>
      </p:pic>
      <p:sp>
        <p:nvSpPr>
          <p:cNvPr id="25" name="Text 14"/>
          <p:cNvSpPr txBox="1"/>
          <p:nvPr/>
        </p:nvSpPr>
        <p:spPr>
          <a:xfrm>
            <a:off x="6007608" y="1102566"/>
            <a:ext cx="2393956" cy="259678"/>
          </a:xfrm>
          <a:prstGeom prst="rect">
            <a:avLst/>
          </a:prstGeom>
          <a:noFill/>
          <a:ln/>
        </p:spPr>
        <p:txBody>
          <a:bodyPr wrap="none" lIns="0" tIns="0" rIns="0" bIns="0" rtlCol="0" anchor="t"/>
          <a:lstStyle/>
          <a:p>
            <a:pPr algn="l" indent="0" marL="0">
              <a:lnSpc>
                <a:spcPts val="1570"/>
              </a:lnSpc>
              <a:buNone/>
            </a:pPr>
            <a:r>
              <a:rPr lang="en-US" sz="1370" b="1" spc="-27" kern="0" dirty="0">
                <a:solidFill>
                  <a:srgbClr val="062A44"/>
                </a:solidFill>
                <a:latin typeface="Arial" pitchFamily="34" charset="0"/>
                <a:ea typeface="Arial" pitchFamily="34" charset="-122"/>
                <a:cs typeface="Arial" pitchFamily="34" charset="-120"/>
              </a:rPr>
              <a:t>Inventory &amp; Quality System</a:t>
            </a:r>
            <a:endParaRPr lang="en-US" sz="1370" dirty="0"/>
          </a:p>
        </p:txBody>
      </p:sp>
      <p:sp>
        <p:nvSpPr>
          <p:cNvPr id="26" name="Text 15"/>
          <p:cNvSpPr txBox="1"/>
          <p:nvPr/>
        </p:nvSpPr>
        <p:spPr>
          <a:xfrm>
            <a:off x="6007608" y="1334310"/>
            <a:ext cx="725519" cy="112928"/>
          </a:xfrm>
          <a:prstGeom prst="rect">
            <a:avLst/>
          </a:prstGeom>
          <a:noFill/>
          <a:ln/>
        </p:spPr>
        <p:txBody>
          <a:bodyPr wrap="none" lIns="0" tIns="0" rIns="0" bIns="0" rtlCol="0" anchor="t"/>
          <a:lstStyle/>
          <a:p>
            <a:pPr algn="l" indent="0" marL="0">
              <a:lnSpc>
                <a:spcPts val="680"/>
              </a:lnSpc>
              <a:buNone/>
            </a:pPr>
            <a:r>
              <a:rPr lang="en-US" sz="680" spc="96" kern="0" dirty="0">
                <a:solidFill>
                  <a:srgbClr val="5A6E7E"/>
                </a:solidFill>
                <a:latin typeface="Courier New" pitchFamily="34" charset="0"/>
                <a:ea typeface="Courier New" pitchFamily="34" charset="-122"/>
                <a:cs typeface="Courier New" pitchFamily="34" charset="-120"/>
              </a:rPr>
              <a:t>APP 2 OF 2</a:t>
            </a:r>
            <a:endParaRPr lang="en-US" sz="680" dirty="0"/>
          </a:p>
        </p:txBody>
      </p:sp>
      <p:sp>
        <p:nvSpPr>
          <p:cNvPr id="27" name="Text 16"/>
          <p:cNvSpPr txBox="1"/>
          <p:nvPr/>
        </p:nvSpPr>
        <p:spPr>
          <a:xfrm>
            <a:off x="5486400" y="1618488"/>
            <a:ext cx="2531976" cy="1076912"/>
          </a:xfrm>
          <a:prstGeom prst="rect">
            <a:avLst/>
          </a:prstGeom>
          <a:noFill/>
          <a:ln/>
        </p:spPr>
        <p:txBody>
          <a:bodyPr wrap="square" lIns="0" tIns="0" rIns="0" bIns="0" rtlCol="0" anchor="t"/>
          <a:lstStyle/>
          <a:p>
            <a:pPr algn="l" indent="0" marL="0">
              <a:lnSpc>
                <a:spcPts val="2570"/>
              </a:lnSpc>
              <a:buNone/>
            </a:pPr>
            <a:r>
              <a:rPr lang="en-US" sz="2520" spc="-126" kern="0" dirty="0">
                <a:solidFill>
                  <a:srgbClr val="062A44"/>
                </a:solidFill>
                <a:latin typeface="Arial" pitchFamily="34" charset="0"/>
                <a:ea typeface="Arial" pitchFamily="34" charset="-122"/>
                <a:cs typeface="Arial" pitchFamily="34" charset="-120"/>
              </a:rPr>
              <a:t>Every tool, part</a:t>
            </a:r>
            <a:endParaRPr lang="en-US" sz="2520" dirty="0"/>
          </a:p>
          <a:p>
            <a:pPr algn="l" indent="0" marL="0">
              <a:lnSpc>
                <a:spcPts val="2570"/>
              </a:lnSpc>
              <a:buNone/>
            </a:pPr>
            <a:r>
              <a:rPr lang="en-US" sz="2520" spc="-126" kern="0" dirty="0">
                <a:solidFill>
                  <a:srgbClr val="062A44"/>
                </a:solidFill>
                <a:latin typeface="Arial" pitchFamily="34" charset="0"/>
                <a:ea typeface="Arial" pitchFamily="34" charset="-122"/>
                <a:cs typeface="Arial" pitchFamily="34" charset="-120"/>
              </a:rPr>
              <a:t>and consumable,</a:t>
            </a:r>
            <a:endParaRPr lang="en-US" sz="2520" dirty="0"/>
          </a:p>
          <a:p>
            <a:pPr algn="l" indent="0" marL="0">
              <a:lnSpc>
                <a:spcPts val="2570"/>
              </a:lnSpc>
              <a:buNone/>
            </a:pPr>
            <a:r>
              <a:rPr lang="en-US" sz="2520" b="1" spc="-126" kern="0" dirty="0">
                <a:solidFill>
                  <a:srgbClr val="0E4064"/>
                </a:solidFill>
                <a:latin typeface="Arial" pitchFamily="34" charset="0"/>
                <a:ea typeface="Arial" pitchFamily="34" charset="-122"/>
                <a:cs typeface="Arial" pitchFamily="34" charset="-120"/>
              </a:rPr>
              <a:t>a</a:t>
            </a:r>
            <a:pPr algn="l" indent="0" marL="0">
              <a:lnSpc>
                <a:spcPts val="2570"/>
              </a:lnSpc>
              <a:buNone/>
            </a:pPr>
            <a:r>
              <a:rPr lang="en-US" sz="2520" b="1" spc="-126" kern="0" dirty="0">
                <a:solidFill>
                  <a:srgbClr val="144C74"/>
                </a:solidFill>
                <a:latin typeface="Arial" pitchFamily="34" charset="0"/>
                <a:ea typeface="Arial" pitchFamily="34" charset="-122"/>
                <a:cs typeface="Arial" pitchFamily="34" charset="-120"/>
              </a:rPr>
              <a:t>c</a:t>
            </a:r>
            <a:pPr algn="l" indent="0" marL="0">
              <a:lnSpc>
                <a:spcPts val="2570"/>
              </a:lnSpc>
              <a:buNone/>
            </a:pPr>
            <a:r>
              <a:rPr lang="en-US" sz="2520" b="1" spc="-126" kern="0" dirty="0">
                <a:solidFill>
                  <a:srgbClr val="1A5884"/>
                </a:solidFill>
                <a:latin typeface="Arial" pitchFamily="34" charset="0"/>
                <a:ea typeface="Arial" pitchFamily="34" charset="-122"/>
                <a:cs typeface="Arial" pitchFamily="34" charset="-120"/>
              </a:rPr>
              <a:t>c</a:t>
            </a:r>
            <a:pPr algn="l" indent="0" marL="0">
              <a:lnSpc>
                <a:spcPts val="2570"/>
              </a:lnSpc>
              <a:buNone/>
            </a:pPr>
            <a:r>
              <a:rPr lang="en-US" sz="2520" b="1" spc="-126" kern="0" dirty="0">
                <a:solidFill>
                  <a:srgbClr val="216595"/>
                </a:solidFill>
                <a:latin typeface="Arial" pitchFamily="34" charset="0"/>
                <a:ea typeface="Arial" pitchFamily="34" charset="-122"/>
                <a:cs typeface="Arial" pitchFamily="34" charset="-120"/>
              </a:rPr>
              <a:t>o</a:t>
            </a:r>
            <a:pPr algn="l" indent="0" marL="0">
              <a:lnSpc>
                <a:spcPts val="2570"/>
              </a:lnSpc>
              <a:buNone/>
            </a:pPr>
            <a:r>
              <a:rPr lang="en-US" sz="2520" b="1" spc="-126" kern="0" dirty="0">
                <a:solidFill>
                  <a:srgbClr val="2771A6"/>
                </a:solidFill>
                <a:latin typeface="Arial" pitchFamily="34" charset="0"/>
                <a:ea typeface="Arial" pitchFamily="34" charset="-122"/>
                <a:cs typeface="Arial" pitchFamily="34" charset="-120"/>
              </a:rPr>
              <a:t>u</a:t>
            </a:r>
            <a:pPr algn="l" indent="0" marL="0">
              <a:lnSpc>
                <a:spcPts val="2570"/>
              </a:lnSpc>
              <a:buNone/>
            </a:pPr>
            <a:r>
              <a:rPr lang="en-US" sz="2520" b="1" spc="-126" kern="0" dirty="0">
                <a:solidFill>
                  <a:srgbClr val="2D7EB6"/>
                </a:solidFill>
                <a:latin typeface="Arial" pitchFamily="34" charset="0"/>
                <a:ea typeface="Arial" pitchFamily="34" charset="-122"/>
                <a:cs typeface="Arial" pitchFamily="34" charset="-120"/>
              </a:rPr>
              <a:t>n</a:t>
            </a:r>
            <a:pPr algn="l" indent="0" marL="0">
              <a:lnSpc>
                <a:spcPts val="2570"/>
              </a:lnSpc>
              <a:buNone/>
            </a:pPr>
            <a:r>
              <a:rPr lang="en-US" sz="2520" b="1" spc="-126" kern="0" dirty="0">
                <a:solidFill>
                  <a:srgbClr val="3884A5"/>
                </a:solidFill>
                <a:latin typeface="Arial" pitchFamily="34" charset="0"/>
                <a:ea typeface="Arial" pitchFamily="34" charset="-122"/>
                <a:cs typeface="Arial" pitchFamily="34" charset="-120"/>
              </a:rPr>
              <a:t>t</a:t>
            </a:r>
            <a:pPr algn="l" indent="0" marL="0">
              <a:lnSpc>
                <a:spcPts val="2570"/>
              </a:lnSpc>
              <a:buNone/>
            </a:pPr>
            <a:r>
              <a:rPr lang="en-US" sz="2520" b="1" spc="-126" kern="0" dirty="0">
                <a:solidFill>
                  <a:srgbClr val="438A8F"/>
                </a:solidFill>
                <a:latin typeface="Arial" pitchFamily="34" charset="0"/>
                <a:ea typeface="Arial" pitchFamily="34" charset="-122"/>
                <a:cs typeface="Arial" pitchFamily="34" charset="-120"/>
              </a:rPr>
              <a:t>e</a:t>
            </a:r>
            <a:pPr algn="l" indent="0" marL="0">
              <a:lnSpc>
                <a:spcPts val="2570"/>
              </a:lnSpc>
              <a:buNone/>
            </a:pPr>
            <a:r>
              <a:rPr lang="en-US" sz="2520" b="1" spc="-126" kern="0" dirty="0">
                <a:solidFill>
                  <a:srgbClr val="519174"/>
                </a:solidFill>
                <a:latin typeface="Arial" pitchFamily="34" charset="0"/>
                <a:ea typeface="Arial" pitchFamily="34" charset="-122"/>
                <a:cs typeface="Arial" pitchFamily="34" charset="-120"/>
              </a:rPr>
              <a:t>d</a:t>
            </a:r>
            <a:pPr algn="l" indent="0" marL="0">
              <a:lnSpc>
                <a:spcPts val="2570"/>
              </a:lnSpc>
              <a:buNone/>
            </a:pPr>
            <a:r>
              <a:rPr lang="en-US" sz="2520" b="1" spc="-126" kern="0" dirty="0">
                <a:solidFill>
                  <a:srgbClr val="619955"/>
                </a:solidFill>
                <a:latin typeface="Arial" pitchFamily="34" charset="0"/>
                <a:ea typeface="Arial" pitchFamily="34" charset="-122"/>
                <a:cs typeface="Arial" pitchFamily="34" charset="-120"/>
              </a:rPr>
              <a:t> f</a:t>
            </a:r>
            <a:pPr algn="l" indent="0" marL="0">
              <a:lnSpc>
                <a:spcPts val="2570"/>
              </a:lnSpc>
              <a:buNone/>
            </a:pPr>
            <a:r>
              <a:rPr lang="en-US" sz="2520" b="1" spc="-126" kern="0" dirty="0">
                <a:solidFill>
                  <a:srgbClr val="6C9E3F"/>
                </a:solidFill>
                <a:latin typeface="Arial" pitchFamily="34" charset="0"/>
                <a:ea typeface="Arial" pitchFamily="34" charset="-122"/>
                <a:cs typeface="Arial" pitchFamily="34" charset="-120"/>
              </a:rPr>
              <a:t>o</a:t>
            </a:r>
            <a:pPr algn="l" indent="0" marL="0">
              <a:lnSpc>
                <a:spcPts val="2570"/>
              </a:lnSpc>
              <a:buNone/>
            </a:pPr>
            <a:r>
              <a:rPr lang="en-US" sz="2520" b="1" spc="-126" kern="0" dirty="0">
                <a:solidFill>
                  <a:srgbClr val="77A42A"/>
                </a:solidFill>
                <a:latin typeface="Arial" pitchFamily="34" charset="0"/>
                <a:ea typeface="Arial" pitchFamily="34" charset="-122"/>
                <a:cs typeface="Arial" pitchFamily="34" charset="-120"/>
              </a:rPr>
              <a:t>r</a:t>
            </a:r>
            <a:pPr algn="l" indent="0" marL="0">
              <a:lnSpc>
                <a:spcPts val="2570"/>
              </a:lnSpc>
              <a:buNone/>
            </a:pPr>
            <a:r>
              <a:rPr lang="en-US" sz="2520" b="1" spc="-126" kern="0" dirty="0">
                <a:solidFill>
                  <a:srgbClr val="7DA71E"/>
                </a:solidFill>
                <a:latin typeface="Arial" pitchFamily="34" charset="0"/>
                <a:ea typeface="Arial" pitchFamily="34" charset="-122"/>
                <a:cs typeface="Arial" pitchFamily="34" charset="-120"/>
              </a:rPr>
              <a:t>.</a:t>
            </a:r>
            <a:endParaRPr lang="en-US" sz="2520" dirty="0"/>
          </a:p>
        </p:txBody>
      </p:sp>
      <p:sp>
        <p:nvSpPr>
          <p:cNvPr id="28" name="Shape 17"/>
          <p:cNvSpPr/>
          <p:nvPr/>
        </p:nvSpPr>
        <p:spPr>
          <a:xfrm>
            <a:off x="5486400" y="2780348"/>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29" name="Image 9" descr="Icon: inventory 2">    </p:cNvPr>
          <p:cNvPicPr>
            <a:picLocks noChangeAspect="1"/>
          </p:cNvPicPr>
          <p:nvPr/>
        </p:nvPicPr>
        <p:blipFill>
          <a:blip r:embed="rId11"/>
          <a:stretch>
            <a:fillRect/>
          </a:stretch>
        </p:blipFill>
        <p:spPr>
          <a:xfrm>
            <a:off x="5486400" y="2780348"/>
            <a:ext cx="310896" cy="310896"/>
          </a:xfrm>
          <a:prstGeom prst="rect">
            <a:avLst/>
          </a:prstGeom>
        </p:spPr>
      </p:pic>
      <p:sp>
        <p:nvSpPr>
          <p:cNvPr id="30" name="Text 18"/>
          <p:cNvSpPr txBox="1"/>
          <p:nvPr/>
        </p:nvSpPr>
        <p:spPr>
          <a:xfrm>
            <a:off x="5907024" y="2781491"/>
            <a:ext cx="90892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Consumables</a:t>
            </a:r>
            <a:endParaRPr lang="en-US" sz="990" dirty="0"/>
          </a:p>
        </p:txBody>
      </p:sp>
      <p:sp>
        <p:nvSpPr>
          <p:cNvPr id="31" name="Text 19"/>
          <p:cNvSpPr txBox="1"/>
          <p:nvPr/>
        </p:nvSpPr>
        <p:spPr>
          <a:xfrm>
            <a:off x="5907024" y="2945368"/>
            <a:ext cx="2310660"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Stock per warehouse against its safety level</a:t>
            </a:r>
            <a:endParaRPr lang="en-US" sz="810" dirty="0"/>
          </a:p>
        </p:txBody>
      </p:sp>
      <p:sp>
        <p:nvSpPr>
          <p:cNvPr id="32" name="Shape 20"/>
          <p:cNvSpPr/>
          <p:nvPr/>
        </p:nvSpPr>
        <p:spPr>
          <a:xfrm>
            <a:off x="5486400" y="3205544"/>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33" name="Image 10" descr="Icon: straighten">    </p:cNvPr>
          <p:cNvPicPr>
            <a:picLocks noChangeAspect="1"/>
          </p:cNvPicPr>
          <p:nvPr/>
        </p:nvPicPr>
        <p:blipFill>
          <a:blip r:embed="rId12"/>
          <a:stretch>
            <a:fillRect/>
          </a:stretch>
        </p:blipFill>
        <p:spPr>
          <a:xfrm>
            <a:off x="5486400" y="3205544"/>
            <a:ext cx="310896" cy="310896"/>
          </a:xfrm>
          <a:prstGeom prst="rect">
            <a:avLst/>
          </a:prstGeom>
        </p:spPr>
      </p:pic>
      <p:sp>
        <p:nvSpPr>
          <p:cNvPr id="34" name="Text 21"/>
          <p:cNvSpPr txBox="1"/>
          <p:nvPr/>
        </p:nvSpPr>
        <p:spPr>
          <a:xfrm>
            <a:off x="5907024" y="3206687"/>
            <a:ext cx="1227025"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Tools &amp; Calibration</a:t>
            </a:r>
            <a:endParaRPr lang="en-US" sz="990" dirty="0"/>
          </a:p>
        </p:txBody>
      </p:sp>
      <p:sp>
        <p:nvSpPr>
          <p:cNvPr id="35" name="Text 22"/>
          <p:cNvSpPr txBox="1"/>
          <p:nvPr/>
        </p:nvSpPr>
        <p:spPr>
          <a:xfrm>
            <a:off x="5907024" y="3370564"/>
            <a:ext cx="2078060"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Borrow, return and calibration due dates</a:t>
            </a:r>
            <a:endParaRPr lang="en-US" sz="810" dirty="0"/>
          </a:p>
        </p:txBody>
      </p:sp>
      <p:sp>
        <p:nvSpPr>
          <p:cNvPr id="36" name="Shape 23"/>
          <p:cNvSpPr/>
          <p:nvPr/>
        </p:nvSpPr>
        <p:spPr>
          <a:xfrm>
            <a:off x="5486400" y="3630740"/>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37" name="Image 11" descr="Icon: fact check">    </p:cNvPr>
          <p:cNvPicPr>
            <a:picLocks noChangeAspect="1"/>
          </p:cNvPicPr>
          <p:nvPr/>
        </p:nvPicPr>
        <p:blipFill>
          <a:blip r:embed="rId13"/>
          <a:stretch>
            <a:fillRect/>
          </a:stretch>
        </p:blipFill>
        <p:spPr>
          <a:xfrm>
            <a:off x="5486400" y="3630740"/>
            <a:ext cx="310896" cy="310896"/>
          </a:xfrm>
          <a:prstGeom prst="rect">
            <a:avLst/>
          </a:prstGeom>
        </p:spPr>
      </p:pic>
      <p:sp>
        <p:nvSpPr>
          <p:cNvPr id="38" name="Text 24"/>
          <p:cNvSpPr txBox="1"/>
          <p:nvPr/>
        </p:nvSpPr>
        <p:spPr>
          <a:xfrm>
            <a:off x="5907024" y="3631883"/>
            <a:ext cx="1038430"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Customer Parts</a:t>
            </a:r>
            <a:endParaRPr lang="en-US" sz="990" dirty="0"/>
          </a:p>
        </p:txBody>
      </p:sp>
      <p:sp>
        <p:nvSpPr>
          <p:cNvPr id="39" name="Text 25"/>
          <p:cNvSpPr txBox="1"/>
          <p:nvPr/>
        </p:nvSpPr>
        <p:spPr>
          <a:xfrm>
            <a:off x="5907024" y="3795760"/>
            <a:ext cx="1675567"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OK, NG, Sorting and Hold per lot</a:t>
            </a:r>
            <a:endParaRPr lang="en-US" sz="810" dirty="0"/>
          </a:p>
        </p:txBody>
      </p:sp>
      <p:sp>
        <p:nvSpPr>
          <p:cNvPr id="40" name="Shape 26"/>
          <p:cNvSpPr/>
          <p:nvPr/>
        </p:nvSpPr>
        <p:spPr>
          <a:xfrm>
            <a:off x="5486400" y="4055936"/>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41" name="Image 12" descr="Icon: task alt">    </p:cNvPr>
          <p:cNvPicPr>
            <a:picLocks noChangeAspect="1"/>
          </p:cNvPicPr>
          <p:nvPr/>
        </p:nvPicPr>
        <p:blipFill>
          <a:blip r:embed="rId14"/>
          <a:stretch>
            <a:fillRect/>
          </a:stretch>
        </p:blipFill>
        <p:spPr>
          <a:xfrm>
            <a:off x="5486400" y="4055936"/>
            <a:ext cx="310896" cy="310896"/>
          </a:xfrm>
          <a:prstGeom prst="rect">
            <a:avLst/>
          </a:prstGeom>
        </p:spPr>
      </p:pic>
      <p:sp>
        <p:nvSpPr>
          <p:cNvPr id="42" name="Text 27"/>
          <p:cNvSpPr txBox="1"/>
          <p:nvPr/>
        </p:nvSpPr>
        <p:spPr>
          <a:xfrm>
            <a:off x="5907024" y="4057078"/>
            <a:ext cx="1366585"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To-Do and Audit Trail</a:t>
            </a:r>
            <a:endParaRPr lang="en-US" sz="990" dirty="0"/>
          </a:p>
        </p:txBody>
      </p:sp>
      <p:sp>
        <p:nvSpPr>
          <p:cNvPr id="43" name="Text 28"/>
          <p:cNvSpPr txBox="1"/>
          <p:nvPr/>
        </p:nvSpPr>
        <p:spPr>
          <a:xfrm>
            <a:off x="5907024" y="4220956"/>
            <a:ext cx="2492812"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Approvals in one queue, every change on record</a:t>
            </a:r>
            <a:endParaRPr lang="en-US" sz="810" dirty="0"/>
          </a:p>
        </p:txBody>
      </p:sp>
    </p:spTree>
  </p:cSld>
  <p:clrMapOvr>
    <a:masterClrMapping/>
  </p:clrMapOvr>
  <p:transition spd="med">
    <p:push dir="r"/>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43000"/>
            <a:ext cx="2541060"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INVENTORY &amp; QUALITY / CONSUMABLES</a:t>
            </a:r>
            <a:endParaRPr lang="en-US" sz="720" dirty="0"/>
          </a:p>
        </p:txBody>
      </p:sp>
      <p:sp>
        <p:nvSpPr>
          <p:cNvPr id="5" name="Gradient shape"/>
          <p:cNvSpPr/>
          <p:nvPr/>
        </p:nvSpPr>
        <p:spPr>
          <a:xfrm>
            <a:off x="457200" y="117866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380744"/>
            <a:ext cx="2697949" cy="1046253"/>
          </a:xfrm>
          <a:prstGeom prst="rect">
            <a:avLst/>
          </a:prstGeom>
          <a:noFill/>
          <a:ln/>
        </p:spPr>
        <p:txBody>
          <a:bodyPr wrap="square" lIns="0" tIns="0" rIns="0" bIns="0" rtlCol="0" anchor="t"/>
          <a:lstStyle/>
          <a:p>
            <a:pPr algn="l" indent="0" marL="0">
              <a:lnSpc>
                <a:spcPts val="2500"/>
              </a:lnSpc>
              <a:buNone/>
            </a:pPr>
            <a:r>
              <a:rPr lang="en-US" sz="2450" spc="-122" kern="0" dirty="0">
                <a:solidFill>
                  <a:srgbClr val="062A44"/>
                </a:solidFill>
                <a:latin typeface="Arial" pitchFamily="34" charset="0"/>
                <a:ea typeface="Arial" pitchFamily="34" charset="-122"/>
                <a:cs typeface="Arial" pitchFamily="34" charset="-120"/>
              </a:rPr>
              <a:t>Stay above</a:t>
            </a:r>
            <a:endParaRPr lang="en-US" sz="2450" dirty="0"/>
          </a:p>
          <a:p>
            <a:pPr algn="l" indent="0" marL="0">
              <a:lnSpc>
                <a:spcPts val="2500"/>
              </a:lnSpc>
              <a:buNone/>
            </a:pPr>
            <a:r>
              <a:rPr lang="en-US" sz="2450" spc="-122" kern="0" dirty="0">
                <a:solidFill>
                  <a:srgbClr val="062A44"/>
                </a:solidFill>
                <a:latin typeface="Arial" pitchFamily="34" charset="0"/>
                <a:ea typeface="Arial" pitchFamily="34" charset="-122"/>
                <a:cs typeface="Arial" pitchFamily="34" charset="-120"/>
              </a:rPr>
              <a:t>safety stock in</a:t>
            </a:r>
            <a:endParaRPr lang="en-US" sz="2450" dirty="0"/>
          </a:p>
          <a:p>
            <a:pPr algn="l" indent="0" marL="0">
              <a:lnSpc>
                <a:spcPts val="2500"/>
              </a:lnSpc>
              <a:buNone/>
            </a:pPr>
            <a:r>
              <a:rPr lang="en-US" sz="2450" b="1" spc="-122" kern="0" dirty="0">
                <a:solidFill>
                  <a:srgbClr val="0D3F63"/>
                </a:solidFill>
                <a:latin typeface="Arial" pitchFamily="34" charset="0"/>
                <a:ea typeface="Arial" pitchFamily="34" charset="-122"/>
                <a:cs typeface="Arial" pitchFamily="34" charset="-120"/>
              </a:rPr>
              <a:t>e</a:t>
            </a:r>
            <a:pPr algn="l" indent="0" marL="0">
              <a:lnSpc>
                <a:spcPts val="2500"/>
              </a:lnSpc>
              <a:buNone/>
            </a:pPr>
            <a:r>
              <a:rPr lang="en-US" sz="2450" b="1" spc="-122" kern="0" dirty="0">
                <a:solidFill>
                  <a:srgbClr val="12496F"/>
                </a:solidFill>
                <a:latin typeface="Arial" pitchFamily="34" charset="0"/>
                <a:ea typeface="Arial" pitchFamily="34" charset="-122"/>
                <a:cs typeface="Arial" pitchFamily="34" charset="-120"/>
              </a:rPr>
              <a:t>v</a:t>
            </a:r>
            <a:pPr algn="l" indent="0" marL="0">
              <a:lnSpc>
                <a:spcPts val="2500"/>
              </a:lnSpc>
              <a:buNone/>
            </a:pPr>
            <a:r>
              <a:rPr lang="en-US" sz="2450" b="1" spc="-122" kern="0" dirty="0">
                <a:solidFill>
                  <a:srgbClr val="17527D"/>
                </a:solidFill>
                <a:latin typeface="Arial" pitchFamily="34" charset="0"/>
                <a:ea typeface="Arial" pitchFamily="34" charset="-122"/>
                <a:cs typeface="Arial" pitchFamily="34" charset="-120"/>
              </a:rPr>
              <a:t>e</a:t>
            </a:r>
            <a:pPr algn="l" indent="0" marL="0">
              <a:lnSpc>
                <a:spcPts val="2500"/>
              </a:lnSpc>
              <a:buNone/>
            </a:pPr>
            <a:r>
              <a:rPr lang="en-US" sz="2450" b="1" spc="-122" kern="0" dirty="0">
                <a:solidFill>
                  <a:srgbClr val="1C5B88"/>
                </a:solidFill>
                <a:latin typeface="Arial" pitchFamily="34" charset="0"/>
                <a:ea typeface="Arial" pitchFamily="34" charset="-122"/>
                <a:cs typeface="Arial" pitchFamily="34" charset="-120"/>
              </a:rPr>
              <a:t>r</a:t>
            </a:r>
            <a:pPr algn="l" indent="0" marL="0">
              <a:lnSpc>
                <a:spcPts val="2500"/>
              </a:lnSpc>
              <a:buNone/>
            </a:pPr>
            <a:r>
              <a:rPr lang="en-US" sz="2450" b="1" spc="-122" kern="0" dirty="0">
                <a:solidFill>
                  <a:srgbClr val="206392"/>
                </a:solidFill>
                <a:latin typeface="Arial" pitchFamily="34" charset="0"/>
                <a:ea typeface="Arial" pitchFamily="34" charset="-122"/>
                <a:cs typeface="Arial" pitchFamily="34" charset="-120"/>
              </a:rPr>
              <a:t>y</a:t>
            </a:r>
            <a:pPr algn="l" indent="0" marL="0">
              <a:lnSpc>
                <a:spcPts val="2500"/>
              </a:lnSpc>
              <a:buNone/>
            </a:pPr>
            <a:r>
              <a:rPr lang="en-US" sz="2450" b="1" spc="-122" kern="0" dirty="0">
                <a:solidFill>
                  <a:srgbClr val="2873A7"/>
                </a:solidFill>
                <a:latin typeface="Arial" pitchFamily="34" charset="0"/>
                <a:ea typeface="Arial" pitchFamily="34" charset="-122"/>
                <a:cs typeface="Arial" pitchFamily="34" charset="-120"/>
              </a:rPr>
              <a:t> w</a:t>
            </a:r>
            <a:pPr algn="l" indent="0" marL="0">
              <a:lnSpc>
                <a:spcPts val="2500"/>
              </a:lnSpc>
              <a:buNone/>
            </a:pPr>
            <a:r>
              <a:rPr lang="en-US" sz="2450" b="1" spc="-122" kern="0" dirty="0">
                <a:solidFill>
                  <a:srgbClr val="2E7FB8"/>
                </a:solidFill>
                <a:latin typeface="Arial" pitchFamily="34" charset="0"/>
                <a:ea typeface="Arial" pitchFamily="34" charset="-122"/>
                <a:cs typeface="Arial" pitchFamily="34" charset="-120"/>
              </a:rPr>
              <a:t>a</a:t>
            </a:r>
            <a:pPr algn="l" indent="0" marL="0">
              <a:lnSpc>
                <a:spcPts val="2500"/>
              </a:lnSpc>
              <a:buNone/>
            </a:pPr>
            <a:r>
              <a:rPr lang="en-US" sz="2450" b="1" spc="-122" kern="0" dirty="0">
                <a:solidFill>
                  <a:srgbClr val="3783A7"/>
                </a:solidFill>
                <a:latin typeface="Arial" pitchFamily="34" charset="0"/>
                <a:ea typeface="Arial" pitchFamily="34" charset="-122"/>
                <a:cs typeface="Arial" pitchFamily="34" charset="-120"/>
              </a:rPr>
              <a:t>r</a:t>
            </a:r>
            <a:pPr algn="l" indent="0" marL="0">
              <a:lnSpc>
                <a:spcPts val="2500"/>
              </a:lnSpc>
              <a:buNone/>
            </a:pPr>
            <a:r>
              <a:rPr lang="en-US" sz="2450" b="1" spc="-122" kern="0" dirty="0">
                <a:solidFill>
                  <a:srgbClr val="3F8896"/>
                </a:solidFill>
                <a:latin typeface="Arial" pitchFamily="34" charset="0"/>
                <a:ea typeface="Arial" pitchFamily="34" charset="-122"/>
                <a:cs typeface="Arial" pitchFamily="34" charset="-120"/>
              </a:rPr>
              <a:t>e</a:t>
            </a:r>
            <a:pPr algn="l" indent="0" marL="0">
              <a:lnSpc>
                <a:spcPts val="2500"/>
              </a:lnSpc>
              <a:buNone/>
            </a:pPr>
            <a:r>
              <a:rPr lang="en-US" sz="2450" b="1" spc="-122" kern="0" dirty="0">
                <a:solidFill>
                  <a:srgbClr val="4A8D81"/>
                </a:solidFill>
                <a:latin typeface="Arial" pitchFamily="34" charset="0"/>
                <a:ea typeface="Arial" pitchFamily="34" charset="-122"/>
                <a:cs typeface="Arial" pitchFamily="34" charset="-120"/>
              </a:rPr>
              <a:t>h</a:t>
            </a:r>
            <a:pPr algn="l" indent="0" marL="0">
              <a:lnSpc>
                <a:spcPts val="2500"/>
              </a:lnSpc>
              <a:buNone/>
            </a:pPr>
            <a:r>
              <a:rPr lang="en-US" sz="2450" b="1" spc="-122" kern="0" dirty="0">
                <a:solidFill>
                  <a:srgbClr val="55936B"/>
                </a:solidFill>
                <a:latin typeface="Arial" pitchFamily="34" charset="0"/>
                <a:ea typeface="Arial" pitchFamily="34" charset="-122"/>
                <a:cs typeface="Arial" pitchFamily="34" charset="-120"/>
              </a:rPr>
              <a:t>o</a:t>
            </a:r>
            <a:pPr algn="l" indent="0" marL="0">
              <a:lnSpc>
                <a:spcPts val="2500"/>
              </a:lnSpc>
              <a:buNone/>
            </a:pPr>
            <a:r>
              <a:rPr lang="en-US" sz="2450" b="1" spc="-122" kern="0" dirty="0">
                <a:solidFill>
                  <a:srgbClr val="619955"/>
                </a:solidFill>
                <a:latin typeface="Arial" pitchFamily="34" charset="0"/>
                <a:ea typeface="Arial" pitchFamily="34" charset="-122"/>
                <a:cs typeface="Arial" pitchFamily="34" charset="-120"/>
              </a:rPr>
              <a:t>u</a:t>
            </a:r>
            <a:pPr algn="l" indent="0" marL="0">
              <a:lnSpc>
                <a:spcPts val="2500"/>
              </a:lnSpc>
              <a:buNone/>
            </a:pPr>
            <a:r>
              <a:rPr lang="en-US" sz="2450" b="1" spc="-122" kern="0" dirty="0">
                <a:solidFill>
                  <a:srgbClr val="6B9E41"/>
                </a:solidFill>
                <a:latin typeface="Arial" pitchFamily="34" charset="0"/>
                <a:ea typeface="Arial" pitchFamily="34" charset="-122"/>
                <a:cs typeface="Arial" pitchFamily="34" charset="-120"/>
              </a:rPr>
              <a:t>s</a:t>
            </a:r>
            <a:pPr algn="l" indent="0" marL="0">
              <a:lnSpc>
                <a:spcPts val="2500"/>
              </a:lnSpc>
              <a:buNone/>
            </a:pPr>
            <a:r>
              <a:rPr lang="en-US" sz="2450" b="1" spc="-122" kern="0" dirty="0">
                <a:solidFill>
                  <a:srgbClr val="76A32C"/>
                </a:solidFill>
                <a:latin typeface="Arial" pitchFamily="34" charset="0"/>
                <a:ea typeface="Arial" pitchFamily="34" charset="-122"/>
                <a:cs typeface="Arial" pitchFamily="34" charset="-120"/>
              </a:rPr>
              <a:t>e</a:t>
            </a:r>
            <a:pPr algn="l" indent="0" marL="0">
              <a:lnSpc>
                <a:spcPts val="2500"/>
              </a:lnSpc>
              <a:buNone/>
            </a:pPr>
            <a:r>
              <a:rPr lang="en-US" sz="2450" b="1" spc="-122" kern="0" dirty="0">
                <a:solidFill>
                  <a:srgbClr val="7DA71E"/>
                </a:solidFill>
                <a:latin typeface="Arial" pitchFamily="34" charset="0"/>
                <a:ea typeface="Arial" pitchFamily="34" charset="-122"/>
                <a:cs typeface="Arial" pitchFamily="34" charset="-120"/>
              </a:rPr>
              <a:t>.</a:t>
            </a:r>
            <a:endParaRPr lang="en-US" sz="2450" dirty="0"/>
          </a:p>
        </p:txBody>
      </p:sp>
      <p:sp>
        <p:nvSpPr>
          <p:cNvPr id="7" name="Shape 4"/>
          <p:cNvSpPr/>
          <p:nvPr/>
        </p:nvSpPr>
        <p:spPr>
          <a:xfrm>
            <a:off x="457200" y="2514743"/>
            <a:ext cx="310896" cy="310896"/>
          </a:xfrm>
          <a:prstGeom prst="roundRect">
            <a:avLst>
              <a:gd name="adj" fmla="val 29412"/>
            </a:avLst>
          </a:prstGeom>
          <a:solidFill>
            <a:srgbClr val="2E7FB8"/>
          </a:solidFill>
          <a:ln w="22860">
            <a:solidFill>
              <a:srgbClr val="FFFFFF"/>
            </a:solidFill>
            <a:prstDash val="solid"/>
          </a:ln>
          <a:effectLst>
            <a:outerShdw sx="100000" sy="100000" kx="0" ky="0" algn="bl" rotWithShape="0" blurRad="109728" dist="36576" dir="5400000">
              <a:srgbClr val="062A44">
                <a:alpha val="26400"/>
              </a:srgbClr>
            </a:outerShdw>
          </a:effectLst>
        </p:spPr>
      </p:sp>
      <p:sp>
        <p:nvSpPr>
          <p:cNvPr id="8" name="Text 5"/>
          <p:cNvSpPr txBox="1"/>
          <p:nvPr/>
        </p:nvSpPr>
        <p:spPr>
          <a:xfrm>
            <a:off x="575501" y="2514743"/>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FFFFFF"/>
                </a:solidFill>
                <a:latin typeface="Courier New" pitchFamily="34" charset="0"/>
                <a:ea typeface="Courier New" pitchFamily="34" charset="-122"/>
                <a:cs typeface="Courier New" pitchFamily="34" charset="-120"/>
              </a:rPr>
              <a:t>1</a:t>
            </a:r>
            <a:endParaRPr lang="en-US" sz="970" dirty="0"/>
          </a:p>
        </p:txBody>
      </p:sp>
      <p:sp>
        <p:nvSpPr>
          <p:cNvPr id="9" name="Text 6"/>
          <p:cNvSpPr txBox="1"/>
          <p:nvPr/>
        </p:nvSpPr>
        <p:spPr>
          <a:xfrm>
            <a:off x="877824" y="2515886"/>
            <a:ext cx="185017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Safety stock per warehouse</a:t>
            </a:r>
            <a:endParaRPr lang="en-US" sz="990" dirty="0"/>
          </a:p>
        </p:txBody>
      </p:sp>
      <p:sp>
        <p:nvSpPr>
          <p:cNvPr id="10" name="Text 7"/>
          <p:cNvSpPr txBox="1"/>
          <p:nvPr/>
        </p:nvSpPr>
        <p:spPr>
          <a:xfrm>
            <a:off x="877824" y="2679764"/>
            <a:ext cx="2412502"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On hand against the safety level, with a gauge</a:t>
            </a:r>
            <a:endParaRPr lang="en-US" sz="810" dirty="0"/>
          </a:p>
        </p:txBody>
      </p:sp>
      <p:sp>
        <p:nvSpPr>
          <p:cNvPr id="11" name="Shape 8"/>
          <p:cNvSpPr/>
          <p:nvPr/>
        </p:nvSpPr>
        <p:spPr>
          <a:xfrm>
            <a:off x="457200" y="2939939"/>
            <a:ext cx="310896" cy="310896"/>
          </a:xfrm>
          <a:prstGeom prst="roundRect">
            <a:avLst>
              <a:gd name="adj" fmla="val 29412"/>
            </a:avLst>
          </a:prstGeom>
          <a:solidFill>
            <a:srgbClr val="2E7FB8"/>
          </a:solidFill>
          <a:ln w="22860">
            <a:solidFill>
              <a:srgbClr val="FFFFFF"/>
            </a:solidFill>
            <a:prstDash val="solid"/>
          </a:ln>
          <a:effectLst>
            <a:outerShdw sx="100000" sy="100000" kx="0" ky="0" algn="bl" rotWithShape="0" blurRad="109728" dist="36576" dir="5400000">
              <a:srgbClr val="062A44">
                <a:alpha val="26400"/>
              </a:srgbClr>
            </a:outerShdw>
          </a:effectLst>
        </p:spPr>
      </p:sp>
      <p:sp>
        <p:nvSpPr>
          <p:cNvPr id="12" name="Text 9"/>
          <p:cNvSpPr txBox="1"/>
          <p:nvPr/>
        </p:nvSpPr>
        <p:spPr>
          <a:xfrm>
            <a:off x="575501" y="2939939"/>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FFFFFF"/>
                </a:solidFill>
                <a:latin typeface="Courier New" pitchFamily="34" charset="0"/>
                <a:ea typeface="Courier New" pitchFamily="34" charset="-122"/>
                <a:cs typeface="Courier New" pitchFamily="34" charset="-120"/>
              </a:rPr>
              <a:t>2</a:t>
            </a:r>
            <a:endParaRPr lang="en-US" sz="970" dirty="0"/>
          </a:p>
        </p:txBody>
      </p:sp>
      <p:sp>
        <p:nvSpPr>
          <p:cNvPr id="13" name="Text 10"/>
          <p:cNvSpPr txBox="1"/>
          <p:nvPr/>
        </p:nvSpPr>
        <p:spPr>
          <a:xfrm>
            <a:off x="877824" y="2941082"/>
            <a:ext cx="121743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Clear stock status</a:t>
            </a:r>
            <a:endParaRPr lang="en-US" sz="990" dirty="0"/>
          </a:p>
        </p:txBody>
      </p:sp>
      <p:sp>
        <p:nvSpPr>
          <p:cNvPr id="14" name="Text 11"/>
          <p:cNvSpPr txBox="1"/>
          <p:nvPr/>
        </p:nvSpPr>
        <p:spPr>
          <a:xfrm>
            <a:off x="877824" y="3104960"/>
            <a:ext cx="2509785"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Out of stock, Low or In stock, warehouse named</a:t>
            </a:r>
            <a:endParaRPr lang="en-US" sz="810" dirty="0"/>
          </a:p>
        </p:txBody>
      </p:sp>
      <p:sp>
        <p:nvSpPr>
          <p:cNvPr id="15" name="Shape 12"/>
          <p:cNvSpPr/>
          <p:nvPr/>
        </p:nvSpPr>
        <p:spPr>
          <a:xfrm>
            <a:off x="457200" y="3365135"/>
            <a:ext cx="310896" cy="310896"/>
          </a:xfrm>
          <a:prstGeom prst="roundRect">
            <a:avLst>
              <a:gd name="adj" fmla="val 29412"/>
            </a:avLst>
          </a:prstGeom>
          <a:solidFill>
            <a:srgbClr val="2E7FB8"/>
          </a:solidFill>
          <a:ln w="22860">
            <a:solidFill>
              <a:srgbClr val="FFFFFF"/>
            </a:solidFill>
            <a:prstDash val="solid"/>
          </a:ln>
          <a:effectLst>
            <a:outerShdw sx="100000" sy="100000" kx="0" ky="0" algn="bl" rotWithShape="0" blurRad="109728" dist="36576" dir="5400000">
              <a:srgbClr val="062A44">
                <a:alpha val="26400"/>
              </a:srgbClr>
            </a:outerShdw>
          </a:effectLst>
        </p:spPr>
      </p:sp>
      <p:sp>
        <p:nvSpPr>
          <p:cNvPr id="16" name="Text 13"/>
          <p:cNvSpPr txBox="1"/>
          <p:nvPr/>
        </p:nvSpPr>
        <p:spPr>
          <a:xfrm>
            <a:off x="575501" y="3365135"/>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FFFFFF"/>
                </a:solidFill>
                <a:latin typeface="Courier New" pitchFamily="34" charset="0"/>
                <a:ea typeface="Courier New" pitchFamily="34" charset="-122"/>
                <a:cs typeface="Courier New" pitchFamily="34" charset="-120"/>
              </a:rPr>
              <a:t>3</a:t>
            </a:r>
            <a:endParaRPr lang="en-US" sz="970" dirty="0"/>
          </a:p>
        </p:txBody>
      </p:sp>
      <p:sp>
        <p:nvSpPr>
          <p:cNvPr id="17" name="Text 14"/>
          <p:cNvSpPr txBox="1"/>
          <p:nvPr/>
        </p:nvSpPr>
        <p:spPr>
          <a:xfrm>
            <a:off x="877824" y="3366278"/>
            <a:ext cx="1900309"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Predicted run-out and spikes</a:t>
            </a:r>
            <a:endParaRPr lang="en-US" sz="990" dirty="0"/>
          </a:p>
        </p:txBody>
      </p:sp>
      <p:sp>
        <p:nvSpPr>
          <p:cNvPr id="18" name="Text 15"/>
          <p:cNvSpPr txBox="1"/>
          <p:nvPr/>
        </p:nvSpPr>
        <p:spPr>
          <a:xfrm>
            <a:off x="877824" y="3530156"/>
            <a:ext cx="2290858"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Days left and demand spikes, before it hurts</a:t>
            </a:r>
            <a:endParaRPr lang="en-US" sz="810" dirty="0"/>
          </a:p>
        </p:txBody>
      </p:sp>
      <p:sp>
        <p:nvSpPr>
          <p:cNvPr id="19" name="Shape 16"/>
          <p:cNvSpPr/>
          <p:nvPr/>
        </p:nvSpPr>
        <p:spPr>
          <a:xfrm>
            <a:off x="457200" y="3790331"/>
            <a:ext cx="310896" cy="310896"/>
          </a:xfrm>
          <a:prstGeom prst="roundRect">
            <a:avLst>
              <a:gd name="adj" fmla="val 29412"/>
            </a:avLst>
          </a:prstGeom>
          <a:solidFill>
            <a:srgbClr val="2E7FB8"/>
          </a:solidFill>
          <a:ln w="22860">
            <a:solidFill>
              <a:srgbClr val="FFFFFF"/>
            </a:solidFill>
            <a:prstDash val="solid"/>
          </a:ln>
          <a:effectLst>
            <a:outerShdw sx="100000" sy="100000" kx="0" ky="0" algn="bl" rotWithShape="0" blurRad="109728" dist="36576" dir="5400000">
              <a:srgbClr val="062A44">
                <a:alpha val="26400"/>
              </a:srgbClr>
            </a:outerShdw>
          </a:effectLst>
        </p:spPr>
      </p:sp>
      <p:sp>
        <p:nvSpPr>
          <p:cNvPr id="20" name="Text 17"/>
          <p:cNvSpPr txBox="1"/>
          <p:nvPr/>
        </p:nvSpPr>
        <p:spPr>
          <a:xfrm>
            <a:off x="575501" y="3790331"/>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FFFFFF"/>
                </a:solidFill>
                <a:latin typeface="Courier New" pitchFamily="34" charset="0"/>
                <a:ea typeface="Courier New" pitchFamily="34" charset="-122"/>
                <a:cs typeface="Courier New" pitchFamily="34" charset="-120"/>
              </a:rPr>
              <a:t>4</a:t>
            </a:r>
            <a:endParaRPr lang="en-US" sz="970" dirty="0"/>
          </a:p>
        </p:txBody>
      </p:sp>
      <p:sp>
        <p:nvSpPr>
          <p:cNvPr id="21" name="Text 18"/>
          <p:cNvSpPr txBox="1"/>
          <p:nvPr/>
        </p:nvSpPr>
        <p:spPr>
          <a:xfrm>
            <a:off x="877824" y="3791474"/>
            <a:ext cx="129114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Cart for every issue</a:t>
            </a:r>
            <a:endParaRPr lang="en-US" sz="990" dirty="0"/>
          </a:p>
        </p:txBody>
      </p:sp>
      <p:sp>
        <p:nvSpPr>
          <p:cNvPr id="22" name="Text 19"/>
          <p:cNvSpPr txBox="1"/>
          <p:nvPr/>
        </p:nvSpPr>
        <p:spPr>
          <a:xfrm>
            <a:off x="877824" y="3955352"/>
            <a:ext cx="2381069"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Add items; nothing is sent until you check out</a:t>
            </a:r>
            <a:endParaRPr lang="en-US" sz="810" dirty="0"/>
          </a:p>
        </p:txBody>
      </p:sp>
      <p:sp>
        <p:nvSpPr>
          <p:cNvPr id="23" name="Shape 20"/>
          <p:cNvSpPr/>
          <p:nvPr/>
        </p:nvSpPr>
        <p:spPr>
          <a:xfrm>
            <a:off x="457200" y="4526280"/>
            <a:ext cx="1066419" cy="251460"/>
          </a:xfrm>
          <a:prstGeom prst="roundRect">
            <a:avLst>
              <a:gd name="adj" fmla="val 50000"/>
            </a:avLst>
          </a:prstGeom>
          <a:solidFill>
            <a:srgbClr val="FFFFFF">
              <a:alpha val="55000"/>
            </a:srgbClr>
          </a:solidFill>
          <a:ln w="9144">
            <a:solidFill>
              <a:srgbClr val="062A44">
                <a:alpha val="18000"/>
              </a:srgbClr>
            </a:solidFill>
            <a:prstDash val="solid"/>
          </a:ln>
        </p:spPr>
      </p:sp>
      <p:sp>
        <p:nvSpPr>
          <p:cNvPr id="24" name="Text 21"/>
          <p:cNvSpPr txBox="1"/>
          <p:nvPr/>
        </p:nvSpPr>
        <p:spPr>
          <a:xfrm>
            <a:off x="731663" y="4581144"/>
            <a:ext cx="788856" cy="141732"/>
          </a:xfrm>
          <a:prstGeom prst="rect">
            <a:avLst/>
          </a:prstGeom>
          <a:noFill/>
          <a:ln/>
        </p:spPr>
        <p:txBody>
          <a:bodyPr wrap="none" lIns="0" tIns="0" rIns="0" bIns="0" rtlCol="0" anchor="ctr"/>
          <a:lstStyle/>
          <a:p>
            <a:pPr algn="l" indent="0" marL="0">
              <a:lnSpc>
                <a:spcPts val="1120"/>
              </a:lnSpc>
              <a:buNone/>
            </a:pPr>
            <a:r>
              <a:rPr lang="en-US" sz="720" dirty="0">
                <a:solidFill>
                  <a:srgbClr val="062A44"/>
                </a:solidFill>
                <a:latin typeface="Arial" pitchFamily="34" charset="0"/>
                <a:ea typeface="Arial" pitchFamily="34" charset="-122"/>
                <a:cs typeface="Arial" pitchFamily="34" charset="-120"/>
              </a:rPr>
              <a:t>Receive delivery</a:t>
            </a:r>
            <a:endParaRPr lang="en-US" sz="720" dirty="0"/>
          </a:p>
        </p:txBody>
      </p:sp>
      <p:pic>
        <p:nvPicPr>
          <p:cNvPr id="25" name="Image 1" descr="Icon: local shipping">    </p:cNvPr>
          <p:cNvPicPr>
            <a:picLocks noChangeAspect="1"/>
          </p:cNvPicPr>
          <p:nvPr/>
        </p:nvPicPr>
        <p:blipFill>
          <a:blip r:embed="rId3"/>
          <a:stretch>
            <a:fillRect/>
          </a:stretch>
        </p:blipFill>
        <p:spPr>
          <a:xfrm>
            <a:off x="548640" y="4588002"/>
            <a:ext cx="128159" cy="128016"/>
          </a:xfrm>
          <a:prstGeom prst="rect">
            <a:avLst/>
          </a:prstGeom>
        </p:spPr>
      </p:pic>
      <p:sp>
        <p:nvSpPr>
          <p:cNvPr id="26" name="Shape 22"/>
          <p:cNvSpPr/>
          <p:nvPr/>
        </p:nvSpPr>
        <p:spPr>
          <a:xfrm>
            <a:off x="1587627" y="4526280"/>
            <a:ext cx="888825" cy="251460"/>
          </a:xfrm>
          <a:prstGeom prst="roundRect">
            <a:avLst>
              <a:gd name="adj" fmla="val 50000"/>
            </a:avLst>
          </a:prstGeom>
          <a:solidFill>
            <a:srgbClr val="FFFFFF">
              <a:alpha val="55000"/>
            </a:srgbClr>
          </a:solidFill>
          <a:ln w="9144">
            <a:solidFill>
              <a:srgbClr val="062A44">
                <a:alpha val="18000"/>
              </a:srgbClr>
            </a:solidFill>
            <a:prstDash val="solid"/>
          </a:ln>
        </p:spPr>
      </p:sp>
      <p:sp>
        <p:nvSpPr>
          <p:cNvPr id="27" name="Text 23"/>
          <p:cNvSpPr txBox="1"/>
          <p:nvPr/>
        </p:nvSpPr>
        <p:spPr>
          <a:xfrm>
            <a:off x="1862090" y="4581144"/>
            <a:ext cx="593503" cy="141732"/>
          </a:xfrm>
          <a:prstGeom prst="rect">
            <a:avLst/>
          </a:prstGeom>
          <a:noFill/>
          <a:ln/>
        </p:spPr>
        <p:txBody>
          <a:bodyPr wrap="none" lIns="0" tIns="0" rIns="0" bIns="0" rtlCol="0" anchor="ctr"/>
          <a:lstStyle/>
          <a:p>
            <a:pPr algn="l" indent="0" marL="0">
              <a:lnSpc>
                <a:spcPts val="1120"/>
              </a:lnSpc>
              <a:buNone/>
            </a:pPr>
            <a:r>
              <a:rPr lang="en-US" sz="720" dirty="0">
                <a:solidFill>
                  <a:srgbClr val="062A44"/>
                </a:solidFill>
                <a:latin typeface="Arial" pitchFamily="34" charset="0"/>
                <a:ea typeface="Arial" pitchFamily="34" charset="-122"/>
                <a:cs typeface="Arial" pitchFamily="34" charset="-120"/>
              </a:rPr>
              <a:t>Count stock</a:t>
            </a:r>
            <a:endParaRPr lang="en-US" sz="720" dirty="0"/>
          </a:p>
        </p:txBody>
      </p:sp>
      <p:pic>
        <p:nvPicPr>
          <p:cNvPr id="28" name="Image 2" descr="Icon: fact check">    </p:cNvPr>
          <p:cNvPicPr>
            <a:picLocks noChangeAspect="1"/>
          </p:cNvPicPr>
          <p:nvPr/>
        </p:nvPicPr>
        <p:blipFill>
          <a:blip r:embed="rId4"/>
          <a:stretch>
            <a:fillRect/>
          </a:stretch>
        </p:blipFill>
        <p:spPr>
          <a:xfrm>
            <a:off x="1679067" y="4588002"/>
            <a:ext cx="128159" cy="128016"/>
          </a:xfrm>
          <a:prstGeom prst="rect">
            <a:avLst/>
          </a:prstGeom>
        </p:spPr>
      </p:pic>
      <p:sp>
        <p:nvSpPr>
          <p:cNvPr id="29" name="Shape 24"/>
          <p:cNvSpPr/>
          <p:nvPr/>
        </p:nvSpPr>
        <p:spPr>
          <a:xfrm>
            <a:off x="2540460" y="4526280"/>
            <a:ext cx="888968" cy="251460"/>
          </a:xfrm>
          <a:prstGeom prst="roundRect">
            <a:avLst>
              <a:gd name="adj" fmla="val 50000"/>
            </a:avLst>
          </a:prstGeom>
          <a:solidFill>
            <a:srgbClr val="FFFFFF">
              <a:alpha val="55000"/>
            </a:srgbClr>
          </a:solidFill>
          <a:ln w="9144">
            <a:solidFill>
              <a:srgbClr val="062A44">
                <a:alpha val="18000"/>
              </a:srgbClr>
            </a:solidFill>
            <a:prstDash val="solid"/>
          </a:ln>
        </p:spPr>
      </p:sp>
      <p:sp>
        <p:nvSpPr>
          <p:cNvPr id="30" name="Text 25"/>
          <p:cNvSpPr txBox="1"/>
          <p:nvPr/>
        </p:nvSpPr>
        <p:spPr>
          <a:xfrm>
            <a:off x="2814923" y="4581144"/>
            <a:ext cx="593660" cy="141732"/>
          </a:xfrm>
          <a:prstGeom prst="rect">
            <a:avLst/>
          </a:prstGeom>
          <a:noFill/>
          <a:ln/>
        </p:spPr>
        <p:txBody>
          <a:bodyPr wrap="none" lIns="0" tIns="0" rIns="0" bIns="0" rtlCol="0" anchor="ctr"/>
          <a:lstStyle/>
          <a:p>
            <a:pPr algn="l" indent="0" marL="0">
              <a:lnSpc>
                <a:spcPts val="1120"/>
              </a:lnSpc>
              <a:buNone/>
            </a:pPr>
            <a:r>
              <a:rPr lang="en-US" sz="720" dirty="0">
                <a:solidFill>
                  <a:srgbClr val="062A44"/>
                </a:solidFill>
                <a:latin typeface="Arial" pitchFamily="34" charset="0"/>
                <a:ea typeface="Arial" pitchFamily="34" charset="-122"/>
                <a:cs typeface="Arial" pitchFamily="34" charset="-120"/>
              </a:rPr>
              <a:t>Stock filters</a:t>
            </a:r>
            <a:endParaRPr lang="en-US" sz="720" dirty="0"/>
          </a:p>
        </p:txBody>
      </p:sp>
      <p:pic>
        <p:nvPicPr>
          <p:cNvPr id="31" name="Image 3" descr="Icon: filter alt">    </p:cNvPr>
          <p:cNvPicPr>
            <a:picLocks noChangeAspect="1"/>
          </p:cNvPicPr>
          <p:nvPr/>
        </p:nvPicPr>
        <p:blipFill>
          <a:blip r:embed="rId5"/>
          <a:stretch>
            <a:fillRect/>
          </a:stretch>
        </p:blipFill>
        <p:spPr>
          <a:xfrm>
            <a:off x="2631900" y="4588002"/>
            <a:ext cx="128159" cy="128016"/>
          </a:xfrm>
          <a:prstGeom prst="rect">
            <a:avLst/>
          </a:prstGeom>
        </p:spPr>
      </p:pic>
      <p:sp>
        <p:nvSpPr>
          <p:cNvPr id="32" name="Shape 26"/>
          <p:cNvSpPr/>
          <p:nvPr/>
        </p:nvSpPr>
        <p:spPr>
          <a:xfrm>
            <a:off x="4114800" y="1143000"/>
            <a:ext cx="4572000" cy="2459736"/>
          </a:xfrm>
          <a:prstGeom prst="roundRect">
            <a:avLst>
              <a:gd name="adj" fmla="val 5204"/>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33" name="Shape 27"/>
          <p:cNvSpPr/>
          <p:nvPr/>
        </p:nvSpPr>
        <p:spPr>
          <a:xfrm>
            <a:off x="4114800" y="1143000"/>
            <a:ext cx="4572000" cy="173736"/>
          </a:xfrm>
          <a:prstGeom prst="rect">
            <a:avLst/>
          </a:prstGeom>
          <a:solidFill>
            <a:srgbClr val="F4F7FA"/>
          </a:solidFill>
          <a:ln/>
        </p:spPr>
      </p:sp>
      <p:sp>
        <p:nvSpPr>
          <p:cNvPr id="34" name="Shape 28"/>
          <p:cNvSpPr/>
          <p:nvPr/>
        </p:nvSpPr>
        <p:spPr>
          <a:xfrm>
            <a:off x="4114800" y="1312164"/>
            <a:ext cx="4572000" cy="0"/>
          </a:xfrm>
          <a:prstGeom prst="line">
            <a:avLst/>
          </a:prstGeom>
          <a:noFill/>
          <a:ln w="9144">
            <a:solidFill>
              <a:srgbClr val="062A44">
                <a:alpha val="10000"/>
              </a:srgbClr>
            </a:solidFill>
            <a:prstDash val="solid"/>
          </a:ln>
        </p:spPr>
      </p:sp>
      <p:sp>
        <p:nvSpPr>
          <p:cNvPr id="35" name="Shape 29"/>
          <p:cNvSpPr/>
          <p:nvPr/>
        </p:nvSpPr>
        <p:spPr>
          <a:xfrm>
            <a:off x="4215384" y="1197007"/>
            <a:ext cx="56579" cy="56579"/>
          </a:xfrm>
          <a:prstGeom prst="ellipse">
            <a:avLst/>
          </a:prstGeom>
          <a:solidFill>
            <a:srgbClr val="D3DCE4"/>
          </a:solidFill>
          <a:ln/>
        </p:spPr>
      </p:sp>
      <p:sp>
        <p:nvSpPr>
          <p:cNvPr id="36" name="Shape 30"/>
          <p:cNvSpPr/>
          <p:nvPr/>
        </p:nvSpPr>
        <p:spPr>
          <a:xfrm>
            <a:off x="4317683" y="1197007"/>
            <a:ext cx="56579" cy="56579"/>
          </a:xfrm>
          <a:prstGeom prst="ellipse">
            <a:avLst/>
          </a:prstGeom>
          <a:solidFill>
            <a:srgbClr val="D3DCE4"/>
          </a:solidFill>
          <a:ln/>
        </p:spPr>
      </p:sp>
      <p:sp>
        <p:nvSpPr>
          <p:cNvPr id="37" name="Shape 31"/>
          <p:cNvSpPr/>
          <p:nvPr/>
        </p:nvSpPr>
        <p:spPr>
          <a:xfrm>
            <a:off x="4419981" y="1197007"/>
            <a:ext cx="56579" cy="56579"/>
          </a:xfrm>
          <a:prstGeom prst="ellipse">
            <a:avLst/>
          </a:prstGeom>
          <a:solidFill>
            <a:srgbClr val="D3DCE4"/>
          </a:solidFill>
          <a:ln/>
        </p:spPr>
      </p:sp>
      <p:pic>
        <p:nvPicPr>
          <p:cNvPr id="38" name="Image 4" descr="Consumables table with on hand against safety stock per warehouse, status, predicted run-out and a cart button on every row">    </p:cNvPr>
          <p:cNvPicPr>
            <a:picLocks noChangeAspect="1"/>
          </p:cNvPicPr>
          <p:nvPr/>
        </p:nvPicPr>
        <p:blipFill>
          <a:blip r:embed="rId6"/>
          <a:stretch>
            <a:fillRect/>
          </a:stretch>
        </p:blipFill>
        <p:spPr>
          <a:xfrm>
            <a:off x="4114800" y="1316736"/>
            <a:ext cx="4572000" cy="2286000"/>
          </a:xfrm>
          <a:prstGeom prst="rect">
            <a:avLst/>
          </a:prstGeom>
        </p:spPr>
      </p:pic>
      <p:sp>
        <p:nvSpPr>
          <p:cNvPr id="39" name="Shape 32"/>
          <p:cNvSpPr/>
          <p:nvPr/>
        </p:nvSpPr>
        <p:spPr>
          <a:xfrm>
            <a:off x="6277356" y="1901952"/>
            <a:ext cx="182880" cy="182880"/>
          </a:xfrm>
          <a:prstGeom prst="ellipse">
            <a:avLst/>
          </a:prstGeom>
          <a:solidFill>
            <a:srgbClr val="2E7FB8"/>
          </a:solidFill>
          <a:ln w="22860">
            <a:solidFill>
              <a:srgbClr val="FFFFFF"/>
            </a:solidFill>
            <a:prstDash val="solid"/>
          </a:ln>
          <a:effectLst>
            <a:outerShdw sx="100000" sy="100000" kx="0" ky="0" algn="bl" rotWithShape="0" blurRad="91440" dist="36576" dir="5400000">
              <a:srgbClr val="062A44">
                <a:alpha val="36000"/>
              </a:srgbClr>
            </a:outerShdw>
          </a:effectLst>
        </p:spPr>
      </p:sp>
      <p:sp>
        <p:nvSpPr>
          <p:cNvPr id="40" name="Text 33"/>
          <p:cNvSpPr txBox="1"/>
          <p:nvPr/>
        </p:nvSpPr>
        <p:spPr>
          <a:xfrm>
            <a:off x="6345365" y="1901952"/>
            <a:ext cx="69837" cy="182880"/>
          </a:xfrm>
          <a:prstGeom prst="rect">
            <a:avLst/>
          </a:prstGeom>
          <a:noFill/>
          <a:ln/>
        </p:spPr>
        <p:txBody>
          <a:bodyPr wrap="none" lIns="0" tIns="0" rIns="0" bIns="0" rtlCol="0" anchor="ctr"/>
          <a:lstStyle/>
          <a:p>
            <a:pPr algn="l" indent="0" marL="0">
              <a:lnSpc>
                <a:spcPts val="860"/>
              </a:lnSpc>
              <a:buNone/>
            </a:pPr>
            <a:r>
              <a:rPr lang="en-US" sz="860" b="1" dirty="0">
                <a:solidFill>
                  <a:srgbClr val="FFFFFF"/>
                </a:solidFill>
                <a:latin typeface="Arial" pitchFamily="34" charset="0"/>
                <a:ea typeface="Arial" pitchFamily="34" charset="-122"/>
                <a:cs typeface="Arial" pitchFamily="34" charset="-120"/>
              </a:rPr>
              <a:t>1</a:t>
            </a:r>
            <a:endParaRPr lang="en-US" sz="860" dirty="0"/>
          </a:p>
        </p:txBody>
      </p:sp>
      <p:sp>
        <p:nvSpPr>
          <p:cNvPr id="41" name="Shape 34"/>
          <p:cNvSpPr/>
          <p:nvPr/>
        </p:nvSpPr>
        <p:spPr>
          <a:xfrm>
            <a:off x="7018020" y="1901952"/>
            <a:ext cx="182880" cy="182880"/>
          </a:xfrm>
          <a:prstGeom prst="ellipse">
            <a:avLst/>
          </a:prstGeom>
          <a:solidFill>
            <a:srgbClr val="2E7FB8"/>
          </a:solidFill>
          <a:ln w="22860">
            <a:solidFill>
              <a:srgbClr val="FFFFFF"/>
            </a:solidFill>
            <a:prstDash val="solid"/>
          </a:ln>
          <a:effectLst>
            <a:outerShdw sx="100000" sy="100000" kx="0" ky="0" algn="bl" rotWithShape="0" blurRad="91440" dist="36576" dir="5400000">
              <a:srgbClr val="062A44">
                <a:alpha val="36000"/>
              </a:srgbClr>
            </a:outerShdw>
          </a:effectLst>
        </p:spPr>
      </p:sp>
      <p:sp>
        <p:nvSpPr>
          <p:cNvPr id="42" name="Text 35"/>
          <p:cNvSpPr txBox="1"/>
          <p:nvPr/>
        </p:nvSpPr>
        <p:spPr>
          <a:xfrm>
            <a:off x="7074170" y="1901952"/>
            <a:ext cx="95926" cy="182880"/>
          </a:xfrm>
          <a:prstGeom prst="rect">
            <a:avLst/>
          </a:prstGeom>
          <a:noFill/>
          <a:ln/>
        </p:spPr>
        <p:txBody>
          <a:bodyPr wrap="none" lIns="0" tIns="0" rIns="0" bIns="0" rtlCol="0" anchor="ctr"/>
          <a:lstStyle/>
          <a:p>
            <a:pPr algn="l" indent="0" marL="0">
              <a:lnSpc>
                <a:spcPts val="860"/>
              </a:lnSpc>
              <a:buNone/>
            </a:pPr>
            <a:r>
              <a:rPr lang="en-US" sz="860" b="1" dirty="0">
                <a:solidFill>
                  <a:srgbClr val="FFFFFF"/>
                </a:solidFill>
                <a:latin typeface="Arial" pitchFamily="34" charset="0"/>
                <a:ea typeface="Arial" pitchFamily="34" charset="-122"/>
                <a:cs typeface="Arial" pitchFamily="34" charset="-120"/>
              </a:rPr>
              <a:t>2</a:t>
            </a:r>
            <a:endParaRPr lang="en-US" sz="860" dirty="0"/>
          </a:p>
        </p:txBody>
      </p:sp>
      <p:sp>
        <p:nvSpPr>
          <p:cNvPr id="43" name="Shape 36"/>
          <p:cNvSpPr/>
          <p:nvPr/>
        </p:nvSpPr>
        <p:spPr>
          <a:xfrm>
            <a:off x="7708392" y="1901952"/>
            <a:ext cx="182880" cy="182880"/>
          </a:xfrm>
          <a:prstGeom prst="ellipse">
            <a:avLst/>
          </a:prstGeom>
          <a:solidFill>
            <a:srgbClr val="2E7FB8"/>
          </a:solidFill>
          <a:ln w="22860">
            <a:solidFill>
              <a:srgbClr val="FFFFFF"/>
            </a:solidFill>
            <a:prstDash val="solid"/>
          </a:ln>
          <a:effectLst>
            <a:outerShdw sx="100000" sy="100000" kx="0" ky="0" algn="bl" rotWithShape="0" blurRad="91440" dist="36576" dir="5400000">
              <a:srgbClr val="062A44">
                <a:alpha val="36000"/>
              </a:srgbClr>
            </a:outerShdw>
          </a:effectLst>
        </p:spPr>
      </p:sp>
      <p:sp>
        <p:nvSpPr>
          <p:cNvPr id="44" name="Text 37"/>
          <p:cNvSpPr txBox="1"/>
          <p:nvPr/>
        </p:nvSpPr>
        <p:spPr>
          <a:xfrm>
            <a:off x="7764828" y="1901952"/>
            <a:ext cx="95298" cy="182880"/>
          </a:xfrm>
          <a:prstGeom prst="rect">
            <a:avLst/>
          </a:prstGeom>
          <a:noFill/>
          <a:ln/>
        </p:spPr>
        <p:txBody>
          <a:bodyPr wrap="none" lIns="0" tIns="0" rIns="0" bIns="0" rtlCol="0" anchor="ctr"/>
          <a:lstStyle/>
          <a:p>
            <a:pPr algn="l" indent="0" marL="0">
              <a:lnSpc>
                <a:spcPts val="860"/>
              </a:lnSpc>
              <a:buNone/>
            </a:pPr>
            <a:r>
              <a:rPr lang="en-US" sz="860" b="1" dirty="0">
                <a:solidFill>
                  <a:srgbClr val="FFFFFF"/>
                </a:solidFill>
                <a:latin typeface="Arial" pitchFamily="34" charset="0"/>
                <a:ea typeface="Arial" pitchFamily="34" charset="-122"/>
                <a:cs typeface="Arial" pitchFamily="34" charset="-120"/>
              </a:rPr>
              <a:t>3</a:t>
            </a:r>
            <a:endParaRPr lang="en-US" sz="860" dirty="0"/>
          </a:p>
        </p:txBody>
      </p:sp>
      <p:sp>
        <p:nvSpPr>
          <p:cNvPr id="45" name="Shape 38"/>
          <p:cNvSpPr/>
          <p:nvPr/>
        </p:nvSpPr>
        <p:spPr>
          <a:xfrm>
            <a:off x="8179308" y="1901952"/>
            <a:ext cx="182880" cy="182880"/>
          </a:xfrm>
          <a:prstGeom prst="ellipse">
            <a:avLst/>
          </a:prstGeom>
          <a:solidFill>
            <a:srgbClr val="2E7FB8"/>
          </a:solidFill>
          <a:ln w="22860">
            <a:solidFill>
              <a:srgbClr val="FFFFFF"/>
            </a:solidFill>
            <a:prstDash val="solid"/>
          </a:ln>
          <a:effectLst>
            <a:outerShdw sx="100000" sy="100000" kx="0" ky="0" algn="bl" rotWithShape="0" blurRad="91440" dist="36576" dir="5400000">
              <a:srgbClr val="062A44">
                <a:alpha val="36000"/>
              </a:srgbClr>
            </a:outerShdw>
          </a:effectLst>
        </p:spPr>
      </p:sp>
      <p:sp>
        <p:nvSpPr>
          <p:cNvPr id="46" name="Text 39"/>
          <p:cNvSpPr txBox="1"/>
          <p:nvPr/>
        </p:nvSpPr>
        <p:spPr>
          <a:xfrm>
            <a:off x="8235458" y="1901952"/>
            <a:ext cx="95926" cy="182880"/>
          </a:xfrm>
          <a:prstGeom prst="rect">
            <a:avLst/>
          </a:prstGeom>
          <a:noFill/>
          <a:ln/>
        </p:spPr>
        <p:txBody>
          <a:bodyPr wrap="none" lIns="0" tIns="0" rIns="0" bIns="0" rtlCol="0" anchor="ctr"/>
          <a:lstStyle/>
          <a:p>
            <a:pPr algn="l" indent="0" marL="0">
              <a:lnSpc>
                <a:spcPts val="860"/>
              </a:lnSpc>
              <a:buNone/>
            </a:pPr>
            <a:r>
              <a:rPr lang="en-US" sz="860" b="1" dirty="0">
                <a:solidFill>
                  <a:srgbClr val="FFFFFF"/>
                </a:solidFill>
                <a:latin typeface="Arial" pitchFamily="34" charset="0"/>
                <a:ea typeface="Arial" pitchFamily="34" charset="-122"/>
                <a:cs typeface="Arial" pitchFamily="34" charset="-120"/>
              </a:rPr>
              <a:t>4</a:t>
            </a:r>
            <a:endParaRPr lang="en-US" sz="860" dirty="0"/>
          </a:p>
        </p:txBody>
      </p:sp>
      <p:sp>
        <p:nvSpPr>
          <p:cNvPr id="47" name="Gradient shape"/>
          <p:cNvSpPr/>
          <p:nvPr/>
        </p:nvSpPr>
        <p:spPr>
          <a:xfrm>
            <a:off x="3547872" y="2560320"/>
            <a:ext cx="1097280" cy="2374583"/>
          </a:xfrm>
          <a:prstGeom prst="roundRect">
            <a:avLst>
              <a:gd name="adj" fmla="val 21667"/>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62A44">
                <a:alpha val="33600"/>
              </a:srgbClr>
            </a:outerShdw>
          </a:effectLst>
        </p:spPr>
      </p:sp>
      <p:pic>
        <p:nvPicPr>
          <p:cNvPr id="48" name="Picture" descr="The cart on a phone, with consumables ready to issue">    </p:cNvPr>
          <p:cNvPicPr>
            <a:picLocks noChangeAspect="1"/>
          </p:cNvPicPr>
          <p:nvPr/>
        </p:nvPicPr>
        <p:blipFill>
          <a:blip r:embed="rId7"/>
          <a:stretch>
            <a:fillRect/>
          </a:stretch>
        </p:blipFill>
        <p:spPr>
          <a:xfrm>
            <a:off x="3589020" y="2601468"/>
            <a:ext cx="1014984" cy="2292287"/>
          </a:xfrm>
          <a:prstGeom prst="roundRect">
            <a:avLst>
              <a:gd name="adj" fmla="val 19819"/>
            </a:avLst>
          </a:prstGeom>
        </p:spPr>
      </p:pic>
    </p:spTree>
  </p:cSld>
  <p:clrMapOvr>
    <a:masterClrMapping/>
  </p:clrMapOvr>
  <p:transition spd="med">
    <p:push dir="r"/>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88720"/>
            <a:ext cx="1470784"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INVENTORY &amp; QUALITY</a:t>
            </a:r>
            <a:endParaRPr lang="en-US" sz="720" dirty="0"/>
          </a:p>
        </p:txBody>
      </p:sp>
      <p:sp>
        <p:nvSpPr>
          <p:cNvPr id="5" name="Gradient shape"/>
          <p:cNvSpPr/>
          <p:nvPr/>
        </p:nvSpPr>
        <p:spPr>
          <a:xfrm>
            <a:off x="457200" y="122438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426464"/>
            <a:ext cx="2028033" cy="772243"/>
          </a:xfrm>
          <a:prstGeom prst="rect">
            <a:avLst/>
          </a:prstGeom>
          <a:noFill/>
          <a:ln/>
        </p:spPr>
        <p:txBody>
          <a:bodyPr wrap="square" lIns="0" tIns="0" rIns="0" bIns="0" rtlCol="0" anchor="t"/>
          <a:lstStyle/>
          <a:p>
            <a:pPr algn="l" indent="0" marL="0">
              <a:lnSpc>
                <a:spcPts val="2640"/>
              </a:lnSpc>
              <a:buNone/>
            </a:pPr>
            <a:r>
              <a:rPr lang="en-US" sz="2590" spc="-130" kern="0" dirty="0">
                <a:solidFill>
                  <a:srgbClr val="062A44"/>
                </a:solidFill>
                <a:latin typeface="Arial" pitchFamily="34" charset="0"/>
                <a:ea typeface="Arial" pitchFamily="34" charset="-122"/>
                <a:cs typeface="Arial" pitchFamily="34" charset="-120"/>
              </a:rPr>
              <a:t>Borrow a tool</a:t>
            </a:r>
            <a:endParaRPr lang="en-US" sz="2590" dirty="0"/>
          </a:p>
          <a:p>
            <a:pPr algn="l" indent="0" marL="0">
              <a:lnSpc>
                <a:spcPts val="2640"/>
              </a:lnSpc>
              <a:buNone/>
            </a:pPr>
            <a:r>
              <a:rPr lang="en-US" sz="2590" b="1" spc="-130" kern="0" dirty="0">
                <a:solidFill>
                  <a:srgbClr val="0D3D60"/>
                </a:solidFill>
                <a:latin typeface="Arial" pitchFamily="34" charset="0"/>
                <a:ea typeface="Arial" pitchFamily="34" charset="-122"/>
                <a:cs typeface="Arial" pitchFamily="34" charset="-120"/>
              </a:rPr>
              <a:t>i</a:t>
            </a:r>
            <a:pPr algn="l" indent="0" marL="0">
              <a:lnSpc>
                <a:spcPts val="2640"/>
              </a:lnSpc>
              <a:buNone/>
            </a:pPr>
            <a:r>
              <a:rPr lang="en-US" sz="2590" b="1" spc="-130" kern="0" dirty="0">
                <a:solidFill>
                  <a:srgbClr val="124970"/>
                </a:solidFill>
                <a:latin typeface="Arial" pitchFamily="34" charset="0"/>
                <a:ea typeface="Arial" pitchFamily="34" charset="-122"/>
                <a:cs typeface="Arial" pitchFamily="34" charset="-120"/>
              </a:rPr>
              <a:t>n</a:t>
            </a:r>
            <a:pPr algn="l" indent="0" marL="0">
              <a:lnSpc>
                <a:spcPts val="2640"/>
              </a:lnSpc>
              <a:buNone/>
            </a:pPr>
            <a:r>
              <a:rPr lang="en-US" sz="2590" b="1" spc="-130" kern="0" dirty="0">
                <a:solidFill>
                  <a:srgbClr val="1D5E8C"/>
                </a:solidFill>
                <a:latin typeface="Arial" pitchFamily="34" charset="0"/>
                <a:ea typeface="Arial" pitchFamily="34" charset="-122"/>
                <a:cs typeface="Arial" pitchFamily="34" charset="-120"/>
              </a:rPr>
              <a:t> a</a:t>
            </a:r>
            <a:pPr algn="l" indent="0" marL="0">
              <a:lnSpc>
                <a:spcPts val="2640"/>
              </a:lnSpc>
              <a:buNone/>
            </a:pPr>
            <a:r>
              <a:rPr lang="en-US" sz="2590" b="1" spc="-130" kern="0" dirty="0">
                <a:solidFill>
                  <a:srgbClr val="2A78AE"/>
                </a:solidFill>
                <a:latin typeface="Arial" pitchFamily="34" charset="0"/>
                <a:ea typeface="Arial" pitchFamily="34" charset="-122"/>
                <a:cs typeface="Arial" pitchFamily="34" charset="-120"/>
              </a:rPr>
              <a:t> m</a:t>
            </a:r>
            <a:pPr algn="l" indent="0" marL="0">
              <a:lnSpc>
                <a:spcPts val="2640"/>
              </a:lnSpc>
              <a:buNone/>
            </a:pPr>
            <a:r>
              <a:rPr lang="en-US" sz="2590" b="1" spc="-130" kern="0" dirty="0">
                <a:solidFill>
                  <a:srgbClr val="3784A6"/>
                </a:solidFill>
                <a:latin typeface="Arial" pitchFamily="34" charset="0"/>
                <a:ea typeface="Arial" pitchFamily="34" charset="-122"/>
                <a:cs typeface="Arial" pitchFamily="34" charset="-120"/>
              </a:rPr>
              <a:t>i</a:t>
            </a:r>
            <a:pPr algn="l" indent="0" marL="0">
              <a:lnSpc>
                <a:spcPts val="2640"/>
              </a:lnSpc>
              <a:buNone/>
            </a:pPr>
            <a:r>
              <a:rPr lang="en-US" sz="2590" b="1" spc="-130" kern="0" dirty="0">
                <a:solidFill>
                  <a:srgbClr val="438A8F"/>
                </a:solidFill>
                <a:latin typeface="Arial" pitchFamily="34" charset="0"/>
                <a:ea typeface="Arial" pitchFamily="34" charset="-122"/>
                <a:cs typeface="Arial" pitchFamily="34" charset="-120"/>
              </a:rPr>
              <a:t>n</a:t>
            </a:r>
            <a:pPr algn="l" indent="0" marL="0">
              <a:lnSpc>
                <a:spcPts val="2640"/>
              </a:lnSpc>
              <a:buNone/>
            </a:pPr>
            <a:r>
              <a:rPr lang="en-US" sz="2590" b="1" spc="-130" kern="0" dirty="0">
                <a:solidFill>
                  <a:srgbClr val="54926D"/>
                </a:solidFill>
                <a:latin typeface="Arial" pitchFamily="34" charset="0"/>
                <a:ea typeface="Arial" pitchFamily="34" charset="-122"/>
                <a:cs typeface="Arial" pitchFamily="34" charset="-120"/>
              </a:rPr>
              <a:t>u</a:t>
            </a:r>
            <a:pPr algn="l" indent="0" marL="0">
              <a:lnSpc>
                <a:spcPts val="2640"/>
              </a:lnSpc>
              <a:buNone/>
            </a:pPr>
            <a:r>
              <a:rPr lang="en-US" sz="2590" b="1" spc="-130" kern="0" dirty="0">
                <a:solidFill>
                  <a:srgbClr val="629952"/>
                </a:solidFill>
                <a:latin typeface="Arial" pitchFamily="34" charset="0"/>
                <a:ea typeface="Arial" pitchFamily="34" charset="-122"/>
                <a:cs typeface="Arial" pitchFamily="34" charset="-120"/>
              </a:rPr>
              <a:t>t</a:t>
            </a:r>
            <a:pPr algn="l" indent="0" marL="0">
              <a:lnSpc>
                <a:spcPts val="2640"/>
              </a:lnSpc>
              <a:buNone/>
            </a:pPr>
            <a:r>
              <a:rPr lang="en-US" sz="2590" b="1" spc="-130" kern="0" dirty="0">
                <a:solidFill>
                  <a:srgbClr val="71A136"/>
                </a:solidFill>
                <a:latin typeface="Arial" pitchFamily="34" charset="0"/>
                <a:ea typeface="Arial" pitchFamily="34" charset="-122"/>
                <a:cs typeface="Arial" pitchFamily="34" charset="-120"/>
              </a:rPr>
              <a:t>e</a:t>
            </a:r>
            <a:pPr algn="l" indent="0" marL="0">
              <a:lnSpc>
                <a:spcPts val="2640"/>
              </a:lnSpc>
              <a:buNone/>
            </a:pPr>
            <a:r>
              <a:rPr lang="en-US" sz="2590" b="1" spc="-130" kern="0" dirty="0">
                <a:solidFill>
                  <a:srgbClr val="7CA71F"/>
                </a:solidFill>
                <a:latin typeface="Arial" pitchFamily="34" charset="0"/>
                <a:ea typeface="Arial" pitchFamily="34" charset="-122"/>
                <a:cs typeface="Arial" pitchFamily="34" charset="-120"/>
              </a:rPr>
              <a:t>.</a:t>
            </a:r>
            <a:endParaRPr lang="en-US" sz="2590" dirty="0"/>
          </a:p>
        </p:txBody>
      </p:sp>
      <p:sp>
        <p:nvSpPr>
          <p:cNvPr id="7" name="Shape 4"/>
          <p:cNvSpPr/>
          <p:nvPr/>
        </p:nvSpPr>
        <p:spPr>
          <a:xfrm>
            <a:off x="457200" y="2280857"/>
            <a:ext cx="310896" cy="310896"/>
          </a:xfrm>
          <a:prstGeom prst="roundRect">
            <a:avLst>
              <a:gd name="adj" fmla="val 29412"/>
            </a:avLst>
          </a:prstGeom>
          <a:solidFill>
            <a:srgbClr val="2E7FB8">
              <a:alpha val="7000"/>
            </a:srgbClr>
          </a:solidFill>
          <a:ln w="9144">
            <a:solidFill>
              <a:srgbClr val="2E7FB8">
                <a:alpha val="28000"/>
              </a:srgbClr>
            </a:solidFill>
            <a:prstDash val="solid"/>
          </a:ln>
        </p:spPr>
      </p:sp>
      <p:sp>
        <p:nvSpPr>
          <p:cNvPr id="8" name="Text 5"/>
          <p:cNvSpPr txBox="1"/>
          <p:nvPr/>
        </p:nvSpPr>
        <p:spPr>
          <a:xfrm>
            <a:off x="575501" y="2280857"/>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2E7FB8"/>
                </a:solidFill>
                <a:latin typeface="Courier New" pitchFamily="34" charset="0"/>
                <a:ea typeface="Courier New" pitchFamily="34" charset="-122"/>
                <a:cs typeface="Courier New" pitchFamily="34" charset="-120"/>
              </a:rPr>
              <a:t>1</a:t>
            </a:r>
            <a:endParaRPr lang="en-US" sz="970" dirty="0"/>
          </a:p>
        </p:txBody>
      </p:sp>
      <p:sp>
        <p:nvSpPr>
          <p:cNvPr id="9" name="Text 6"/>
          <p:cNvSpPr txBox="1"/>
          <p:nvPr/>
        </p:nvSpPr>
        <p:spPr>
          <a:xfrm>
            <a:off x="877824" y="2282000"/>
            <a:ext cx="42046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Find it</a:t>
            </a:r>
            <a:endParaRPr lang="en-US" sz="990" dirty="0"/>
          </a:p>
        </p:txBody>
      </p:sp>
      <p:sp>
        <p:nvSpPr>
          <p:cNvPr id="10" name="Text 7"/>
          <p:cNvSpPr txBox="1"/>
          <p:nvPr/>
        </p:nvSpPr>
        <p:spPr>
          <a:xfrm>
            <a:off x="877824" y="2445877"/>
            <a:ext cx="2749615"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Search, or scan the barcode with your phone camera</a:t>
            </a:r>
            <a:endParaRPr lang="en-US" sz="810" dirty="0"/>
          </a:p>
        </p:txBody>
      </p:sp>
      <p:sp>
        <p:nvSpPr>
          <p:cNvPr id="11" name="Shape 8"/>
          <p:cNvSpPr/>
          <p:nvPr/>
        </p:nvSpPr>
        <p:spPr>
          <a:xfrm>
            <a:off x="457200" y="2706053"/>
            <a:ext cx="310896" cy="310896"/>
          </a:xfrm>
          <a:prstGeom prst="roundRect">
            <a:avLst>
              <a:gd name="adj" fmla="val 29412"/>
            </a:avLst>
          </a:prstGeom>
          <a:solidFill>
            <a:srgbClr val="2E7FB8">
              <a:alpha val="7000"/>
            </a:srgbClr>
          </a:solidFill>
          <a:ln w="9144">
            <a:solidFill>
              <a:srgbClr val="2E7FB8">
                <a:alpha val="28000"/>
              </a:srgbClr>
            </a:solidFill>
            <a:prstDash val="solid"/>
          </a:ln>
        </p:spPr>
      </p:sp>
      <p:sp>
        <p:nvSpPr>
          <p:cNvPr id="12" name="Text 9"/>
          <p:cNvSpPr txBox="1"/>
          <p:nvPr/>
        </p:nvSpPr>
        <p:spPr>
          <a:xfrm>
            <a:off x="575501" y="2706053"/>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2E7FB8"/>
                </a:solidFill>
                <a:latin typeface="Courier New" pitchFamily="34" charset="0"/>
                <a:ea typeface="Courier New" pitchFamily="34" charset="-122"/>
                <a:cs typeface="Courier New" pitchFamily="34" charset="-120"/>
              </a:rPr>
              <a:t>2</a:t>
            </a:r>
            <a:endParaRPr lang="en-US" sz="970" dirty="0"/>
          </a:p>
        </p:txBody>
      </p:sp>
      <p:sp>
        <p:nvSpPr>
          <p:cNvPr id="13" name="Text 10"/>
          <p:cNvSpPr txBox="1"/>
          <p:nvPr/>
        </p:nvSpPr>
        <p:spPr>
          <a:xfrm>
            <a:off x="877824" y="2707196"/>
            <a:ext cx="56002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Check it</a:t>
            </a:r>
            <a:endParaRPr lang="en-US" sz="990" dirty="0"/>
          </a:p>
        </p:txBody>
      </p:sp>
      <p:sp>
        <p:nvSpPr>
          <p:cNvPr id="14" name="Text 11"/>
          <p:cNvSpPr txBox="1"/>
          <p:nvPr/>
        </p:nvSpPr>
        <p:spPr>
          <a:xfrm>
            <a:off x="877824" y="2871073"/>
            <a:ext cx="2881474"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Calibration valid-to date and usable range on every tool</a:t>
            </a:r>
            <a:endParaRPr lang="en-US" sz="810" dirty="0"/>
          </a:p>
        </p:txBody>
      </p:sp>
      <p:sp>
        <p:nvSpPr>
          <p:cNvPr id="15" name="Shape 12"/>
          <p:cNvSpPr/>
          <p:nvPr/>
        </p:nvSpPr>
        <p:spPr>
          <a:xfrm>
            <a:off x="457200" y="3131249"/>
            <a:ext cx="310896" cy="310896"/>
          </a:xfrm>
          <a:prstGeom prst="roundRect">
            <a:avLst>
              <a:gd name="adj" fmla="val 29412"/>
            </a:avLst>
          </a:prstGeom>
          <a:solidFill>
            <a:srgbClr val="2E7FB8">
              <a:alpha val="7000"/>
            </a:srgbClr>
          </a:solidFill>
          <a:ln w="9144">
            <a:solidFill>
              <a:srgbClr val="2E7FB8">
                <a:alpha val="28000"/>
              </a:srgbClr>
            </a:solidFill>
            <a:prstDash val="solid"/>
          </a:ln>
        </p:spPr>
      </p:sp>
      <p:sp>
        <p:nvSpPr>
          <p:cNvPr id="16" name="Text 13"/>
          <p:cNvSpPr txBox="1"/>
          <p:nvPr/>
        </p:nvSpPr>
        <p:spPr>
          <a:xfrm>
            <a:off x="575501" y="3131249"/>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2E7FB8"/>
                </a:solidFill>
                <a:latin typeface="Courier New" pitchFamily="34" charset="0"/>
                <a:ea typeface="Courier New" pitchFamily="34" charset="-122"/>
                <a:cs typeface="Courier New" pitchFamily="34" charset="-120"/>
              </a:rPr>
              <a:t>3</a:t>
            </a:r>
            <a:endParaRPr lang="en-US" sz="970" dirty="0"/>
          </a:p>
        </p:txBody>
      </p:sp>
      <p:sp>
        <p:nvSpPr>
          <p:cNvPr id="17" name="Text 14"/>
          <p:cNvSpPr txBox="1"/>
          <p:nvPr/>
        </p:nvSpPr>
        <p:spPr>
          <a:xfrm>
            <a:off x="877824" y="3132392"/>
            <a:ext cx="68371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Request it</a:t>
            </a:r>
            <a:endParaRPr lang="en-US" sz="990" dirty="0"/>
          </a:p>
        </p:txBody>
      </p:sp>
      <p:sp>
        <p:nvSpPr>
          <p:cNvPr id="18" name="Text 15"/>
          <p:cNvSpPr txBox="1"/>
          <p:nvPr/>
        </p:nvSpPr>
        <p:spPr>
          <a:xfrm>
            <a:off x="877824" y="3296269"/>
            <a:ext cx="1946043"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Add to the cart and send one request</a:t>
            </a:r>
            <a:endParaRPr lang="en-US" sz="810" dirty="0"/>
          </a:p>
        </p:txBody>
      </p:sp>
      <p:sp>
        <p:nvSpPr>
          <p:cNvPr id="19" name="Shape 16"/>
          <p:cNvSpPr/>
          <p:nvPr/>
        </p:nvSpPr>
        <p:spPr>
          <a:xfrm>
            <a:off x="457200" y="3556445"/>
            <a:ext cx="310896" cy="310896"/>
          </a:xfrm>
          <a:prstGeom prst="roundRect">
            <a:avLst>
              <a:gd name="adj" fmla="val 29412"/>
            </a:avLst>
          </a:prstGeom>
          <a:solidFill>
            <a:srgbClr val="2E7FB8">
              <a:alpha val="7000"/>
            </a:srgbClr>
          </a:solidFill>
          <a:ln w="9144">
            <a:solidFill>
              <a:srgbClr val="2E7FB8">
                <a:alpha val="28000"/>
              </a:srgbClr>
            </a:solidFill>
            <a:prstDash val="solid"/>
          </a:ln>
        </p:spPr>
      </p:sp>
      <p:sp>
        <p:nvSpPr>
          <p:cNvPr id="20" name="Text 17"/>
          <p:cNvSpPr txBox="1"/>
          <p:nvPr/>
        </p:nvSpPr>
        <p:spPr>
          <a:xfrm>
            <a:off x="575501" y="3556445"/>
            <a:ext cx="99855" cy="310896"/>
          </a:xfrm>
          <a:prstGeom prst="rect">
            <a:avLst/>
          </a:prstGeom>
          <a:noFill/>
          <a:ln/>
        </p:spPr>
        <p:txBody>
          <a:bodyPr wrap="none" lIns="0" tIns="0" rIns="0" bIns="0" rtlCol="0" anchor="ctr"/>
          <a:lstStyle/>
          <a:p>
            <a:pPr algn="l" indent="0" marL="0">
              <a:lnSpc>
                <a:spcPts val="970"/>
              </a:lnSpc>
              <a:buNone/>
            </a:pPr>
            <a:r>
              <a:rPr lang="en-US" sz="970" b="1" dirty="0">
                <a:solidFill>
                  <a:srgbClr val="2E7FB8"/>
                </a:solidFill>
                <a:latin typeface="Courier New" pitchFamily="34" charset="0"/>
                <a:ea typeface="Courier New" pitchFamily="34" charset="-122"/>
                <a:cs typeface="Courier New" pitchFamily="34" charset="-120"/>
              </a:rPr>
              <a:t>4</a:t>
            </a:r>
            <a:endParaRPr lang="en-US" sz="970" dirty="0"/>
          </a:p>
        </p:txBody>
      </p:sp>
      <p:sp>
        <p:nvSpPr>
          <p:cNvPr id="21" name="Text 18"/>
          <p:cNvSpPr txBox="1"/>
          <p:nvPr/>
        </p:nvSpPr>
        <p:spPr>
          <a:xfrm>
            <a:off x="877824" y="3557588"/>
            <a:ext cx="579672"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Return it</a:t>
            </a:r>
            <a:endParaRPr lang="en-US" sz="990" dirty="0"/>
          </a:p>
        </p:txBody>
      </p:sp>
      <p:sp>
        <p:nvSpPr>
          <p:cNvPr id="22" name="Text 19"/>
          <p:cNvSpPr txBox="1"/>
          <p:nvPr/>
        </p:nvSpPr>
        <p:spPr>
          <a:xfrm>
            <a:off x="877824" y="3721465"/>
            <a:ext cx="2779319"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Overdue returns are flagged, so nothing goes missing</a:t>
            </a:r>
            <a:endParaRPr lang="en-US" sz="810" dirty="0"/>
          </a:p>
        </p:txBody>
      </p:sp>
      <p:sp>
        <p:nvSpPr>
          <p:cNvPr id="23" name="Shape 20"/>
          <p:cNvSpPr/>
          <p:nvPr/>
        </p:nvSpPr>
        <p:spPr>
          <a:xfrm>
            <a:off x="4480560" y="1234440"/>
            <a:ext cx="4206240" cy="2877645"/>
          </a:xfrm>
          <a:prstGeom prst="roundRect">
            <a:avLst>
              <a:gd name="adj" fmla="val 4449"/>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24" name="Shape 21"/>
          <p:cNvSpPr/>
          <p:nvPr/>
        </p:nvSpPr>
        <p:spPr>
          <a:xfrm>
            <a:off x="4480560" y="1234440"/>
            <a:ext cx="4206240" cy="173736"/>
          </a:xfrm>
          <a:prstGeom prst="rect">
            <a:avLst/>
          </a:prstGeom>
          <a:solidFill>
            <a:srgbClr val="F4F7FA"/>
          </a:solidFill>
          <a:ln/>
        </p:spPr>
      </p:sp>
      <p:sp>
        <p:nvSpPr>
          <p:cNvPr id="25" name="Shape 22"/>
          <p:cNvSpPr/>
          <p:nvPr/>
        </p:nvSpPr>
        <p:spPr>
          <a:xfrm>
            <a:off x="4480560" y="1403604"/>
            <a:ext cx="4206240" cy="0"/>
          </a:xfrm>
          <a:prstGeom prst="line">
            <a:avLst/>
          </a:prstGeom>
          <a:noFill/>
          <a:ln w="9144">
            <a:solidFill>
              <a:srgbClr val="062A44">
                <a:alpha val="10000"/>
              </a:srgbClr>
            </a:solidFill>
            <a:prstDash val="solid"/>
          </a:ln>
        </p:spPr>
      </p:sp>
      <p:sp>
        <p:nvSpPr>
          <p:cNvPr id="26" name="Shape 23"/>
          <p:cNvSpPr/>
          <p:nvPr/>
        </p:nvSpPr>
        <p:spPr>
          <a:xfrm>
            <a:off x="4581144" y="1288447"/>
            <a:ext cx="56579" cy="56579"/>
          </a:xfrm>
          <a:prstGeom prst="ellipse">
            <a:avLst/>
          </a:prstGeom>
          <a:solidFill>
            <a:srgbClr val="D3DCE4"/>
          </a:solidFill>
          <a:ln/>
        </p:spPr>
      </p:sp>
      <p:sp>
        <p:nvSpPr>
          <p:cNvPr id="27" name="Shape 24"/>
          <p:cNvSpPr/>
          <p:nvPr/>
        </p:nvSpPr>
        <p:spPr>
          <a:xfrm>
            <a:off x="4683443" y="1288447"/>
            <a:ext cx="56579" cy="56579"/>
          </a:xfrm>
          <a:prstGeom prst="ellipse">
            <a:avLst/>
          </a:prstGeom>
          <a:solidFill>
            <a:srgbClr val="D3DCE4"/>
          </a:solidFill>
          <a:ln/>
        </p:spPr>
      </p:sp>
      <p:sp>
        <p:nvSpPr>
          <p:cNvPr id="28" name="Shape 25"/>
          <p:cNvSpPr/>
          <p:nvPr/>
        </p:nvSpPr>
        <p:spPr>
          <a:xfrm>
            <a:off x="4785741" y="1288447"/>
            <a:ext cx="56579" cy="56579"/>
          </a:xfrm>
          <a:prstGeom prst="ellipse">
            <a:avLst/>
          </a:prstGeom>
          <a:solidFill>
            <a:srgbClr val="D3DCE4"/>
          </a:solidFill>
          <a:ln/>
        </p:spPr>
      </p:sp>
      <p:pic>
        <p:nvPicPr>
          <p:cNvPr id="29" name="Image 1" descr="Tools and Calibration list with availability and calibration status">    </p:cNvPr>
          <p:cNvPicPr>
            <a:picLocks noChangeAspect="1"/>
          </p:cNvPicPr>
          <p:nvPr/>
        </p:nvPicPr>
        <p:blipFill>
          <a:blip r:embed="rId3"/>
          <a:stretch>
            <a:fillRect/>
          </a:stretch>
        </p:blipFill>
        <p:spPr>
          <a:xfrm>
            <a:off x="4480560" y="1408176"/>
            <a:ext cx="4206240" cy="2703909"/>
          </a:xfrm>
          <a:prstGeom prst="rect">
            <a:avLst/>
          </a:prstGeom>
        </p:spPr>
      </p:pic>
      <p:sp>
        <p:nvSpPr>
          <p:cNvPr id="30" name="Gradient shape"/>
          <p:cNvSpPr/>
          <p:nvPr/>
        </p:nvSpPr>
        <p:spPr>
          <a:xfrm>
            <a:off x="3931920" y="1920240"/>
            <a:ext cx="1188720" cy="2572464"/>
          </a:xfrm>
          <a:prstGeom prst="roundRect">
            <a:avLst>
              <a:gd name="adj" fmla="val 20000"/>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62A44">
                <a:alpha val="33600"/>
              </a:srgbClr>
            </a:outerShdw>
          </a:effectLst>
        </p:spPr>
      </p:sp>
      <p:pic>
        <p:nvPicPr>
          <p:cNvPr id="31" name="Picture" descr="Tools list on a phone">    </p:cNvPr>
          <p:cNvPicPr>
            <a:picLocks noChangeAspect="1"/>
          </p:cNvPicPr>
          <p:nvPr/>
        </p:nvPicPr>
        <p:blipFill>
          <a:blip r:embed="rId4"/>
          <a:stretch>
            <a:fillRect/>
          </a:stretch>
        </p:blipFill>
        <p:spPr>
          <a:xfrm>
            <a:off x="3973068" y="1961388"/>
            <a:ext cx="1106424" cy="2490168"/>
          </a:xfrm>
          <a:prstGeom prst="roundRect">
            <a:avLst>
              <a:gd name="adj" fmla="val 18181"/>
            </a:avLst>
          </a:prstGeom>
        </p:spPr>
      </p:pic>
    </p:spTree>
  </p:cSld>
  <p:clrMapOvr>
    <a:masterClrMapping/>
  </p:clrMapOvr>
  <p:transition spd="med">
    <p:push dir="r"/>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Shape 1"/>
          <p:cNvSpPr/>
          <p:nvPr/>
        </p:nvSpPr>
        <p:spPr>
          <a:xfrm>
            <a:off x="457200" y="1371600"/>
            <a:ext cx="4297680" cy="2083689"/>
          </a:xfrm>
          <a:prstGeom prst="roundRect">
            <a:avLst>
              <a:gd name="adj" fmla="val 6144"/>
            </a:avLst>
          </a:prstGeom>
          <a:solidFill>
            <a:srgbClr val="FFFFFF"/>
          </a:solidFill>
          <a:ln w="9144">
            <a:solidFill>
              <a:srgbClr val="062A44">
                <a:alpha val="10000"/>
              </a:srgbClr>
            </a:solidFill>
            <a:prstDash val="solid"/>
          </a:ln>
          <a:effectLst>
            <a:outerShdw sx="100000" sy="100000" kx="0" ky="0" algn="bl" rotWithShape="0" blurRad="457200" dist="182880" dir="5400000">
              <a:srgbClr val="062A44">
                <a:alpha val="14400"/>
              </a:srgbClr>
            </a:outerShdw>
          </a:effectLst>
        </p:spPr>
      </p:sp>
      <p:sp>
        <p:nvSpPr>
          <p:cNvPr id="5" name="Shape 2"/>
          <p:cNvSpPr/>
          <p:nvPr/>
        </p:nvSpPr>
        <p:spPr>
          <a:xfrm>
            <a:off x="457200" y="1371600"/>
            <a:ext cx="4297680" cy="173736"/>
          </a:xfrm>
          <a:prstGeom prst="rect">
            <a:avLst/>
          </a:prstGeom>
          <a:solidFill>
            <a:srgbClr val="F4F7FA"/>
          </a:solidFill>
          <a:ln/>
        </p:spPr>
      </p:sp>
      <p:sp>
        <p:nvSpPr>
          <p:cNvPr id="6" name="Shape 3"/>
          <p:cNvSpPr/>
          <p:nvPr/>
        </p:nvSpPr>
        <p:spPr>
          <a:xfrm>
            <a:off x="457200" y="1540764"/>
            <a:ext cx="4297680" cy="0"/>
          </a:xfrm>
          <a:prstGeom prst="line">
            <a:avLst/>
          </a:prstGeom>
          <a:noFill/>
          <a:ln w="9144">
            <a:solidFill>
              <a:srgbClr val="062A44">
                <a:alpha val="10000"/>
              </a:srgbClr>
            </a:solidFill>
            <a:prstDash val="solid"/>
          </a:ln>
        </p:spPr>
      </p:sp>
      <p:sp>
        <p:nvSpPr>
          <p:cNvPr id="7" name="Shape 4"/>
          <p:cNvSpPr/>
          <p:nvPr/>
        </p:nvSpPr>
        <p:spPr>
          <a:xfrm>
            <a:off x="557784" y="1425607"/>
            <a:ext cx="56579" cy="56579"/>
          </a:xfrm>
          <a:prstGeom prst="ellipse">
            <a:avLst/>
          </a:prstGeom>
          <a:solidFill>
            <a:srgbClr val="D3DCE4"/>
          </a:solidFill>
          <a:ln/>
        </p:spPr>
      </p:sp>
      <p:sp>
        <p:nvSpPr>
          <p:cNvPr id="8" name="Shape 5"/>
          <p:cNvSpPr/>
          <p:nvPr/>
        </p:nvSpPr>
        <p:spPr>
          <a:xfrm>
            <a:off x="660083" y="1425607"/>
            <a:ext cx="56579" cy="56579"/>
          </a:xfrm>
          <a:prstGeom prst="ellipse">
            <a:avLst/>
          </a:prstGeom>
          <a:solidFill>
            <a:srgbClr val="D3DCE4"/>
          </a:solidFill>
          <a:ln/>
        </p:spPr>
      </p:sp>
      <p:sp>
        <p:nvSpPr>
          <p:cNvPr id="9" name="Shape 6"/>
          <p:cNvSpPr/>
          <p:nvPr/>
        </p:nvSpPr>
        <p:spPr>
          <a:xfrm>
            <a:off x="762381" y="1425607"/>
            <a:ext cx="56579" cy="56579"/>
          </a:xfrm>
          <a:prstGeom prst="ellipse">
            <a:avLst/>
          </a:prstGeom>
          <a:solidFill>
            <a:srgbClr val="D3DCE4"/>
          </a:solidFill>
          <a:ln/>
        </p:spPr>
      </p:sp>
      <p:pic>
        <p:nvPicPr>
          <p:cNvPr id="10" name="Image 1" descr="Customer Parts list with OK, NG, Sorting and Hold per part">    </p:cNvPr>
          <p:cNvPicPr>
            <a:picLocks noChangeAspect="1"/>
          </p:cNvPicPr>
          <p:nvPr/>
        </p:nvPicPr>
        <p:blipFill>
          <a:blip r:embed="rId3"/>
          <a:stretch>
            <a:fillRect/>
          </a:stretch>
        </p:blipFill>
        <p:spPr>
          <a:xfrm>
            <a:off x="457200" y="1545336"/>
            <a:ext cx="4297680" cy="1909953"/>
          </a:xfrm>
          <a:prstGeom prst="rect">
            <a:avLst/>
          </a:prstGeom>
        </p:spPr>
      </p:pic>
      <p:sp>
        <p:nvSpPr>
          <p:cNvPr id="11" name="Gradient shape"/>
          <p:cNvSpPr/>
          <p:nvPr/>
        </p:nvSpPr>
        <p:spPr>
          <a:xfrm>
            <a:off x="4023360" y="1828800"/>
            <a:ext cx="1188720" cy="2572464"/>
          </a:xfrm>
          <a:prstGeom prst="roundRect">
            <a:avLst>
              <a:gd name="adj" fmla="val 20000"/>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62A44">
                <a:alpha val="33600"/>
              </a:srgbClr>
            </a:outerShdw>
          </a:effectLst>
        </p:spPr>
      </p:sp>
      <p:pic>
        <p:nvPicPr>
          <p:cNvPr id="12" name="Picture" descr="An inbound delivery waiting to be confirmed, on a phone">    </p:cNvPr>
          <p:cNvPicPr>
            <a:picLocks noChangeAspect="1"/>
          </p:cNvPicPr>
          <p:nvPr/>
        </p:nvPicPr>
        <p:blipFill>
          <a:blip r:embed="rId4"/>
          <a:stretch>
            <a:fillRect/>
          </a:stretch>
        </p:blipFill>
        <p:spPr>
          <a:xfrm>
            <a:off x="4064508" y="1869948"/>
            <a:ext cx="1106424" cy="2490168"/>
          </a:xfrm>
          <a:prstGeom prst="roundRect">
            <a:avLst>
              <a:gd name="adj" fmla="val 18181"/>
            </a:avLst>
          </a:prstGeom>
        </p:spPr>
      </p:pic>
      <p:sp>
        <p:nvSpPr>
          <p:cNvPr id="13" name="Text 8"/>
          <p:cNvSpPr txBox="1"/>
          <p:nvPr/>
        </p:nvSpPr>
        <p:spPr>
          <a:xfrm>
            <a:off x="5779008" y="1188720"/>
            <a:ext cx="1470784"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INVENTORY &amp; QUALITY</a:t>
            </a:r>
            <a:endParaRPr lang="en-US" sz="720" dirty="0"/>
          </a:p>
        </p:txBody>
      </p:sp>
      <p:sp>
        <p:nvSpPr>
          <p:cNvPr id="14" name="Gradient shape"/>
          <p:cNvSpPr/>
          <p:nvPr/>
        </p:nvSpPr>
        <p:spPr>
          <a:xfrm>
            <a:off x="5486400" y="122438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15" name="Text 10"/>
          <p:cNvSpPr txBox="1"/>
          <p:nvPr/>
        </p:nvSpPr>
        <p:spPr>
          <a:xfrm>
            <a:off x="5486400" y="1426464"/>
            <a:ext cx="2330986" cy="750585"/>
          </a:xfrm>
          <a:prstGeom prst="rect">
            <a:avLst/>
          </a:prstGeom>
          <a:noFill/>
          <a:ln/>
        </p:spPr>
        <p:txBody>
          <a:bodyPr wrap="square" lIns="0" tIns="0" rIns="0" bIns="0" rtlCol="0" anchor="t"/>
          <a:lstStyle/>
          <a:p>
            <a:pPr algn="l" indent="0" marL="0">
              <a:lnSpc>
                <a:spcPts val="2570"/>
              </a:lnSpc>
              <a:buNone/>
            </a:pPr>
            <a:r>
              <a:rPr lang="en-US" sz="2520" spc="-126" kern="0" dirty="0">
                <a:solidFill>
                  <a:srgbClr val="062A44"/>
                </a:solidFill>
                <a:latin typeface="Arial" pitchFamily="34" charset="0"/>
                <a:ea typeface="Arial" pitchFamily="34" charset="-122"/>
                <a:cs typeface="Arial" pitchFamily="34" charset="-120"/>
              </a:rPr>
              <a:t>Customer</a:t>
            </a:r>
            <a:endParaRPr lang="en-US" sz="2520" dirty="0"/>
          </a:p>
          <a:p>
            <a:pPr algn="l" indent="0" marL="0">
              <a:lnSpc>
                <a:spcPts val="2570"/>
              </a:lnSpc>
              <a:buNone/>
            </a:pPr>
            <a:r>
              <a:rPr lang="en-US" sz="2520" spc="-126" kern="0" dirty="0">
                <a:solidFill>
                  <a:srgbClr val="062A44"/>
                </a:solidFill>
                <a:latin typeface="Arial" pitchFamily="34" charset="0"/>
                <a:ea typeface="Arial" pitchFamily="34" charset="-122"/>
                <a:cs typeface="Arial" pitchFamily="34" charset="-120"/>
              </a:rPr>
              <a:t>parts,</a:t>
            </a:r>
            <a:pPr algn="l" indent="0" marL="0">
              <a:lnSpc>
                <a:spcPts val="2570"/>
              </a:lnSpc>
              <a:buNone/>
            </a:pPr>
            <a:r>
              <a:rPr lang="en-US" sz="2520" b="1" spc="-126" kern="0" dirty="0">
                <a:solidFill>
                  <a:srgbClr val="0D3E62"/>
                </a:solidFill>
                <a:latin typeface="Arial" pitchFamily="34" charset="0"/>
                <a:ea typeface="Arial" pitchFamily="34" charset="-122"/>
                <a:cs typeface="Arial" pitchFamily="34" charset="-120"/>
              </a:rPr>
              <a:t> l</a:t>
            </a:r>
            <a:pPr algn="l" indent="0" marL="0">
              <a:lnSpc>
                <a:spcPts val="2570"/>
              </a:lnSpc>
              <a:buNone/>
            </a:pPr>
            <a:r>
              <a:rPr lang="en-US" sz="2520" b="1" spc="-126" kern="0" dirty="0">
                <a:solidFill>
                  <a:srgbClr val="144C75"/>
                </a:solidFill>
                <a:latin typeface="Arial" pitchFamily="34" charset="0"/>
                <a:ea typeface="Arial" pitchFamily="34" charset="-122"/>
                <a:cs typeface="Arial" pitchFamily="34" charset="-120"/>
              </a:rPr>
              <a:t>o</a:t>
            </a:r>
            <a:pPr algn="l" indent="0" marL="0">
              <a:lnSpc>
                <a:spcPts val="2570"/>
              </a:lnSpc>
              <a:buNone/>
            </a:pPr>
            <a:r>
              <a:rPr lang="en-US" sz="2520" b="1" spc="-126" kern="0" dirty="0">
                <a:solidFill>
                  <a:srgbClr val="1D5D8B"/>
                </a:solidFill>
                <a:latin typeface="Arial" pitchFamily="34" charset="0"/>
                <a:ea typeface="Arial" pitchFamily="34" charset="-122"/>
                <a:cs typeface="Arial" pitchFamily="34" charset="-120"/>
              </a:rPr>
              <a:t>t</a:t>
            </a:r>
            <a:pPr algn="l" indent="0" marL="0">
              <a:lnSpc>
                <a:spcPts val="2570"/>
              </a:lnSpc>
              <a:buNone/>
            </a:pPr>
            <a:r>
              <a:rPr lang="en-US" sz="2520" b="1" spc="-126" kern="0" dirty="0">
                <a:solidFill>
                  <a:srgbClr val="2975AA"/>
                </a:solidFill>
                <a:latin typeface="Arial" pitchFamily="34" charset="0"/>
                <a:ea typeface="Arial" pitchFamily="34" charset="-122"/>
                <a:cs typeface="Arial" pitchFamily="34" charset="-120"/>
              </a:rPr>
              <a:t> b</a:t>
            </a:r>
            <a:pPr algn="l" indent="0" marL="0">
              <a:lnSpc>
                <a:spcPts val="2570"/>
              </a:lnSpc>
              <a:buNone/>
            </a:pPr>
            <a:r>
              <a:rPr lang="en-US" sz="2520" b="1" spc="-126" kern="0" dirty="0">
                <a:solidFill>
                  <a:srgbClr val="3884A5"/>
                </a:solidFill>
                <a:latin typeface="Arial" pitchFamily="34" charset="0"/>
                <a:ea typeface="Arial" pitchFamily="34" charset="-122"/>
                <a:cs typeface="Arial" pitchFamily="34" charset="-120"/>
              </a:rPr>
              <a:t>y</a:t>
            </a:r>
            <a:pPr algn="l" indent="0" marL="0">
              <a:lnSpc>
                <a:spcPts val="2570"/>
              </a:lnSpc>
              <a:buNone/>
            </a:pPr>
            <a:r>
              <a:rPr lang="en-US" sz="2520" b="1" spc="-126" kern="0" dirty="0">
                <a:solidFill>
                  <a:srgbClr val="4E8F79"/>
                </a:solidFill>
                <a:latin typeface="Arial" pitchFamily="34" charset="0"/>
                <a:ea typeface="Arial" pitchFamily="34" charset="-122"/>
                <a:cs typeface="Arial" pitchFamily="34" charset="-120"/>
              </a:rPr>
              <a:t> l</a:t>
            </a:r>
            <a:pPr algn="l" indent="0" marL="0">
              <a:lnSpc>
                <a:spcPts val="2570"/>
              </a:lnSpc>
              <a:buNone/>
            </a:pPr>
            <a:r>
              <a:rPr lang="en-US" sz="2520" b="1" spc="-126" kern="0" dirty="0">
                <a:solidFill>
                  <a:srgbClr val="5D975B"/>
                </a:solidFill>
                <a:latin typeface="Arial" pitchFamily="34" charset="0"/>
                <a:ea typeface="Arial" pitchFamily="34" charset="-122"/>
                <a:cs typeface="Arial" pitchFamily="34" charset="-120"/>
              </a:rPr>
              <a:t>o</a:t>
            </a:r>
            <a:pPr algn="l" indent="0" marL="0">
              <a:lnSpc>
                <a:spcPts val="2570"/>
              </a:lnSpc>
              <a:buNone/>
            </a:pPr>
            <a:r>
              <a:rPr lang="en-US" sz="2520" b="1" spc="-126" kern="0" dirty="0">
                <a:solidFill>
                  <a:srgbClr val="70A037"/>
                </a:solidFill>
                <a:latin typeface="Arial" pitchFamily="34" charset="0"/>
                <a:ea typeface="Arial" pitchFamily="34" charset="-122"/>
                <a:cs typeface="Arial" pitchFamily="34" charset="-120"/>
              </a:rPr>
              <a:t>t</a:t>
            </a:r>
            <a:pPr algn="l" indent="0" marL="0">
              <a:lnSpc>
                <a:spcPts val="2570"/>
              </a:lnSpc>
              <a:buNone/>
            </a:pPr>
            <a:r>
              <a:rPr lang="en-US" sz="2520" b="1" spc="-126" kern="0" dirty="0">
                <a:solidFill>
                  <a:srgbClr val="7CA621"/>
                </a:solidFill>
                <a:latin typeface="Arial" pitchFamily="34" charset="0"/>
                <a:ea typeface="Arial" pitchFamily="34" charset="-122"/>
                <a:cs typeface="Arial" pitchFamily="34" charset="-120"/>
              </a:rPr>
              <a:t>.</a:t>
            </a:r>
            <a:endParaRPr lang="en-US" sz="2520" dirty="0"/>
          </a:p>
        </p:txBody>
      </p:sp>
      <p:sp>
        <p:nvSpPr>
          <p:cNvPr id="16" name="Shape 11"/>
          <p:cNvSpPr/>
          <p:nvPr/>
        </p:nvSpPr>
        <p:spPr>
          <a:xfrm>
            <a:off x="5486400" y="2261997"/>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17" name="Image 3" descr="Icon: fact check">    </p:cNvPr>
          <p:cNvPicPr>
            <a:picLocks noChangeAspect="1"/>
          </p:cNvPicPr>
          <p:nvPr/>
        </p:nvPicPr>
        <p:blipFill>
          <a:blip r:embed="rId5"/>
          <a:stretch>
            <a:fillRect/>
          </a:stretch>
        </p:blipFill>
        <p:spPr>
          <a:xfrm>
            <a:off x="5486400" y="2261997"/>
            <a:ext cx="310896" cy="310896"/>
          </a:xfrm>
          <a:prstGeom prst="rect">
            <a:avLst/>
          </a:prstGeom>
        </p:spPr>
      </p:pic>
      <p:sp>
        <p:nvSpPr>
          <p:cNvPr id="18" name="Text 12"/>
          <p:cNvSpPr txBox="1"/>
          <p:nvPr/>
        </p:nvSpPr>
        <p:spPr>
          <a:xfrm>
            <a:off x="5907024" y="2263140"/>
            <a:ext cx="1604686"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Inspection status per lot</a:t>
            </a:r>
            <a:endParaRPr lang="en-US" sz="990" dirty="0"/>
          </a:p>
        </p:txBody>
      </p:sp>
      <p:sp>
        <p:nvSpPr>
          <p:cNvPr id="19" name="Text 13"/>
          <p:cNvSpPr txBox="1"/>
          <p:nvPr/>
        </p:nvSpPr>
        <p:spPr>
          <a:xfrm>
            <a:off x="5907024" y="2427018"/>
            <a:ext cx="2697280"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OK, NG, Sorting and Hold, with the total and the lots</a:t>
            </a:r>
            <a:endParaRPr lang="en-US" sz="810" dirty="0"/>
          </a:p>
        </p:txBody>
      </p:sp>
      <p:sp>
        <p:nvSpPr>
          <p:cNvPr id="20" name="Shape 14"/>
          <p:cNvSpPr/>
          <p:nvPr/>
        </p:nvSpPr>
        <p:spPr>
          <a:xfrm>
            <a:off x="5486400" y="2687193"/>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21" name="Image 4" descr="Icon: hourglass bottom">    </p:cNvPr>
          <p:cNvPicPr>
            <a:picLocks noChangeAspect="1"/>
          </p:cNvPicPr>
          <p:nvPr/>
        </p:nvPicPr>
        <p:blipFill>
          <a:blip r:embed="rId6"/>
          <a:stretch>
            <a:fillRect/>
          </a:stretch>
        </p:blipFill>
        <p:spPr>
          <a:xfrm>
            <a:off x="5486400" y="2687193"/>
            <a:ext cx="310896" cy="310896"/>
          </a:xfrm>
          <a:prstGeom prst="rect">
            <a:avLst/>
          </a:prstGeom>
        </p:spPr>
      </p:pic>
      <p:sp>
        <p:nvSpPr>
          <p:cNvPr id="22" name="Text 15"/>
          <p:cNvSpPr txBox="1"/>
          <p:nvPr/>
        </p:nvSpPr>
        <p:spPr>
          <a:xfrm>
            <a:off x="5907024" y="2688336"/>
            <a:ext cx="127087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Aged parts flagged</a:t>
            </a:r>
            <a:endParaRPr lang="en-US" sz="990" dirty="0"/>
          </a:p>
        </p:txBody>
      </p:sp>
      <p:sp>
        <p:nvSpPr>
          <p:cNvPr id="23" name="Text 16"/>
          <p:cNvSpPr txBox="1"/>
          <p:nvPr/>
        </p:nvSpPr>
        <p:spPr>
          <a:xfrm>
            <a:off x="5907024" y="2852214"/>
            <a:ext cx="2518272"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Amber past the aged threshold, red past twice it</a:t>
            </a:r>
            <a:endParaRPr lang="en-US" sz="810" dirty="0"/>
          </a:p>
        </p:txBody>
      </p:sp>
      <p:sp>
        <p:nvSpPr>
          <p:cNvPr id="24" name="Shape 17"/>
          <p:cNvSpPr/>
          <p:nvPr/>
        </p:nvSpPr>
        <p:spPr>
          <a:xfrm>
            <a:off x="5486400" y="3183398"/>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25" name="Image 5" descr="Icon: local shipping">    </p:cNvPr>
          <p:cNvPicPr>
            <a:picLocks noChangeAspect="1"/>
          </p:cNvPicPr>
          <p:nvPr/>
        </p:nvPicPr>
        <p:blipFill>
          <a:blip r:embed="rId7"/>
          <a:stretch>
            <a:fillRect/>
          </a:stretch>
        </p:blipFill>
        <p:spPr>
          <a:xfrm>
            <a:off x="5486400" y="3183398"/>
            <a:ext cx="310896" cy="310896"/>
          </a:xfrm>
          <a:prstGeom prst="rect">
            <a:avLst/>
          </a:prstGeom>
        </p:spPr>
      </p:pic>
      <p:sp>
        <p:nvSpPr>
          <p:cNvPr id="26" name="Text 18"/>
          <p:cNvSpPr txBox="1"/>
          <p:nvPr/>
        </p:nvSpPr>
        <p:spPr>
          <a:xfrm>
            <a:off x="5907024" y="3112389"/>
            <a:ext cx="133955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Deliveries in and out</a:t>
            </a:r>
            <a:endParaRPr lang="en-US" sz="990" dirty="0"/>
          </a:p>
        </p:txBody>
      </p:sp>
      <p:sp>
        <p:nvSpPr>
          <p:cNvPr id="27" name="Text 19"/>
          <p:cNvSpPr txBox="1"/>
          <p:nvPr/>
        </p:nvSpPr>
        <p:spPr>
          <a:xfrm>
            <a:off x="5907024" y="3276267"/>
            <a:ext cx="3050090" cy="332576"/>
          </a:xfrm>
          <a:prstGeom prst="rect">
            <a:avLst/>
          </a:prstGeom>
          <a:noFill/>
          <a:ln/>
        </p:spPr>
        <p:txBody>
          <a:bodyPr wrap="squar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Several parts on one Asset In-Out Form; booked stock is</a:t>
            </a:r>
            <a:endParaRPr lang="en-US" sz="810" dirty="0"/>
          </a:p>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reserved</a:t>
            </a:r>
            <a:endParaRPr lang="en-US" sz="810" dirty="0"/>
          </a:p>
        </p:txBody>
      </p:sp>
      <p:sp>
        <p:nvSpPr>
          <p:cNvPr id="28" name="Shape 20"/>
          <p:cNvSpPr/>
          <p:nvPr/>
        </p:nvSpPr>
        <p:spPr>
          <a:xfrm>
            <a:off x="5486400" y="3679746"/>
            <a:ext cx="310896" cy="310896"/>
          </a:xfrm>
          <a:prstGeom prst="roundRect">
            <a:avLst>
              <a:gd name="adj" fmla="val 29412"/>
            </a:avLst>
          </a:prstGeom>
          <a:solidFill>
            <a:srgbClr val="2E7FB8">
              <a:alpha val="7000"/>
            </a:srgbClr>
          </a:solidFill>
          <a:ln w="9144">
            <a:solidFill>
              <a:srgbClr val="2E7FB8">
                <a:alpha val="28000"/>
              </a:srgbClr>
            </a:solidFill>
            <a:prstDash val="solid"/>
          </a:ln>
        </p:spPr>
      </p:sp>
      <p:pic>
        <p:nvPicPr>
          <p:cNvPr id="29" name="Image 6" descr="Icon: done all">    </p:cNvPr>
          <p:cNvPicPr>
            <a:picLocks noChangeAspect="1"/>
          </p:cNvPicPr>
          <p:nvPr/>
        </p:nvPicPr>
        <p:blipFill>
          <a:blip r:embed="rId8"/>
          <a:stretch>
            <a:fillRect/>
          </a:stretch>
        </p:blipFill>
        <p:spPr>
          <a:xfrm>
            <a:off x="5486400" y="3679746"/>
            <a:ext cx="310896" cy="310896"/>
          </a:xfrm>
          <a:prstGeom prst="rect">
            <a:avLst/>
          </a:prstGeom>
        </p:spPr>
      </p:pic>
      <p:sp>
        <p:nvSpPr>
          <p:cNvPr id="30" name="Text 21"/>
          <p:cNvSpPr txBox="1"/>
          <p:nvPr/>
        </p:nvSpPr>
        <p:spPr>
          <a:xfrm>
            <a:off x="5907024" y="3680889"/>
            <a:ext cx="1773636"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62A44"/>
                </a:solidFill>
                <a:latin typeface="Arial" pitchFamily="34" charset="0"/>
                <a:ea typeface="Arial" pitchFamily="34" charset="-122"/>
                <a:cs typeface="Arial" pitchFamily="34" charset="-120"/>
              </a:rPr>
              <a:t>Confirm what really arrived</a:t>
            </a:r>
            <a:endParaRPr lang="en-US" sz="990" dirty="0"/>
          </a:p>
        </p:txBody>
      </p:sp>
      <p:sp>
        <p:nvSpPr>
          <p:cNvPr id="31" name="Text 22"/>
          <p:cNvSpPr txBox="1"/>
          <p:nvPr/>
        </p:nvSpPr>
        <p:spPr>
          <a:xfrm>
            <a:off x="5907024" y="3844766"/>
            <a:ext cx="2890590" cy="187987"/>
          </a:xfrm>
          <a:prstGeom prst="rect">
            <a:avLst/>
          </a:prstGeom>
          <a:noFill/>
          <a:ln/>
        </p:spPr>
        <p:txBody>
          <a:bodyPr wrap="none" lIns="0" tIns="0" rIns="0" bIns="0" rtlCol="0" anchor="t"/>
          <a:lstStyle/>
          <a:p>
            <a:pPr algn="l" indent="0" marL="0">
              <a:lnSpc>
                <a:spcPts val="1140"/>
              </a:lnSpc>
              <a:buNone/>
            </a:pPr>
            <a:r>
              <a:rPr lang="en-US" sz="810" dirty="0">
                <a:solidFill>
                  <a:srgbClr val="5A6E7E"/>
                </a:solidFill>
                <a:latin typeface="Arial" pitchFamily="34" charset="0"/>
                <a:ea typeface="Arial" pitchFamily="34" charset="-122"/>
                <a:cs typeface="Arial" pitchFamily="34" charset="-120"/>
              </a:rPr>
              <a:t>Actual quantities per line; any difference goes in the log</a:t>
            </a:r>
            <a:endParaRPr lang="en-US" sz="810" dirty="0"/>
          </a:p>
        </p:txBody>
      </p:sp>
    </p:spTree>
  </p:cSld>
  <p:clrMapOvr>
    <a:masterClrMapping/>
  </p:clrMapOvr>
  <p:transition spd="med">
    <p:push dir="r"/>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265176"/>
            <a:ext cx="1347597" cy="493776"/>
          </a:xfrm>
          <a:prstGeom prst="rect">
            <a:avLst/>
          </a:prstGeom>
        </p:spPr>
      </p:pic>
      <p:sp>
        <p:nvSpPr>
          <p:cNvPr id="3" name="Shape 0"/>
          <p:cNvSpPr/>
          <p:nvPr/>
        </p:nvSpPr>
        <p:spPr>
          <a:xfrm>
            <a:off x="457200" y="914400"/>
            <a:ext cx="8229600" cy="9144"/>
          </a:xfrm>
          <a:prstGeom prst="rect">
            <a:avLst/>
          </a:prstGeom>
          <a:solidFill>
            <a:srgbClr val="062A44">
              <a:alpha val="10000"/>
            </a:srgbClr>
          </a:solidFill>
          <a:ln/>
        </p:spPr>
      </p:sp>
      <p:sp>
        <p:nvSpPr>
          <p:cNvPr id="4" name="Text 1"/>
          <p:cNvSpPr txBox="1"/>
          <p:nvPr/>
        </p:nvSpPr>
        <p:spPr>
          <a:xfrm>
            <a:off x="749808" y="1188720"/>
            <a:ext cx="1012184" cy="91440"/>
          </a:xfrm>
          <a:prstGeom prst="rect">
            <a:avLst/>
          </a:prstGeom>
          <a:noFill/>
          <a:ln/>
        </p:spPr>
        <p:txBody>
          <a:bodyPr wrap="none" lIns="0" tIns="0" rIns="0" bIns="0" rtlCol="0" anchor="ctr"/>
          <a:lstStyle/>
          <a:p>
            <a:pPr algn="l" indent="0" marL="0">
              <a:lnSpc>
                <a:spcPts val="720"/>
              </a:lnSpc>
              <a:buNone/>
            </a:pPr>
            <a:r>
              <a:rPr lang="en-US" sz="720" spc="115" kern="0" dirty="0">
                <a:solidFill>
                  <a:srgbClr val="5A6E7E"/>
                </a:solidFill>
                <a:latin typeface="Courier New" pitchFamily="34" charset="0"/>
                <a:ea typeface="Courier New" pitchFamily="34" charset="-122"/>
                <a:cs typeface="Courier New" pitchFamily="34" charset="-120"/>
              </a:rPr>
              <a:t>ON YOUR PHONE</a:t>
            </a:r>
            <a:endParaRPr lang="en-US" sz="720" dirty="0"/>
          </a:p>
        </p:txBody>
      </p:sp>
      <p:sp>
        <p:nvSpPr>
          <p:cNvPr id="5" name="Gradient shape"/>
          <p:cNvSpPr/>
          <p:nvPr/>
        </p:nvSpPr>
        <p:spPr>
          <a:xfrm>
            <a:off x="457200" y="1224382"/>
            <a:ext cx="219456" cy="20117"/>
          </a:xfrm>
          <a:prstGeom prst="roundRect">
            <a:avLst>
              <a:gd name="adj" fmla="val 50000"/>
            </a:avLst>
          </a:prstGeom>
          <a:gradFill rotWithShape="1">
            <a:gsLst>
              <a:gs pos="0">
                <a:srgbClr val="0B3A5C"/>
              </a:gs>
              <a:gs pos="48000">
                <a:srgbClr val="2E7FB8"/>
              </a:gs>
              <a:gs pos="100000">
                <a:srgbClr val="7FA81A"/>
              </a:gs>
            </a:gsLst>
            <a:lin ang="300000" scaled="0"/>
          </a:gradFill>
          <a:ln/>
        </p:spPr>
      </p:sp>
      <p:sp>
        <p:nvSpPr>
          <p:cNvPr id="6" name="Text 3"/>
          <p:cNvSpPr txBox="1"/>
          <p:nvPr/>
        </p:nvSpPr>
        <p:spPr>
          <a:xfrm>
            <a:off x="457200" y="1444752"/>
            <a:ext cx="2782971" cy="943789"/>
          </a:xfrm>
          <a:prstGeom prst="rect">
            <a:avLst/>
          </a:prstGeom>
          <a:noFill/>
          <a:ln/>
        </p:spPr>
        <p:txBody>
          <a:bodyPr wrap="square" lIns="0" tIns="0" rIns="0" bIns="0" rtlCol="0" anchor="t"/>
          <a:lstStyle/>
          <a:p>
            <a:pPr algn="l" indent="0" marL="0">
              <a:lnSpc>
                <a:spcPts val="3230"/>
              </a:lnSpc>
              <a:buNone/>
            </a:pPr>
            <a:r>
              <a:rPr lang="en-US" sz="3170" spc="-158" kern="0" dirty="0">
                <a:solidFill>
                  <a:srgbClr val="062A44"/>
                </a:solidFill>
                <a:latin typeface="Arial" pitchFamily="34" charset="0"/>
                <a:ea typeface="Arial" pitchFamily="34" charset="-122"/>
                <a:cs typeface="Arial" pitchFamily="34" charset="-120"/>
              </a:rPr>
              <a:t>Both apps fit in</a:t>
            </a:r>
            <a:endParaRPr lang="en-US" sz="3170" dirty="0"/>
          </a:p>
          <a:p>
            <a:pPr algn="l" indent="0" marL="0">
              <a:lnSpc>
                <a:spcPts val="3230"/>
              </a:lnSpc>
              <a:buNone/>
            </a:pPr>
            <a:r>
              <a:rPr lang="en-US" sz="3170" b="1" spc="-158" kern="0" dirty="0">
                <a:solidFill>
                  <a:srgbClr val="0E4165"/>
                </a:solidFill>
                <a:latin typeface="Arial" pitchFamily="34" charset="0"/>
                <a:ea typeface="Arial" pitchFamily="34" charset="-122"/>
                <a:cs typeface="Arial" pitchFamily="34" charset="-120"/>
              </a:rPr>
              <a:t>y</a:t>
            </a:r>
            <a:pPr algn="l" indent="0" marL="0">
              <a:lnSpc>
                <a:spcPts val="3230"/>
              </a:lnSpc>
              <a:buNone/>
            </a:pPr>
            <a:r>
              <a:rPr lang="en-US" sz="3170" b="1" spc="-158" kern="0" dirty="0">
                <a:solidFill>
                  <a:srgbClr val="154E77"/>
                </a:solidFill>
                <a:latin typeface="Arial" pitchFamily="34" charset="0"/>
                <a:ea typeface="Arial" pitchFamily="34" charset="-122"/>
                <a:cs typeface="Arial" pitchFamily="34" charset="-120"/>
              </a:rPr>
              <a:t>o</a:t>
            </a:r>
            <a:pPr algn="l" indent="0" marL="0">
              <a:lnSpc>
                <a:spcPts val="3230"/>
              </a:lnSpc>
              <a:buNone/>
            </a:pPr>
            <a:r>
              <a:rPr lang="en-US" sz="3170" b="1" spc="-158" kern="0" dirty="0">
                <a:solidFill>
                  <a:srgbClr val="1D5D8B"/>
                </a:solidFill>
                <a:latin typeface="Arial" pitchFamily="34" charset="0"/>
                <a:ea typeface="Arial" pitchFamily="34" charset="-122"/>
                <a:cs typeface="Arial" pitchFamily="34" charset="-120"/>
              </a:rPr>
              <a:t>u</a:t>
            </a:r>
            <a:pPr algn="l" indent="0" marL="0">
              <a:lnSpc>
                <a:spcPts val="3230"/>
              </a:lnSpc>
              <a:buNone/>
            </a:pPr>
            <a:r>
              <a:rPr lang="en-US" sz="3170" b="1" spc="-158" kern="0" dirty="0">
                <a:solidFill>
                  <a:srgbClr val="23699B"/>
                </a:solidFill>
                <a:latin typeface="Arial" pitchFamily="34" charset="0"/>
                <a:ea typeface="Arial" pitchFamily="34" charset="-122"/>
                <a:cs typeface="Arial" pitchFamily="34" charset="-120"/>
              </a:rPr>
              <a:t>r</a:t>
            </a:r>
            <a:pPr algn="l" indent="0" marL="0">
              <a:lnSpc>
                <a:spcPts val="3230"/>
              </a:lnSpc>
              <a:buNone/>
            </a:pPr>
            <a:r>
              <a:rPr lang="en-US" sz="3170" b="1" spc="-158" kern="0" dirty="0">
                <a:solidFill>
                  <a:srgbClr val="2C7BB2"/>
                </a:solidFill>
                <a:latin typeface="Arial" pitchFamily="34" charset="0"/>
                <a:ea typeface="Arial" pitchFamily="34" charset="-122"/>
                <a:cs typeface="Arial" pitchFamily="34" charset="-120"/>
              </a:rPr>
              <a:t> p</a:t>
            </a:r>
            <a:pPr algn="l" indent="0" marL="0">
              <a:lnSpc>
                <a:spcPts val="3230"/>
              </a:lnSpc>
              <a:buNone/>
            </a:pPr>
            <a:r>
              <a:rPr lang="en-US" sz="3170" b="1" spc="-158" kern="0" dirty="0">
                <a:solidFill>
                  <a:srgbClr val="3985A2"/>
                </a:solidFill>
                <a:latin typeface="Arial" pitchFamily="34" charset="0"/>
                <a:ea typeface="Arial" pitchFamily="34" charset="-122"/>
                <a:cs typeface="Arial" pitchFamily="34" charset="-120"/>
              </a:rPr>
              <a:t>o</a:t>
            </a:r>
            <a:pPr algn="l" indent="0" marL="0">
              <a:lnSpc>
                <a:spcPts val="3230"/>
              </a:lnSpc>
              <a:buNone/>
            </a:pPr>
            <a:r>
              <a:rPr lang="en-US" sz="3170" b="1" spc="-158" kern="0" dirty="0">
                <a:solidFill>
                  <a:srgbClr val="498D84"/>
                </a:solidFill>
                <a:latin typeface="Arial" pitchFamily="34" charset="0"/>
                <a:ea typeface="Arial" pitchFamily="34" charset="-122"/>
                <a:cs typeface="Arial" pitchFamily="34" charset="-120"/>
              </a:rPr>
              <a:t>c</a:t>
            </a:r>
            <a:pPr algn="l" indent="0" marL="0">
              <a:lnSpc>
                <a:spcPts val="3230"/>
              </a:lnSpc>
              <a:buNone/>
            </a:pPr>
            <a:r>
              <a:rPr lang="en-US" sz="3170" b="1" spc="-158" kern="0" dirty="0">
                <a:solidFill>
                  <a:srgbClr val="589467"/>
                </a:solidFill>
                <a:latin typeface="Arial" pitchFamily="34" charset="0"/>
                <a:ea typeface="Arial" pitchFamily="34" charset="-122"/>
                <a:cs typeface="Arial" pitchFamily="34" charset="-120"/>
              </a:rPr>
              <a:t>k</a:t>
            </a:r>
            <a:pPr algn="l" indent="0" marL="0">
              <a:lnSpc>
                <a:spcPts val="3230"/>
              </a:lnSpc>
              <a:buNone/>
            </a:pPr>
            <a:r>
              <a:rPr lang="en-US" sz="3170" b="1" spc="-158" kern="0" dirty="0">
                <a:solidFill>
                  <a:srgbClr val="679C4A"/>
                </a:solidFill>
                <a:latin typeface="Arial" pitchFamily="34" charset="0"/>
                <a:ea typeface="Arial" pitchFamily="34" charset="-122"/>
                <a:cs typeface="Arial" pitchFamily="34" charset="-120"/>
              </a:rPr>
              <a:t>e</a:t>
            </a:r>
            <a:pPr algn="l" indent="0" marL="0">
              <a:lnSpc>
                <a:spcPts val="3230"/>
              </a:lnSpc>
              <a:buNone/>
            </a:pPr>
            <a:r>
              <a:rPr lang="en-US" sz="3170" b="1" spc="-158" kern="0" dirty="0">
                <a:solidFill>
                  <a:srgbClr val="74A22F"/>
                </a:solidFill>
                <a:latin typeface="Arial" pitchFamily="34" charset="0"/>
                <a:ea typeface="Arial" pitchFamily="34" charset="-122"/>
                <a:cs typeface="Arial" pitchFamily="34" charset="-120"/>
              </a:rPr>
              <a:t>t</a:t>
            </a:r>
            <a:pPr algn="l" indent="0" marL="0">
              <a:lnSpc>
                <a:spcPts val="3230"/>
              </a:lnSpc>
              <a:buNone/>
            </a:pPr>
            <a:r>
              <a:rPr lang="en-US" sz="3170" b="1" spc="-158" kern="0" dirty="0">
                <a:solidFill>
                  <a:srgbClr val="7CA71F"/>
                </a:solidFill>
                <a:latin typeface="Arial" pitchFamily="34" charset="0"/>
                <a:ea typeface="Arial" pitchFamily="34" charset="-122"/>
                <a:cs typeface="Arial" pitchFamily="34" charset="-120"/>
              </a:rPr>
              <a:t>.</a:t>
            </a:r>
            <a:endParaRPr lang="en-US" sz="3170" dirty="0"/>
          </a:p>
        </p:txBody>
      </p:sp>
      <p:sp>
        <p:nvSpPr>
          <p:cNvPr id="7" name="Text 4"/>
          <p:cNvSpPr txBox="1"/>
          <p:nvPr/>
        </p:nvSpPr>
        <p:spPr>
          <a:xfrm>
            <a:off x="457200" y="2430018"/>
            <a:ext cx="3345550" cy="678942"/>
          </a:xfrm>
          <a:prstGeom prst="rect">
            <a:avLst/>
          </a:prstGeom>
          <a:noFill/>
          <a:ln/>
        </p:spPr>
        <p:txBody>
          <a:bodyPr wrap="square" lIns="0" tIns="0" rIns="0" bIns="0" rtlCol="0" anchor="t"/>
          <a:lstStyle/>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Each app has its own phone layout and installs</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from the browser like a native app. No app</a:t>
            </a:r>
            <a:endParaRPr lang="en-US" sz="1080" dirty="0"/>
          </a:p>
          <a:p>
            <a:pPr algn="l" indent="0" marL="0">
              <a:lnSpc>
                <a:spcPts val="1620"/>
              </a:lnSpc>
              <a:buNone/>
            </a:pPr>
            <a:r>
              <a:rPr lang="en-US" sz="1080" dirty="0">
                <a:solidFill>
                  <a:srgbClr val="5A6E7E"/>
                </a:solidFill>
                <a:latin typeface="Arial" pitchFamily="34" charset="0"/>
                <a:ea typeface="Arial" pitchFamily="34" charset="-122"/>
                <a:cs typeface="Arial" pitchFamily="34" charset="-120"/>
              </a:rPr>
              <a:t>store needed.</a:t>
            </a:r>
            <a:endParaRPr lang="en-US" sz="1080" dirty="0"/>
          </a:p>
        </p:txBody>
      </p:sp>
      <p:sp>
        <p:nvSpPr>
          <p:cNvPr id="8" name="Text 5"/>
          <p:cNvSpPr txBox="1"/>
          <p:nvPr/>
        </p:nvSpPr>
        <p:spPr>
          <a:xfrm>
            <a:off x="457200" y="3248406"/>
            <a:ext cx="217099"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8547E"/>
                </a:solidFill>
                <a:latin typeface="Arial" pitchFamily="34" charset="0"/>
                <a:ea typeface="Arial" pitchFamily="34" charset="-122"/>
                <a:cs typeface="Arial" pitchFamily="34" charset="-120"/>
              </a:rPr>
              <a:t>0</a:t>
            </a:r>
            <a:pPr algn="l" indent="0" marL="0">
              <a:lnSpc>
                <a:spcPts val="1370"/>
              </a:lnSpc>
              <a:buNone/>
            </a:pPr>
            <a:r>
              <a:rPr lang="en-US" sz="1370" b="1" spc="-41" kern="0" dirty="0">
                <a:solidFill>
                  <a:srgbClr val="2D7EB6"/>
                </a:solidFill>
                <a:latin typeface="Arial" pitchFamily="34" charset="0"/>
                <a:ea typeface="Arial" pitchFamily="34" charset="-122"/>
                <a:cs typeface="Arial" pitchFamily="34" charset="-120"/>
              </a:rPr>
              <a:t>1</a:t>
            </a:r>
            <a:endParaRPr lang="en-US" sz="1370" dirty="0"/>
          </a:p>
        </p:txBody>
      </p:sp>
      <p:sp>
        <p:nvSpPr>
          <p:cNvPr id="9" name="Text 6"/>
          <p:cNvSpPr txBox="1"/>
          <p:nvPr/>
        </p:nvSpPr>
        <p:spPr>
          <a:xfrm>
            <a:off x="868680" y="3284982"/>
            <a:ext cx="3139510" cy="365771"/>
          </a:xfrm>
          <a:prstGeom prst="rect">
            <a:avLst/>
          </a:prstGeom>
          <a:noFill/>
          <a:ln/>
        </p:spPr>
        <p:txBody>
          <a:bodyPr wrap="square" lIns="0" tIns="0" rIns="0" bIns="0" rtlCol="0" anchor="t"/>
          <a:lstStyle/>
          <a:p>
            <a:pPr algn="l" indent="0" marL="0">
              <a:lnSpc>
                <a:spcPts val="1250"/>
              </a:lnSpc>
              <a:buNone/>
            </a:pPr>
            <a:r>
              <a:rPr lang="en-US" sz="860" b="1" dirty="0">
                <a:solidFill>
                  <a:srgbClr val="062A44"/>
                </a:solidFill>
                <a:latin typeface="Arial" pitchFamily="34" charset="0"/>
                <a:ea typeface="Arial" pitchFamily="34" charset="-122"/>
                <a:cs typeface="Arial" pitchFamily="34" charset="-120"/>
              </a:rPr>
              <a:t>Scan</a:t>
            </a:r>
            <a:pPr algn="l" indent="0" marL="0">
              <a:lnSpc>
                <a:spcPts val="1250"/>
              </a:lnSpc>
              <a:buNone/>
            </a:pPr>
            <a:r>
              <a:rPr lang="en-US" sz="860" dirty="0">
                <a:solidFill>
                  <a:srgbClr val="5A6E7E"/>
                </a:solidFill>
                <a:latin typeface="Arial" pitchFamily="34" charset="0"/>
                <a:ea typeface="Arial" pitchFamily="34" charset="-122"/>
                <a:cs typeface="Arial" pitchFamily="34" charset="-120"/>
              </a:rPr>
              <a:t> the code and sign in with your @trigo-group.com</a:t>
            </a:r>
            <a:endParaRPr lang="en-US" sz="860" dirty="0"/>
          </a:p>
          <a:p>
            <a:pPr algn="l" indent="0" marL="0">
              <a:lnSpc>
                <a:spcPts val="1250"/>
              </a:lnSpc>
              <a:buNone/>
            </a:pPr>
            <a:r>
              <a:rPr lang="en-US" sz="860" dirty="0">
                <a:solidFill>
                  <a:srgbClr val="5A6E7E"/>
                </a:solidFill>
                <a:latin typeface="Arial" pitchFamily="34" charset="0"/>
                <a:ea typeface="Arial" pitchFamily="34" charset="-122"/>
                <a:cs typeface="Arial" pitchFamily="34" charset="-120"/>
              </a:rPr>
              <a:t>email.</a:t>
            </a:r>
            <a:endParaRPr lang="en-US" sz="860" dirty="0"/>
          </a:p>
        </p:txBody>
      </p:sp>
      <p:sp>
        <p:nvSpPr>
          <p:cNvPr id="10" name="Text 7"/>
          <p:cNvSpPr txBox="1"/>
          <p:nvPr/>
        </p:nvSpPr>
        <p:spPr>
          <a:xfrm>
            <a:off x="457200" y="3731038"/>
            <a:ext cx="260161"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8547F"/>
                </a:solidFill>
                <a:latin typeface="Arial" pitchFamily="34" charset="0"/>
                <a:ea typeface="Arial" pitchFamily="34" charset="-122"/>
                <a:cs typeface="Arial" pitchFamily="34" charset="-120"/>
              </a:rPr>
              <a:t>0</a:t>
            </a:r>
            <a:pPr algn="l" indent="0" marL="0">
              <a:lnSpc>
                <a:spcPts val="1370"/>
              </a:lnSpc>
              <a:buNone/>
            </a:pPr>
            <a:r>
              <a:rPr lang="en-US" sz="1370" b="1" spc="-41" kern="0" dirty="0">
                <a:solidFill>
                  <a:srgbClr val="3783A7"/>
                </a:solidFill>
                <a:latin typeface="Arial" pitchFamily="34" charset="0"/>
                <a:ea typeface="Arial" pitchFamily="34" charset="-122"/>
                <a:cs typeface="Arial" pitchFamily="34" charset="-120"/>
              </a:rPr>
              <a:t>2</a:t>
            </a:r>
            <a:endParaRPr lang="en-US" sz="1370" dirty="0"/>
          </a:p>
        </p:txBody>
      </p:sp>
      <p:sp>
        <p:nvSpPr>
          <p:cNvPr id="11" name="Text 8"/>
          <p:cNvSpPr txBox="1"/>
          <p:nvPr/>
        </p:nvSpPr>
        <p:spPr>
          <a:xfrm>
            <a:off x="868680" y="3767614"/>
            <a:ext cx="2998875" cy="206752"/>
          </a:xfrm>
          <a:prstGeom prst="rect">
            <a:avLst/>
          </a:prstGeom>
          <a:noFill/>
          <a:ln/>
        </p:spPr>
        <p:txBody>
          <a:bodyPr wrap="none" lIns="0" tIns="0" rIns="0" bIns="0" rtlCol="0" anchor="t"/>
          <a:lstStyle/>
          <a:p>
            <a:pPr algn="l" indent="0" marL="0">
              <a:lnSpc>
                <a:spcPts val="1250"/>
              </a:lnSpc>
              <a:buNone/>
            </a:pPr>
            <a:r>
              <a:rPr lang="en-US" sz="860" b="1" dirty="0">
                <a:solidFill>
                  <a:srgbClr val="062A44"/>
                </a:solidFill>
                <a:latin typeface="Arial" pitchFamily="34" charset="0"/>
                <a:ea typeface="Arial" pitchFamily="34" charset="-122"/>
                <a:cs typeface="Arial" pitchFamily="34" charset="-120"/>
              </a:rPr>
              <a:t>iPhone:</a:t>
            </a:r>
            <a:pPr algn="l" indent="0" marL="0">
              <a:lnSpc>
                <a:spcPts val="1250"/>
              </a:lnSpc>
              <a:buNone/>
            </a:pPr>
            <a:r>
              <a:rPr lang="en-US" sz="860" dirty="0">
                <a:solidFill>
                  <a:srgbClr val="5A6E7E"/>
                </a:solidFill>
                <a:latin typeface="Arial" pitchFamily="34" charset="0"/>
                <a:ea typeface="Arial" pitchFamily="34" charset="-122"/>
                <a:cs typeface="Arial" pitchFamily="34" charset="-120"/>
              </a:rPr>
              <a:t> in Safari tap Share, then Add to Home Screen.</a:t>
            </a:r>
            <a:endParaRPr lang="en-US" sz="860" dirty="0"/>
          </a:p>
        </p:txBody>
      </p:sp>
      <p:sp>
        <p:nvSpPr>
          <p:cNvPr id="12" name="Text 9"/>
          <p:cNvSpPr txBox="1"/>
          <p:nvPr/>
        </p:nvSpPr>
        <p:spPr>
          <a:xfrm>
            <a:off x="457200" y="4054650"/>
            <a:ext cx="259218"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8547F"/>
                </a:solidFill>
                <a:latin typeface="Arial" pitchFamily="34" charset="0"/>
                <a:ea typeface="Arial" pitchFamily="34" charset="-122"/>
                <a:cs typeface="Arial" pitchFamily="34" charset="-120"/>
              </a:rPr>
              <a:t>0</a:t>
            </a:r>
            <a:pPr algn="l" indent="0" marL="0">
              <a:lnSpc>
                <a:spcPts val="1370"/>
              </a:lnSpc>
              <a:buNone/>
            </a:pPr>
            <a:r>
              <a:rPr lang="en-US" sz="1370" b="1" spc="-41" kern="0" dirty="0">
                <a:solidFill>
                  <a:srgbClr val="3783A7"/>
                </a:solidFill>
                <a:latin typeface="Arial" pitchFamily="34" charset="0"/>
                <a:ea typeface="Arial" pitchFamily="34" charset="-122"/>
                <a:cs typeface="Arial" pitchFamily="34" charset="-120"/>
              </a:rPr>
              <a:t>3</a:t>
            </a:r>
            <a:endParaRPr lang="en-US" sz="1370" dirty="0"/>
          </a:p>
        </p:txBody>
      </p:sp>
      <p:sp>
        <p:nvSpPr>
          <p:cNvPr id="13" name="Text 10"/>
          <p:cNvSpPr txBox="1"/>
          <p:nvPr/>
        </p:nvSpPr>
        <p:spPr>
          <a:xfrm>
            <a:off x="868680" y="4091226"/>
            <a:ext cx="2801007" cy="206752"/>
          </a:xfrm>
          <a:prstGeom prst="rect">
            <a:avLst/>
          </a:prstGeom>
          <a:noFill/>
          <a:ln/>
        </p:spPr>
        <p:txBody>
          <a:bodyPr wrap="none" lIns="0" tIns="0" rIns="0" bIns="0" rtlCol="0" anchor="t"/>
          <a:lstStyle/>
          <a:p>
            <a:pPr algn="l" indent="0" marL="0">
              <a:lnSpc>
                <a:spcPts val="1250"/>
              </a:lnSpc>
              <a:buNone/>
            </a:pPr>
            <a:r>
              <a:rPr lang="en-US" sz="860" b="1" dirty="0">
                <a:solidFill>
                  <a:srgbClr val="062A44"/>
                </a:solidFill>
                <a:latin typeface="Arial" pitchFamily="34" charset="0"/>
                <a:ea typeface="Arial" pitchFamily="34" charset="-122"/>
                <a:cs typeface="Arial" pitchFamily="34" charset="-120"/>
              </a:rPr>
              <a:t>Android:</a:t>
            </a:r>
            <a:pPr algn="l" indent="0" marL="0">
              <a:lnSpc>
                <a:spcPts val="1250"/>
              </a:lnSpc>
              <a:buNone/>
            </a:pPr>
            <a:r>
              <a:rPr lang="en-US" sz="860" dirty="0">
                <a:solidFill>
                  <a:srgbClr val="5A6E7E"/>
                </a:solidFill>
                <a:latin typeface="Arial" pitchFamily="34" charset="0"/>
                <a:ea typeface="Arial" pitchFamily="34" charset="-122"/>
                <a:cs typeface="Arial" pitchFamily="34" charset="-120"/>
              </a:rPr>
              <a:t> in Chrome tap the menu, then Install app.</a:t>
            </a:r>
            <a:endParaRPr lang="en-US" sz="860" dirty="0"/>
          </a:p>
        </p:txBody>
      </p:sp>
      <p:sp>
        <p:nvSpPr>
          <p:cNvPr id="14" name="Shape 11"/>
          <p:cNvSpPr/>
          <p:nvPr/>
        </p:nvSpPr>
        <p:spPr>
          <a:xfrm>
            <a:off x="4023360" y="1143000"/>
            <a:ext cx="2231136" cy="3029807"/>
          </a:xfrm>
          <a:prstGeom prst="roundRect">
            <a:avLst>
              <a:gd name="adj" fmla="val 8197"/>
            </a:avLst>
          </a:prstGeom>
          <a:solidFill>
            <a:srgbClr val="FFFFFF">
              <a:alpha val="78000"/>
            </a:srgbClr>
          </a:solidFill>
          <a:ln w="9144">
            <a:solidFill>
              <a:srgbClr val="062A44">
                <a:alpha val="10000"/>
              </a:srgbClr>
            </a:solidFill>
            <a:prstDash val="solid"/>
          </a:ln>
          <a:effectLst>
            <a:outerShdw sx="100000" sy="100000" kx="0" ky="0" algn="bl" rotWithShape="0" blurRad="457200" dist="182880" dir="5400000">
              <a:srgbClr val="062A44">
                <a:alpha val="12000"/>
              </a:srgbClr>
            </a:outerShdw>
          </a:effectLst>
        </p:spPr>
      </p:sp>
      <p:pic>
        <p:nvPicPr>
          <p:cNvPr id="15" name="Picture" descr="Manpower Board app icon">    </p:cNvPr>
          <p:cNvPicPr>
            <a:picLocks noChangeAspect="1"/>
          </p:cNvPicPr>
          <p:nvPr/>
        </p:nvPicPr>
        <p:blipFill>
          <a:blip r:embed="rId3"/>
          <a:stretch>
            <a:fillRect/>
          </a:stretch>
        </p:blipFill>
        <p:spPr>
          <a:xfrm>
            <a:off x="4919472" y="1344168"/>
            <a:ext cx="438912" cy="438912"/>
          </a:xfrm>
          <a:prstGeom prst="roundRect">
            <a:avLst>
              <a:gd name="adj" fmla="val 23958"/>
            </a:avLst>
          </a:prstGeom>
        </p:spPr>
      </p:pic>
      <p:sp>
        <p:nvSpPr>
          <p:cNvPr id="16" name="Text 12"/>
          <p:cNvSpPr txBox="1"/>
          <p:nvPr/>
        </p:nvSpPr>
        <p:spPr>
          <a:xfrm>
            <a:off x="4533567" y="1865376"/>
            <a:ext cx="1350083" cy="313171"/>
          </a:xfrm>
          <a:prstGeom prst="rect">
            <a:avLst/>
          </a:prstGeom>
          <a:noFill/>
          <a:ln/>
        </p:spPr>
        <p:txBody>
          <a:bodyPr wrap="none" lIns="0" tIns="0" rIns="0" bIns="0" rtlCol="0" anchor="t"/>
          <a:lstStyle/>
          <a:p>
            <a:pPr algn="l" indent="0" marL="0">
              <a:lnSpc>
                <a:spcPts val="1900"/>
              </a:lnSpc>
              <a:buNone/>
            </a:pPr>
            <a:r>
              <a:rPr lang="en-US" sz="1220" b="1" spc="-31" kern="0" dirty="0">
                <a:solidFill>
                  <a:srgbClr val="062A44"/>
                </a:solidFill>
                <a:latin typeface="Arial" pitchFamily="34" charset="0"/>
                <a:ea typeface="Arial" pitchFamily="34" charset="-122"/>
                <a:cs typeface="Arial" pitchFamily="34" charset="-120"/>
              </a:rPr>
              <a:t>Manpower Board</a:t>
            </a:r>
            <a:endParaRPr lang="en-US" sz="1220" dirty="0"/>
          </a:p>
        </p:txBody>
      </p:sp>
      <p:sp>
        <p:nvSpPr>
          <p:cNvPr id="17" name="Shape 13"/>
          <p:cNvSpPr/>
          <p:nvPr/>
        </p:nvSpPr>
        <p:spPr>
          <a:xfrm>
            <a:off x="4430268" y="2225135"/>
            <a:ext cx="1417320" cy="1417320"/>
          </a:xfrm>
          <a:prstGeom prst="roundRect">
            <a:avLst>
              <a:gd name="adj" fmla="val 8387"/>
            </a:avLst>
          </a:prstGeom>
          <a:solidFill>
            <a:srgbClr val="FFFFFF"/>
          </a:solidFill>
          <a:ln w="9144">
            <a:solidFill>
              <a:srgbClr val="062A44">
                <a:alpha val="10000"/>
              </a:srgbClr>
            </a:solidFill>
            <a:prstDash val="solid"/>
          </a:ln>
        </p:spPr>
      </p:sp>
      <p:pic>
        <p:nvPicPr>
          <p:cNvPr id="18" name="Image 2" descr="QR code for the Manpower Board">    </p:cNvPr>
          <p:cNvPicPr>
            <a:picLocks noChangeAspect="1"/>
          </p:cNvPicPr>
          <p:nvPr/>
        </p:nvPicPr>
        <p:blipFill>
          <a:blip r:embed="rId4"/>
          <a:stretch>
            <a:fillRect/>
          </a:stretch>
        </p:blipFill>
        <p:spPr>
          <a:xfrm>
            <a:off x="4539996" y="2334863"/>
            <a:ext cx="1197864" cy="1197864"/>
          </a:xfrm>
          <a:prstGeom prst="rect">
            <a:avLst/>
          </a:prstGeom>
        </p:spPr>
      </p:pic>
      <p:sp>
        <p:nvSpPr>
          <p:cNvPr id="19" name="Shape 14"/>
          <p:cNvSpPr/>
          <p:nvPr/>
        </p:nvSpPr>
        <p:spPr>
          <a:xfrm>
            <a:off x="4293537" y="3761327"/>
            <a:ext cx="1690640" cy="228600"/>
          </a:xfrm>
          <a:prstGeom prst="roundRect">
            <a:avLst>
              <a:gd name="adj" fmla="val 50000"/>
            </a:avLst>
          </a:prstGeom>
          <a:solidFill>
            <a:srgbClr val="2E7FB8">
              <a:alpha val="6000"/>
            </a:srgbClr>
          </a:solidFill>
          <a:ln w="9144">
            <a:solidFill>
              <a:srgbClr val="2E7FB8">
                <a:alpha val="30000"/>
              </a:srgbClr>
            </a:solidFill>
            <a:prstDash val="solid"/>
          </a:ln>
        </p:spPr>
      </p:sp>
      <p:sp>
        <p:nvSpPr>
          <p:cNvPr id="20" name="Text 15"/>
          <p:cNvSpPr txBox="1"/>
          <p:nvPr/>
        </p:nvSpPr>
        <p:spPr>
          <a:xfrm>
            <a:off x="4394121" y="3829907"/>
            <a:ext cx="1656707" cy="91440"/>
          </a:xfrm>
          <a:prstGeom prst="rect">
            <a:avLst/>
          </a:prstGeom>
          <a:noFill/>
          <a:ln/>
        </p:spPr>
        <p:txBody>
          <a:bodyPr wrap="none" lIns="0" tIns="0" rIns="0" bIns="0" rtlCol="0" anchor="ctr"/>
          <a:lstStyle/>
          <a:p>
            <a:pPr algn="l" indent="0" marL="0">
              <a:lnSpc>
                <a:spcPts val="720"/>
              </a:lnSpc>
              <a:buNone/>
            </a:pPr>
            <a:r>
              <a:rPr lang="en-US" sz="720" dirty="0">
                <a:solidFill>
                  <a:srgbClr val="0B3A5C"/>
                </a:solidFill>
                <a:latin typeface="Arial" pitchFamily="34" charset="0"/>
                <a:ea typeface="Arial" pitchFamily="34" charset="-122"/>
                <a:cs typeface="Arial" pitchFamily="34" charset="-120"/>
              </a:rPr>
              <a:t>trigoth-manpowerboard.netlify.app</a:t>
            </a:r>
            <a:endParaRPr lang="en-US" sz="720" dirty="0"/>
          </a:p>
        </p:txBody>
      </p:sp>
      <p:sp>
        <p:nvSpPr>
          <p:cNvPr id="21" name="Shape 16"/>
          <p:cNvSpPr/>
          <p:nvPr/>
        </p:nvSpPr>
        <p:spPr>
          <a:xfrm>
            <a:off x="6455664" y="1143000"/>
            <a:ext cx="2231136" cy="3029807"/>
          </a:xfrm>
          <a:prstGeom prst="roundRect">
            <a:avLst>
              <a:gd name="adj" fmla="val 8197"/>
            </a:avLst>
          </a:prstGeom>
          <a:solidFill>
            <a:srgbClr val="FFFFFF">
              <a:alpha val="78000"/>
            </a:srgbClr>
          </a:solidFill>
          <a:ln w="9144">
            <a:solidFill>
              <a:srgbClr val="062A44">
                <a:alpha val="10000"/>
              </a:srgbClr>
            </a:solidFill>
            <a:prstDash val="solid"/>
          </a:ln>
          <a:effectLst>
            <a:outerShdw sx="100000" sy="100000" kx="0" ky="0" algn="bl" rotWithShape="0" blurRad="457200" dist="182880" dir="5400000">
              <a:srgbClr val="062A44">
                <a:alpha val="12000"/>
              </a:srgbClr>
            </a:outerShdw>
          </a:effectLst>
        </p:spPr>
      </p:sp>
      <p:pic>
        <p:nvPicPr>
          <p:cNvPr id="22" name="Picture" descr="Inventory and Quality app icon">    </p:cNvPr>
          <p:cNvPicPr>
            <a:picLocks noChangeAspect="1"/>
          </p:cNvPicPr>
          <p:nvPr/>
        </p:nvPicPr>
        <p:blipFill>
          <a:blip r:embed="rId5"/>
          <a:stretch>
            <a:fillRect/>
          </a:stretch>
        </p:blipFill>
        <p:spPr>
          <a:xfrm>
            <a:off x="7351633" y="1344168"/>
            <a:ext cx="438912" cy="438912"/>
          </a:xfrm>
          <a:prstGeom prst="roundRect">
            <a:avLst>
              <a:gd name="adj" fmla="val 23958"/>
            </a:avLst>
          </a:prstGeom>
        </p:spPr>
      </p:pic>
      <p:sp>
        <p:nvSpPr>
          <p:cNvPr id="23" name="Text 17"/>
          <p:cNvSpPr txBox="1"/>
          <p:nvPr/>
        </p:nvSpPr>
        <p:spPr>
          <a:xfrm>
            <a:off x="6899862" y="1865376"/>
            <a:ext cx="1495144" cy="313171"/>
          </a:xfrm>
          <a:prstGeom prst="rect">
            <a:avLst/>
          </a:prstGeom>
          <a:noFill/>
          <a:ln/>
        </p:spPr>
        <p:txBody>
          <a:bodyPr wrap="none" lIns="0" tIns="0" rIns="0" bIns="0" rtlCol="0" anchor="t"/>
          <a:lstStyle/>
          <a:p>
            <a:pPr algn="l" indent="0" marL="0">
              <a:lnSpc>
                <a:spcPts val="1900"/>
              </a:lnSpc>
              <a:buNone/>
            </a:pPr>
            <a:r>
              <a:rPr lang="en-US" sz="1220" b="1" spc="-31" kern="0" dirty="0">
                <a:solidFill>
                  <a:srgbClr val="062A44"/>
                </a:solidFill>
                <a:latin typeface="Arial" pitchFamily="34" charset="0"/>
                <a:ea typeface="Arial" pitchFamily="34" charset="-122"/>
                <a:cs typeface="Arial" pitchFamily="34" charset="-120"/>
              </a:rPr>
              <a:t>Inventory &amp; Quality</a:t>
            </a:r>
            <a:endParaRPr lang="en-US" sz="1220" dirty="0"/>
          </a:p>
        </p:txBody>
      </p:sp>
      <p:sp>
        <p:nvSpPr>
          <p:cNvPr id="24" name="Shape 18"/>
          <p:cNvSpPr/>
          <p:nvPr/>
        </p:nvSpPr>
        <p:spPr>
          <a:xfrm>
            <a:off x="6862572" y="2225135"/>
            <a:ext cx="1417320" cy="1417320"/>
          </a:xfrm>
          <a:prstGeom prst="roundRect">
            <a:avLst>
              <a:gd name="adj" fmla="val 8387"/>
            </a:avLst>
          </a:prstGeom>
          <a:solidFill>
            <a:srgbClr val="FFFFFF"/>
          </a:solidFill>
          <a:ln w="9144">
            <a:solidFill>
              <a:srgbClr val="062A44">
                <a:alpha val="10000"/>
              </a:srgbClr>
            </a:solidFill>
            <a:prstDash val="solid"/>
          </a:ln>
        </p:spPr>
      </p:sp>
      <p:pic>
        <p:nvPicPr>
          <p:cNvPr id="25" name="Image 4" descr="QR code for the Inventory and Quality System">    </p:cNvPr>
          <p:cNvPicPr>
            <a:picLocks noChangeAspect="1"/>
          </p:cNvPicPr>
          <p:nvPr/>
        </p:nvPicPr>
        <p:blipFill>
          <a:blip r:embed="rId6"/>
          <a:stretch>
            <a:fillRect/>
          </a:stretch>
        </p:blipFill>
        <p:spPr>
          <a:xfrm>
            <a:off x="6972300" y="2334863"/>
            <a:ext cx="1197864" cy="1197864"/>
          </a:xfrm>
          <a:prstGeom prst="rect">
            <a:avLst/>
          </a:prstGeom>
        </p:spPr>
      </p:pic>
      <p:sp>
        <p:nvSpPr>
          <p:cNvPr id="26" name="Shape 19"/>
          <p:cNvSpPr/>
          <p:nvPr/>
        </p:nvSpPr>
        <p:spPr>
          <a:xfrm>
            <a:off x="6880860" y="3761327"/>
            <a:ext cx="1380744" cy="228600"/>
          </a:xfrm>
          <a:prstGeom prst="roundRect">
            <a:avLst>
              <a:gd name="adj" fmla="val 50000"/>
            </a:avLst>
          </a:prstGeom>
          <a:solidFill>
            <a:srgbClr val="2E7FB8">
              <a:alpha val="6000"/>
            </a:srgbClr>
          </a:solidFill>
          <a:ln w="9144">
            <a:solidFill>
              <a:srgbClr val="2E7FB8">
                <a:alpha val="30000"/>
              </a:srgbClr>
            </a:solidFill>
            <a:prstDash val="solid"/>
          </a:ln>
        </p:spPr>
      </p:sp>
      <p:sp>
        <p:nvSpPr>
          <p:cNvPr id="27" name="Text 20"/>
          <p:cNvSpPr txBox="1"/>
          <p:nvPr/>
        </p:nvSpPr>
        <p:spPr>
          <a:xfrm>
            <a:off x="6981444" y="3829907"/>
            <a:ext cx="1315822" cy="91440"/>
          </a:xfrm>
          <a:prstGeom prst="rect">
            <a:avLst/>
          </a:prstGeom>
          <a:noFill/>
          <a:ln/>
        </p:spPr>
        <p:txBody>
          <a:bodyPr wrap="none" lIns="0" tIns="0" rIns="0" bIns="0" rtlCol="0" anchor="ctr"/>
          <a:lstStyle/>
          <a:p>
            <a:pPr algn="l" indent="0" marL="0">
              <a:lnSpc>
                <a:spcPts val="720"/>
              </a:lnSpc>
              <a:buNone/>
            </a:pPr>
            <a:r>
              <a:rPr lang="en-US" sz="720" dirty="0">
                <a:solidFill>
                  <a:srgbClr val="0B3A5C"/>
                </a:solidFill>
                <a:latin typeface="Arial" pitchFamily="34" charset="0"/>
                <a:ea typeface="Arial" pitchFamily="34" charset="-122"/>
                <a:cs typeface="Arial" pitchFamily="34" charset="-120"/>
              </a:rPr>
              <a:t>trigoth-inventory.pages.dev</a:t>
            </a:r>
            <a:endParaRPr lang="en-US" sz="720" dirty="0"/>
          </a:p>
        </p:txBody>
      </p:sp>
      <p:sp>
        <p:nvSpPr>
          <p:cNvPr id="28" name="Shape 21"/>
          <p:cNvSpPr/>
          <p:nvPr/>
        </p:nvSpPr>
        <p:spPr>
          <a:xfrm>
            <a:off x="5121640" y="4389120"/>
            <a:ext cx="1388174" cy="283893"/>
          </a:xfrm>
          <a:prstGeom prst="roundRect">
            <a:avLst>
              <a:gd name="adj" fmla="val 50000"/>
            </a:avLst>
          </a:prstGeom>
          <a:solidFill>
            <a:srgbClr val="FFFFFF">
              <a:alpha val="55000"/>
            </a:srgbClr>
          </a:solidFill>
          <a:ln w="9144">
            <a:solidFill>
              <a:srgbClr val="062A44">
                <a:alpha val="18000"/>
              </a:srgbClr>
            </a:solidFill>
            <a:prstDash val="solid"/>
          </a:ln>
        </p:spPr>
      </p:sp>
      <p:sp>
        <p:nvSpPr>
          <p:cNvPr id="29" name="Text 22"/>
          <p:cNvSpPr txBox="1"/>
          <p:nvPr/>
        </p:nvSpPr>
        <p:spPr>
          <a:xfrm>
            <a:off x="5409819" y="4453128"/>
            <a:ext cx="1112610"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Installable app (PWA)</a:t>
            </a:r>
            <a:endParaRPr lang="en-US" sz="790" dirty="0"/>
          </a:p>
        </p:txBody>
      </p:sp>
      <p:pic>
        <p:nvPicPr>
          <p:cNvPr id="30" name="Image 5" descr="Icon: install mobile">    </p:cNvPr>
          <p:cNvPicPr>
            <a:picLocks noChangeAspect="1"/>
          </p:cNvPicPr>
          <p:nvPr/>
        </p:nvPicPr>
        <p:blipFill>
          <a:blip r:embed="rId7"/>
          <a:stretch>
            <a:fillRect/>
          </a:stretch>
        </p:blipFill>
        <p:spPr>
          <a:xfrm>
            <a:off x="5226796" y="4466987"/>
            <a:ext cx="128159" cy="128016"/>
          </a:xfrm>
          <a:prstGeom prst="rect">
            <a:avLst/>
          </a:prstGeom>
        </p:spPr>
      </p:pic>
      <p:sp>
        <p:nvSpPr>
          <p:cNvPr id="31" name="Shape 23"/>
          <p:cNvSpPr/>
          <p:nvPr/>
        </p:nvSpPr>
        <p:spPr>
          <a:xfrm>
            <a:off x="6582966" y="4389120"/>
            <a:ext cx="1005411" cy="283893"/>
          </a:xfrm>
          <a:prstGeom prst="roundRect">
            <a:avLst>
              <a:gd name="adj" fmla="val 50000"/>
            </a:avLst>
          </a:prstGeom>
          <a:solidFill>
            <a:srgbClr val="FFFFFF">
              <a:alpha val="55000"/>
            </a:srgbClr>
          </a:solidFill>
          <a:ln w="9144">
            <a:solidFill>
              <a:srgbClr val="062A44">
                <a:alpha val="18000"/>
              </a:srgbClr>
            </a:solidFill>
            <a:prstDash val="solid"/>
          </a:ln>
        </p:spPr>
      </p:sp>
      <p:sp>
        <p:nvSpPr>
          <p:cNvPr id="32" name="Text 24"/>
          <p:cNvSpPr txBox="1"/>
          <p:nvPr/>
        </p:nvSpPr>
        <p:spPr>
          <a:xfrm>
            <a:off x="6871145" y="4453128"/>
            <a:ext cx="691572" cy="155877"/>
          </a:xfrm>
          <a:prstGeom prst="rect">
            <a:avLst/>
          </a:prstGeom>
          <a:noFill/>
          <a:ln/>
        </p:spPr>
        <p:txBody>
          <a:bodyPr wrap="none" lIns="0" tIns="0" rIns="0" bIns="0" rtlCol="0" anchor="ctr"/>
          <a:lstStyle/>
          <a:p>
            <a:pPr algn="l" indent="0" marL="0">
              <a:lnSpc>
                <a:spcPts val="1230"/>
              </a:lnSpc>
              <a:buNone/>
            </a:pPr>
            <a:r>
              <a:rPr lang="en-US" sz="790" dirty="0">
                <a:solidFill>
                  <a:srgbClr val="062A44"/>
                </a:solidFill>
                <a:latin typeface="Arial" pitchFamily="34" charset="0"/>
                <a:ea typeface="Arial" pitchFamily="34" charset="-122"/>
                <a:cs typeface="Arial" pitchFamily="34" charset="-120"/>
              </a:rPr>
              <a:t>Phone layout</a:t>
            </a:r>
            <a:endParaRPr lang="en-US" sz="790" dirty="0"/>
          </a:p>
        </p:txBody>
      </p:sp>
      <p:pic>
        <p:nvPicPr>
          <p:cNvPr id="33" name="Image 6" descr="Icon: smartphone">    </p:cNvPr>
          <p:cNvPicPr>
            <a:picLocks noChangeAspect="1"/>
          </p:cNvPicPr>
          <p:nvPr/>
        </p:nvPicPr>
        <p:blipFill>
          <a:blip r:embed="rId8"/>
          <a:stretch>
            <a:fillRect/>
          </a:stretch>
        </p:blipFill>
        <p:spPr>
          <a:xfrm>
            <a:off x="6688122" y="4466987"/>
            <a:ext cx="128159" cy="128016"/>
          </a:xfrm>
          <a:prstGeom prst="rect">
            <a:avLst/>
          </a:prstGeom>
        </p:spPr>
      </p:pic>
    </p:spTree>
  </p:cSld>
  <p:clrMapOvr>
    <a:masterClrMapping/>
  </p:clrMapOvr>
  <p:transition spd="med">
    <p:push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Non-Rayong overview 2026</dc:title>
  <dc:subject>PptxGenJS Presentation</dc:subject>
  <dc:creator>TRIGO Quality Services Thailand</dc:creator>
  <cp:lastModifiedBy>TRIGO Quality Services Thailand</cp:lastModifiedBy>
  <cp:revision>1</cp:revision>
  <dcterms:created xsi:type="dcterms:W3CDTF">2026-10-21T04:15:37Z</dcterms:created>
  <dcterms:modified xsi:type="dcterms:W3CDTF">2026-10-21T04:15:37Z</dcterms:modified>
</cp:coreProperties>
</file>