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Opening
Non-Rayong overview for January to September 2026: LCBTH, BANGN and AMATA.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Performance
Hours fell 19% in April, then climbed 44% to a record 36,653 h in September. Q3 is the strongest quarter at 100.9K 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Site mix
Hours per mission = billable hours / distinct mission numbers (base number, ignoring monthly extension suffix). Per-piece units are pieces invoiced per unit of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Customers and hosts
Ford MVIP, MMTH Engine and Surtec Kariya together make up 71% of hours. The other 71 hosts share 14%.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· Section: Cost reduction
Two slides: the supplier change and the 2026 drink mix.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 · Cost reduction: beverage supplier
Unit cost fell from 22.34 to 15.68 THB, and the monthly average from 80,899.75 to 64,983.03 THB. Cost per headcount trends down from August.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 · Cost reduction: drink mix
Moving the mix toward electrolyte drinks, and adding herbal drinks and tea, targets 11.73 THB per unit. The 2025 figures still need a source check.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 · Section: Operation excellence
Three slides: handheld OCR, the hybrid workflow and the poka-yoke controls.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 · Operation excellence: handheld OCR
Source: supplied shopfloor OCR example and mission inspection-time comparisons. Reading a serial drops from 8 to 10 seconds by hand to 1 second.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 · Operation excellence: hybrid workflow
Data captured on the shopfloor lands in Google Sheets and Drive. An offline Excel record covers gaps, and the administrator reconciles both before the customer report.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11 · Operation excellence: poka-yoke
Two controls stop bad data at capture, one tells the operator when a box is full, and the administrator reviews before release. Next: the two web apps.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12 · The two apps
Two internal tools, built for our sites. Same sign-in domain, same look, both installable on a phone.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13 · Manpower: the daily board
Each card is a person, each column a mission with host, customer, shift and engineer. The tiles on top always add up: assigned plus leave plus standby equals total. The phone shows a forecast day being merged, one clash at a time: keep the carried-over plan or use the forecast.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14 · Manpower: planning ahead
Capacity compares demand per host with the people available. In the example, Wednesday 21/10 needs 40 against 36, so it shows 4 short.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15 · Manpower: what managers see
Overview answers "is everyone placed?" first, then the numbers. Every chart has the exact figures on hover.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16 · Inventory: the system
Rayong and Amata warehouses, one at a time or both. The dashboard opens on what needs attention: out of stock, calibration overdue, returns late, parts aged over 60 days.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17 · Inventory: the engineer's day
The same flow works for consumables (issue from stock) and customer parts (deliveries in and out). Camera scanning works in Chrome and Edge; a handheld scanner works everywhere.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18 · Inventory: customer parts
Parts are tracked by the customer's part number, mission number and responsible engineer. A delivery due today shows on the To-Do list and in the bell until someone confirms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19 · Inventory: for management
Usage compares this period with the average of the previous three months. Open a site to see who issued what there. It is a fact to review, not a ranking of people.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 · On your phone
New accounts are approved once by an admin. After installing, the app opens full screen from the home screen.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CFD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over: car body shop li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49808" y="1600200"/>
            <a:ext cx="4029212" cy="118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20"/>
              </a:lnSpc>
              <a:buNone/>
            </a:pPr>
            <a:r>
              <a:rPr lang="en-US" sz="720" spc="115" kern="0" dirty="0">
                <a:solidFill>
                  <a:srgbClr val="5A6E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JAN–SEP 2026</a:t>
            </a:r>
            <a:endParaRPr lang="en-US" sz="72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856232"/>
            <a:ext cx="4546397" cy="12011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10"/>
              </a:lnSpc>
              <a:buNone/>
            </a:pPr>
            <a:r>
              <a:rPr lang="en-US" sz="4030" spc="-202" kern="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Non-Rayong</a:t>
            </a:r>
            <a:endParaRPr lang="en-US" sz="4030" dirty="0"/>
          </a:p>
          <a:p>
            <a:pPr algn="l" indent="0" marL="0">
              <a:lnSpc>
                <a:spcPts val="4110"/>
              </a:lnSpc>
              <a:buNone/>
            </a:pPr>
            <a:r>
              <a:rPr lang="en-US" sz="4030" b="1" spc="-202" kern="0" dirty="0">
                <a:solidFill>
                  <a:srgbClr val="2064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</a:t>
            </a:r>
            <a:pPr algn="l" indent="0" marL="0">
              <a:lnSpc>
                <a:spcPts val="4110"/>
              </a:lnSpc>
              <a:buNone/>
            </a:pPr>
            <a:r>
              <a:rPr lang="en-US" sz="4030" b="1" spc="-202" kern="0" dirty="0">
                <a:solidFill>
                  <a:srgbClr val="6199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2026.</a:t>
            </a:r>
            <a:endParaRPr lang="en-US" sz="403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3065240"/>
            <a:ext cx="4133088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08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hours, site mix and customers, then cost</a:t>
            </a:r>
            <a:endParaRPr lang="en-US" sz="1080" dirty="0"/>
          </a:p>
          <a:p>
            <a:pPr algn="l" indent="0" marL="0">
              <a:lnSpc>
                <a:spcPts val="1620"/>
              </a:lnSpc>
              <a:buNone/>
            </a:pPr>
            <a:r>
              <a:rPr lang="en-US" sz="108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reduction and operation excellence, across our three non-Rayong</a:t>
            </a:r>
            <a:endParaRPr lang="en-US" sz="1080" dirty="0"/>
          </a:p>
          <a:p>
            <a:pPr algn="l" indent="0" marL="0">
              <a:lnSpc>
                <a:spcPts val="1620"/>
              </a:lnSpc>
              <a:buNone/>
            </a:pPr>
            <a:r>
              <a:rPr lang="en-US" sz="108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sites.</a:t>
            </a:r>
            <a:endParaRPr lang="en-US" sz="1080" dirty="0"/>
          </a:p>
        </p:txBody>
      </p:sp>
      <p:sp>
        <p:nvSpPr>
          <p:cNvPr id="6" name="Text 3"/>
          <p:cNvSpPr txBox="1"/>
          <p:nvPr/>
        </p:nvSpPr>
        <p:spPr>
          <a:xfrm>
            <a:off x="585216" y="4160520"/>
            <a:ext cx="397490" cy="136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30"/>
              </a:lnSpc>
              <a:buNone/>
            </a:pPr>
            <a:r>
              <a:rPr lang="en-US" sz="830" spc="83" kern="0" dirty="0">
                <a:solidFill>
                  <a:srgbClr val="06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LCBTH</a:t>
            </a:r>
            <a:endParaRPr lang="en-US" sz="830" dirty="0"/>
          </a:p>
        </p:txBody>
      </p:sp>
      <p:sp>
        <p:nvSpPr>
          <p:cNvPr id="7" name="Text 4"/>
          <p:cNvSpPr txBox="1"/>
          <p:nvPr/>
        </p:nvSpPr>
        <p:spPr>
          <a:xfrm>
            <a:off x="1300734" y="4160520"/>
            <a:ext cx="397490" cy="136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30"/>
              </a:lnSpc>
              <a:buNone/>
            </a:pPr>
            <a:r>
              <a:rPr lang="en-US" sz="830" spc="83" kern="0" dirty="0">
                <a:solidFill>
                  <a:srgbClr val="06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BANGN</a:t>
            </a:r>
            <a:endParaRPr lang="en-US" sz="830" dirty="0"/>
          </a:p>
        </p:txBody>
      </p:sp>
      <p:sp>
        <p:nvSpPr>
          <p:cNvPr id="8" name="Text 5"/>
          <p:cNvSpPr txBox="1"/>
          <p:nvPr/>
        </p:nvSpPr>
        <p:spPr>
          <a:xfrm>
            <a:off x="2016252" y="4160520"/>
            <a:ext cx="397490" cy="136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30"/>
              </a:lnSpc>
              <a:buNone/>
            </a:pPr>
            <a:r>
              <a:rPr lang="en-US" sz="830" spc="83" kern="0" dirty="0">
                <a:solidFill>
                  <a:srgbClr val="06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AMATA</a:t>
            </a:r>
            <a:endParaRPr lang="en-US" sz="83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CFD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tacked bar chart of monthly service hours by site, with what happened and quarterly hour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49808" y="1152144"/>
            <a:ext cx="8571951" cy="118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20"/>
              </a:lnSpc>
              <a:buNone/>
            </a:pPr>
            <a:r>
              <a:rPr lang="en-US" sz="720" spc="115" kern="0" dirty="0">
                <a:solidFill>
                  <a:srgbClr val="5A6E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PERFORMANCE</a:t>
            </a:r>
            <a:endParaRPr lang="en-US" sz="72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344168"/>
            <a:ext cx="8887968" cy="4000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20"/>
              </a:lnSpc>
              <a:buNone/>
            </a:pPr>
            <a:r>
              <a:rPr lang="en-US" sz="2380" spc="-119" kern="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September set a record</a:t>
            </a:r>
            <a:pPr algn="l" indent="0" marL="0">
              <a:lnSpc>
                <a:spcPts val="2420"/>
              </a:lnSpc>
              <a:buNone/>
            </a:pPr>
            <a:r>
              <a:rPr lang="en-US" sz="2380" b="1" spc="-119" kern="0" dirty="0">
                <a:solidFill>
                  <a:srgbClr val="154E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after</a:t>
            </a:r>
            <a:pPr algn="l" indent="0" marL="0">
              <a:lnSpc>
                <a:spcPts val="2420"/>
              </a:lnSpc>
              <a:buNone/>
            </a:pPr>
            <a:r>
              <a:rPr lang="en-US" sz="2380" b="1" spc="-119" kern="0" dirty="0">
                <a:solidFill>
                  <a:srgbClr val="287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</a:t>
            </a:r>
            <a:pPr algn="l" indent="0" marL="0">
              <a:lnSpc>
                <a:spcPts val="2420"/>
              </a:lnSpc>
              <a:buNone/>
            </a:pPr>
            <a:r>
              <a:rPr lang="en-US" sz="2380" b="1" spc="-119" kern="0" dirty="0">
                <a:solidFill>
                  <a:srgbClr val="488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April</a:t>
            </a:r>
            <a:pPr algn="l" indent="0" marL="0">
              <a:lnSpc>
                <a:spcPts val="2420"/>
              </a:lnSpc>
              <a:buNone/>
            </a:pPr>
            <a:r>
              <a:rPr lang="en-US" sz="2380" b="1" spc="-119" kern="0" dirty="0">
                <a:solidFill>
                  <a:srgbClr val="6FA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dip.</a:t>
            </a:r>
            <a:endParaRPr lang="en-US" sz="2380" dirty="0"/>
          </a:p>
        </p:txBody>
      </p:sp>
      <p:sp>
        <p:nvSpPr>
          <p:cNvPr id="5" name="Text 2"/>
          <p:cNvSpPr txBox="1"/>
          <p:nvPr/>
        </p:nvSpPr>
        <p:spPr>
          <a:xfrm>
            <a:off x="603504" y="2048256"/>
            <a:ext cx="1657390" cy="221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60" b="1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service hours by site</a:t>
            </a:r>
            <a:endParaRPr lang="en-US" sz="860" dirty="0"/>
          </a:p>
        </p:txBody>
      </p:sp>
      <p:sp>
        <p:nvSpPr>
          <p:cNvPr id="6" name="Text 3"/>
          <p:cNvSpPr txBox="1"/>
          <p:nvPr/>
        </p:nvSpPr>
        <p:spPr>
          <a:xfrm>
            <a:off x="4296108" y="2062401"/>
            <a:ext cx="307221" cy="184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72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LCBTH</a:t>
            </a:r>
            <a:endParaRPr lang="en-US" sz="720" dirty="0"/>
          </a:p>
        </p:txBody>
      </p:sp>
      <p:sp>
        <p:nvSpPr>
          <p:cNvPr id="7" name="Text 4"/>
          <p:cNvSpPr txBox="1"/>
          <p:nvPr/>
        </p:nvSpPr>
        <p:spPr>
          <a:xfrm>
            <a:off x="4836605" y="2062401"/>
            <a:ext cx="343946" cy="184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72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BANGN</a:t>
            </a:r>
            <a:endParaRPr lang="en-US" sz="720" dirty="0"/>
          </a:p>
        </p:txBody>
      </p:sp>
      <p:sp>
        <p:nvSpPr>
          <p:cNvPr id="8" name="Text 5"/>
          <p:cNvSpPr txBox="1"/>
          <p:nvPr/>
        </p:nvSpPr>
        <p:spPr>
          <a:xfrm>
            <a:off x="5411105" y="2062401"/>
            <a:ext cx="318331" cy="184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72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AMATA</a:t>
            </a:r>
            <a:endParaRPr lang="en-US" sz="720" dirty="0"/>
          </a:p>
        </p:txBody>
      </p:sp>
      <p:sp>
        <p:nvSpPr>
          <p:cNvPr id="9" name="Text 6"/>
          <p:cNvSpPr txBox="1"/>
          <p:nvPr/>
        </p:nvSpPr>
        <p:spPr>
          <a:xfrm>
            <a:off x="6245352" y="2066544"/>
            <a:ext cx="2459004" cy="128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80"/>
              </a:lnSpc>
              <a:buNone/>
            </a:pPr>
            <a:r>
              <a:rPr lang="en-US" sz="650" spc="91" kern="0" dirty="0">
                <a:solidFill>
                  <a:srgbClr val="2E7F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HAPPENED</a:t>
            </a:r>
            <a:endParaRPr lang="en-US" sz="650" dirty="0"/>
          </a:p>
        </p:txBody>
      </p:sp>
      <p:sp>
        <p:nvSpPr>
          <p:cNvPr id="10" name="Text 7"/>
          <p:cNvSpPr txBox="1"/>
          <p:nvPr/>
        </p:nvSpPr>
        <p:spPr>
          <a:xfrm>
            <a:off x="6245352" y="2295001"/>
            <a:ext cx="711037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b="1" spc="-72" kern="0" dirty="0">
                <a:solidFill>
                  <a:srgbClr val="C85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−19%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6995160" y="2274999"/>
            <a:ext cx="1725564" cy="308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0"/>
              </a:lnSpc>
              <a:buNone/>
            </a:pPr>
            <a:r>
              <a:rPr lang="en-US" sz="76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 low vs Mar, 25,440 h; LCBTH</a:t>
            </a:r>
            <a:endParaRPr lang="en-US" sz="760" dirty="0"/>
          </a:p>
          <a:p>
            <a:pPr algn="l" indent="0" marL="0">
              <a:lnSpc>
                <a:spcPts val="1060"/>
              </a:lnSpc>
              <a:buNone/>
            </a:pPr>
            <a:r>
              <a:rPr lang="en-US" sz="76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−29%</a:t>
            </a:r>
            <a:endParaRPr lang="en-US" sz="760" dirty="0"/>
          </a:p>
        </p:txBody>
      </p:sp>
      <p:sp>
        <p:nvSpPr>
          <p:cNvPr id="12" name="Text 9"/>
          <p:cNvSpPr txBox="1"/>
          <p:nvPr/>
        </p:nvSpPr>
        <p:spPr>
          <a:xfrm>
            <a:off x="6245352" y="2783062"/>
            <a:ext cx="711037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b="1" spc="-72" kern="0" dirty="0">
                <a:solidFill>
                  <a:srgbClr val="6E93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+44%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6995160" y="2763060"/>
            <a:ext cx="1725564" cy="308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0"/>
              </a:lnSpc>
              <a:buNone/>
            </a:pPr>
            <a:r>
              <a:rPr lang="en-US" sz="76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 to Sep: 25,440 h to a record</a:t>
            </a:r>
            <a:endParaRPr lang="en-US" sz="760" dirty="0"/>
          </a:p>
          <a:p>
            <a:pPr algn="l" indent="0" marL="0">
              <a:lnSpc>
                <a:spcPts val="1060"/>
              </a:lnSpc>
              <a:buNone/>
            </a:pPr>
            <a:r>
              <a:rPr lang="en-US" sz="76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36,653 h</a:t>
            </a:r>
            <a:endParaRPr lang="en-US" sz="760" dirty="0"/>
          </a:p>
        </p:txBody>
      </p:sp>
      <p:sp>
        <p:nvSpPr>
          <p:cNvPr id="14" name="Text 11"/>
          <p:cNvSpPr txBox="1"/>
          <p:nvPr/>
        </p:nvSpPr>
        <p:spPr>
          <a:xfrm>
            <a:off x="6245352" y="3251121"/>
            <a:ext cx="711037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b="1" spc="-72" kern="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176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6995160" y="3298269"/>
            <a:ext cx="1649212" cy="1746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60"/>
              </a:lnSpc>
              <a:buNone/>
            </a:pPr>
            <a:r>
              <a:rPr lang="en-US" sz="76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FTE in Sep vs 141 Jan–Aug avg</a:t>
            </a:r>
            <a:endParaRPr lang="en-US" sz="760" dirty="0"/>
          </a:p>
        </p:txBody>
      </p:sp>
      <p:sp>
        <p:nvSpPr>
          <p:cNvPr id="16" name="Text 13"/>
          <p:cNvSpPr txBox="1"/>
          <p:nvPr/>
        </p:nvSpPr>
        <p:spPr>
          <a:xfrm>
            <a:off x="6245352" y="3699177"/>
            <a:ext cx="2459004" cy="128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80"/>
              </a:lnSpc>
              <a:buNone/>
            </a:pPr>
            <a:r>
              <a:rPr lang="en-US" sz="650" spc="91" kern="0" dirty="0">
                <a:solidFill>
                  <a:srgbClr val="2E7F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QUARTERLY SERVICE HOURS</a:t>
            </a:r>
            <a:endParaRPr lang="en-US" sz="650" dirty="0"/>
          </a:p>
        </p:txBody>
      </p:sp>
      <p:sp>
        <p:nvSpPr>
          <p:cNvPr id="17" name="Text 14"/>
          <p:cNvSpPr txBox="1"/>
          <p:nvPr/>
        </p:nvSpPr>
        <p:spPr>
          <a:xfrm>
            <a:off x="6245352" y="3907631"/>
            <a:ext cx="237012" cy="184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72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</a:t>
            </a:r>
            <a:endParaRPr lang="en-US" sz="720" dirty="0"/>
          </a:p>
        </p:txBody>
      </p:sp>
      <p:sp>
        <p:nvSpPr>
          <p:cNvPr id="18" name="Text 15"/>
          <p:cNvSpPr txBox="1"/>
          <p:nvPr/>
        </p:nvSpPr>
        <p:spPr>
          <a:xfrm>
            <a:off x="7973568" y="3907631"/>
            <a:ext cx="592531" cy="184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72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88.0K h</a:t>
            </a:r>
            <a:endParaRPr lang="en-US" sz="720" dirty="0"/>
          </a:p>
        </p:txBody>
      </p:sp>
      <p:sp>
        <p:nvSpPr>
          <p:cNvPr id="19" name="Text 16"/>
          <p:cNvSpPr txBox="1"/>
          <p:nvPr/>
        </p:nvSpPr>
        <p:spPr>
          <a:xfrm>
            <a:off x="6245352" y="4104227"/>
            <a:ext cx="237012" cy="184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72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</a:t>
            </a:r>
            <a:endParaRPr lang="en-US" sz="720" dirty="0"/>
          </a:p>
        </p:txBody>
      </p:sp>
      <p:sp>
        <p:nvSpPr>
          <p:cNvPr id="20" name="Text 17"/>
          <p:cNvSpPr txBox="1"/>
          <p:nvPr/>
        </p:nvSpPr>
        <p:spPr>
          <a:xfrm>
            <a:off x="7973568" y="4104227"/>
            <a:ext cx="592531" cy="184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72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82.7K h</a:t>
            </a:r>
            <a:endParaRPr lang="en-US" sz="720" dirty="0"/>
          </a:p>
        </p:txBody>
      </p:sp>
      <p:sp>
        <p:nvSpPr>
          <p:cNvPr id="21" name="Text 18"/>
          <p:cNvSpPr txBox="1"/>
          <p:nvPr/>
        </p:nvSpPr>
        <p:spPr>
          <a:xfrm>
            <a:off x="6245352" y="4300823"/>
            <a:ext cx="237012" cy="184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720" b="1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</a:t>
            </a:r>
            <a:endParaRPr lang="en-US" sz="720" dirty="0"/>
          </a:p>
        </p:txBody>
      </p:sp>
      <p:sp>
        <p:nvSpPr>
          <p:cNvPr id="22" name="Text 19"/>
          <p:cNvSpPr txBox="1"/>
          <p:nvPr/>
        </p:nvSpPr>
        <p:spPr>
          <a:xfrm>
            <a:off x="7973568" y="4300823"/>
            <a:ext cx="592531" cy="184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720" b="1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100.9K h</a:t>
            </a:r>
            <a:endParaRPr lang="en-US" sz="7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CFD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onut of service-hour share and a stats card per sit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49808" y="1152144"/>
            <a:ext cx="8571951" cy="118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20"/>
              </a:lnSpc>
              <a:buNone/>
            </a:pPr>
            <a:r>
              <a:rPr lang="en-US" sz="720" spc="115" kern="0" dirty="0">
                <a:solidFill>
                  <a:srgbClr val="5A6E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SITE MIX · JAN–SEP 2026</a:t>
            </a:r>
            <a:endParaRPr lang="en-US" sz="72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344168"/>
            <a:ext cx="8887968" cy="4000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20"/>
              </a:lnSpc>
              <a:buNone/>
            </a:pPr>
            <a:r>
              <a:rPr lang="en-US" sz="2380" spc="-119" kern="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LCBTH leads hours;</a:t>
            </a:r>
            <a:pPr algn="l" indent="0" marL="0">
              <a:lnSpc>
                <a:spcPts val="2420"/>
              </a:lnSpc>
              <a:buNone/>
            </a:pPr>
            <a:r>
              <a:rPr lang="en-US" sz="2380" b="1" spc="-119" kern="0" dirty="0">
                <a:solidFill>
                  <a:srgbClr val="1752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BANGN</a:t>
            </a:r>
            <a:pPr algn="l" indent="0" marL="0">
              <a:lnSpc>
                <a:spcPts val="2420"/>
              </a:lnSpc>
              <a:buNone/>
            </a:pPr>
            <a:r>
              <a:rPr lang="en-US" sz="2380" b="1" spc="-119" kern="0" dirty="0">
                <a:solidFill>
                  <a:srgbClr val="2D7D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leads</a:t>
            </a:r>
            <a:pPr algn="l" indent="0" marL="0">
              <a:lnSpc>
                <a:spcPts val="2420"/>
              </a:lnSpc>
              <a:buNone/>
            </a:pPr>
            <a:r>
              <a:rPr lang="en-US" sz="2380" b="1" spc="-119" kern="0" dirty="0">
                <a:solidFill>
                  <a:srgbClr val="6098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missions.</a:t>
            </a:r>
            <a:endParaRPr lang="en-US" sz="2380" dirty="0"/>
          </a:p>
        </p:txBody>
      </p:sp>
      <p:sp>
        <p:nvSpPr>
          <p:cNvPr id="5" name="Text 2"/>
          <p:cNvSpPr txBox="1"/>
          <p:nvPr/>
        </p:nvSpPr>
        <p:spPr>
          <a:xfrm>
            <a:off x="387706" y="2816352"/>
            <a:ext cx="1876349" cy="285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30"/>
              </a:lnSpc>
              <a:buNone/>
            </a:pPr>
            <a:r>
              <a:rPr lang="en-US" sz="1730" b="1" spc="-69" kern="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271.7k</a:t>
            </a:r>
            <a:endParaRPr lang="en-US" sz="1730" dirty="0"/>
          </a:p>
        </p:txBody>
      </p:sp>
      <p:sp>
        <p:nvSpPr>
          <p:cNvPr id="6" name="Text 3"/>
          <p:cNvSpPr txBox="1"/>
          <p:nvPr/>
        </p:nvSpPr>
        <p:spPr>
          <a:xfrm>
            <a:off x="387706" y="3035808"/>
            <a:ext cx="1876349" cy="184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120"/>
              </a:lnSpc>
              <a:buNone/>
            </a:pPr>
            <a:r>
              <a:rPr lang="en-US" sz="72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hrs</a:t>
            </a:r>
            <a:endParaRPr lang="en-US" sz="720" dirty="0"/>
          </a:p>
        </p:txBody>
      </p:sp>
      <p:sp>
        <p:nvSpPr>
          <p:cNvPr id="7" name="Text 4"/>
          <p:cNvSpPr txBox="1"/>
          <p:nvPr/>
        </p:nvSpPr>
        <p:spPr>
          <a:xfrm>
            <a:off x="768096" y="4041648"/>
            <a:ext cx="278058" cy="184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72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69.5%</a:t>
            </a:r>
            <a:endParaRPr lang="en-US" sz="720" dirty="0"/>
          </a:p>
        </p:txBody>
      </p:sp>
      <p:sp>
        <p:nvSpPr>
          <p:cNvPr id="8" name="Text 5"/>
          <p:cNvSpPr txBox="1"/>
          <p:nvPr/>
        </p:nvSpPr>
        <p:spPr>
          <a:xfrm>
            <a:off x="1263301" y="4041648"/>
            <a:ext cx="291174" cy="184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72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20.0%</a:t>
            </a:r>
            <a:endParaRPr lang="en-US" sz="720" dirty="0"/>
          </a:p>
        </p:txBody>
      </p:sp>
      <p:sp>
        <p:nvSpPr>
          <p:cNvPr id="9" name="Text 6"/>
          <p:cNvSpPr txBox="1"/>
          <p:nvPr/>
        </p:nvSpPr>
        <p:spPr>
          <a:xfrm>
            <a:off x="1770650" y="4041648"/>
            <a:ext cx="260158" cy="184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72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10.6%</a:t>
            </a:r>
            <a:endParaRPr lang="en-US" sz="720" dirty="0"/>
          </a:p>
        </p:txBody>
      </p:sp>
      <p:sp>
        <p:nvSpPr>
          <p:cNvPr id="10" name="Text 7"/>
          <p:cNvSpPr txBox="1"/>
          <p:nvPr/>
        </p:nvSpPr>
        <p:spPr>
          <a:xfrm>
            <a:off x="2724912" y="2029968"/>
            <a:ext cx="386225" cy="136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30"/>
              </a:lnSpc>
              <a:buNone/>
            </a:pPr>
            <a:r>
              <a:rPr lang="en-US" sz="830" b="1" spc="66" kern="0" dirty="0">
                <a:solidFill>
                  <a:srgbClr val="06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LCBTH</a:t>
            </a:r>
            <a:endParaRPr lang="en-US" sz="830" dirty="0"/>
          </a:p>
        </p:txBody>
      </p:sp>
      <p:sp>
        <p:nvSpPr>
          <p:cNvPr id="11" name="Text 8"/>
          <p:cNvSpPr txBox="1"/>
          <p:nvPr/>
        </p:nvSpPr>
        <p:spPr>
          <a:xfrm>
            <a:off x="2633472" y="2223707"/>
            <a:ext cx="603024" cy="1804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71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hours</a:t>
            </a:r>
            <a:endParaRPr lang="en-US" sz="710" dirty="0"/>
          </a:p>
        </p:txBody>
      </p:sp>
      <p:sp>
        <p:nvSpPr>
          <p:cNvPr id="12" name="Text 9"/>
          <p:cNvSpPr txBox="1"/>
          <p:nvPr/>
        </p:nvSpPr>
        <p:spPr>
          <a:xfrm>
            <a:off x="3952065" y="2223707"/>
            <a:ext cx="353513" cy="1804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710" b="1" dirty="0">
                <a:solidFill>
                  <a:srgbClr val="2E7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188,739</a:t>
            </a:r>
            <a:endParaRPr lang="en-US" sz="710" dirty="0"/>
          </a:p>
        </p:txBody>
      </p:sp>
      <p:sp>
        <p:nvSpPr>
          <p:cNvPr id="13" name="Text 10"/>
          <p:cNvSpPr txBox="1"/>
          <p:nvPr/>
        </p:nvSpPr>
        <p:spPr>
          <a:xfrm>
            <a:off x="2633472" y="2434447"/>
            <a:ext cx="645766" cy="1804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71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of hours</a:t>
            </a:r>
            <a:endParaRPr lang="en-US" sz="710" dirty="0"/>
          </a:p>
        </p:txBody>
      </p:sp>
      <p:sp>
        <p:nvSpPr>
          <p:cNvPr id="14" name="Text 11"/>
          <p:cNvSpPr txBox="1"/>
          <p:nvPr/>
        </p:nvSpPr>
        <p:spPr>
          <a:xfrm>
            <a:off x="4016645" y="2434447"/>
            <a:ext cx="283767" cy="1804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710" b="1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69.5%</a:t>
            </a:r>
            <a:endParaRPr lang="en-US" sz="710" dirty="0"/>
          </a:p>
        </p:txBody>
      </p:sp>
      <p:sp>
        <p:nvSpPr>
          <p:cNvPr id="15" name="Text 12"/>
          <p:cNvSpPr txBox="1"/>
          <p:nvPr/>
        </p:nvSpPr>
        <p:spPr>
          <a:xfrm>
            <a:off x="2633472" y="2645188"/>
            <a:ext cx="480197" cy="1804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71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Customers</a:t>
            </a:r>
            <a:endParaRPr lang="en-US" sz="710" dirty="0"/>
          </a:p>
        </p:txBody>
      </p:sp>
      <p:sp>
        <p:nvSpPr>
          <p:cNvPr id="16" name="Text 13"/>
          <p:cNvSpPr txBox="1"/>
          <p:nvPr/>
        </p:nvSpPr>
        <p:spPr>
          <a:xfrm>
            <a:off x="4160663" y="2645188"/>
            <a:ext cx="128227" cy="1804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710" b="1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710" dirty="0"/>
          </a:p>
        </p:txBody>
      </p:sp>
      <p:sp>
        <p:nvSpPr>
          <p:cNvPr id="17" name="Text 14"/>
          <p:cNvSpPr txBox="1"/>
          <p:nvPr/>
        </p:nvSpPr>
        <p:spPr>
          <a:xfrm>
            <a:off x="2633472" y="2855928"/>
            <a:ext cx="386843" cy="1804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71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Missions</a:t>
            </a:r>
            <a:endParaRPr lang="en-US" sz="710" dirty="0"/>
          </a:p>
        </p:txBody>
      </p:sp>
      <p:sp>
        <p:nvSpPr>
          <p:cNvPr id="18" name="Text 15"/>
          <p:cNvSpPr txBox="1"/>
          <p:nvPr/>
        </p:nvSpPr>
        <p:spPr>
          <a:xfrm>
            <a:off x="4176093" y="2855928"/>
            <a:ext cx="111563" cy="1804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710" b="1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</a:t>
            </a:r>
            <a:endParaRPr lang="en-US" sz="710" dirty="0"/>
          </a:p>
        </p:txBody>
      </p:sp>
      <p:sp>
        <p:nvSpPr>
          <p:cNvPr id="19" name="Text 16"/>
          <p:cNvSpPr txBox="1"/>
          <p:nvPr/>
        </p:nvSpPr>
        <p:spPr>
          <a:xfrm>
            <a:off x="2633472" y="3066669"/>
            <a:ext cx="694990" cy="1804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71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Hours / mission</a:t>
            </a:r>
            <a:endParaRPr lang="en-US" sz="710" dirty="0"/>
          </a:p>
        </p:txBody>
      </p:sp>
      <p:sp>
        <p:nvSpPr>
          <p:cNvPr id="20" name="Text 17"/>
          <p:cNvSpPr txBox="1"/>
          <p:nvPr/>
        </p:nvSpPr>
        <p:spPr>
          <a:xfrm>
            <a:off x="4029361" y="3066669"/>
            <a:ext cx="270034" cy="1804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710" b="1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2,483</a:t>
            </a:r>
            <a:endParaRPr lang="en-US" sz="710" dirty="0"/>
          </a:p>
        </p:txBody>
      </p:sp>
      <p:sp>
        <p:nvSpPr>
          <p:cNvPr id="21" name="Text 18"/>
          <p:cNvSpPr txBox="1"/>
          <p:nvPr/>
        </p:nvSpPr>
        <p:spPr>
          <a:xfrm>
            <a:off x="2633472" y="3277410"/>
            <a:ext cx="657648" cy="1804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71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Mgmt fee days</a:t>
            </a:r>
            <a:endParaRPr lang="en-US" sz="710" dirty="0"/>
          </a:p>
        </p:txBody>
      </p:sp>
      <p:sp>
        <p:nvSpPr>
          <p:cNvPr id="22" name="Text 19"/>
          <p:cNvSpPr txBox="1"/>
          <p:nvPr/>
        </p:nvSpPr>
        <p:spPr>
          <a:xfrm>
            <a:off x="4021217" y="3277410"/>
            <a:ext cx="278829" cy="1804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710" b="1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2,004</a:t>
            </a:r>
            <a:endParaRPr lang="en-US" sz="710" dirty="0"/>
          </a:p>
        </p:txBody>
      </p:sp>
      <p:sp>
        <p:nvSpPr>
          <p:cNvPr id="23" name="Text 20"/>
          <p:cNvSpPr txBox="1"/>
          <p:nvPr/>
        </p:nvSpPr>
        <p:spPr>
          <a:xfrm>
            <a:off x="2633472" y="3488150"/>
            <a:ext cx="667369" cy="1804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71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Per-piece units</a:t>
            </a:r>
            <a:endParaRPr lang="en-US" sz="710" dirty="0"/>
          </a:p>
        </p:txBody>
      </p:sp>
      <p:sp>
        <p:nvSpPr>
          <p:cNvPr id="24" name="Text 21"/>
          <p:cNvSpPr txBox="1"/>
          <p:nvPr/>
        </p:nvSpPr>
        <p:spPr>
          <a:xfrm>
            <a:off x="4028646" y="3488150"/>
            <a:ext cx="270805" cy="1804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710" b="1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5,985</a:t>
            </a:r>
            <a:endParaRPr lang="en-US" sz="710" dirty="0"/>
          </a:p>
        </p:txBody>
      </p:sp>
      <p:sp>
        <p:nvSpPr>
          <p:cNvPr id="25" name="Text 22"/>
          <p:cNvSpPr txBox="1"/>
          <p:nvPr/>
        </p:nvSpPr>
        <p:spPr>
          <a:xfrm>
            <a:off x="2633472" y="3698891"/>
            <a:ext cx="761649" cy="1804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71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 vs Jan hours</a:t>
            </a:r>
            <a:endParaRPr lang="en-US" sz="710" dirty="0"/>
          </a:p>
        </p:txBody>
      </p:sp>
      <p:sp>
        <p:nvSpPr>
          <p:cNvPr id="26" name="Text 23"/>
          <p:cNvSpPr txBox="1"/>
          <p:nvPr/>
        </p:nvSpPr>
        <p:spPr>
          <a:xfrm>
            <a:off x="4037076" y="3698891"/>
            <a:ext cx="261701" cy="1804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710" b="1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+30%</a:t>
            </a:r>
            <a:endParaRPr lang="en-US" sz="710" dirty="0"/>
          </a:p>
        </p:txBody>
      </p:sp>
      <p:sp>
        <p:nvSpPr>
          <p:cNvPr id="27" name="Text 24"/>
          <p:cNvSpPr txBox="1"/>
          <p:nvPr/>
        </p:nvSpPr>
        <p:spPr>
          <a:xfrm>
            <a:off x="2587752" y="4026789"/>
            <a:ext cx="1876349" cy="1879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0"/>
              </a:lnSpc>
              <a:buNone/>
            </a:pPr>
            <a:r>
              <a:rPr lang="en-US" sz="730" b="1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LCBTH = scale</a:t>
            </a:r>
            <a:endParaRPr lang="en-US" sz="730" dirty="0"/>
          </a:p>
        </p:txBody>
      </p:sp>
      <p:sp>
        <p:nvSpPr>
          <p:cNvPr id="28" name="Text 25"/>
          <p:cNvSpPr txBox="1"/>
          <p:nvPr/>
        </p:nvSpPr>
        <p:spPr>
          <a:xfrm>
            <a:off x="2587752" y="4198811"/>
            <a:ext cx="1963217" cy="388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66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Ford + AutoAlliance + Mitsubishi port/plant</a:t>
            </a:r>
            <a:endParaRPr lang="en-US" sz="660" dirty="0"/>
          </a:p>
          <a:p>
            <a:pPr algn="l" indent="0" marL="0">
              <a:lnSpc>
                <a:spcPts val="930"/>
              </a:lnSpc>
              <a:buNone/>
            </a:pPr>
            <a:r>
              <a:rPr lang="en-US" sz="66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inspection. ~2,500 hrs per mission; only 10</a:t>
            </a:r>
            <a:endParaRPr lang="en-US" sz="660" dirty="0"/>
          </a:p>
          <a:p>
            <a:pPr algn="l" indent="0" marL="0">
              <a:lnSpc>
                <a:spcPts val="930"/>
              </a:lnSpc>
              <a:buNone/>
            </a:pPr>
            <a:r>
              <a:rPr lang="en-US" sz="66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hosts.</a:t>
            </a:r>
            <a:endParaRPr lang="en-US" sz="660" dirty="0"/>
          </a:p>
        </p:txBody>
      </p:sp>
      <p:sp>
        <p:nvSpPr>
          <p:cNvPr id="29" name="Text 26"/>
          <p:cNvSpPr txBox="1"/>
          <p:nvPr/>
        </p:nvSpPr>
        <p:spPr>
          <a:xfrm>
            <a:off x="4846320" y="2029968"/>
            <a:ext cx="386225" cy="136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30"/>
              </a:lnSpc>
              <a:buNone/>
            </a:pPr>
            <a:r>
              <a:rPr lang="en-US" sz="830" b="1" spc="66" kern="0" dirty="0">
                <a:solidFill>
                  <a:srgbClr val="06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BANGN</a:t>
            </a:r>
            <a:endParaRPr lang="en-US" sz="830" dirty="0"/>
          </a:p>
        </p:txBody>
      </p:sp>
      <p:sp>
        <p:nvSpPr>
          <p:cNvPr id="30" name="Text 27"/>
          <p:cNvSpPr txBox="1"/>
          <p:nvPr/>
        </p:nvSpPr>
        <p:spPr>
          <a:xfrm>
            <a:off x="4754880" y="2223707"/>
            <a:ext cx="603024" cy="1804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71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hours</a:t>
            </a:r>
            <a:endParaRPr lang="en-US" sz="710" dirty="0"/>
          </a:p>
        </p:txBody>
      </p:sp>
      <p:sp>
        <p:nvSpPr>
          <p:cNvPr id="31" name="Text 28"/>
          <p:cNvSpPr txBox="1"/>
          <p:nvPr/>
        </p:nvSpPr>
        <p:spPr>
          <a:xfrm>
            <a:off x="6092904" y="2223707"/>
            <a:ext cx="332527" cy="1804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710" b="1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54,235</a:t>
            </a:r>
            <a:endParaRPr lang="en-US" sz="710" dirty="0"/>
          </a:p>
        </p:txBody>
      </p:sp>
      <p:sp>
        <p:nvSpPr>
          <p:cNvPr id="32" name="Text 29"/>
          <p:cNvSpPr txBox="1"/>
          <p:nvPr/>
        </p:nvSpPr>
        <p:spPr>
          <a:xfrm>
            <a:off x="4754880" y="2434447"/>
            <a:ext cx="645766" cy="1804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71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of hours</a:t>
            </a:r>
            <a:endParaRPr lang="en-US" sz="710" dirty="0"/>
          </a:p>
        </p:txBody>
      </p:sp>
      <p:sp>
        <p:nvSpPr>
          <p:cNvPr id="33" name="Text 30"/>
          <p:cNvSpPr txBox="1"/>
          <p:nvPr/>
        </p:nvSpPr>
        <p:spPr>
          <a:xfrm>
            <a:off x="6127480" y="2434447"/>
            <a:ext cx="295185" cy="1804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710" b="1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20.0%</a:t>
            </a:r>
            <a:endParaRPr lang="en-US" sz="710" dirty="0"/>
          </a:p>
        </p:txBody>
      </p:sp>
      <p:sp>
        <p:nvSpPr>
          <p:cNvPr id="34" name="Text 31"/>
          <p:cNvSpPr txBox="1"/>
          <p:nvPr/>
        </p:nvSpPr>
        <p:spPr>
          <a:xfrm>
            <a:off x="4754880" y="2645188"/>
            <a:ext cx="480197" cy="1804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71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Customers</a:t>
            </a:r>
            <a:endParaRPr lang="en-US" sz="710" dirty="0"/>
          </a:p>
        </p:txBody>
      </p:sp>
      <p:sp>
        <p:nvSpPr>
          <p:cNvPr id="35" name="Text 32"/>
          <p:cNvSpPr txBox="1"/>
          <p:nvPr/>
        </p:nvSpPr>
        <p:spPr>
          <a:xfrm>
            <a:off x="6284928" y="2645188"/>
            <a:ext cx="125141" cy="1804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710" b="1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</a:t>
            </a:r>
            <a:endParaRPr lang="en-US" sz="71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2855928"/>
            <a:ext cx="386843" cy="1804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71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Missions</a:t>
            </a:r>
            <a:endParaRPr lang="en-US" sz="710" dirty="0"/>
          </a:p>
        </p:txBody>
      </p:sp>
      <p:sp>
        <p:nvSpPr>
          <p:cNvPr id="37" name="Text 34"/>
          <p:cNvSpPr txBox="1"/>
          <p:nvPr/>
        </p:nvSpPr>
        <p:spPr>
          <a:xfrm>
            <a:off x="6246352" y="2855928"/>
            <a:ext cx="166804" cy="1804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710" b="1" dirty="0">
                <a:solidFill>
                  <a:srgbClr val="2E7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140</a:t>
            </a:r>
            <a:endParaRPr lang="en-US" sz="710" dirty="0"/>
          </a:p>
        </p:txBody>
      </p:sp>
      <p:sp>
        <p:nvSpPr>
          <p:cNvPr id="38" name="Text 35"/>
          <p:cNvSpPr txBox="1"/>
          <p:nvPr/>
        </p:nvSpPr>
        <p:spPr>
          <a:xfrm>
            <a:off x="4754880" y="3066669"/>
            <a:ext cx="694990" cy="1804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71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Hours / mission</a:t>
            </a:r>
            <a:endParaRPr lang="en-US" sz="710" dirty="0"/>
          </a:p>
        </p:txBody>
      </p:sp>
      <p:sp>
        <p:nvSpPr>
          <p:cNvPr id="39" name="Text 36"/>
          <p:cNvSpPr txBox="1"/>
          <p:nvPr/>
        </p:nvSpPr>
        <p:spPr>
          <a:xfrm>
            <a:off x="6239637" y="3066669"/>
            <a:ext cx="174056" cy="1804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710" b="1" dirty="0">
                <a:solidFill>
                  <a:srgbClr val="2E7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387</a:t>
            </a:r>
            <a:endParaRPr lang="en-US" sz="710" dirty="0"/>
          </a:p>
        </p:txBody>
      </p:sp>
      <p:sp>
        <p:nvSpPr>
          <p:cNvPr id="40" name="Text 37"/>
          <p:cNvSpPr txBox="1"/>
          <p:nvPr/>
        </p:nvSpPr>
        <p:spPr>
          <a:xfrm>
            <a:off x="4754880" y="3277410"/>
            <a:ext cx="657648" cy="1804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71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Mgmt fee days</a:t>
            </a:r>
            <a:endParaRPr lang="en-US" sz="710" dirty="0"/>
          </a:p>
        </p:txBody>
      </p:sp>
      <p:sp>
        <p:nvSpPr>
          <p:cNvPr id="41" name="Text 38"/>
          <p:cNvSpPr txBox="1"/>
          <p:nvPr/>
        </p:nvSpPr>
        <p:spPr>
          <a:xfrm>
            <a:off x="6161484" y="3277410"/>
            <a:ext cx="258461" cy="1804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710" b="1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1,200</a:t>
            </a:r>
            <a:endParaRPr lang="en-US" sz="710" dirty="0"/>
          </a:p>
        </p:txBody>
      </p:sp>
      <p:sp>
        <p:nvSpPr>
          <p:cNvPr id="42" name="Text 39"/>
          <p:cNvSpPr txBox="1"/>
          <p:nvPr/>
        </p:nvSpPr>
        <p:spPr>
          <a:xfrm>
            <a:off x="4754880" y="3488150"/>
            <a:ext cx="667369" cy="1804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71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Per-piece units</a:t>
            </a:r>
            <a:endParaRPr lang="en-US" sz="710" dirty="0"/>
          </a:p>
        </p:txBody>
      </p:sp>
      <p:sp>
        <p:nvSpPr>
          <p:cNvPr id="43" name="Text 40"/>
          <p:cNvSpPr txBox="1"/>
          <p:nvPr/>
        </p:nvSpPr>
        <p:spPr>
          <a:xfrm>
            <a:off x="6095048" y="3488150"/>
            <a:ext cx="330213" cy="1804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710" b="1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23,533</a:t>
            </a:r>
            <a:endParaRPr lang="en-US" sz="710" dirty="0"/>
          </a:p>
        </p:txBody>
      </p:sp>
      <p:sp>
        <p:nvSpPr>
          <p:cNvPr id="44" name="Text 41"/>
          <p:cNvSpPr txBox="1"/>
          <p:nvPr/>
        </p:nvSpPr>
        <p:spPr>
          <a:xfrm>
            <a:off x="4754880" y="3698891"/>
            <a:ext cx="761649" cy="1804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71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 vs Jan hours</a:t>
            </a:r>
            <a:endParaRPr lang="en-US" sz="710" dirty="0"/>
          </a:p>
        </p:txBody>
      </p:sp>
      <p:sp>
        <p:nvSpPr>
          <p:cNvPr id="45" name="Text 42"/>
          <p:cNvSpPr txBox="1"/>
          <p:nvPr/>
        </p:nvSpPr>
        <p:spPr>
          <a:xfrm>
            <a:off x="6165342" y="3698891"/>
            <a:ext cx="254295" cy="1804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710" b="1" dirty="0">
                <a:solidFill>
                  <a:srgbClr val="2E7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+96%</a:t>
            </a:r>
            <a:endParaRPr lang="en-US" sz="710" dirty="0"/>
          </a:p>
        </p:txBody>
      </p:sp>
      <p:sp>
        <p:nvSpPr>
          <p:cNvPr id="46" name="Text 43"/>
          <p:cNvSpPr txBox="1"/>
          <p:nvPr/>
        </p:nvSpPr>
        <p:spPr>
          <a:xfrm>
            <a:off x="4709160" y="4026789"/>
            <a:ext cx="1876349" cy="1879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0"/>
              </a:lnSpc>
              <a:buNone/>
            </a:pPr>
            <a:r>
              <a:rPr lang="en-US" sz="730" b="1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BANGN = breadth</a:t>
            </a:r>
            <a:endParaRPr lang="en-US" sz="730" dirty="0"/>
          </a:p>
        </p:txBody>
      </p:sp>
      <p:sp>
        <p:nvSpPr>
          <p:cNvPr id="47" name="Text 44"/>
          <p:cNvSpPr txBox="1"/>
          <p:nvPr/>
        </p:nvSpPr>
        <p:spPr>
          <a:xfrm>
            <a:off x="4709160" y="4198811"/>
            <a:ext cx="1963217" cy="388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66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140 missions, 53 customers, 70% of per-piece</a:t>
            </a:r>
            <a:endParaRPr lang="en-US" sz="660" dirty="0"/>
          </a:p>
          <a:p>
            <a:pPr algn="l" indent="0" marL="0">
              <a:lnSpc>
                <a:spcPts val="930"/>
              </a:lnSpc>
              <a:buNone/>
            </a:pPr>
            <a:r>
              <a:rPr lang="en-US" sz="66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units. Many short sorting jobs (~390</a:t>
            </a:r>
            <a:endParaRPr lang="en-US" sz="660" dirty="0"/>
          </a:p>
          <a:p>
            <a:pPr algn="l" indent="0" marL="0">
              <a:lnSpc>
                <a:spcPts val="930"/>
              </a:lnSpc>
              <a:buNone/>
            </a:pPr>
            <a:r>
              <a:rPr lang="en-US" sz="66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hrs/mission).</a:t>
            </a:r>
            <a:endParaRPr lang="en-US" sz="660" dirty="0"/>
          </a:p>
        </p:txBody>
      </p:sp>
      <p:sp>
        <p:nvSpPr>
          <p:cNvPr id="48" name="Text 45"/>
          <p:cNvSpPr txBox="1"/>
          <p:nvPr/>
        </p:nvSpPr>
        <p:spPr>
          <a:xfrm>
            <a:off x="6967728" y="2035826"/>
            <a:ext cx="386225" cy="136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30"/>
              </a:lnSpc>
              <a:buNone/>
            </a:pPr>
            <a:r>
              <a:rPr lang="en-US" sz="830" b="1" spc="66" kern="0" dirty="0">
                <a:solidFill>
                  <a:srgbClr val="06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AMATA</a:t>
            </a:r>
            <a:endParaRPr lang="en-US" sz="830" dirty="0"/>
          </a:p>
        </p:txBody>
      </p:sp>
      <p:sp>
        <p:nvSpPr>
          <p:cNvPr id="49" name="Text 46"/>
          <p:cNvSpPr txBox="1"/>
          <p:nvPr/>
        </p:nvSpPr>
        <p:spPr>
          <a:xfrm>
            <a:off x="6876288" y="2235422"/>
            <a:ext cx="603024" cy="1921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71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hours</a:t>
            </a:r>
            <a:endParaRPr lang="en-US" sz="710" dirty="0"/>
          </a:p>
        </p:txBody>
      </p:sp>
      <p:sp>
        <p:nvSpPr>
          <p:cNvPr id="50" name="Text 47"/>
          <p:cNvSpPr txBox="1"/>
          <p:nvPr/>
        </p:nvSpPr>
        <p:spPr>
          <a:xfrm>
            <a:off x="8227600" y="2235422"/>
            <a:ext cx="318177" cy="1921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710" b="1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28,687</a:t>
            </a:r>
            <a:endParaRPr lang="en-US" sz="710" dirty="0"/>
          </a:p>
        </p:txBody>
      </p:sp>
      <p:sp>
        <p:nvSpPr>
          <p:cNvPr id="51" name="Text 48"/>
          <p:cNvSpPr txBox="1"/>
          <p:nvPr/>
        </p:nvSpPr>
        <p:spPr>
          <a:xfrm>
            <a:off x="6876288" y="2457879"/>
            <a:ext cx="645766" cy="1921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71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of hours</a:t>
            </a:r>
            <a:endParaRPr lang="en-US" sz="710" dirty="0"/>
          </a:p>
        </p:txBody>
      </p:sp>
      <p:sp>
        <p:nvSpPr>
          <p:cNvPr id="52" name="Text 49"/>
          <p:cNvSpPr txBox="1"/>
          <p:nvPr/>
        </p:nvSpPr>
        <p:spPr>
          <a:xfrm>
            <a:off x="8275463" y="2457879"/>
            <a:ext cx="266485" cy="1921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710" b="1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10.6%</a:t>
            </a:r>
            <a:endParaRPr lang="en-US" sz="710" dirty="0"/>
          </a:p>
        </p:txBody>
      </p:sp>
      <p:sp>
        <p:nvSpPr>
          <p:cNvPr id="53" name="Text 50"/>
          <p:cNvSpPr txBox="1"/>
          <p:nvPr/>
        </p:nvSpPr>
        <p:spPr>
          <a:xfrm>
            <a:off x="6876288" y="2680335"/>
            <a:ext cx="480197" cy="1921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71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Customers</a:t>
            </a:r>
            <a:endParaRPr lang="en-US" sz="710" dirty="0"/>
          </a:p>
        </p:txBody>
      </p:sp>
      <p:sp>
        <p:nvSpPr>
          <p:cNvPr id="54" name="Text 51"/>
          <p:cNvSpPr txBox="1"/>
          <p:nvPr/>
        </p:nvSpPr>
        <p:spPr>
          <a:xfrm>
            <a:off x="8426768" y="2680335"/>
            <a:ext cx="103076" cy="1921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710" b="1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710" dirty="0"/>
          </a:p>
        </p:txBody>
      </p:sp>
      <p:sp>
        <p:nvSpPr>
          <p:cNvPr id="55" name="Text 52"/>
          <p:cNvSpPr txBox="1"/>
          <p:nvPr/>
        </p:nvSpPr>
        <p:spPr>
          <a:xfrm>
            <a:off x="6876288" y="2902791"/>
            <a:ext cx="386843" cy="1921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71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Missions</a:t>
            </a:r>
            <a:endParaRPr lang="en-US" sz="710" dirty="0"/>
          </a:p>
        </p:txBody>
      </p:sp>
      <p:sp>
        <p:nvSpPr>
          <p:cNvPr id="56" name="Text 53"/>
          <p:cNvSpPr txBox="1"/>
          <p:nvPr/>
        </p:nvSpPr>
        <p:spPr>
          <a:xfrm>
            <a:off x="8405765" y="2902791"/>
            <a:ext cx="125759" cy="1921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710" b="1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</a:t>
            </a:r>
            <a:endParaRPr lang="en-US" sz="710" dirty="0"/>
          </a:p>
        </p:txBody>
      </p:sp>
      <p:sp>
        <p:nvSpPr>
          <p:cNvPr id="57" name="Text 54"/>
          <p:cNvSpPr txBox="1"/>
          <p:nvPr/>
        </p:nvSpPr>
        <p:spPr>
          <a:xfrm>
            <a:off x="6876288" y="3125248"/>
            <a:ext cx="694990" cy="1921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71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Hours / mission</a:t>
            </a:r>
            <a:endParaRPr lang="en-US" sz="710" dirty="0"/>
          </a:p>
        </p:txBody>
      </p:sp>
      <p:sp>
        <p:nvSpPr>
          <p:cNvPr id="58" name="Text 55"/>
          <p:cNvSpPr txBox="1"/>
          <p:nvPr/>
        </p:nvSpPr>
        <p:spPr>
          <a:xfrm>
            <a:off x="8363617" y="3125248"/>
            <a:ext cx="171279" cy="1921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710" b="1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637</a:t>
            </a:r>
            <a:endParaRPr lang="en-US" sz="710" dirty="0"/>
          </a:p>
        </p:txBody>
      </p:sp>
      <p:sp>
        <p:nvSpPr>
          <p:cNvPr id="59" name="Text 56"/>
          <p:cNvSpPr txBox="1"/>
          <p:nvPr/>
        </p:nvSpPr>
        <p:spPr>
          <a:xfrm>
            <a:off x="6876288" y="3347704"/>
            <a:ext cx="657648" cy="192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71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Mgmt fee days</a:t>
            </a:r>
            <a:endParaRPr lang="en-US" sz="710" dirty="0"/>
          </a:p>
        </p:txBody>
      </p:sp>
      <p:sp>
        <p:nvSpPr>
          <p:cNvPr id="60" name="Text 57"/>
          <p:cNvSpPr txBox="1"/>
          <p:nvPr/>
        </p:nvSpPr>
        <p:spPr>
          <a:xfrm>
            <a:off x="8354901" y="3347704"/>
            <a:ext cx="180691" cy="192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710" b="1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663</a:t>
            </a:r>
            <a:endParaRPr lang="en-US" sz="710" dirty="0"/>
          </a:p>
        </p:txBody>
      </p:sp>
      <p:sp>
        <p:nvSpPr>
          <p:cNvPr id="61" name="Text 58"/>
          <p:cNvSpPr txBox="1"/>
          <p:nvPr/>
        </p:nvSpPr>
        <p:spPr>
          <a:xfrm>
            <a:off x="6876288" y="3570303"/>
            <a:ext cx="667369" cy="192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71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Per-piece units</a:t>
            </a:r>
            <a:endParaRPr lang="en-US" sz="710" dirty="0"/>
          </a:p>
        </p:txBody>
      </p:sp>
      <p:sp>
        <p:nvSpPr>
          <p:cNvPr id="62" name="Text 59"/>
          <p:cNvSpPr txBox="1"/>
          <p:nvPr/>
        </p:nvSpPr>
        <p:spPr>
          <a:xfrm>
            <a:off x="8297609" y="3570303"/>
            <a:ext cx="242567" cy="192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710" b="1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4,160</a:t>
            </a:r>
            <a:endParaRPr lang="en-US" sz="710" dirty="0"/>
          </a:p>
        </p:txBody>
      </p:sp>
      <p:sp>
        <p:nvSpPr>
          <p:cNvPr id="63" name="Text 60"/>
          <p:cNvSpPr txBox="1"/>
          <p:nvPr/>
        </p:nvSpPr>
        <p:spPr>
          <a:xfrm>
            <a:off x="6876288" y="3792903"/>
            <a:ext cx="761649" cy="192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71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 vs Jan hours</a:t>
            </a:r>
            <a:endParaRPr lang="en-US" sz="710" dirty="0"/>
          </a:p>
        </p:txBody>
      </p:sp>
      <p:sp>
        <p:nvSpPr>
          <p:cNvPr id="64" name="Text 61"/>
          <p:cNvSpPr txBox="1"/>
          <p:nvPr/>
        </p:nvSpPr>
        <p:spPr>
          <a:xfrm>
            <a:off x="8282321" y="3792903"/>
            <a:ext cx="259078" cy="192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710" b="1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+35%</a:t>
            </a:r>
            <a:endParaRPr lang="en-US" sz="710" dirty="0"/>
          </a:p>
        </p:txBody>
      </p:sp>
      <p:sp>
        <p:nvSpPr>
          <p:cNvPr id="65" name="Text 62"/>
          <p:cNvSpPr txBox="1"/>
          <p:nvPr/>
        </p:nvSpPr>
        <p:spPr>
          <a:xfrm>
            <a:off x="6830568" y="4132659"/>
            <a:ext cx="1876349" cy="193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0"/>
              </a:lnSpc>
              <a:buNone/>
            </a:pPr>
            <a:r>
              <a:rPr lang="en-US" sz="730" b="1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BANGN = growth</a:t>
            </a:r>
            <a:endParaRPr lang="en-US" sz="730" dirty="0"/>
          </a:p>
        </p:txBody>
      </p:sp>
      <p:sp>
        <p:nvSpPr>
          <p:cNvPr id="66" name="Text 63"/>
          <p:cNvSpPr txBox="1"/>
          <p:nvPr/>
        </p:nvSpPr>
        <p:spPr>
          <a:xfrm>
            <a:off x="6830568" y="4310539"/>
            <a:ext cx="1963217" cy="2767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66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Hours up 96% from Jan to Sep, the fastest</a:t>
            </a:r>
            <a:endParaRPr lang="en-US" sz="660" dirty="0"/>
          </a:p>
          <a:p>
            <a:pPr algn="l" indent="0" marL="0">
              <a:lnSpc>
                <a:spcPts val="930"/>
              </a:lnSpc>
              <a:buNone/>
            </a:pPr>
            <a:r>
              <a:rPr lang="en-US" sz="66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of the three sites.</a:t>
            </a:r>
            <a:endParaRPr lang="en-US" sz="6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CFD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orizontal bar chart of service hours by host, with host highlight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49808" y="1152144"/>
            <a:ext cx="8571951" cy="118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20"/>
              </a:lnSpc>
              <a:buNone/>
            </a:pPr>
            <a:r>
              <a:rPr lang="en-US" sz="720" spc="115" kern="0" dirty="0">
                <a:solidFill>
                  <a:srgbClr val="5A6E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CUSTOMERS &amp; HOSTS</a:t>
            </a:r>
            <a:endParaRPr lang="en-US" sz="72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344168"/>
            <a:ext cx="8887968" cy="4000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20"/>
              </a:lnSpc>
              <a:buNone/>
            </a:pPr>
            <a:r>
              <a:rPr lang="en-US" sz="2380" spc="-119" kern="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major hosts account for</a:t>
            </a:r>
            <a:pPr algn="l" indent="0" marL="0">
              <a:lnSpc>
                <a:spcPts val="2420"/>
              </a:lnSpc>
              <a:buNone/>
            </a:pPr>
            <a:r>
              <a:rPr lang="en-US" sz="2380" b="1" spc="-119" kern="0" dirty="0">
                <a:solidFill>
                  <a:srgbClr val="1247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71%</a:t>
            </a:r>
            <a:pPr algn="l" indent="0" marL="0">
              <a:lnSpc>
                <a:spcPts val="2420"/>
              </a:lnSpc>
              <a:buNone/>
            </a:pPr>
            <a:r>
              <a:rPr lang="en-US" sz="2380" b="1" spc="-119" kern="0" dirty="0">
                <a:solidFill>
                  <a:srgbClr val="1E5F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of</a:t>
            </a:r>
            <a:pPr algn="l" indent="0" marL="0">
              <a:lnSpc>
                <a:spcPts val="2420"/>
              </a:lnSpc>
              <a:buNone/>
            </a:pPr>
            <a:r>
              <a:rPr lang="en-US" sz="2380" b="1" spc="-119" kern="0" dirty="0">
                <a:solidFill>
                  <a:srgbClr val="3281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service</a:t>
            </a:r>
            <a:pPr algn="l" indent="0" marL="0">
              <a:lnSpc>
                <a:spcPts val="2420"/>
              </a:lnSpc>
              <a:buNone/>
            </a:pPr>
            <a:r>
              <a:rPr lang="en-US" sz="2380" b="1" spc="-119" kern="0" dirty="0">
                <a:solidFill>
                  <a:srgbClr val="689C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hours.</a:t>
            </a:r>
            <a:endParaRPr lang="en-US" sz="2380" dirty="0"/>
          </a:p>
        </p:txBody>
      </p:sp>
      <p:sp>
        <p:nvSpPr>
          <p:cNvPr id="5" name="Text 2"/>
          <p:cNvSpPr txBox="1"/>
          <p:nvPr/>
        </p:nvSpPr>
        <p:spPr>
          <a:xfrm>
            <a:off x="603504" y="2048256"/>
            <a:ext cx="2265506" cy="221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60" b="1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hours by host and site, Jan–Sep</a:t>
            </a:r>
            <a:endParaRPr lang="en-US" sz="860" dirty="0"/>
          </a:p>
        </p:txBody>
      </p:sp>
      <p:sp>
        <p:nvSpPr>
          <p:cNvPr id="6" name="Text 3"/>
          <p:cNvSpPr txBox="1"/>
          <p:nvPr/>
        </p:nvSpPr>
        <p:spPr>
          <a:xfrm>
            <a:off x="4478988" y="2062401"/>
            <a:ext cx="307221" cy="184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72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LCBTH</a:t>
            </a:r>
            <a:endParaRPr lang="en-US" sz="720" dirty="0"/>
          </a:p>
        </p:txBody>
      </p:sp>
      <p:sp>
        <p:nvSpPr>
          <p:cNvPr id="7" name="Text 4"/>
          <p:cNvSpPr txBox="1"/>
          <p:nvPr/>
        </p:nvSpPr>
        <p:spPr>
          <a:xfrm>
            <a:off x="5019485" y="2062401"/>
            <a:ext cx="343946" cy="184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72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BANGN</a:t>
            </a:r>
            <a:endParaRPr lang="en-US" sz="720" dirty="0"/>
          </a:p>
        </p:txBody>
      </p:sp>
      <p:sp>
        <p:nvSpPr>
          <p:cNvPr id="8" name="Text 5"/>
          <p:cNvSpPr txBox="1"/>
          <p:nvPr/>
        </p:nvSpPr>
        <p:spPr>
          <a:xfrm>
            <a:off x="5593985" y="2062401"/>
            <a:ext cx="318331" cy="184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72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AMATA</a:t>
            </a:r>
            <a:endParaRPr lang="en-US" sz="720" dirty="0"/>
          </a:p>
        </p:txBody>
      </p:sp>
      <p:sp>
        <p:nvSpPr>
          <p:cNvPr id="9" name="Text 6"/>
          <p:cNvSpPr txBox="1"/>
          <p:nvPr/>
        </p:nvSpPr>
        <p:spPr>
          <a:xfrm>
            <a:off x="6428232" y="2066544"/>
            <a:ext cx="2261494" cy="128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80"/>
              </a:lnSpc>
              <a:buNone/>
            </a:pPr>
            <a:r>
              <a:rPr lang="en-US" sz="650" spc="91" kern="0" dirty="0">
                <a:solidFill>
                  <a:srgbClr val="2E7F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HOST HIGHLIGHTS</a:t>
            </a:r>
            <a:endParaRPr lang="en-US" sz="650" dirty="0"/>
          </a:p>
        </p:txBody>
      </p:sp>
      <p:sp>
        <p:nvSpPr>
          <p:cNvPr id="10" name="Text 7"/>
          <p:cNvSpPr txBox="1"/>
          <p:nvPr/>
        </p:nvSpPr>
        <p:spPr>
          <a:xfrm>
            <a:off x="6428232" y="2362152"/>
            <a:ext cx="592531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b="1" spc="-72" kern="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51%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7068312" y="2274999"/>
            <a:ext cx="1642902" cy="4432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0"/>
              </a:lnSpc>
              <a:buNone/>
            </a:pPr>
            <a:r>
              <a:rPr lang="en-US" sz="76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Ford MVIP activity: 138.4K h</a:t>
            </a:r>
            <a:endParaRPr lang="en-US" sz="760" dirty="0"/>
          </a:p>
          <a:p>
            <a:pPr algn="l" indent="0" marL="0">
              <a:lnSpc>
                <a:spcPts val="1060"/>
              </a:lnSpc>
              <a:buNone/>
            </a:pPr>
            <a:r>
              <a:rPr lang="en-US" sz="76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across the Ford and Auto</a:t>
            </a:r>
            <a:endParaRPr lang="en-US" sz="760" dirty="0"/>
          </a:p>
          <a:p>
            <a:pPr algn="l" indent="0" marL="0">
              <a:lnSpc>
                <a:spcPts val="1060"/>
              </a:lnSpc>
              <a:buNone/>
            </a:pPr>
            <a:r>
              <a:rPr lang="en-US" sz="76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Alliance plants</a:t>
            </a:r>
            <a:endParaRPr lang="en-US" sz="760" dirty="0"/>
          </a:p>
        </p:txBody>
      </p:sp>
      <p:sp>
        <p:nvSpPr>
          <p:cNvPr id="12" name="Text 9"/>
          <p:cNvSpPr txBox="1"/>
          <p:nvPr/>
        </p:nvSpPr>
        <p:spPr>
          <a:xfrm>
            <a:off x="6428232" y="2984516"/>
            <a:ext cx="592531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b="1" spc="-72" kern="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7068312" y="2897362"/>
            <a:ext cx="1642902" cy="4432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0"/>
              </a:lnSpc>
              <a:buNone/>
            </a:pPr>
            <a:r>
              <a:rPr lang="en-US" sz="76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Customers at MMTH Engine:</a:t>
            </a:r>
            <a:endParaRPr lang="en-US" sz="760" dirty="0"/>
          </a:p>
          <a:p>
            <a:pPr algn="l" indent="0" marL="0">
              <a:lnSpc>
                <a:spcPts val="1060"/>
              </a:lnSpc>
              <a:buNone/>
            </a:pPr>
            <a:r>
              <a:rPr lang="en-US" sz="76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largest host, 38.1K h; TMBP</a:t>
            </a:r>
            <a:endParaRPr lang="en-US" sz="760" dirty="0"/>
          </a:p>
          <a:p>
            <a:pPr algn="l" indent="0" marL="0">
              <a:lnSpc>
                <a:spcPts val="1060"/>
              </a:lnSpc>
              <a:buNone/>
            </a:pPr>
            <a:r>
              <a:rPr lang="en-US" sz="76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serves 11</a:t>
            </a:r>
            <a:endParaRPr lang="en-US" sz="760" dirty="0"/>
          </a:p>
        </p:txBody>
      </p:sp>
      <p:sp>
        <p:nvSpPr>
          <p:cNvPr id="14" name="Text 11"/>
          <p:cNvSpPr txBox="1"/>
          <p:nvPr/>
        </p:nvSpPr>
        <p:spPr>
          <a:xfrm>
            <a:off x="6428232" y="3539728"/>
            <a:ext cx="592531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b="1" spc="-72" kern="0" dirty="0">
                <a:solidFill>
                  <a:srgbClr val="6E93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4.5×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7068312" y="3519726"/>
            <a:ext cx="1642902" cy="308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0"/>
              </a:lnSpc>
              <a:buNone/>
            </a:pPr>
            <a:r>
              <a:rPr lang="en-US" sz="76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Yusen Logistic growth: 331 h in</a:t>
            </a:r>
            <a:endParaRPr lang="en-US" sz="760" dirty="0"/>
          </a:p>
          <a:p>
            <a:pPr algn="l" indent="0" marL="0">
              <a:lnSpc>
                <a:spcPts val="1060"/>
              </a:lnSpc>
              <a:buNone/>
            </a:pPr>
            <a:r>
              <a:rPr lang="en-US" sz="76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 → 1,488 h in Sep</a:t>
            </a:r>
            <a:endParaRPr lang="en-US" sz="76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CFD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ection: Cost reduction, coin stacks phot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49808" y="1920240"/>
            <a:ext cx="3831702" cy="118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20"/>
              </a:lnSpc>
              <a:buNone/>
            </a:pPr>
            <a:r>
              <a:rPr lang="en-US" sz="720" spc="115" kern="0" dirty="0">
                <a:solidFill>
                  <a:srgbClr val="5A6E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NON-RAYONG OVERVIEW 2026</a:t>
            </a:r>
            <a:endParaRPr lang="en-US" sz="72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194560"/>
            <a:ext cx="4147718" cy="7758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700"/>
              </a:lnSpc>
              <a:buNone/>
            </a:pPr>
            <a:r>
              <a:rPr lang="en-US" sz="4610" spc="-230" kern="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</a:t>
            </a:r>
            <a:pPr algn="l" indent="0" marL="0">
              <a:lnSpc>
                <a:spcPts val="4700"/>
              </a:lnSpc>
              <a:buNone/>
            </a:pPr>
            <a:r>
              <a:rPr lang="en-US" sz="4610" b="1" spc="-230" kern="0" dirty="0">
                <a:solidFill>
                  <a:srgbClr val="318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reduction.</a:t>
            </a:r>
            <a:endParaRPr lang="en-US" sz="461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2974229"/>
            <a:ext cx="3719779" cy="4732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08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new beverage supplier, and a 2026 drink mix that</a:t>
            </a:r>
            <a:endParaRPr lang="en-US" sz="1080" dirty="0"/>
          </a:p>
          <a:p>
            <a:pPr algn="l" indent="0" marL="0">
              <a:lnSpc>
                <a:spcPts val="1620"/>
              </a:lnSpc>
              <a:buNone/>
            </a:pPr>
            <a:r>
              <a:rPr lang="en-US" sz="108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lowers the cost per unit.</a:t>
            </a:r>
            <a:endParaRPr lang="en-US" sz="10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CFD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vious and current supplier unit cost, with a monthly total cost and cost per headcount char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49808" y="1152144"/>
            <a:ext cx="8571951" cy="118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20"/>
              </a:lnSpc>
              <a:buNone/>
            </a:pPr>
            <a:r>
              <a:rPr lang="en-US" sz="720" spc="115" kern="0" dirty="0">
                <a:solidFill>
                  <a:srgbClr val="5A6E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COST REDUCTION / BEVERAGE SUPPLIER</a:t>
            </a:r>
            <a:endParaRPr lang="en-US" sz="72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344168"/>
            <a:ext cx="8887968" cy="4000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20"/>
              </a:lnSpc>
              <a:buNone/>
            </a:pPr>
            <a:r>
              <a:rPr lang="en-US" sz="2380" spc="-119" kern="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Supplier change reduced</a:t>
            </a:r>
            <a:pPr algn="l" indent="0" marL="0">
              <a:lnSpc>
                <a:spcPts val="2420"/>
              </a:lnSpc>
              <a:buNone/>
            </a:pPr>
            <a:r>
              <a:rPr lang="en-US" sz="2380" b="1" spc="-119" kern="0" dirty="0">
                <a:solidFill>
                  <a:srgbClr val="134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unit</a:t>
            </a:r>
            <a:pPr algn="l" indent="0" marL="0">
              <a:lnSpc>
                <a:spcPts val="2420"/>
              </a:lnSpc>
              <a:buNone/>
            </a:pPr>
            <a:r>
              <a:rPr lang="en-US" sz="2380" b="1" spc="-119" kern="0" dirty="0">
                <a:solidFill>
                  <a:srgbClr val="2771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cost</a:t>
            </a:r>
            <a:pPr algn="l" indent="0" marL="0">
              <a:lnSpc>
                <a:spcPts val="2420"/>
              </a:lnSpc>
              <a:buNone/>
            </a:pPr>
            <a:r>
              <a:rPr lang="en-US" sz="2380" b="1" spc="-119" kern="0" dirty="0">
                <a:solidFill>
                  <a:srgbClr val="4289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by</a:t>
            </a:r>
            <a:pPr algn="l" indent="0" marL="0">
              <a:lnSpc>
                <a:spcPts val="2420"/>
              </a:lnSpc>
              <a:buNone/>
            </a:pPr>
            <a:r>
              <a:rPr lang="en-US" sz="2380" b="1" spc="-119" kern="0" dirty="0">
                <a:solidFill>
                  <a:srgbClr val="689C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30%.</a:t>
            </a:r>
            <a:endParaRPr lang="en-US" sz="238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752505"/>
            <a:ext cx="8887968" cy="2407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7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purchase cost, with the monthly operating trend kept in view.</a:t>
            </a:r>
            <a:endParaRPr lang="en-US" sz="970" dirty="0"/>
          </a:p>
        </p:txBody>
      </p:sp>
      <p:sp>
        <p:nvSpPr>
          <p:cNvPr id="6" name="Text 3"/>
          <p:cNvSpPr txBox="1"/>
          <p:nvPr/>
        </p:nvSpPr>
        <p:spPr>
          <a:xfrm>
            <a:off x="603504" y="2313432"/>
            <a:ext cx="2646639" cy="128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80"/>
              </a:lnSpc>
              <a:buNone/>
            </a:pPr>
            <a:r>
              <a:rPr lang="en-US" sz="650" spc="91" kern="0" dirty="0">
                <a:solidFill>
                  <a:srgbClr val="5A6E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PREVIOUS SUPPLIER</a:t>
            </a:r>
            <a:endParaRPr lang="en-US" sz="650" dirty="0"/>
          </a:p>
        </p:txBody>
      </p:sp>
      <p:sp>
        <p:nvSpPr>
          <p:cNvPr id="7" name="Text 4"/>
          <p:cNvSpPr txBox="1"/>
          <p:nvPr/>
        </p:nvSpPr>
        <p:spPr>
          <a:xfrm>
            <a:off x="603504" y="2448735"/>
            <a:ext cx="2646639" cy="405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60"/>
              </a:lnSpc>
              <a:buNone/>
            </a:pPr>
            <a:r>
              <a:rPr lang="en-US" sz="1580" b="1" spc="-48" kern="0" dirty="0">
                <a:solidFill>
                  <a:srgbClr val="7A8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22.34 THB / unit</a:t>
            </a:r>
            <a:endParaRPr lang="en-US" sz="1580" dirty="0"/>
          </a:p>
        </p:txBody>
      </p:sp>
      <p:sp>
        <p:nvSpPr>
          <p:cNvPr id="8" name="Text 5"/>
          <p:cNvSpPr txBox="1"/>
          <p:nvPr/>
        </p:nvSpPr>
        <p:spPr>
          <a:xfrm>
            <a:off x="603504" y="2797064"/>
            <a:ext cx="2646639" cy="184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72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avg. 80,899.75 THB</a:t>
            </a:r>
            <a:endParaRPr lang="en-US" sz="720" dirty="0"/>
          </a:p>
        </p:txBody>
      </p:sp>
      <p:sp>
        <p:nvSpPr>
          <p:cNvPr id="9" name="Text 6"/>
          <p:cNvSpPr txBox="1"/>
          <p:nvPr/>
        </p:nvSpPr>
        <p:spPr>
          <a:xfrm>
            <a:off x="603504" y="3304556"/>
            <a:ext cx="2646639" cy="128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80"/>
              </a:lnSpc>
              <a:buNone/>
            </a:pPr>
            <a:r>
              <a:rPr lang="en-US" sz="650" spc="91" kern="0" dirty="0">
                <a:solidFill>
                  <a:srgbClr val="6E93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CURRENT SUPPLIER</a:t>
            </a:r>
            <a:endParaRPr lang="en-US" sz="650" dirty="0"/>
          </a:p>
        </p:txBody>
      </p:sp>
      <p:sp>
        <p:nvSpPr>
          <p:cNvPr id="10" name="Text 7"/>
          <p:cNvSpPr txBox="1"/>
          <p:nvPr/>
        </p:nvSpPr>
        <p:spPr>
          <a:xfrm>
            <a:off x="603504" y="3439859"/>
            <a:ext cx="2646639" cy="405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60"/>
              </a:lnSpc>
              <a:buNone/>
            </a:pPr>
            <a:r>
              <a:rPr lang="en-US" sz="1580" b="1" spc="-48" kern="0" dirty="0">
                <a:solidFill>
                  <a:srgbClr val="6E93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15.68 THB / unit</a:t>
            </a:r>
            <a:endParaRPr lang="en-US" sz="1580" dirty="0"/>
          </a:p>
        </p:txBody>
      </p:sp>
      <p:sp>
        <p:nvSpPr>
          <p:cNvPr id="11" name="Text 8"/>
          <p:cNvSpPr txBox="1"/>
          <p:nvPr/>
        </p:nvSpPr>
        <p:spPr>
          <a:xfrm>
            <a:off x="603504" y="3788188"/>
            <a:ext cx="2646639" cy="184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72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avg. 64,983.03 THB</a:t>
            </a:r>
            <a:endParaRPr lang="en-US" sz="720" dirty="0"/>
          </a:p>
        </p:txBody>
      </p:sp>
      <p:sp>
        <p:nvSpPr>
          <p:cNvPr id="12" name="Text 9"/>
          <p:cNvSpPr txBox="1"/>
          <p:nvPr/>
        </p:nvSpPr>
        <p:spPr>
          <a:xfrm>
            <a:off x="3666744" y="2322576"/>
            <a:ext cx="1362822" cy="221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60" b="1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cost and cost / HC</a:t>
            </a:r>
            <a:endParaRPr lang="en-US" sz="860" dirty="0"/>
          </a:p>
        </p:txBody>
      </p:sp>
      <p:sp>
        <p:nvSpPr>
          <p:cNvPr id="13" name="Text 10"/>
          <p:cNvSpPr txBox="1"/>
          <p:nvPr/>
        </p:nvSpPr>
        <p:spPr>
          <a:xfrm>
            <a:off x="5990320" y="2336721"/>
            <a:ext cx="775846" cy="184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72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Previous supplier</a:t>
            </a:r>
            <a:endParaRPr lang="en-US" sz="720" dirty="0"/>
          </a:p>
        </p:txBody>
      </p:sp>
      <p:sp>
        <p:nvSpPr>
          <p:cNvPr id="14" name="Text 11"/>
          <p:cNvSpPr txBox="1"/>
          <p:nvPr/>
        </p:nvSpPr>
        <p:spPr>
          <a:xfrm>
            <a:off x="6964728" y="2336721"/>
            <a:ext cx="727239" cy="184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72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supplier</a:t>
            </a:r>
            <a:endParaRPr lang="en-US" sz="720" dirty="0"/>
          </a:p>
        </p:txBody>
      </p:sp>
      <p:sp>
        <p:nvSpPr>
          <p:cNvPr id="15" name="Text 12"/>
          <p:cNvSpPr txBox="1"/>
          <p:nvPr/>
        </p:nvSpPr>
        <p:spPr>
          <a:xfrm>
            <a:off x="7894130" y="2336721"/>
            <a:ext cx="698076" cy="184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72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/ HC, right</a:t>
            </a:r>
            <a:endParaRPr lang="en-US" sz="720" dirty="0"/>
          </a:p>
        </p:txBody>
      </p:sp>
      <p:sp>
        <p:nvSpPr>
          <p:cNvPr id="16" name="Text 13"/>
          <p:cNvSpPr txBox="1"/>
          <p:nvPr/>
        </p:nvSpPr>
        <p:spPr>
          <a:xfrm>
            <a:off x="3666744" y="4500991"/>
            <a:ext cx="5263652" cy="1657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50" dirty="0">
                <a:solidFill>
                  <a:srgbClr val="7A8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sequence as supplied · Supplier change from Aug onward</a:t>
            </a:r>
            <a:endParaRPr lang="en-US" sz="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CFD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everage allocation 2025 against 2026, with expected cost per uni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49808" y="1152144"/>
            <a:ext cx="8571951" cy="118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20"/>
              </a:lnSpc>
              <a:buNone/>
            </a:pPr>
            <a:r>
              <a:rPr lang="en-US" sz="720" spc="115" kern="0" dirty="0">
                <a:solidFill>
                  <a:srgbClr val="5A6E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COST REDUCTION / BEVERAGE DISTRIBUTION</a:t>
            </a:r>
            <a:endParaRPr lang="en-US" sz="72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344168"/>
            <a:ext cx="8887968" cy="4000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20"/>
              </a:lnSpc>
              <a:buNone/>
            </a:pPr>
            <a:r>
              <a:rPr lang="en-US" sz="2380" spc="-119" kern="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drink mix targets</a:t>
            </a:r>
            <a:pPr algn="l" indent="0" marL="0">
              <a:lnSpc>
                <a:spcPts val="2420"/>
              </a:lnSpc>
              <a:buNone/>
            </a:pPr>
            <a:r>
              <a:rPr lang="en-US" sz="2380" b="1" spc="-119" kern="0" dirty="0">
                <a:solidFill>
                  <a:srgbClr val="154D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47.5%</a:t>
            </a:r>
            <a:pPr algn="l" indent="0" marL="0">
              <a:lnSpc>
                <a:spcPts val="2420"/>
              </a:lnSpc>
              <a:buNone/>
            </a:pPr>
            <a:r>
              <a:rPr lang="en-US" sz="2380" b="1" spc="-119" kern="0" dirty="0">
                <a:solidFill>
                  <a:srgbClr val="2A77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lower</a:t>
            </a:r>
            <a:pPr algn="l" indent="0" marL="0">
              <a:lnSpc>
                <a:spcPts val="2420"/>
              </a:lnSpc>
              <a:buNone/>
            </a:pPr>
            <a:r>
              <a:rPr lang="en-US" sz="2380" b="1" spc="-119" kern="0" dirty="0">
                <a:solidFill>
                  <a:srgbClr val="4A8D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unit</a:t>
            </a:r>
            <a:pPr algn="l" indent="0" marL="0">
              <a:lnSpc>
                <a:spcPts val="2420"/>
              </a:lnSpc>
              <a:buNone/>
            </a:pPr>
            <a:r>
              <a:rPr lang="en-US" sz="2380" b="1" spc="-119" kern="0" dirty="0">
                <a:solidFill>
                  <a:srgbClr val="6D9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cost.</a:t>
            </a:r>
            <a:endParaRPr lang="en-US" sz="238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752505"/>
            <a:ext cx="8887968" cy="2407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7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Redistribute the beverage mix and introduce herbal drinks and tea.</a:t>
            </a:r>
            <a:endParaRPr lang="en-US" sz="970" dirty="0"/>
          </a:p>
        </p:txBody>
      </p:sp>
      <p:sp>
        <p:nvSpPr>
          <p:cNvPr id="6" name="Text 3"/>
          <p:cNvSpPr txBox="1"/>
          <p:nvPr/>
        </p:nvSpPr>
        <p:spPr>
          <a:xfrm>
            <a:off x="621792" y="2372868"/>
            <a:ext cx="1481328" cy="128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80"/>
              </a:lnSpc>
              <a:buNone/>
            </a:pPr>
            <a:r>
              <a:rPr lang="en-US" sz="650" spc="91" kern="0" dirty="0">
                <a:solidFill>
                  <a:srgbClr val="2E7F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BEVERAGE ALLOCATION</a:t>
            </a:r>
            <a:endParaRPr lang="en-US" sz="650" dirty="0"/>
          </a:p>
        </p:txBody>
      </p:sp>
      <p:sp>
        <p:nvSpPr>
          <p:cNvPr id="7" name="Text 4"/>
          <p:cNvSpPr txBox="1"/>
          <p:nvPr/>
        </p:nvSpPr>
        <p:spPr>
          <a:xfrm>
            <a:off x="2139696" y="2372868"/>
            <a:ext cx="1688714" cy="128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80"/>
              </a:lnSpc>
              <a:buNone/>
            </a:pPr>
            <a:r>
              <a:rPr lang="en-US" sz="650" spc="91" kern="0" dirty="0">
                <a:solidFill>
                  <a:srgbClr val="2E7F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Y2025</a:t>
            </a:r>
            <a:endParaRPr lang="en-US" sz="650" dirty="0"/>
          </a:p>
        </p:txBody>
      </p:sp>
      <p:sp>
        <p:nvSpPr>
          <p:cNvPr id="8" name="Text 5"/>
          <p:cNvSpPr txBox="1"/>
          <p:nvPr/>
        </p:nvSpPr>
        <p:spPr>
          <a:xfrm>
            <a:off x="3849624" y="2372868"/>
            <a:ext cx="1688714" cy="128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80"/>
              </a:lnSpc>
              <a:buNone/>
            </a:pPr>
            <a:r>
              <a:rPr lang="en-US" sz="650" spc="91" kern="0" dirty="0">
                <a:solidFill>
                  <a:srgbClr val="2E7F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Y2026</a:t>
            </a:r>
            <a:endParaRPr lang="en-US" sz="650" dirty="0"/>
          </a:p>
        </p:txBody>
      </p:sp>
      <p:sp>
        <p:nvSpPr>
          <p:cNvPr id="9" name="Text 6"/>
          <p:cNvSpPr txBox="1"/>
          <p:nvPr/>
        </p:nvSpPr>
        <p:spPr>
          <a:xfrm>
            <a:off x="621792" y="2599611"/>
            <a:ext cx="1481328" cy="202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0"/>
              </a:lnSpc>
              <a:buNone/>
            </a:pPr>
            <a:r>
              <a:rPr lang="en-US" sz="79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Electrolyte drink</a:t>
            </a:r>
            <a:endParaRPr lang="en-US" sz="790" dirty="0"/>
          </a:p>
        </p:txBody>
      </p:sp>
      <p:sp>
        <p:nvSpPr>
          <p:cNvPr id="10" name="Text 7"/>
          <p:cNvSpPr txBox="1"/>
          <p:nvPr/>
        </p:nvSpPr>
        <p:spPr>
          <a:xfrm>
            <a:off x="3530870" y="2603183"/>
            <a:ext cx="186246" cy="193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76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21%</a:t>
            </a:r>
            <a:endParaRPr lang="en-US" sz="760" dirty="0"/>
          </a:p>
        </p:txBody>
      </p:sp>
      <p:sp>
        <p:nvSpPr>
          <p:cNvPr id="11" name="Text 8"/>
          <p:cNvSpPr txBox="1"/>
          <p:nvPr/>
        </p:nvSpPr>
        <p:spPr>
          <a:xfrm>
            <a:off x="5207937" y="2603183"/>
            <a:ext cx="221736" cy="193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760" b="1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760" dirty="0"/>
          </a:p>
        </p:txBody>
      </p:sp>
      <p:sp>
        <p:nvSpPr>
          <p:cNvPr id="12" name="Text 9"/>
          <p:cNvSpPr txBox="1"/>
          <p:nvPr/>
        </p:nvSpPr>
        <p:spPr>
          <a:xfrm>
            <a:off x="621792" y="2883503"/>
            <a:ext cx="1481328" cy="202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0"/>
              </a:lnSpc>
              <a:buNone/>
            </a:pPr>
            <a:r>
              <a:rPr lang="en-US" sz="79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 drink</a:t>
            </a:r>
            <a:endParaRPr lang="en-US" sz="790" dirty="0"/>
          </a:p>
        </p:txBody>
      </p:sp>
      <p:sp>
        <p:nvSpPr>
          <p:cNvPr id="13" name="Text 10"/>
          <p:cNvSpPr txBox="1"/>
          <p:nvPr/>
        </p:nvSpPr>
        <p:spPr>
          <a:xfrm>
            <a:off x="3507296" y="2887075"/>
            <a:ext cx="211706" cy="193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76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53%</a:t>
            </a:r>
            <a:endParaRPr lang="en-US" sz="760" dirty="0"/>
          </a:p>
        </p:txBody>
      </p:sp>
      <p:sp>
        <p:nvSpPr>
          <p:cNvPr id="14" name="Text 11"/>
          <p:cNvSpPr txBox="1"/>
          <p:nvPr/>
        </p:nvSpPr>
        <p:spPr>
          <a:xfrm>
            <a:off x="5235797" y="2887075"/>
            <a:ext cx="191647" cy="193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760" b="1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14%</a:t>
            </a:r>
            <a:endParaRPr lang="en-US" sz="760" dirty="0"/>
          </a:p>
        </p:txBody>
      </p:sp>
      <p:sp>
        <p:nvSpPr>
          <p:cNvPr id="15" name="Text 12"/>
          <p:cNvSpPr txBox="1"/>
          <p:nvPr/>
        </p:nvSpPr>
        <p:spPr>
          <a:xfrm>
            <a:off x="621792" y="3167396"/>
            <a:ext cx="1481328" cy="202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0"/>
              </a:lnSpc>
              <a:buNone/>
            </a:pPr>
            <a:r>
              <a:rPr lang="en-US" sz="79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drink</a:t>
            </a:r>
            <a:endParaRPr lang="en-US" sz="790" dirty="0"/>
          </a:p>
        </p:txBody>
      </p:sp>
      <p:sp>
        <p:nvSpPr>
          <p:cNvPr id="16" name="Text 13"/>
          <p:cNvSpPr txBox="1"/>
          <p:nvPr/>
        </p:nvSpPr>
        <p:spPr>
          <a:xfrm>
            <a:off x="3530870" y="3170968"/>
            <a:ext cx="186246" cy="193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76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21%</a:t>
            </a:r>
            <a:endParaRPr lang="en-US" sz="760" dirty="0"/>
          </a:p>
        </p:txBody>
      </p:sp>
      <p:sp>
        <p:nvSpPr>
          <p:cNvPr id="17" name="Text 14"/>
          <p:cNvSpPr txBox="1"/>
          <p:nvPr/>
        </p:nvSpPr>
        <p:spPr>
          <a:xfrm>
            <a:off x="5230654" y="3170968"/>
            <a:ext cx="197202" cy="193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760" b="1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760" dirty="0"/>
          </a:p>
        </p:txBody>
      </p:sp>
      <p:sp>
        <p:nvSpPr>
          <p:cNvPr id="18" name="Text 15"/>
          <p:cNvSpPr txBox="1"/>
          <p:nvPr/>
        </p:nvSpPr>
        <p:spPr>
          <a:xfrm>
            <a:off x="621792" y="3451289"/>
            <a:ext cx="1481328" cy="202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0"/>
              </a:lnSpc>
              <a:buNone/>
            </a:pPr>
            <a:r>
              <a:rPr lang="en-US" sz="79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to drink coffee</a:t>
            </a:r>
            <a:endParaRPr lang="en-US" sz="790" dirty="0"/>
          </a:p>
        </p:txBody>
      </p:sp>
      <p:sp>
        <p:nvSpPr>
          <p:cNvPr id="19" name="Text 16"/>
          <p:cNvSpPr txBox="1"/>
          <p:nvPr/>
        </p:nvSpPr>
        <p:spPr>
          <a:xfrm>
            <a:off x="3568303" y="3454860"/>
            <a:ext cx="145818" cy="193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76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760" dirty="0"/>
          </a:p>
        </p:txBody>
      </p:sp>
      <p:sp>
        <p:nvSpPr>
          <p:cNvPr id="20" name="Text 17"/>
          <p:cNvSpPr txBox="1"/>
          <p:nvPr/>
        </p:nvSpPr>
        <p:spPr>
          <a:xfrm>
            <a:off x="5281660" y="3454860"/>
            <a:ext cx="142115" cy="193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760" b="1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760" dirty="0"/>
          </a:p>
        </p:txBody>
      </p:sp>
      <p:sp>
        <p:nvSpPr>
          <p:cNvPr id="21" name="Text 18"/>
          <p:cNvSpPr txBox="1"/>
          <p:nvPr/>
        </p:nvSpPr>
        <p:spPr>
          <a:xfrm>
            <a:off x="621792" y="3735181"/>
            <a:ext cx="1481328" cy="202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0"/>
              </a:lnSpc>
              <a:buNone/>
            </a:pPr>
            <a:r>
              <a:rPr lang="en-US" sz="79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Herbal drink</a:t>
            </a:r>
            <a:pPr algn="l" indent="0" marL="0">
              <a:lnSpc>
                <a:spcPts val="1230"/>
              </a:lnSpc>
              <a:buNone/>
            </a:pPr>
            <a:r>
              <a:rPr lang="en-US" sz="790" b="1" dirty="0">
                <a:solidFill>
                  <a:srgbClr val="6E93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New</a:t>
            </a:r>
            <a:endParaRPr lang="en-US" sz="790" dirty="0"/>
          </a:p>
        </p:txBody>
      </p:sp>
      <p:sp>
        <p:nvSpPr>
          <p:cNvPr id="22" name="Text 19"/>
          <p:cNvSpPr txBox="1"/>
          <p:nvPr/>
        </p:nvSpPr>
        <p:spPr>
          <a:xfrm>
            <a:off x="3663029" y="3738753"/>
            <a:ext cx="43514" cy="193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76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endParaRPr lang="en-US" sz="760" dirty="0"/>
          </a:p>
        </p:txBody>
      </p:sp>
      <p:sp>
        <p:nvSpPr>
          <p:cNvPr id="23" name="Text 20"/>
          <p:cNvSpPr txBox="1"/>
          <p:nvPr/>
        </p:nvSpPr>
        <p:spPr>
          <a:xfrm>
            <a:off x="5281660" y="3738753"/>
            <a:ext cx="142115" cy="193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760" b="1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760" dirty="0"/>
          </a:p>
        </p:txBody>
      </p:sp>
      <p:sp>
        <p:nvSpPr>
          <p:cNvPr id="24" name="Text 21"/>
          <p:cNvSpPr txBox="1"/>
          <p:nvPr/>
        </p:nvSpPr>
        <p:spPr>
          <a:xfrm>
            <a:off x="621792" y="4019074"/>
            <a:ext cx="1481328" cy="202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0"/>
              </a:lnSpc>
              <a:buNone/>
            </a:pPr>
            <a:r>
              <a:rPr lang="en-US" sz="79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</a:t>
            </a:r>
            <a:pPr algn="l" indent="0" marL="0">
              <a:lnSpc>
                <a:spcPts val="1230"/>
              </a:lnSpc>
              <a:buNone/>
            </a:pPr>
            <a:r>
              <a:rPr lang="en-US" sz="790" b="1" dirty="0">
                <a:solidFill>
                  <a:srgbClr val="6E93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New</a:t>
            </a:r>
            <a:endParaRPr lang="en-US" sz="790" dirty="0"/>
          </a:p>
        </p:txBody>
      </p:sp>
      <p:sp>
        <p:nvSpPr>
          <p:cNvPr id="25" name="Text 22"/>
          <p:cNvSpPr txBox="1"/>
          <p:nvPr/>
        </p:nvSpPr>
        <p:spPr>
          <a:xfrm>
            <a:off x="3663029" y="4022646"/>
            <a:ext cx="43514" cy="193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76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endParaRPr lang="en-US" sz="760" dirty="0"/>
          </a:p>
        </p:txBody>
      </p:sp>
      <p:sp>
        <p:nvSpPr>
          <p:cNvPr id="26" name="Text 23"/>
          <p:cNvSpPr txBox="1"/>
          <p:nvPr/>
        </p:nvSpPr>
        <p:spPr>
          <a:xfrm>
            <a:off x="5281660" y="4022646"/>
            <a:ext cx="142115" cy="193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760" b="1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760" dirty="0"/>
          </a:p>
        </p:txBody>
      </p:sp>
      <p:sp>
        <p:nvSpPr>
          <p:cNvPr id="27" name="Text 24"/>
          <p:cNvSpPr txBox="1"/>
          <p:nvPr/>
        </p:nvSpPr>
        <p:spPr>
          <a:xfrm>
            <a:off x="6016752" y="2340864"/>
            <a:ext cx="2705892" cy="128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80"/>
              </a:lnSpc>
              <a:buNone/>
            </a:pPr>
            <a:r>
              <a:rPr lang="en-US" sz="650" spc="91" kern="0" dirty="0">
                <a:solidFill>
                  <a:srgbClr val="2E7F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EXPECTED COST / UNIT</a:t>
            </a:r>
            <a:endParaRPr lang="en-US" sz="650" dirty="0"/>
          </a:p>
        </p:txBody>
      </p:sp>
      <p:sp>
        <p:nvSpPr>
          <p:cNvPr id="28" name="Text 25"/>
          <p:cNvSpPr txBox="1"/>
          <p:nvPr/>
        </p:nvSpPr>
        <p:spPr>
          <a:xfrm>
            <a:off x="6016752" y="2549319"/>
            <a:ext cx="2705892" cy="546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10"/>
              </a:lnSpc>
              <a:buNone/>
            </a:pPr>
            <a:r>
              <a:rPr lang="en-US" sz="3310" b="1" spc="-166" kern="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11.73</a:t>
            </a:r>
            <a:endParaRPr lang="en-US" sz="3310" dirty="0"/>
          </a:p>
        </p:txBody>
      </p:sp>
      <p:sp>
        <p:nvSpPr>
          <p:cNvPr id="29" name="Text 26"/>
          <p:cNvSpPr txBox="1"/>
          <p:nvPr/>
        </p:nvSpPr>
        <p:spPr>
          <a:xfrm>
            <a:off x="6016752" y="2997375"/>
            <a:ext cx="2705892" cy="202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0"/>
              </a:lnSpc>
              <a:buNone/>
            </a:pPr>
            <a:r>
              <a:rPr lang="en-US" sz="79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THB / unit</a:t>
            </a:r>
            <a:endParaRPr lang="en-US" sz="790" dirty="0"/>
          </a:p>
        </p:txBody>
      </p:sp>
      <p:sp>
        <p:nvSpPr>
          <p:cNvPr id="30" name="Text 27"/>
          <p:cNvSpPr txBox="1"/>
          <p:nvPr/>
        </p:nvSpPr>
        <p:spPr>
          <a:xfrm>
            <a:off x="6016752" y="3262979"/>
            <a:ext cx="711037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b="1" spc="-72" kern="0" dirty="0">
                <a:solidFill>
                  <a:srgbClr val="6E93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10.61</a:t>
            </a:r>
            <a:endParaRPr lang="en-US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6766560" y="3310128"/>
            <a:ext cx="1896100" cy="1746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60"/>
              </a:lnSpc>
              <a:buNone/>
            </a:pPr>
            <a:r>
              <a:rPr lang="en-US" sz="76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THB saved per unit</a:t>
            </a:r>
            <a:endParaRPr lang="en-US" sz="760" dirty="0"/>
          </a:p>
        </p:txBody>
      </p:sp>
      <p:sp>
        <p:nvSpPr>
          <p:cNvPr id="32" name="Text 29"/>
          <p:cNvSpPr txBox="1"/>
          <p:nvPr/>
        </p:nvSpPr>
        <p:spPr>
          <a:xfrm>
            <a:off x="6016752" y="3711035"/>
            <a:ext cx="711037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b="1" spc="-72" kern="0" dirty="0">
                <a:solidFill>
                  <a:srgbClr val="6E93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47.5%</a:t>
            </a:r>
            <a:endParaRPr lang="en-US" sz="1800" dirty="0"/>
          </a:p>
        </p:txBody>
      </p:sp>
      <p:sp>
        <p:nvSpPr>
          <p:cNvPr id="33" name="Text 30"/>
          <p:cNvSpPr txBox="1"/>
          <p:nvPr/>
        </p:nvSpPr>
        <p:spPr>
          <a:xfrm>
            <a:off x="6766560" y="3758184"/>
            <a:ext cx="1896100" cy="1746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60"/>
              </a:lnSpc>
              <a:buNone/>
            </a:pPr>
            <a:r>
              <a:rPr lang="en-US" sz="76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below 2025</a:t>
            </a:r>
            <a:endParaRPr lang="en-US" sz="760" dirty="0"/>
          </a:p>
        </p:txBody>
      </p:sp>
      <p:sp>
        <p:nvSpPr>
          <p:cNvPr id="34" name="Text 31"/>
          <p:cNvSpPr txBox="1"/>
          <p:nvPr/>
        </p:nvSpPr>
        <p:spPr>
          <a:xfrm>
            <a:off x="457200" y="4681728"/>
            <a:ext cx="8887968" cy="1565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610" dirty="0">
                <a:solidFill>
                  <a:srgbClr val="7A8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check required: 2025 electrolyte allocation is 21% in the table but 18% in the source pie. 2025 table totals 103%; all supplied allocations are retained pending confirmation.</a:t>
            </a:r>
            <a:endParaRPr lang="en-US" sz="61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CFD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ection: Operation excellence, inspection camera phot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49808" y="1920240"/>
            <a:ext cx="3831702" cy="118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20"/>
              </a:lnSpc>
              <a:buNone/>
            </a:pPr>
            <a:r>
              <a:rPr lang="en-US" sz="720" spc="115" kern="0" dirty="0">
                <a:solidFill>
                  <a:srgbClr val="5A6E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NON-RAYONG OVERVIEW 2026</a:t>
            </a:r>
            <a:endParaRPr lang="en-US" sz="72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194560"/>
            <a:ext cx="4339742" cy="13726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700"/>
              </a:lnSpc>
              <a:buNone/>
            </a:pPr>
            <a:r>
              <a:rPr lang="en-US" sz="4610" spc="-230" kern="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</a:t>
            </a:r>
            <a:endParaRPr lang="en-US" sz="4610" dirty="0"/>
          </a:p>
          <a:p>
            <a:pPr algn="l" indent="0" marL="0">
              <a:lnSpc>
                <a:spcPts val="4700"/>
              </a:lnSpc>
              <a:buNone/>
            </a:pPr>
            <a:r>
              <a:rPr lang="en-US" sz="4610" b="1" spc="-230" kern="0" dirty="0">
                <a:solidFill>
                  <a:srgbClr val="318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excellence.</a:t>
            </a:r>
            <a:endParaRPr lang="en-US" sz="461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3571018"/>
            <a:ext cx="3719779" cy="4732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08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Handheld OCR, a hybrid online and offline workflow,</a:t>
            </a:r>
            <a:endParaRPr lang="en-US" sz="1080" dirty="0"/>
          </a:p>
          <a:p>
            <a:pPr algn="l" indent="0" marL="0">
              <a:lnSpc>
                <a:spcPts val="1620"/>
              </a:lnSpc>
              <a:buNone/>
            </a:pPr>
            <a:r>
              <a:rPr lang="en-US" sz="108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four poka-yoke controls.</a:t>
            </a:r>
            <a:endParaRPr lang="en-US" sz="10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CFD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andheld OCR: manual 8 to 10 seconds against 1 second, mission table and a shopfloor phot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49808" y="1152144"/>
            <a:ext cx="5411785" cy="118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20"/>
              </a:lnSpc>
              <a:buNone/>
            </a:pPr>
            <a:r>
              <a:rPr lang="en-US" sz="720" spc="115" kern="0" dirty="0">
                <a:solidFill>
                  <a:srgbClr val="5A6E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OPERATION EXCELLENCE / HANDHELD OCR</a:t>
            </a:r>
            <a:endParaRPr lang="en-US" sz="72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344168"/>
            <a:ext cx="5992978" cy="7078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20"/>
              </a:lnSpc>
              <a:buNone/>
            </a:pPr>
            <a:r>
              <a:rPr lang="en-US" sz="2380" spc="-119" kern="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Handheld OCR replaces</a:t>
            </a:r>
            <a:pPr algn="l" indent="0" marL="0">
              <a:lnSpc>
                <a:spcPts val="2420"/>
              </a:lnSpc>
              <a:buNone/>
            </a:pPr>
            <a:r>
              <a:rPr lang="en-US" sz="2380" b="1" spc="-119" kern="0" dirty="0">
                <a:solidFill>
                  <a:srgbClr val="6C9E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manual</a:t>
            </a:r>
            <a:endParaRPr lang="en-US" sz="2380" dirty="0"/>
          </a:p>
          <a:p>
            <a:pPr algn="l" indent="0" marL="0">
              <a:lnSpc>
                <a:spcPts val="2420"/>
              </a:lnSpc>
              <a:buNone/>
            </a:pPr>
            <a:r>
              <a:rPr lang="en-US" sz="2380" b="1" spc="-119" kern="0" dirty="0">
                <a:solidFill>
                  <a:srgbClr val="1C5B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serial-number</a:t>
            </a:r>
            <a:pPr algn="l" indent="0" marL="0">
              <a:lnSpc>
                <a:spcPts val="2420"/>
              </a:lnSpc>
              <a:buNone/>
            </a:pPr>
            <a:r>
              <a:rPr lang="en-US" sz="2380" b="1" spc="-119" kern="0" dirty="0">
                <a:solidFill>
                  <a:srgbClr val="478C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recording.</a:t>
            </a:r>
            <a:endParaRPr lang="en-US" sz="238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2060258"/>
            <a:ext cx="5727802" cy="222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part serials with handheld OCR and automatically record inspection data in Google Sheets.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2670048"/>
            <a:ext cx="1327640" cy="404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2450" b="1" spc="-98" kern="0" dirty="0">
                <a:solidFill>
                  <a:srgbClr val="7A8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8–10 sec</a:t>
            </a:r>
            <a:endParaRPr lang="en-US" sz="245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3026664"/>
            <a:ext cx="1327640" cy="128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80"/>
              </a:lnSpc>
              <a:buNone/>
            </a:pPr>
            <a:r>
              <a:rPr lang="en-US" sz="650" spc="91" kern="0" dirty="0">
                <a:solidFill>
                  <a:srgbClr val="5A6E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MANUAL</a:t>
            </a:r>
            <a:endParaRPr lang="en-US" sz="650" dirty="0"/>
          </a:p>
        </p:txBody>
      </p:sp>
      <p:sp>
        <p:nvSpPr>
          <p:cNvPr id="8" name="Text 5"/>
          <p:cNvSpPr txBox="1"/>
          <p:nvPr/>
        </p:nvSpPr>
        <p:spPr>
          <a:xfrm>
            <a:off x="2363153" y="2670048"/>
            <a:ext cx="1118248" cy="404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2450" b="1" spc="-98" kern="0" dirty="0">
                <a:solidFill>
                  <a:srgbClr val="6E93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sec</a:t>
            </a:r>
            <a:endParaRPr lang="en-US" sz="2450" dirty="0"/>
          </a:p>
        </p:txBody>
      </p:sp>
      <p:sp>
        <p:nvSpPr>
          <p:cNvPr id="9" name="Text 6"/>
          <p:cNvSpPr txBox="1"/>
          <p:nvPr/>
        </p:nvSpPr>
        <p:spPr>
          <a:xfrm>
            <a:off x="2363153" y="3026664"/>
            <a:ext cx="1118248" cy="128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80"/>
              </a:lnSpc>
              <a:buNone/>
            </a:pPr>
            <a:r>
              <a:rPr lang="en-US" sz="650" spc="91" kern="0" dirty="0">
                <a:solidFill>
                  <a:srgbClr val="5A6E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OCR + AUTO RECORD</a:t>
            </a:r>
            <a:endParaRPr lang="en-US" sz="650" dirty="0"/>
          </a:p>
        </p:txBody>
      </p:sp>
      <p:sp>
        <p:nvSpPr>
          <p:cNvPr id="10" name="Text 7"/>
          <p:cNvSpPr txBox="1"/>
          <p:nvPr/>
        </p:nvSpPr>
        <p:spPr>
          <a:xfrm>
            <a:off x="3819192" y="2688336"/>
            <a:ext cx="1436888" cy="356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2160" b="1" spc="-86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−87.5–90%</a:t>
            </a:r>
            <a:endParaRPr lang="en-US" sz="2160" dirty="0"/>
          </a:p>
        </p:txBody>
      </p:sp>
      <p:sp>
        <p:nvSpPr>
          <p:cNvPr id="11" name="Text 8"/>
          <p:cNvSpPr txBox="1"/>
          <p:nvPr/>
        </p:nvSpPr>
        <p:spPr>
          <a:xfrm>
            <a:off x="3819192" y="3008376"/>
            <a:ext cx="1436888" cy="128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80"/>
              </a:lnSpc>
              <a:buNone/>
            </a:pPr>
            <a:r>
              <a:rPr lang="en-US" sz="650" spc="91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 PER SERIAL</a:t>
            </a:r>
            <a:endParaRPr lang="en-US" sz="650" dirty="0"/>
          </a:p>
        </p:txBody>
      </p:sp>
      <p:sp>
        <p:nvSpPr>
          <p:cNvPr id="12" name="Text 9"/>
          <p:cNvSpPr txBox="1"/>
          <p:nvPr/>
        </p:nvSpPr>
        <p:spPr>
          <a:xfrm>
            <a:off x="603504" y="3430715"/>
            <a:ext cx="1283818" cy="214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0"/>
              </a:lnSpc>
              <a:buNone/>
            </a:pPr>
            <a:r>
              <a:rPr lang="en-US" sz="610" spc="73" kern="0" dirty="0">
                <a:solidFill>
                  <a:srgbClr val="2E7F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MISSION</a:t>
            </a:r>
            <a:endParaRPr lang="en-US" sz="610" dirty="0"/>
          </a:p>
        </p:txBody>
      </p:sp>
      <p:sp>
        <p:nvSpPr>
          <p:cNvPr id="13" name="Text 10"/>
          <p:cNvSpPr txBox="1"/>
          <p:nvPr/>
        </p:nvSpPr>
        <p:spPr>
          <a:xfrm>
            <a:off x="1883664" y="3430715"/>
            <a:ext cx="1264067" cy="214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0"/>
              </a:lnSpc>
              <a:buNone/>
            </a:pPr>
            <a:r>
              <a:rPr lang="en-US" sz="610" spc="73" kern="0" dirty="0">
                <a:solidFill>
                  <a:srgbClr val="2E7F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MARKING</a:t>
            </a:r>
            <a:endParaRPr lang="en-US" sz="610" dirty="0"/>
          </a:p>
        </p:txBody>
      </p:sp>
      <p:sp>
        <p:nvSpPr>
          <p:cNvPr id="14" name="Text 11"/>
          <p:cNvSpPr txBox="1"/>
          <p:nvPr/>
        </p:nvSpPr>
        <p:spPr>
          <a:xfrm>
            <a:off x="3145536" y="3430715"/>
            <a:ext cx="641909" cy="214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0"/>
              </a:lnSpc>
              <a:buNone/>
            </a:pPr>
            <a:r>
              <a:rPr lang="en-US" sz="610" spc="73" kern="0" dirty="0">
                <a:solidFill>
                  <a:srgbClr val="2E7F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MANUAL</a:t>
            </a:r>
            <a:endParaRPr lang="en-US" sz="610" dirty="0"/>
          </a:p>
        </p:txBody>
      </p:sp>
      <p:sp>
        <p:nvSpPr>
          <p:cNvPr id="15" name="Text 12"/>
          <p:cNvSpPr txBox="1"/>
          <p:nvPr/>
        </p:nvSpPr>
        <p:spPr>
          <a:xfrm>
            <a:off x="3831336" y="3430715"/>
            <a:ext cx="929945" cy="21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0"/>
              </a:lnSpc>
              <a:buNone/>
            </a:pPr>
            <a:r>
              <a:rPr lang="en-US" sz="610" spc="73" kern="0" dirty="0">
                <a:solidFill>
                  <a:srgbClr val="2E7F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OCR + AUTO</a:t>
            </a:r>
            <a:endParaRPr lang="en-US" sz="610" dirty="0"/>
          </a:p>
          <a:p>
            <a:pPr algn="l" indent="0" marL="0">
              <a:lnSpc>
                <a:spcPts val="730"/>
              </a:lnSpc>
              <a:buNone/>
            </a:pPr>
            <a:r>
              <a:rPr lang="en-US" sz="610" spc="73" kern="0" dirty="0">
                <a:solidFill>
                  <a:srgbClr val="2E7F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RECORD</a:t>
            </a:r>
            <a:endParaRPr lang="en-US" sz="610" dirty="0"/>
          </a:p>
        </p:txBody>
      </p:sp>
      <p:sp>
        <p:nvSpPr>
          <p:cNvPr id="16" name="Text 13"/>
          <p:cNvSpPr txBox="1"/>
          <p:nvPr/>
        </p:nvSpPr>
        <p:spPr>
          <a:xfrm>
            <a:off x="4745736" y="3430715"/>
            <a:ext cx="740664" cy="214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0"/>
              </a:lnSpc>
              <a:buNone/>
            </a:pPr>
            <a:r>
              <a:rPr lang="en-US" sz="610" spc="73" kern="0" dirty="0">
                <a:solidFill>
                  <a:srgbClr val="2E7F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 SAVED</a:t>
            </a:r>
            <a:endParaRPr lang="en-US" sz="610" dirty="0"/>
          </a:p>
        </p:txBody>
      </p:sp>
      <p:sp>
        <p:nvSpPr>
          <p:cNvPr id="17" name="Text 14"/>
          <p:cNvSpPr txBox="1"/>
          <p:nvPr/>
        </p:nvSpPr>
        <p:spPr>
          <a:xfrm>
            <a:off x="603504" y="3702749"/>
            <a:ext cx="1283818" cy="204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710" dirty="0">
                <a:solidFill>
                  <a:srgbClr val="06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LCBTH.26.0005</a:t>
            </a:r>
            <a:endParaRPr lang="en-US" sz="710" dirty="0"/>
          </a:p>
        </p:txBody>
      </p:sp>
      <p:sp>
        <p:nvSpPr>
          <p:cNvPr id="18" name="Text 15"/>
          <p:cNvSpPr txBox="1"/>
          <p:nvPr/>
        </p:nvSpPr>
        <p:spPr>
          <a:xfrm>
            <a:off x="1883664" y="3702749"/>
            <a:ext cx="1264067" cy="2062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0"/>
              </a:lnSpc>
              <a:buNone/>
            </a:pPr>
            <a:r>
              <a:rPr lang="en-US" sz="73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Dot peen</a:t>
            </a:r>
            <a:endParaRPr lang="en-US" sz="730" dirty="0"/>
          </a:p>
        </p:txBody>
      </p:sp>
      <p:sp>
        <p:nvSpPr>
          <p:cNvPr id="19" name="Text 16"/>
          <p:cNvSpPr txBox="1"/>
          <p:nvPr/>
        </p:nvSpPr>
        <p:spPr>
          <a:xfrm>
            <a:off x="3145536" y="3702749"/>
            <a:ext cx="641909" cy="2062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0"/>
              </a:lnSpc>
              <a:buNone/>
            </a:pPr>
            <a:r>
              <a:rPr lang="en-US" sz="73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sec</a:t>
            </a:r>
            <a:endParaRPr lang="en-US" sz="730" dirty="0"/>
          </a:p>
        </p:txBody>
      </p:sp>
      <p:sp>
        <p:nvSpPr>
          <p:cNvPr id="20" name="Text 17"/>
          <p:cNvSpPr txBox="1"/>
          <p:nvPr/>
        </p:nvSpPr>
        <p:spPr>
          <a:xfrm>
            <a:off x="3831336" y="3702749"/>
            <a:ext cx="888797" cy="2062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0"/>
              </a:lnSpc>
              <a:buNone/>
            </a:pPr>
            <a:r>
              <a:rPr lang="en-US" sz="730" b="1" dirty="0">
                <a:solidFill>
                  <a:srgbClr val="6E93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sec</a:t>
            </a:r>
            <a:endParaRPr lang="en-US" sz="730" dirty="0"/>
          </a:p>
        </p:txBody>
      </p:sp>
      <p:sp>
        <p:nvSpPr>
          <p:cNvPr id="21" name="Text 18"/>
          <p:cNvSpPr txBox="1"/>
          <p:nvPr/>
        </p:nvSpPr>
        <p:spPr>
          <a:xfrm>
            <a:off x="4718304" y="3702749"/>
            <a:ext cx="740664" cy="2062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140"/>
              </a:lnSpc>
              <a:buNone/>
            </a:pPr>
            <a:r>
              <a:rPr lang="en-US" sz="7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−87.5%</a:t>
            </a:r>
            <a:endParaRPr lang="en-US" sz="730" dirty="0"/>
          </a:p>
        </p:txBody>
      </p:sp>
      <p:sp>
        <p:nvSpPr>
          <p:cNvPr id="22" name="Text 19"/>
          <p:cNvSpPr txBox="1"/>
          <p:nvPr/>
        </p:nvSpPr>
        <p:spPr>
          <a:xfrm>
            <a:off x="603504" y="3951351"/>
            <a:ext cx="1283818" cy="204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710" dirty="0">
                <a:solidFill>
                  <a:srgbClr val="06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LCBTH.26.0002</a:t>
            </a:r>
            <a:endParaRPr lang="en-US" sz="710" dirty="0"/>
          </a:p>
        </p:txBody>
      </p:sp>
      <p:sp>
        <p:nvSpPr>
          <p:cNvPr id="23" name="Text 20"/>
          <p:cNvSpPr txBox="1"/>
          <p:nvPr/>
        </p:nvSpPr>
        <p:spPr>
          <a:xfrm>
            <a:off x="1883664" y="3951351"/>
            <a:ext cx="1264067" cy="2062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0"/>
              </a:lnSpc>
              <a:buNone/>
            </a:pPr>
            <a:r>
              <a:rPr lang="en-US" sz="73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Dot peen</a:t>
            </a:r>
            <a:endParaRPr lang="en-US" sz="730" dirty="0"/>
          </a:p>
        </p:txBody>
      </p:sp>
      <p:sp>
        <p:nvSpPr>
          <p:cNvPr id="24" name="Text 21"/>
          <p:cNvSpPr txBox="1"/>
          <p:nvPr/>
        </p:nvSpPr>
        <p:spPr>
          <a:xfrm>
            <a:off x="3145536" y="3951351"/>
            <a:ext cx="641909" cy="2062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0"/>
              </a:lnSpc>
              <a:buNone/>
            </a:pPr>
            <a:r>
              <a:rPr lang="en-US" sz="73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sec</a:t>
            </a:r>
            <a:endParaRPr lang="en-US" sz="730" dirty="0"/>
          </a:p>
        </p:txBody>
      </p:sp>
      <p:sp>
        <p:nvSpPr>
          <p:cNvPr id="25" name="Text 22"/>
          <p:cNvSpPr txBox="1"/>
          <p:nvPr/>
        </p:nvSpPr>
        <p:spPr>
          <a:xfrm>
            <a:off x="3831336" y="3951351"/>
            <a:ext cx="888797" cy="2062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0"/>
              </a:lnSpc>
              <a:buNone/>
            </a:pPr>
            <a:r>
              <a:rPr lang="en-US" sz="730" b="1" dirty="0">
                <a:solidFill>
                  <a:srgbClr val="6E93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sec</a:t>
            </a:r>
            <a:endParaRPr lang="en-US" sz="730" dirty="0"/>
          </a:p>
        </p:txBody>
      </p:sp>
      <p:sp>
        <p:nvSpPr>
          <p:cNvPr id="26" name="Text 23"/>
          <p:cNvSpPr txBox="1"/>
          <p:nvPr/>
        </p:nvSpPr>
        <p:spPr>
          <a:xfrm>
            <a:off x="4718304" y="3951351"/>
            <a:ext cx="740664" cy="2062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140"/>
              </a:lnSpc>
              <a:buNone/>
            </a:pPr>
            <a:r>
              <a:rPr lang="en-US" sz="7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−87.5%</a:t>
            </a:r>
            <a:endParaRPr lang="en-US" sz="730" dirty="0"/>
          </a:p>
        </p:txBody>
      </p:sp>
      <p:sp>
        <p:nvSpPr>
          <p:cNvPr id="27" name="Text 24"/>
          <p:cNvSpPr txBox="1"/>
          <p:nvPr/>
        </p:nvSpPr>
        <p:spPr>
          <a:xfrm>
            <a:off x="603504" y="4199954"/>
            <a:ext cx="1283818" cy="204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710" dirty="0">
                <a:solidFill>
                  <a:srgbClr val="06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LCBTH.26.0027</a:t>
            </a:r>
            <a:endParaRPr lang="en-US" sz="710" dirty="0"/>
          </a:p>
        </p:txBody>
      </p:sp>
      <p:sp>
        <p:nvSpPr>
          <p:cNvPr id="28" name="Text 25"/>
          <p:cNvSpPr txBox="1"/>
          <p:nvPr/>
        </p:nvSpPr>
        <p:spPr>
          <a:xfrm>
            <a:off x="1883664" y="4199954"/>
            <a:ext cx="1264067" cy="2062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0"/>
              </a:lnSpc>
              <a:buNone/>
            </a:pPr>
            <a:r>
              <a:rPr lang="en-US" sz="73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Stamped</a:t>
            </a:r>
            <a:endParaRPr lang="en-US" sz="730" dirty="0"/>
          </a:p>
        </p:txBody>
      </p:sp>
      <p:sp>
        <p:nvSpPr>
          <p:cNvPr id="29" name="Text 26"/>
          <p:cNvSpPr txBox="1"/>
          <p:nvPr/>
        </p:nvSpPr>
        <p:spPr>
          <a:xfrm>
            <a:off x="3145536" y="4199954"/>
            <a:ext cx="641909" cy="2062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0"/>
              </a:lnSpc>
              <a:buNone/>
            </a:pPr>
            <a:r>
              <a:rPr lang="en-US" sz="73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sec</a:t>
            </a:r>
            <a:endParaRPr lang="en-US" sz="730" dirty="0"/>
          </a:p>
        </p:txBody>
      </p:sp>
      <p:sp>
        <p:nvSpPr>
          <p:cNvPr id="30" name="Text 27"/>
          <p:cNvSpPr txBox="1"/>
          <p:nvPr/>
        </p:nvSpPr>
        <p:spPr>
          <a:xfrm>
            <a:off x="3831336" y="4199954"/>
            <a:ext cx="888797" cy="2062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0"/>
              </a:lnSpc>
              <a:buNone/>
            </a:pPr>
            <a:r>
              <a:rPr lang="en-US" sz="730" b="1" dirty="0">
                <a:solidFill>
                  <a:srgbClr val="6E93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sec</a:t>
            </a:r>
            <a:endParaRPr lang="en-US" sz="730" dirty="0"/>
          </a:p>
        </p:txBody>
      </p:sp>
      <p:sp>
        <p:nvSpPr>
          <p:cNvPr id="31" name="Text 28"/>
          <p:cNvSpPr txBox="1"/>
          <p:nvPr/>
        </p:nvSpPr>
        <p:spPr>
          <a:xfrm>
            <a:off x="4718304" y="4199954"/>
            <a:ext cx="740664" cy="2062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140"/>
              </a:lnSpc>
              <a:buNone/>
            </a:pPr>
            <a:r>
              <a:rPr lang="en-US" sz="7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−90%</a:t>
            </a:r>
            <a:endParaRPr lang="en-US" sz="730" dirty="0"/>
          </a:p>
        </p:txBody>
      </p:sp>
      <p:sp>
        <p:nvSpPr>
          <p:cNvPr id="32" name="Text 29"/>
          <p:cNvSpPr txBox="1"/>
          <p:nvPr/>
        </p:nvSpPr>
        <p:spPr>
          <a:xfrm>
            <a:off x="603504" y="4448556"/>
            <a:ext cx="1283818" cy="204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710" dirty="0">
                <a:solidFill>
                  <a:srgbClr val="06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LCBTH.26.0007</a:t>
            </a:r>
            <a:endParaRPr lang="en-US" sz="710" dirty="0"/>
          </a:p>
        </p:txBody>
      </p:sp>
      <p:sp>
        <p:nvSpPr>
          <p:cNvPr id="33" name="Text 30"/>
          <p:cNvSpPr txBox="1"/>
          <p:nvPr/>
        </p:nvSpPr>
        <p:spPr>
          <a:xfrm>
            <a:off x="1883664" y="4448556"/>
            <a:ext cx="1264067" cy="2062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0"/>
              </a:lnSpc>
              <a:buNone/>
            </a:pPr>
            <a:r>
              <a:rPr lang="en-US" sz="73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Embossed</a:t>
            </a:r>
            <a:endParaRPr lang="en-US" sz="730" dirty="0"/>
          </a:p>
        </p:txBody>
      </p:sp>
      <p:sp>
        <p:nvSpPr>
          <p:cNvPr id="34" name="Text 31"/>
          <p:cNvSpPr txBox="1"/>
          <p:nvPr/>
        </p:nvSpPr>
        <p:spPr>
          <a:xfrm>
            <a:off x="3145536" y="4448556"/>
            <a:ext cx="641909" cy="2062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0"/>
              </a:lnSpc>
              <a:buNone/>
            </a:pPr>
            <a:r>
              <a:rPr lang="en-US" sz="73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sec</a:t>
            </a:r>
            <a:endParaRPr lang="en-US" sz="730" dirty="0"/>
          </a:p>
        </p:txBody>
      </p:sp>
      <p:sp>
        <p:nvSpPr>
          <p:cNvPr id="35" name="Text 32"/>
          <p:cNvSpPr txBox="1"/>
          <p:nvPr/>
        </p:nvSpPr>
        <p:spPr>
          <a:xfrm>
            <a:off x="3831336" y="4448556"/>
            <a:ext cx="888797" cy="2062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0"/>
              </a:lnSpc>
              <a:buNone/>
            </a:pPr>
            <a:r>
              <a:rPr lang="en-US" sz="730" b="1" dirty="0">
                <a:solidFill>
                  <a:srgbClr val="6E93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sec</a:t>
            </a:r>
            <a:endParaRPr lang="en-US" sz="730" dirty="0"/>
          </a:p>
        </p:txBody>
      </p:sp>
      <p:sp>
        <p:nvSpPr>
          <p:cNvPr id="36" name="Text 33"/>
          <p:cNvSpPr txBox="1"/>
          <p:nvPr/>
        </p:nvSpPr>
        <p:spPr>
          <a:xfrm>
            <a:off x="4718304" y="4448556"/>
            <a:ext cx="740664" cy="2062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140"/>
              </a:lnSpc>
              <a:buNone/>
            </a:pPr>
            <a:r>
              <a:rPr lang="en-US" sz="7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−88.9%</a:t>
            </a:r>
            <a:endParaRPr lang="en-US" sz="730" dirty="0"/>
          </a:p>
        </p:txBody>
      </p:sp>
      <p:sp>
        <p:nvSpPr>
          <p:cNvPr id="37" name="Text 34"/>
          <p:cNvSpPr txBox="1"/>
          <p:nvPr/>
        </p:nvSpPr>
        <p:spPr>
          <a:xfrm>
            <a:off x="603504" y="4722876"/>
            <a:ext cx="5214275" cy="1657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50" dirty="0">
                <a:solidFill>
                  <a:srgbClr val="7A8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Dot peen / stamped / embossed · Barcode / Data Matrix · Internal configuration; supplied mission comparisons.</a:t>
            </a:r>
            <a:endParaRPr lang="en-US" sz="650" dirty="0"/>
          </a:p>
        </p:txBody>
      </p:sp>
      <p:sp>
        <p:nvSpPr>
          <p:cNvPr id="38" name="Text 35"/>
          <p:cNvSpPr txBox="1"/>
          <p:nvPr/>
        </p:nvSpPr>
        <p:spPr>
          <a:xfrm>
            <a:off x="7752255" y="4754880"/>
            <a:ext cx="1009309" cy="184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720" b="1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Shopfloor OCR in use</a:t>
            </a:r>
            <a:endParaRPr lang="en-US" sz="720" dirty="0"/>
          </a:p>
        </p:txBody>
      </p:sp>
      <p:sp>
        <p:nvSpPr>
          <p:cNvPr id="39" name="Text 36"/>
          <p:cNvSpPr txBox="1"/>
          <p:nvPr/>
        </p:nvSpPr>
        <p:spPr>
          <a:xfrm>
            <a:off x="7339632" y="4896612"/>
            <a:ext cx="1454942" cy="1565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61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KEYENCE BT-A1000 · LCBTH.26.0005</a:t>
            </a:r>
            <a:endParaRPr lang="en-US" sz="61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CFD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ybrid workflow from shopfloor to customer report, with an offline Excel pat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49808" y="1152144"/>
            <a:ext cx="8571951" cy="118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20"/>
              </a:lnSpc>
              <a:buNone/>
            </a:pPr>
            <a:r>
              <a:rPr lang="en-US" sz="720" spc="115" kern="0" dirty="0">
                <a:solidFill>
                  <a:srgbClr val="5A6E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OPERATION EXCELLENCE / HYBRID WORKFLOW</a:t>
            </a:r>
            <a:endParaRPr lang="en-US" sz="72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344168"/>
            <a:ext cx="9299448" cy="7078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20"/>
              </a:lnSpc>
              <a:buNone/>
            </a:pPr>
            <a:r>
              <a:rPr lang="en-US" sz="2380" spc="-119" kern="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hybrid workflow connects</a:t>
            </a:r>
            <a:pPr algn="l" indent="0" marL="0">
              <a:lnSpc>
                <a:spcPts val="2420"/>
              </a:lnSpc>
              <a:buNone/>
            </a:pPr>
            <a:r>
              <a:rPr lang="en-US" sz="2380" b="1" spc="-119" kern="0" dirty="0">
                <a:solidFill>
                  <a:srgbClr val="6A9D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shopfloor</a:t>
            </a:r>
            <a:endParaRPr lang="en-US" sz="2380" dirty="0"/>
          </a:p>
          <a:p>
            <a:pPr algn="l" indent="0" marL="0">
              <a:lnSpc>
                <a:spcPts val="2420"/>
              </a:lnSpc>
              <a:buNone/>
            </a:pPr>
            <a:r>
              <a:rPr lang="en-US" sz="2380" b="1" spc="-119" kern="0" dirty="0">
                <a:solidFill>
                  <a:srgbClr val="134A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</a:t>
            </a:r>
            <a:pPr algn="l" indent="0" marL="0">
              <a:lnSpc>
                <a:spcPts val="2420"/>
              </a:lnSpc>
              <a:buNone/>
            </a:pPr>
            <a:r>
              <a:rPr lang="en-US" sz="2380" b="1" spc="-119" kern="0" dirty="0">
                <a:solidFill>
                  <a:srgbClr val="1E5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</a:t>
            </a:r>
            <a:pPr algn="l" indent="0" marL="0">
              <a:lnSpc>
                <a:spcPts val="2420"/>
              </a:lnSpc>
              <a:buNone/>
            </a:pPr>
            <a:r>
              <a:rPr lang="en-US" sz="2380" b="1" spc="-119" kern="0" dirty="0">
                <a:solidFill>
                  <a:srgbClr val="2B78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customer</a:t>
            </a:r>
            <a:pPr algn="l" indent="0" marL="0">
              <a:lnSpc>
                <a:spcPts val="2420"/>
              </a:lnSpc>
              <a:buNone/>
            </a:pPr>
            <a:r>
              <a:rPr lang="en-US" sz="2380" b="1" spc="-119" kern="0" dirty="0">
                <a:solidFill>
                  <a:srgbClr val="4E8F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reports.</a:t>
            </a:r>
            <a:endParaRPr lang="en-US" sz="238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2060258"/>
            <a:ext cx="8887968" cy="2407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7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Online cloud records + offline Excel support → administrator review → customer report.</a:t>
            </a:r>
            <a:endParaRPr lang="en-US" sz="970" dirty="0"/>
          </a:p>
        </p:txBody>
      </p:sp>
      <p:sp>
        <p:nvSpPr>
          <p:cNvPr id="6" name="Text 3"/>
          <p:cNvSpPr txBox="1"/>
          <p:nvPr/>
        </p:nvSpPr>
        <p:spPr>
          <a:xfrm>
            <a:off x="576072" y="3049524"/>
            <a:ext cx="1313444" cy="239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940" b="1" spc="-9" kern="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Shopfloor</a:t>
            </a:r>
            <a:endParaRPr lang="en-US" sz="940" dirty="0"/>
          </a:p>
        </p:txBody>
      </p:sp>
      <p:sp>
        <p:nvSpPr>
          <p:cNvPr id="7" name="Text 4"/>
          <p:cNvSpPr txBox="1"/>
          <p:nvPr/>
        </p:nvSpPr>
        <p:spPr>
          <a:xfrm>
            <a:off x="576072" y="3265694"/>
            <a:ext cx="1313444" cy="1604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72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Handheld OCR / QR</a:t>
            </a:r>
            <a:endParaRPr lang="en-US" sz="720" dirty="0"/>
          </a:p>
        </p:txBody>
      </p:sp>
      <p:sp>
        <p:nvSpPr>
          <p:cNvPr id="8" name="Text 5"/>
          <p:cNvSpPr txBox="1"/>
          <p:nvPr/>
        </p:nvSpPr>
        <p:spPr>
          <a:xfrm>
            <a:off x="576072" y="3421142"/>
            <a:ext cx="1313444" cy="1604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72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Serial + Good / NG</a:t>
            </a:r>
            <a:endParaRPr lang="en-US" sz="720" dirty="0"/>
          </a:p>
        </p:txBody>
      </p:sp>
      <p:sp>
        <p:nvSpPr>
          <p:cNvPr id="9" name="Text 6"/>
          <p:cNvSpPr txBox="1"/>
          <p:nvPr/>
        </p:nvSpPr>
        <p:spPr>
          <a:xfrm>
            <a:off x="2267712" y="3049524"/>
            <a:ext cx="1313444" cy="239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940" b="1" spc="-9" kern="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Sheets</a:t>
            </a:r>
            <a:endParaRPr lang="en-US" sz="940" dirty="0"/>
          </a:p>
        </p:txBody>
      </p:sp>
      <p:sp>
        <p:nvSpPr>
          <p:cNvPr id="10" name="Text 7"/>
          <p:cNvSpPr txBox="1"/>
          <p:nvPr/>
        </p:nvSpPr>
        <p:spPr>
          <a:xfrm>
            <a:off x="2267712" y="3265694"/>
            <a:ext cx="1313444" cy="1604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72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Auto-record data</a:t>
            </a:r>
            <a:endParaRPr lang="en-US" sz="720" dirty="0"/>
          </a:p>
        </p:txBody>
      </p:sp>
      <p:sp>
        <p:nvSpPr>
          <p:cNvPr id="11" name="Text 8"/>
          <p:cNvSpPr txBox="1"/>
          <p:nvPr/>
        </p:nvSpPr>
        <p:spPr>
          <a:xfrm>
            <a:off x="2267712" y="3421142"/>
            <a:ext cx="1313444" cy="1604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72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access</a:t>
            </a:r>
            <a:endParaRPr lang="en-US" sz="720" dirty="0"/>
          </a:p>
        </p:txBody>
      </p:sp>
      <p:sp>
        <p:nvSpPr>
          <p:cNvPr id="12" name="Text 9"/>
          <p:cNvSpPr txBox="1"/>
          <p:nvPr/>
        </p:nvSpPr>
        <p:spPr>
          <a:xfrm>
            <a:off x="3959352" y="3049524"/>
            <a:ext cx="1313444" cy="239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940" b="1" spc="-9" kern="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Drive</a:t>
            </a:r>
            <a:endParaRPr lang="en-US" sz="940" dirty="0"/>
          </a:p>
        </p:txBody>
      </p:sp>
      <p:sp>
        <p:nvSpPr>
          <p:cNvPr id="13" name="Text 10"/>
          <p:cNvSpPr txBox="1"/>
          <p:nvPr/>
        </p:nvSpPr>
        <p:spPr>
          <a:xfrm>
            <a:off x="3959352" y="3265694"/>
            <a:ext cx="1313444" cy="1604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72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online files</a:t>
            </a:r>
            <a:endParaRPr lang="en-US" sz="720" dirty="0"/>
          </a:p>
        </p:txBody>
      </p:sp>
      <p:sp>
        <p:nvSpPr>
          <p:cNvPr id="14" name="Text 11"/>
          <p:cNvSpPr txBox="1"/>
          <p:nvPr/>
        </p:nvSpPr>
        <p:spPr>
          <a:xfrm>
            <a:off x="3959352" y="3421142"/>
            <a:ext cx="1313444" cy="1604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72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Supervisor access</a:t>
            </a:r>
            <a:endParaRPr lang="en-US" sz="720" dirty="0"/>
          </a:p>
        </p:txBody>
      </p:sp>
      <p:sp>
        <p:nvSpPr>
          <p:cNvPr id="15" name="Text 12"/>
          <p:cNvSpPr txBox="1"/>
          <p:nvPr/>
        </p:nvSpPr>
        <p:spPr>
          <a:xfrm>
            <a:off x="5650992" y="3049524"/>
            <a:ext cx="1313444" cy="239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940" b="1" spc="-9" kern="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Administrator</a:t>
            </a:r>
            <a:endParaRPr lang="en-US" sz="940" dirty="0"/>
          </a:p>
        </p:txBody>
      </p:sp>
      <p:sp>
        <p:nvSpPr>
          <p:cNvPr id="16" name="Text 13"/>
          <p:cNvSpPr txBox="1"/>
          <p:nvPr/>
        </p:nvSpPr>
        <p:spPr>
          <a:xfrm>
            <a:off x="5650992" y="3265694"/>
            <a:ext cx="1313444" cy="1604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72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online data</a:t>
            </a:r>
            <a:endParaRPr lang="en-US" sz="720" dirty="0"/>
          </a:p>
        </p:txBody>
      </p:sp>
      <p:sp>
        <p:nvSpPr>
          <p:cNvPr id="17" name="Text 14"/>
          <p:cNvSpPr txBox="1"/>
          <p:nvPr/>
        </p:nvSpPr>
        <p:spPr>
          <a:xfrm>
            <a:off x="5650992" y="3421142"/>
            <a:ext cx="1313444" cy="1604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72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Reconcile Excel</a:t>
            </a:r>
            <a:endParaRPr lang="en-US" sz="720" dirty="0"/>
          </a:p>
        </p:txBody>
      </p:sp>
      <p:sp>
        <p:nvSpPr>
          <p:cNvPr id="18" name="Text 15"/>
          <p:cNvSpPr txBox="1"/>
          <p:nvPr/>
        </p:nvSpPr>
        <p:spPr>
          <a:xfrm>
            <a:off x="7342632" y="3049524"/>
            <a:ext cx="1313444" cy="239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940" b="1" spc="-9" kern="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report</a:t>
            </a:r>
            <a:endParaRPr lang="en-US" sz="940" dirty="0"/>
          </a:p>
        </p:txBody>
      </p:sp>
      <p:sp>
        <p:nvSpPr>
          <p:cNvPr id="19" name="Text 16"/>
          <p:cNvSpPr txBox="1"/>
          <p:nvPr/>
        </p:nvSpPr>
        <p:spPr>
          <a:xfrm>
            <a:off x="7342632" y="3265694"/>
            <a:ext cx="1313444" cy="1604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72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Reviewed results</a:t>
            </a:r>
            <a:endParaRPr lang="en-US" sz="720" dirty="0"/>
          </a:p>
        </p:txBody>
      </p:sp>
      <p:sp>
        <p:nvSpPr>
          <p:cNvPr id="20" name="Text 17"/>
          <p:cNvSpPr txBox="1"/>
          <p:nvPr/>
        </p:nvSpPr>
        <p:spPr>
          <a:xfrm>
            <a:off x="7342632" y="3421142"/>
            <a:ext cx="1313444" cy="1604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72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 final report</a:t>
            </a:r>
            <a:endParaRPr lang="en-US" sz="720" dirty="0"/>
          </a:p>
        </p:txBody>
      </p:sp>
      <p:sp>
        <p:nvSpPr>
          <p:cNvPr id="21" name="Text 18"/>
          <p:cNvSpPr txBox="1"/>
          <p:nvPr/>
        </p:nvSpPr>
        <p:spPr>
          <a:xfrm>
            <a:off x="3703320" y="4291679"/>
            <a:ext cx="1148338" cy="221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60" b="1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 offline</a:t>
            </a:r>
            <a:endParaRPr lang="en-US" sz="860" dirty="0"/>
          </a:p>
        </p:txBody>
      </p:sp>
      <p:sp>
        <p:nvSpPr>
          <p:cNvPr id="22" name="Text 19"/>
          <p:cNvSpPr txBox="1"/>
          <p:nvPr/>
        </p:nvSpPr>
        <p:spPr>
          <a:xfrm>
            <a:off x="3703320" y="4461701"/>
            <a:ext cx="1148338" cy="1749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60"/>
              </a:lnSpc>
              <a:buNone/>
            </a:pPr>
            <a:r>
              <a:rPr lang="en-US" sz="68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serial + status record</a:t>
            </a:r>
            <a:endParaRPr lang="en-US" sz="680" dirty="0"/>
          </a:p>
        </p:txBody>
      </p:sp>
      <p:sp>
        <p:nvSpPr>
          <p:cNvPr id="23" name="Text 20"/>
          <p:cNvSpPr txBox="1"/>
          <p:nvPr/>
        </p:nvSpPr>
        <p:spPr>
          <a:xfrm>
            <a:off x="6400800" y="4224528"/>
            <a:ext cx="1580083" cy="1523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0"/>
              </a:lnSpc>
              <a:buNone/>
            </a:pPr>
            <a:r>
              <a:rPr lang="en-US" sz="68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Reconcile offline and online records</a:t>
            </a:r>
            <a:endParaRPr lang="en-US" sz="680" dirty="0"/>
          </a:p>
        </p:txBody>
      </p:sp>
      <p:sp>
        <p:nvSpPr>
          <p:cNvPr id="24" name="Text 21"/>
          <p:cNvSpPr txBox="1"/>
          <p:nvPr/>
        </p:nvSpPr>
        <p:spPr>
          <a:xfrm>
            <a:off x="457200" y="4789884"/>
            <a:ext cx="4179197" cy="1565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610" dirty="0">
                <a:solidFill>
                  <a:srgbClr val="7A8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supplied OCR capture and MMTH hybrid workflow. Generic icons denote functions, not product logos.</a:t>
            </a:r>
            <a:endParaRPr lang="en-US" sz="61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CFD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our poka-yoke control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49808" y="1152144"/>
            <a:ext cx="8571951" cy="118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20"/>
              </a:lnSpc>
              <a:buNone/>
            </a:pPr>
            <a:r>
              <a:rPr lang="en-US" sz="720" spc="115" kern="0" dirty="0">
                <a:solidFill>
                  <a:srgbClr val="5A6E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OPERATION EXCELLENCE / POKA-YOKE</a:t>
            </a:r>
            <a:endParaRPr lang="en-US" sz="72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344168"/>
            <a:ext cx="8887968" cy="4000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20"/>
              </a:lnSpc>
              <a:buNone/>
            </a:pPr>
            <a:r>
              <a:rPr lang="en-US" sz="2380" spc="-119" kern="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controls protect</a:t>
            </a:r>
            <a:pPr algn="l" indent="0" marL="0">
              <a:lnSpc>
                <a:spcPts val="2420"/>
              </a:lnSpc>
              <a:buNone/>
            </a:pPr>
            <a:r>
              <a:rPr lang="en-US" sz="2380" b="1" spc="-119" kern="0" dirty="0">
                <a:solidFill>
                  <a:srgbClr val="144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every</a:t>
            </a:r>
            <a:pPr algn="l" indent="0" marL="0">
              <a:lnSpc>
                <a:spcPts val="2420"/>
              </a:lnSpc>
              <a:buNone/>
            </a:pPr>
            <a:r>
              <a:rPr lang="en-US" sz="2380" b="1" spc="-119" kern="0" dirty="0">
                <a:solidFill>
                  <a:srgbClr val="2D7E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inspection</a:t>
            </a:r>
            <a:pPr algn="l" indent="0" marL="0">
              <a:lnSpc>
                <a:spcPts val="2420"/>
              </a:lnSpc>
              <a:buNone/>
            </a:pPr>
            <a:r>
              <a:rPr lang="en-US" sz="2380" b="1" spc="-119" kern="0" dirty="0">
                <a:solidFill>
                  <a:srgbClr val="689D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record.</a:t>
            </a:r>
            <a:endParaRPr lang="en-US" sz="238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752505"/>
            <a:ext cx="8887968" cy="2407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7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+ voice guidance at capture. Administrator review before customer reporting.</a:t>
            </a:r>
            <a:endParaRPr lang="en-US" sz="970" dirty="0"/>
          </a:p>
        </p:txBody>
      </p:sp>
      <p:sp>
        <p:nvSpPr>
          <p:cNvPr id="6" name="Text 3"/>
          <p:cNvSpPr txBox="1"/>
          <p:nvPr/>
        </p:nvSpPr>
        <p:spPr>
          <a:xfrm>
            <a:off x="1152144" y="2471595"/>
            <a:ext cx="3416930" cy="2671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040" b="1" spc="-10" kern="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Wrong part / serial</a:t>
            </a:r>
            <a:endParaRPr lang="en-US" sz="1040" dirty="0"/>
          </a:p>
        </p:txBody>
      </p:sp>
      <p:sp>
        <p:nvSpPr>
          <p:cNvPr id="7" name="Text 4"/>
          <p:cNvSpPr txBox="1"/>
          <p:nvPr/>
        </p:nvSpPr>
        <p:spPr>
          <a:xfrm>
            <a:off x="1152144" y="2704481"/>
            <a:ext cx="3416930" cy="1894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79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 against customer list / production plan. Warn on mismatch.</a:t>
            </a:r>
            <a:endParaRPr lang="en-US" sz="790" dirty="0"/>
          </a:p>
        </p:txBody>
      </p:sp>
      <p:sp>
        <p:nvSpPr>
          <p:cNvPr id="8" name="Text 5"/>
          <p:cNvSpPr txBox="1"/>
          <p:nvPr/>
        </p:nvSpPr>
        <p:spPr>
          <a:xfrm>
            <a:off x="5358384" y="2471595"/>
            <a:ext cx="3416930" cy="2671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040" b="1" spc="-10" kern="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Duplicate scan</a:t>
            </a:r>
            <a:endParaRPr lang="en-US" sz="1040" dirty="0"/>
          </a:p>
        </p:txBody>
      </p:sp>
      <p:sp>
        <p:nvSpPr>
          <p:cNvPr id="9" name="Text 6"/>
          <p:cNvSpPr txBox="1"/>
          <p:nvPr/>
        </p:nvSpPr>
        <p:spPr>
          <a:xfrm>
            <a:off x="5358384" y="2704481"/>
            <a:ext cx="3416930" cy="1894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79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 out repeated scans. Prevent duplicate counting.</a:t>
            </a:r>
            <a:endParaRPr lang="en-US" sz="790" dirty="0"/>
          </a:p>
        </p:txBody>
      </p:sp>
      <p:sp>
        <p:nvSpPr>
          <p:cNvPr id="10" name="Text 7"/>
          <p:cNvSpPr txBox="1"/>
          <p:nvPr/>
        </p:nvSpPr>
        <p:spPr>
          <a:xfrm>
            <a:off x="1152144" y="3355562"/>
            <a:ext cx="3416930" cy="2671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040" b="1" spc="-10" kern="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box</a:t>
            </a:r>
            <a:endParaRPr lang="en-US" sz="1040" dirty="0"/>
          </a:p>
        </p:txBody>
      </p:sp>
      <p:sp>
        <p:nvSpPr>
          <p:cNvPr id="11" name="Text 8"/>
          <p:cNvSpPr txBox="1"/>
          <p:nvPr/>
        </p:nvSpPr>
        <p:spPr>
          <a:xfrm>
            <a:off x="1152144" y="3588449"/>
            <a:ext cx="3416930" cy="1894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79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+ popup notification when target quantity is reached.</a:t>
            </a:r>
            <a:endParaRPr lang="en-US" sz="790" dirty="0"/>
          </a:p>
        </p:txBody>
      </p:sp>
      <p:sp>
        <p:nvSpPr>
          <p:cNvPr id="12" name="Text 9"/>
          <p:cNvSpPr txBox="1"/>
          <p:nvPr/>
        </p:nvSpPr>
        <p:spPr>
          <a:xfrm>
            <a:off x="5358384" y="3282696"/>
            <a:ext cx="3416930" cy="2671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040" b="1" spc="-10" kern="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&amp; release</a:t>
            </a:r>
            <a:endParaRPr lang="en-US" sz="1040" dirty="0"/>
          </a:p>
        </p:txBody>
      </p:sp>
      <p:sp>
        <p:nvSpPr>
          <p:cNvPr id="13" name="Text 10"/>
          <p:cNvSpPr txBox="1"/>
          <p:nvPr/>
        </p:nvSpPr>
        <p:spPr>
          <a:xfrm>
            <a:off x="5358384" y="3515582"/>
            <a:ext cx="3575121" cy="335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79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Administrator checks offline + online records before submitting the</a:t>
            </a:r>
            <a:endParaRPr lang="en-US" sz="790" dirty="0"/>
          </a:p>
          <a:p>
            <a:pPr algn="l" indent="0" marL="0">
              <a:lnSpc>
                <a:spcPts val="1150"/>
              </a:lnSpc>
              <a:buNone/>
            </a:pPr>
            <a:r>
              <a:rPr lang="en-US" sz="79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report.</a:t>
            </a:r>
            <a:endParaRPr lang="en-US" sz="790" dirty="0"/>
          </a:p>
        </p:txBody>
      </p:sp>
      <p:sp>
        <p:nvSpPr>
          <p:cNvPr id="14" name="Text 11"/>
          <p:cNvSpPr txBox="1"/>
          <p:nvPr/>
        </p:nvSpPr>
        <p:spPr>
          <a:xfrm>
            <a:off x="603504" y="4407408"/>
            <a:ext cx="8571951" cy="1879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0"/>
              </a:lnSpc>
              <a:buNone/>
            </a:pPr>
            <a:r>
              <a:rPr lang="en-US" sz="730" dirty="0">
                <a:solidFill>
                  <a:srgbClr val="0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Linked data: Customer • Material • Batch • Order | Missions 04, 29, 31 · Internal configuration + Text-to-Speech support shopfloor use.</a:t>
            </a:r>
            <a:endParaRPr lang="en-US" sz="730" dirty="0"/>
          </a:p>
        </p:txBody>
      </p:sp>
      <p:sp>
        <p:nvSpPr>
          <p:cNvPr id="15" name="Text 12"/>
          <p:cNvSpPr txBox="1"/>
          <p:nvPr/>
        </p:nvSpPr>
        <p:spPr>
          <a:xfrm>
            <a:off x="457200" y="4789884"/>
            <a:ext cx="3838337" cy="1565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610" dirty="0">
                <a:solidFill>
                  <a:srgbClr val="7A8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supplied error-prevention workflow. Next: two web apps supporting Non-Rayong operations.</a:t>
            </a:r>
            <a:endParaRPr lang="en-US" sz="61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CFD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over: Inventory dashboard and Manpower Board screenshot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49808" y="1188720"/>
            <a:ext cx="3831702" cy="118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20"/>
              </a:lnSpc>
              <a:buNone/>
            </a:pPr>
            <a:r>
              <a:rPr lang="en-US" sz="720" spc="115" kern="0" dirty="0">
                <a:solidFill>
                  <a:srgbClr val="5A6E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GLOBAL QUALITY SOLUTION</a:t>
            </a:r>
            <a:endParaRPr lang="en-US" sz="72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463040"/>
            <a:ext cx="4339742" cy="16002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20"/>
              </a:lnSpc>
              <a:buNone/>
            </a:pPr>
            <a:r>
              <a:rPr lang="en-US" sz="3740" spc="-187" kern="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apps for</a:t>
            </a:r>
            <a:endParaRPr lang="en-US" sz="3740" dirty="0"/>
          </a:p>
          <a:p>
            <a:pPr algn="l" indent="0" marL="0">
              <a:lnSpc>
                <a:spcPts val="3820"/>
              </a:lnSpc>
              <a:buNone/>
            </a:pPr>
            <a:r>
              <a:rPr lang="en-US" sz="3740" spc="-187" kern="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work we</a:t>
            </a:r>
            <a:endParaRPr lang="en-US" sz="3740" dirty="0"/>
          </a:p>
          <a:p>
            <a:pPr algn="l" indent="0" marL="0">
              <a:lnSpc>
                <a:spcPts val="3820"/>
              </a:lnSpc>
              <a:buNone/>
            </a:pPr>
            <a:r>
              <a:rPr lang="en-US" sz="3740" spc="-187" kern="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</a:t>
            </a:r>
            <a:pPr algn="l" indent="0" marL="0">
              <a:lnSpc>
                <a:spcPts val="3820"/>
              </a:lnSpc>
              <a:buNone/>
            </a:pPr>
            <a:r>
              <a:rPr lang="en-US" sz="3740" b="1" spc="-187" kern="0" dirty="0">
                <a:solidFill>
                  <a:srgbClr val="1F62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every</a:t>
            </a:r>
            <a:pPr algn="l" indent="0" marL="0">
              <a:lnSpc>
                <a:spcPts val="3820"/>
              </a:lnSpc>
              <a:buNone/>
            </a:pPr>
            <a:r>
              <a:rPr lang="en-US" sz="3740" b="1" spc="-187" kern="0" dirty="0">
                <a:solidFill>
                  <a:srgbClr val="6098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day.</a:t>
            </a:r>
            <a:endParaRPr lang="en-US" sz="374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3100673"/>
            <a:ext cx="3926434" cy="884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08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Manpower Board plans who goes where. The</a:t>
            </a:r>
            <a:endParaRPr lang="en-US" sz="1080" dirty="0"/>
          </a:p>
          <a:p>
            <a:pPr algn="l" indent="0" marL="0">
              <a:lnSpc>
                <a:spcPts val="1620"/>
              </a:lnSpc>
              <a:buNone/>
            </a:pPr>
            <a:r>
              <a:rPr lang="en-US" sz="108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Inventory &amp; Quality System tracks tools, parts</a:t>
            </a:r>
            <a:endParaRPr lang="en-US" sz="1080" dirty="0"/>
          </a:p>
          <a:p>
            <a:pPr algn="l" indent="0" marL="0">
              <a:lnSpc>
                <a:spcPts val="1620"/>
              </a:lnSpc>
              <a:buNone/>
            </a:pPr>
            <a:r>
              <a:rPr lang="en-US" sz="108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consumables. Both run in the browser and on</a:t>
            </a:r>
            <a:endParaRPr lang="en-US" sz="1080" dirty="0"/>
          </a:p>
          <a:p>
            <a:pPr algn="l" indent="0" marL="0">
              <a:lnSpc>
                <a:spcPts val="1620"/>
              </a:lnSpc>
              <a:buNone/>
            </a:pPr>
            <a:r>
              <a:rPr lang="en-US" sz="108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phone.</a:t>
            </a:r>
            <a:endParaRPr lang="en-US" sz="1080" dirty="0"/>
          </a:p>
        </p:txBody>
      </p:sp>
      <p:sp>
        <p:nvSpPr>
          <p:cNvPr id="6" name="Text 3"/>
          <p:cNvSpPr txBox="1"/>
          <p:nvPr/>
        </p:nvSpPr>
        <p:spPr>
          <a:xfrm>
            <a:off x="745379" y="4106513"/>
            <a:ext cx="866731" cy="2838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79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Manpower Board</a:t>
            </a:r>
            <a:endParaRPr lang="en-US" sz="790" dirty="0"/>
          </a:p>
        </p:txBody>
      </p:sp>
      <p:sp>
        <p:nvSpPr>
          <p:cNvPr id="7" name="Text 4"/>
          <p:cNvSpPr txBox="1"/>
          <p:nvPr/>
        </p:nvSpPr>
        <p:spPr>
          <a:xfrm>
            <a:off x="2014395" y="4106513"/>
            <a:ext cx="962400" cy="2838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79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Inventory &amp; Quality</a:t>
            </a:r>
            <a:endParaRPr lang="en-US" sz="790" dirty="0"/>
          </a:p>
        </p:txBody>
      </p:sp>
      <p:sp>
        <p:nvSpPr>
          <p:cNvPr id="8" name="Text 5"/>
          <p:cNvSpPr txBox="1"/>
          <p:nvPr/>
        </p:nvSpPr>
        <p:spPr>
          <a:xfrm>
            <a:off x="3371993" y="4106513"/>
            <a:ext cx="741127" cy="2838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79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your phone</a:t>
            </a:r>
            <a:endParaRPr lang="en-US" sz="79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CFD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anpower Board on desktop with the forecast merge on a ph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49808" y="1188720"/>
            <a:ext cx="2745395" cy="118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20"/>
              </a:lnSpc>
              <a:buNone/>
            </a:pPr>
            <a:r>
              <a:rPr lang="en-US" sz="720" spc="115" kern="0" dirty="0">
                <a:solidFill>
                  <a:srgbClr val="5A6E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MANPOWER BOARD</a:t>
            </a:r>
            <a:endParaRPr lang="en-US" sz="72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426464"/>
            <a:ext cx="3203143" cy="1199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810" spc="-140" kern="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Tomorrow's</a:t>
            </a:r>
            <a:endParaRPr lang="en-US" sz="2810" dirty="0"/>
          </a:p>
          <a:p>
            <a:pPr algn="l" indent="0" marL="0">
              <a:lnSpc>
                <a:spcPts val="2860"/>
              </a:lnSpc>
              <a:buNone/>
            </a:pPr>
            <a:r>
              <a:rPr lang="en-US" sz="2810" spc="-140" kern="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crew, planned</a:t>
            </a:r>
            <a:endParaRPr lang="en-US" sz="2810" dirty="0"/>
          </a:p>
          <a:p>
            <a:pPr algn="l" indent="0" marL="0">
              <a:lnSpc>
                <a:spcPts val="2860"/>
              </a:lnSpc>
              <a:buNone/>
            </a:pPr>
            <a:r>
              <a:rPr lang="en-US" sz="2810" spc="-140" kern="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</a:t>
            </a:r>
            <a:pPr algn="l" indent="0" marL="0">
              <a:lnSpc>
                <a:spcPts val="2860"/>
              </a:lnSpc>
              <a:buNone/>
            </a:pPr>
            <a:r>
              <a:rPr lang="en-US" sz="2810" b="1" spc="-140" kern="0" dirty="0">
                <a:solidFill>
                  <a:srgbClr val="185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one</a:t>
            </a:r>
            <a:pPr algn="l" indent="0" marL="0">
              <a:lnSpc>
                <a:spcPts val="2860"/>
              </a:lnSpc>
              <a:buNone/>
            </a:pPr>
            <a:r>
              <a:rPr lang="en-US" sz="2810" b="1" spc="-140" kern="0" dirty="0">
                <a:solidFill>
                  <a:srgbClr val="5090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board.</a:t>
            </a:r>
            <a:endParaRPr lang="en-US" sz="281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2663619"/>
            <a:ext cx="3203143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08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magnet board, made digital. Drag people</a:t>
            </a:r>
            <a:endParaRPr lang="en-US" sz="1080" dirty="0"/>
          </a:p>
          <a:p>
            <a:pPr algn="l" indent="0" marL="0">
              <a:lnSpc>
                <a:spcPts val="1620"/>
              </a:lnSpc>
              <a:buNone/>
            </a:pPr>
            <a:r>
              <a:rPr lang="en-US" sz="108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onto missions, leave or standby, and</a:t>
            </a:r>
            <a:endParaRPr lang="en-US" sz="1080" dirty="0"/>
          </a:p>
          <a:p>
            <a:pPr algn="l" indent="0" marL="0">
              <a:lnSpc>
                <a:spcPts val="1620"/>
              </a:lnSpc>
              <a:buNone/>
            </a:pPr>
            <a:r>
              <a:rPr lang="en-US" sz="108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everyone sees the same plan, live.</a:t>
            </a:r>
            <a:endParaRPr lang="en-US" sz="1080" dirty="0"/>
          </a:p>
        </p:txBody>
      </p:sp>
      <p:sp>
        <p:nvSpPr>
          <p:cNvPr id="6" name="Text 3"/>
          <p:cNvSpPr txBox="1"/>
          <p:nvPr/>
        </p:nvSpPr>
        <p:spPr>
          <a:xfrm>
            <a:off x="877824" y="3464862"/>
            <a:ext cx="2607137" cy="213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990" b="1" spc="-10" kern="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Drag and drop planning</a:t>
            </a:r>
            <a:endParaRPr lang="en-US" sz="990" dirty="0"/>
          </a:p>
        </p:txBody>
      </p:sp>
      <p:sp>
        <p:nvSpPr>
          <p:cNvPr id="7" name="Text 4"/>
          <p:cNvSpPr txBox="1"/>
          <p:nvPr/>
        </p:nvSpPr>
        <p:spPr>
          <a:xfrm>
            <a:off x="877824" y="3888915"/>
            <a:ext cx="2607137" cy="213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990" b="1" spc="-10" kern="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to go, what to wear</a:t>
            </a:r>
            <a:endParaRPr lang="en-US" sz="990" dirty="0"/>
          </a:p>
        </p:txBody>
      </p:sp>
      <p:sp>
        <p:nvSpPr>
          <p:cNvPr id="8" name="Text 5"/>
          <p:cNvSpPr txBox="1"/>
          <p:nvPr/>
        </p:nvSpPr>
        <p:spPr>
          <a:xfrm>
            <a:off x="877824" y="4457414"/>
            <a:ext cx="2607137" cy="213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990" b="1" spc="-10" kern="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 a finished plan</a:t>
            </a:r>
            <a:endParaRPr lang="en-US" sz="990" dirty="0"/>
          </a:p>
        </p:txBody>
      </p:sp>
      <p:sp>
        <p:nvSpPr>
          <p:cNvPr id="9" name="Text 6"/>
          <p:cNvSpPr txBox="1"/>
          <p:nvPr/>
        </p:nvSpPr>
        <p:spPr>
          <a:xfrm>
            <a:off x="877824" y="3628739"/>
            <a:ext cx="2607137" cy="187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0"/>
              </a:lnSpc>
              <a:buNone/>
            </a:pPr>
            <a:r>
              <a:rPr lang="en-US" sz="81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board per site, one card per person</a:t>
            </a:r>
            <a:endParaRPr lang="en-US" sz="810" dirty="0"/>
          </a:p>
        </p:txBody>
      </p:sp>
      <p:sp>
        <p:nvSpPr>
          <p:cNvPr id="10" name="Text 7"/>
          <p:cNvSpPr txBox="1"/>
          <p:nvPr/>
        </p:nvSpPr>
        <p:spPr>
          <a:xfrm>
            <a:off x="877824" y="4052792"/>
            <a:ext cx="2727838" cy="332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0"/>
              </a:lnSpc>
              <a:buNone/>
            </a:pPr>
            <a:r>
              <a:rPr lang="en-US" sz="81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host name opens Google Maps; PPE is on the</a:t>
            </a:r>
            <a:endParaRPr lang="en-US" sz="810" dirty="0"/>
          </a:p>
          <a:p>
            <a:pPr algn="l" indent="0" marL="0">
              <a:lnSpc>
                <a:spcPts val="1140"/>
              </a:lnSpc>
              <a:buNone/>
            </a:pPr>
            <a:r>
              <a:rPr lang="en-US" sz="81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</a:t>
            </a:r>
            <a:endParaRPr lang="en-US" sz="810" dirty="0"/>
          </a:p>
        </p:txBody>
      </p:sp>
      <p:sp>
        <p:nvSpPr>
          <p:cNvPr id="11" name="Text 8"/>
          <p:cNvSpPr txBox="1"/>
          <p:nvPr/>
        </p:nvSpPr>
        <p:spPr>
          <a:xfrm>
            <a:off x="877824" y="4621292"/>
            <a:ext cx="2607137" cy="187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0"/>
              </a:lnSpc>
              <a:buNone/>
            </a:pPr>
            <a:r>
              <a:rPr lang="en-US" sz="81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Nobody bumps it by accident</a:t>
            </a:r>
            <a:endParaRPr lang="en-US" sz="81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CFD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apacity grid with two short day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49808" y="1188720"/>
            <a:ext cx="3337926" cy="118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20"/>
              </a:lnSpc>
              <a:buNone/>
            </a:pPr>
            <a:r>
              <a:rPr lang="en-US" sz="720" spc="115" kern="0" dirty="0">
                <a:solidFill>
                  <a:srgbClr val="5A6E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MANPOWER BOARD</a:t>
            </a:r>
            <a:endParaRPr lang="en-US" sz="72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426464"/>
            <a:ext cx="3823106" cy="7722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590" spc="-130" kern="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weeks ahead,</a:t>
            </a:r>
            <a:endParaRPr lang="en-US" sz="2590" dirty="0"/>
          </a:p>
          <a:p>
            <a:pPr algn="l" indent="0" marL="0">
              <a:lnSpc>
                <a:spcPts val="2640"/>
              </a:lnSpc>
              <a:buNone/>
            </a:pPr>
            <a:r>
              <a:rPr lang="en-US" sz="2590" b="1" spc="-130" kern="0" dirty="0">
                <a:solidFill>
                  <a:srgbClr val="1247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</a:t>
            </a:r>
            <a:pPr algn="l" indent="0" marL="0">
              <a:lnSpc>
                <a:spcPts val="2640"/>
              </a:lnSpc>
              <a:buNone/>
            </a:pPr>
            <a:r>
              <a:rPr lang="en-US" sz="2590" b="1" spc="-130" kern="0" dirty="0">
                <a:solidFill>
                  <a:srgbClr val="2267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just</a:t>
            </a:r>
            <a:pPr algn="l" indent="0" marL="0">
              <a:lnSpc>
                <a:spcPts val="2640"/>
              </a:lnSpc>
              <a:buNone/>
            </a:pPr>
            <a:r>
              <a:rPr lang="en-US" sz="2590" b="1" spc="-130" kern="0" dirty="0">
                <a:solidFill>
                  <a:srgbClr val="5392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tomorrow.</a:t>
            </a:r>
            <a:endParaRPr lang="en-US" sz="2590" dirty="0"/>
          </a:p>
        </p:txBody>
      </p:sp>
      <p:sp>
        <p:nvSpPr>
          <p:cNvPr id="5" name="Text 2"/>
          <p:cNvSpPr txBox="1"/>
          <p:nvPr/>
        </p:nvSpPr>
        <p:spPr>
          <a:xfrm>
            <a:off x="877824" y="2282000"/>
            <a:ext cx="3199668" cy="213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990" b="1" spc="-10" kern="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Carry over the last working day</a:t>
            </a:r>
            <a:endParaRPr lang="en-US" sz="990" dirty="0"/>
          </a:p>
        </p:txBody>
      </p:sp>
      <p:sp>
        <p:nvSpPr>
          <p:cNvPr id="6" name="Text 3"/>
          <p:cNvSpPr txBox="1"/>
          <p:nvPr/>
        </p:nvSpPr>
        <p:spPr>
          <a:xfrm>
            <a:off x="877824" y="2707196"/>
            <a:ext cx="3199668" cy="213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990" b="1" spc="-10" kern="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Forecast days</a:t>
            </a:r>
            <a:endParaRPr lang="en-US" sz="990" dirty="0"/>
          </a:p>
        </p:txBody>
      </p:sp>
      <p:sp>
        <p:nvSpPr>
          <p:cNvPr id="7" name="Text 4"/>
          <p:cNvSpPr txBox="1"/>
          <p:nvPr/>
        </p:nvSpPr>
        <p:spPr>
          <a:xfrm>
            <a:off x="877824" y="3132392"/>
            <a:ext cx="3199668" cy="213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990" b="1" spc="-10" kern="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Holds</a:t>
            </a:r>
            <a:endParaRPr lang="en-US" sz="990" dirty="0"/>
          </a:p>
        </p:txBody>
      </p:sp>
      <p:sp>
        <p:nvSpPr>
          <p:cNvPr id="8" name="Text 5"/>
          <p:cNvSpPr txBox="1"/>
          <p:nvPr/>
        </p:nvSpPr>
        <p:spPr>
          <a:xfrm>
            <a:off x="877824" y="3557588"/>
            <a:ext cx="3199668" cy="213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990" b="1" spc="-10" kern="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</a:t>
            </a:r>
            <a:endParaRPr lang="en-US" sz="990" dirty="0"/>
          </a:p>
        </p:txBody>
      </p:sp>
      <p:sp>
        <p:nvSpPr>
          <p:cNvPr id="9" name="Text 6"/>
          <p:cNvSpPr txBox="1"/>
          <p:nvPr/>
        </p:nvSpPr>
        <p:spPr>
          <a:xfrm>
            <a:off x="877824" y="2445877"/>
            <a:ext cx="3199668" cy="187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0"/>
              </a:lnSpc>
              <a:buNone/>
            </a:pPr>
            <a:r>
              <a:rPr lang="en-US" sz="81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click, then change only what moved</a:t>
            </a:r>
            <a:endParaRPr lang="en-US" sz="810" dirty="0"/>
          </a:p>
        </p:txBody>
      </p:sp>
      <p:sp>
        <p:nvSpPr>
          <p:cNvPr id="10" name="Text 7"/>
          <p:cNvSpPr txBox="1"/>
          <p:nvPr/>
        </p:nvSpPr>
        <p:spPr>
          <a:xfrm>
            <a:off x="877824" y="2871073"/>
            <a:ext cx="3199668" cy="187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0"/>
              </a:lnSpc>
              <a:buNone/>
            </a:pPr>
            <a:r>
              <a:rPr lang="en-US" sz="81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Tentative plans kept apart, merged with a side-by-side review</a:t>
            </a:r>
            <a:endParaRPr lang="en-US" sz="810" dirty="0"/>
          </a:p>
        </p:txBody>
      </p:sp>
      <p:sp>
        <p:nvSpPr>
          <p:cNvPr id="11" name="Text 8"/>
          <p:cNvSpPr txBox="1"/>
          <p:nvPr/>
        </p:nvSpPr>
        <p:spPr>
          <a:xfrm>
            <a:off x="877824" y="3296269"/>
            <a:ext cx="3199668" cy="187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0"/>
              </a:lnSpc>
              <a:buNone/>
            </a:pPr>
            <a:r>
              <a:rPr lang="en-US" sz="81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 someone another engineer planned and they are told</a:t>
            </a:r>
            <a:endParaRPr lang="en-US" sz="810" dirty="0"/>
          </a:p>
        </p:txBody>
      </p:sp>
      <p:sp>
        <p:nvSpPr>
          <p:cNvPr id="12" name="Text 9"/>
          <p:cNvSpPr txBox="1"/>
          <p:nvPr/>
        </p:nvSpPr>
        <p:spPr>
          <a:xfrm>
            <a:off x="877824" y="3721465"/>
            <a:ext cx="3199668" cy="187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0"/>
              </a:lnSpc>
              <a:buNone/>
            </a:pPr>
            <a:r>
              <a:rPr lang="en-US" sz="81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JPG, PDF and Excel, plus the org chart as PowerPoint</a:t>
            </a:r>
            <a:endParaRPr lang="en-US" sz="810" dirty="0"/>
          </a:p>
        </p:txBody>
      </p:sp>
      <p:sp>
        <p:nvSpPr>
          <p:cNvPr id="13" name="Text 10"/>
          <p:cNvSpPr txBox="1"/>
          <p:nvPr/>
        </p:nvSpPr>
        <p:spPr>
          <a:xfrm>
            <a:off x="4389120" y="4215384"/>
            <a:ext cx="2212116" cy="1354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20"/>
              </a:lnSpc>
              <a:buNone/>
            </a:pPr>
            <a:r>
              <a:rPr lang="en-US" sz="680" spc="96" kern="0" dirty="0">
                <a:solidFill>
                  <a:srgbClr val="2E7F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ENGINEERS</a:t>
            </a:r>
            <a:endParaRPr lang="en-US" sz="680" dirty="0"/>
          </a:p>
        </p:txBody>
      </p:sp>
      <p:sp>
        <p:nvSpPr>
          <p:cNvPr id="14" name="Text 11"/>
          <p:cNvSpPr txBox="1"/>
          <p:nvPr/>
        </p:nvSpPr>
        <p:spPr>
          <a:xfrm>
            <a:off x="6638544" y="4215384"/>
            <a:ext cx="2212116" cy="1354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20"/>
              </a:lnSpc>
              <a:buNone/>
            </a:pPr>
            <a:r>
              <a:rPr lang="en-US" sz="680" spc="96" kern="0" dirty="0">
                <a:solidFill>
                  <a:srgbClr val="2E7F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MANAGEMENT</a:t>
            </a:r>
            <a:endParaRPr lang="en-US" sz="680" dirty="0"/>
          </a:p>
        </p:txBody>
      </p:sp>
      <p:sp>
        <p:nvSpPr>
          <p:cNvPr id="15" name="Text 12"/>
          <p:cNvSpPr txBox="1"/>
          <p:nvPr/>
        </p:nvSpPr>
        <p:spPr>
          <a:xfrm>
            <a:off x="4389120" y="4374404"/>
            <a:ext cx="2314529" cy="520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83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 the people each host needs per day.</a:t>
            </a:r>
            <a:endParaRPr lang="en-US" sz="830" dirty="0"/>
          </a:p>
          <a:p>
            <a:pPr algn="l" indent="0" marL="0">
              <a:lnSpc>
                <a:spcPts val="1240"/>
              </a:lnSpc>
              <a:buNone/>
            </a:pPr>
            <a:r>
              <a:rPr lang="en-US" sz="83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grid shows every short day as you</a:t>
            </a:r>
            <a:endParaRPr lang="en-US" sz="830" dirty="0"/>
          </a:p>
          <a:p>
            <a:pPr algn="l" indent="0" marL="0">
              <a:lnSpc>
                <a:spcPts val="1240"/>
              </a:lnSpc>
              <a:buNone/>
            </a:pPr>
            <a:r>
              <a:rPr lang="en-US" sz="83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type.</a:t>
            </a:r>
            <a:endParaRPr lang="en-US" sz="830" dirty="0"/>
          </a:p>
        </p:txBody>
      </p:sp>
      <p:sp>
        <p:nvSpPr>
          <p:cNvPr id="16" name="Text 13"/>
          <p:cNvSpPr txBox="1"/>
          <p:nvPr/>
        </p:nvSpPr>
        <p:spPr>
          <a:xfrm>
            <a:off x="6638544" y="4374404"/>
            <a:ext cx="2314529" cy="520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83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 days show in red weeks before they</a:t>
            </a:r>
            <a:endParaRPr lang="en-US" sz="830" dirty="0"/>
          </a:p>
          <a:p>
            <a:pPr algn="l" indent="0" marL="0">
              <a:lnSpc>
                <a:spcPts val="1240"/>
              </a:lnSpc>
              <a:buNone/>
            </a:pPr>
            <a:r>
              <a:rPr lang="en-US" sz="83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happen, with the worst day and peak</a:t>
            </a:r>
            <a:endParaRPr lang="en-US" sz="830" dirty="0"/>
          </a:p>
          <a:p>
            <a:pPr algn="l" indent="0" marL="0">
              <a:lnSpc>
                <a:spcPts val="1240"/>
              </a:lnSpc>
              <a:buNone/>
            </a:pPr>
            <a:r>
              <a:rPr lang="en-US" sz="83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 on top.</a:t>
            </a:r>
            <a:endParaRPr lang="en-US" sz="83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CFD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anpower Overview dashboa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49808" y="1188720"/>
            <a:ext cx="2942905" cy="118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20"/>
              </a:lnSpc>
              <a:buNone/>
            </a:pPr>
            <a:r>
              <a:rPr lang="en-US" sz="720" spc="115" kern="0" dirty="0">
                <a:solidFill>
                  <a:srgbClr val="5A6E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MANPOWER BOARD</a:t>
            </a:r>
            <a:endParaRPr lang="en-US" sz="72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426464"/>
            <a:ext cx="3409798" cy="7722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590" spc="-130" kern="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whole crew</a:t>
            </a:r>
            <a:endParaRPr lang="en-US" sz="2590" dirty="0"/>
          </a:p>
          <a:p>
            <a:pPr algn="l" indent="0" marL="0">
              <a:lnSpc>
                <a:spcPts val="2640"/>
              </a:lnSpc>
              <a:buNone/>
            </a:pPr>
            <a:r>
              <a:rPr lang="en-US" sz="2590" spc="-130" kern="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</a:t>
            </a:r>
            <a:pPr algn="l" indent="0" marL="0">
              <a:lnSpc>
                <a:spcPts val="2640"/>
              </a:lnSpc>
              <a:buNone/>
            </a:pPr>
            <a:r>
              <a:rPr lang="en-US" sz="2590" b="1" spc="-130" kern="0" dirty="0">
                <a:solidFill>
                  <a:srgbClr val="1A57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one</a:t>
            </a:r>
            <a:pPr algn="l" indent="0" marL="0">
              <a:lnSpc>
                <a:spcPts val="2640"/>
              </a:lnSpc>
              <a:buNone/>
            </a:pPr>
            <a:r>
              <a:rPr lang="en-US" sz="2590" b="1" spc="-130" kern="0" dirty="0">
                <a:solidFill>
                  <a:srgbClr val="5593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view.</a:t>
            </a:r>
            <a:endParaRPr lang="en-US" sz="2590" dirty="0"/>
          </a:p>
        </p:txBody>
      </p:sp>
      <p:sp>
        <p:nvSpPr>
          <p:cNvPr id="5" name="Text 2"/>
          <p:cNvSpPr txBox="1"/>
          <p:nvPr/>
        </p:nvSpPr>
        <p:spPr>
          <a:xfrm>
            <a:off x="877824" y="2282000"/>
            <a:ext cx="2804648" cy="213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990" b="1" spc="-10" kern="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Utilization you can trust</a:t>
            </a:r>
            <a:endParaRPr lang="en-US" sz="990" dirty="0"/>
          </a:p>
        </p:txBody>
      </p:sp>
      <p:sp>
        <p:nvSpPr>
          <p:cNvPr id="6" name="Text 3"/>
          <p:cNvSpPr txBox="1"/>
          <p:nvPr/>
        </p:nvSpPr>
        <p:spPr>
          <a:xfrm>
            <a:off x="877824" y="2707196"/>
            <a:ext cx="2804648" cy="213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990" b="1" spc="-10" kern="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Idle staff named</a:t>
            </a:r>
            <a:endParaRPr lang="en-US" sz="990" dirty="0"/>
          </a:p>
        </p:txBody>
      </p:sp>
      <p:sp>
        <p:nvSpPr>
          <p:cNvPr id="7" name="Text 4"/>
          <p:cNvSpPr txBox="1"/>
          <p:nvPr/>
        </p:nvSpPr>
        <p:spPr>
          <a:xfrm>
            <a:off x="877824" y="3132392"/>
            <a:ext cx="2804648" cy="213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990" b="1" spc="-10" kern="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board</a:t>
            </a:r>
            <a:endParaRPr lang="en-US" sz="990" dirty="0"/>
          </a:p>
        </p:txBody>
      </p:sp>
      <p:sp>
        <p:nvSpPr>
          <p:cNvPr id="8" name="Text 5"/>
          <p:cNvSpPr txBox="1"/>
          <p:nvPr/>
        </p:nvSpPr>
        <p:spPr>
          <a:xfrm>
            <a:off x="877824" y="3557588"/>
            <a:ext cx="2804648" cy="213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990" b="1" spc="-10" kern="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History and workload</a:t>
            </a:r>
            <a:endParaRPr lang="en-US" sz="990" dirty="0"/>
          </a:p>
        </p:txBody>
      </p:sp>
      <p:sp>
        <p:nvSpPr>
          <p:cNvPr id="9" name="Text 6"/>
          <p:cNvSpPr txBox="1"/>
          <p:nvPr/>
        </p:nvSpPr>
        <p:spPr>
          <a:xfrm>
            <a:off x="877824" y="2445877"/>
            <a:ext cx="2804648" cy="187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0"/>
              </a:lnSpc>
              <a:buNone/>
            </a:pPr>
            <a:r>
              <a:rPr lang="en-US" sz="81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On-call staff who were not called stay out of the figure</a:t>
            </a:r>
            <a:endParaRPr lang="en-US" sz="810" dirty="0"/>
          </a:p>
        </p:txBody>
      </p:sp>
      <p:sp>
        <p:nvSpPr>
          <p:cNvPr id="10" name="Text 7"/>
          <p:cNvSpPr txBox="1"/>
          <p:nvPr/>
        </p:nvSpPr>
        <p:spPr>
          <a:xfrm>
            <a:off x="877824" y="2871073"/>
            <a:ext cx="2804648" cy="187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0"/>
              </a:lnSpc>
              <a:buNone/>
            </a:pPr>
            <a:r>
              <a:rPr lang="en-US" sz="81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Permanent staff with no mission, listed by board</a:t>
            </a:r>
            <a:endParaRPr lang="en-US" sz="810" dirty="0"/>
          </a:p>
        </p:txBody>
      </p:sp>
      <p:sp>
        <p:nvSpPr>
          <p:cNvPr id="11" name="Text 8"/>
          <p:cNvSpPr txBox="1"/>
          <p:nvPr/>
        </p:nvSpPr>
        <p:spPr>
          <a:xfrm>
            <a:off x="877824" y="3296269"/>
            <a:ext cx="2804648" cy="187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0"/>
              </a:lnSpc>
              <a:buNone/>
            </a:pPr>
            <a:r>
              <a:rPr lang="en-US" sz="81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Missions, headcount, leave and idle side by side</a:t>
            </a:r>
            <a:endParaRPr lang="en-US" sz="810" dirty="0"/>
          </a:p>
        </p:txBody>
      </p:sp>
      <p:sp>
        <p:nvSpPr>
          <p:cNvPr id="12" name="Text 9"/>
          <p:cNvSpPr txBox="1"/>
          <p:nvPr/>
        </p:nvSpPr>
        <p:spPr>
          <a:xfrm>
            <a:off x="877824" y="3721465"/>
            <a:ext cx="2804648" cy="187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0"/>
              </a:lnSpc>
              <a:buNone/>
            </a:pPr>
            <a:r>
              <a:rPr lang="en-US" sz="81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Utilization over time and missions per engineer</a:t>
            </a:r>
            <a:endParaRPr lang="en-US" sz="81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CFD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nventory dashboard with the cart on a ph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779008" y="1188720"/>
            <a:ext cx="3140415" cy="118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20"/>
              </a:lnSpc>
              <a:buNone/>
            </a:pPr>
            <a:r>
              <a:rPr lang="en-US" sz="720" spc="115" kern="0" dirty="0">
                <a:solidFill>
                  <a:srgbClr val="5A6E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INVENTORY &amp; QUALITY</a:t>
            </a:r>
            <a:endParaRPr lang="en-US" sz="720" dirty="0"/>
          </a:p>
        </p:txBody>
      </p:sp>
      <p:sp>
        <p:nvSpPr>
          <p:cNvPr id="4" name="Text 1"/>
          <p:cNvSpPr txBox="1"/>
          <p:nvPr/>
        </p:nvSpPr>
        <p:spPr>
          <a:xfrm>
            <a:off x="5486400" y="1426464"/>
            <a:ext cx="3616452" cy="1076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70"/>
              </a:lnSpc>
              <a:buNone/>
            </a:pPr>
            <a:r>
              <a:rPr lang="en-US" sz="2520" spc="-126" kern="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tool, part</a:t>
            </a:r>
            <a:endParaRPr lang="en-US" sz="2520" dirty="0"/>
          </a:p>
          <a:p>
            <a:pPr algn="l" indent="0" marL="0">
              <a:lnSpc>
                <a:spcPts val="2570"/>
              </a:lnSpc>
              <a:buNone/>
            </a:pPr>
            <a:r>
              <a:rPr lang="en-US" sz="2520" spc="-126" kern="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consumable,</a:t>
            </a:r>
            <a:endParaRPr lang="en-US" sz="2520" dirty="0"/>
          </a:p>
          <a:p>
            <a:pPr algn="l" indent="0" marL="0">
              <a:lnSpc>
                <a:spcPts val="2570"/>
              </a:lnSpc>
              <a:buNone/>
            </a:pPr>
            <a:r>
              <a:rPr lang="en-US" sz="2520" b="1" spc="-126" kern="0" dirty="0">
                <a:solidFill>
                  <a:srgbClr val="2670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accounted</a:t>
            </a:r>
            <a:pPr algn="l" indent="0" marL="0">
              <a:lnSpc>
                <a:spcPts val="2570"/>
              </a:lnSpc>
              <a:buNone/>
            </a:pPr>
            <a:r>
              <a:rPr lang="en-US" sz="2520" b="1" spc="-126" kern="0" dirty="0">
                <a:solidFill>
                  <a:srgbClr val="6E9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for.</a:t>
            </a:r>
            <a:endParaRPr lang="en-US" sz="2520" dirty="0"/>
          </a:p>
        </p:txBody>
      </p:sp>
      <p:sp>
        <p:nvSpPr>
          <p:cNvPr id="5" name="Text 2"/>
          <p:cNvSpPr txBox="1"/>
          <p:nvPr/>
        </p:nvSpPr>
        <p:spPr>
          <a:xfrm>
            <a:off x="5907024" y="2589467"/>
            <a:ext cx="3002158" cy="213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990" b="1" spc="-10" kern="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Consumables</a:t>
            </a:r>
            <a:endParaRPr lang="en-US" sz="990" dirty="0"/>
          </a:p>
        </p:txBody>
      </p:sp>
      <p:sp>
        <p:nvSpPr>
          <p:cNvPr id="6" name="Text 3"/>
          <p:cNvSpPr txBox="1"/>
          <p:nvPr/>
        </p:nvSpPr>
        <p:spPr>
          <a:xfrm>
            <a:off x="5907024" y="3014663"/>
            <a:ext cx="3002158" cy="213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990" b="1" spc="-10" kern="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&amp; Calibration</a:t>
            </a:r>
            <a:endParaRPr lang="en-US" sz="990" dirty="0"/>
          </a:p>
        </p:txBody>
      </p:sp>
      <p:sp>
        <p:nvSpPr>
          <p:cNvPr id="7" name="Text 4"/>
          <p:cNvSpPr txBox="1"/>
          <p:nvPr/>
        </p:nvSpPr>
        <p:spPr>
          <a:xfrm>
            <a:off x="5907024" y="3439859"/>
            <a:ext cx="3002158" cy="213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990" b="1" spc="-10" kern="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Parts</a:t>
            </a:r>
            <a:endParaRPr lang="en-US" sz="990" dirty="0"/>
          </a:p>
        </p:txBody>
      </p:sp>
      <p:sp>
        <p:nvSpPr>
          <p:cNvPr id="8" name="Text 5"/>
          <p:cNvSpPr txBox="1"/>
          <p:nvPr/>
        </p:nvSpPr>
        <p:spPr>
          <a:xfrm>
            <a:off x="5907024" y="3865054"/>
            <a:ext cx="3002158" cy="213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990" b="1" spc="-10" kern="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To-Do and Audit Trail</a:t>
            </a:r>
            <a:endParaRPr lang="en-US" sz="990" dirty="0"/>
          </a:p>
        </p:txBody>
      </p:sp>
      <p:sp>
        <p:nvSpPr>
          <p:cNvPr id="9" name="Text 6"/>
          <p:cNvSpPr txBox="1"/>
          <p:nvPr/>
        </p:nvSpPr>
        <p:spPr>
          <a:xfrm>
            <a:off x="5907024" y="2753344"/>
            <a:ext cx="3002158" cy="187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0"/>
              </a:lnSpc>
              <a:buNone/>
            </a:pPr>
            <a:r>
              <a:rPr lang="en-US" sz="81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 per warehouse against its safety level</a:t>
            </a:r>
            <a:endParaRPr lang="en-US" sz="810" dirty="0"/>
          </a:p>
        </p:txBody>
      </p:sp>
      <p:sp>
        <p:nvSpPr>
          <p:cNvPr id="10" name="Text 7"/>
          <p:cNvSpPr txBox="1"/>
          <p:nvPr/>
        </p:nvSpPr>
        <p:spPr>
          <a:xfrm>
            <a:off x="5907024" y="3178540"/>
            <a:ext cx="3002158" cy="187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0"/>
              </a:lnSpc>
              <a:buNone/>
            </a:pPr>
            <a:r>
              <a:rPr lang="en-US" sz="81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Borrow, return and calibration due dates</a:t>
            </a:r>
            <a:endParaRPr lang="en-US" sz="810" dirty="0"/>
          </a:p>
        </p:txBody>
      </p:sp>
      <p:sp>
        <p:nvSpPr>
          <p:cNvPr id="11" name="Text 8"/>
          <p:cNvSpPr txBox="1"/>
          <p:nvPr/>
        </p:nvSpPr>
        <p:spPr>
          <a:xfrm>
            <a:off x="5907024" y="3603736"/>
            <a:ext cx="3002158" cy="187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0"/>
              </a:lnSpc>
              <a:buNone/>
            </a:pPr>
            <a:r>
              <a:rPr lang="en-US" sz="81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OK, NG, Sorting and Hold per lot</a:t>
            </a:r>
            <a:endParaRPr lang="en-US" sz="810" dirty="0"/>
          </a:p>
        </p:txBody>
      </p:sp>
      <p:sp>
        <p:nvSpPr>
          <p:cNvPr id="12" name="Text 9"/>
          <p:cNvSpPr txBox="1"/>
          <p:nvPr/>
        </p:nvSpPr>
        <p:spPr>
          <a:xfrm>
            <a:off x="5907024" y="4028932"/>
            <a:ext cx="3002158" cy="187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0"/>
              </a:lnSpc>
              <a:buNone/>
            </a:pPr>
            <a:r>
              <a:rPr lang="en-US" sz="81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Approvals in one queue, every change on record</a:t>
            </a:r>
            <a:endParaRPr lang="en-US" sz="81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CFD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ools and Calibration list on desktop and ph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49808" y="1188720"/>
            <a:ext cx="3041660" cy="118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20"/>
              </a:lnSpc>
              <a:buNone/>
            </a:pPr>
            <a:r>
              <a:rPr lang="en-US" sz="720" spc="115" kern="0" dirty="0">
                <a:solidFill>
                  <a:srgbClr val="5A6E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INVENTORY &amp; QUALITY</a:t>
            </a:r>
            <a:endParaRPr lang="en-US" sz="72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426464"/>
            <a:ext cx="3513125" cy="7722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590" spc="-130" kern="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Borrow a tool</a:t>
            </a:r>
            <a:endParaRPr lang="en-US" sz="2590" dirty="0"/>
          </a:p>
          <a:p>
            <a:pPr algn="l" indent="0" marL="0">
              <a:lnSpc>
                <a:spcPts val="2640"/>
              </a:lnSpc>
              <a:buNone/>
            </a:pPr>
            <a:r>
              <a:rPr lang="en-US" sz="2590" b="1" spc="-130" kern="0" dirty="0">
                <a:solidFill>
                  <a:srgbClr val="114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</a:t>
            </a:r>
            <a:pPr algn="l" indent="0" marL="0">
              <a:lnSpc>
                <a:spcPts val="2640"/>
              </a:lnSpc>
              <a:buNone/>
            </a:pPr>
            <a:r>
              <a:rPr lang="en-US" sz="2590" b="1" spc="-130" kern="0" dirty="0">
                <a:solidFill>
                  <a:srgbClr val="1D5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</a:t>
            </a:r>
            <a:pPr algn="l" indent="0" marL="0">
              <a:lnSpc>
                <a:spcPts val="2640"/>
              </a:lnSpc>
              <a:buNone/>
            </a:pPr>
            <a:r>
              <a:rPr lang="en-US" sz="2590" b="1" spc="-130" kern="0" dirty="0">
                <a:solidFill>
                  <a:srgbClr val="4C8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minute.</a:t>
            </a:r>
            <a:endParaRPr lang="en-US" sz="2590" dirty="0"/>
          </a:p>
        </p:txBody>
      </p:sp>
      <p:sp>
        <p:nvSpPr>
          <p:cNvPr id="5" name="Text 2"/>
          <p:cNvSpPr txBox="1"/>
          <p:nvPr/>
        </p:nvSpPr>
        <p:spPr>
          <a:xfrm>
            <a:off x="877824" y="2282000"/>
            <a:ext cx="2903403" cy="213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990" b="1" spc="-10" kern="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it</a:t>
            </a:r>
            <a:endParaRPr lang="en-US" sz="990" dirty="0"/>
          </a:p>
        </p:txBody>
      </p:sp>
      <p:sp>
        <p:nvSpPr>
          <p:cNvPr id="6" name="Text 3"/>
          <p:cNvSpPr txBox="1"/>
          <p:nvPr/>
        </p:nvSpPr>
        <p:spPr>
          <a:xfrm>
            <a:off x="877824" y="2707196"/>
            <a:ext cx="2903403" cy="213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990" b="1" spc="-10" kern="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it</a:t>
            </a:r>
            <a:endParaRPr lang="en-US" sz="990" dirty="0"/>
          </a:p>
        </p:txBody>
      </p:sp>
      <p:sp>
        <p:nvSpPr>
          <p:cNvPr id="7" name="Text 4"/>
          <p:cNvSpPr txBox="1"/>
          <p:nvPr/>
        </p:nvSpPr>
        <p:spPr>
          <a:xfrm>
            <a:off x="877824" y="3132392"/>
            <a:ext cx="2903403" cy="213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990" b="1" spc="-10" kern="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it</a:t>
            </a:r>
            <a:endParaRPr lang="en-US" sz="990" dirty="0"/>
          </a:p>
        </p:txBody>
      </p:sp>
      <p:sp>
        <p:nvSpPr>
          <p:cNvPr id="8" name="Text 5"/>
          <p:cNvSpPr txBox="1"/>
          <p:nvPr/>
        </p:nvSpPr>
        <p:spPr>
          <a:xfrm>
            <a:off x="877824" y="3557588"/>
            <a:ext cx="2903403" cy="213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990" b="1" spc="-10" kern="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 it</a:t>
            </a:r>
            <a:endParaRPr lang="en-US" sz="990" dirty="0"/>
          </a:p>
        </p:txBody>
      </p:sp>
      <p:sp>
        <p:nvSpPr>
          <p:cNvPr id="9" name="Text 6"/>
          <p:cNvSpPr txBox="1"/>
          <p:nvPr/>
        </p:nvSpPr>
        <p:spPr>
          <a:xfrm>
            <a:off x="877824" y="2445877"/>
            <a:ext cx="2903403" cy="187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0"/>
              </a:lnSpc>
              <a:buNone/>
            </a:pPr>
            <a:r>
              <a:rPr lang="en-US" sz="81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Search, or scan the barcode with your phone camera</a:t>
            </a:r>
            <a:endParaRPr lang="en-US" sz="810" dirty="0"/>
          </a:p>
        </p:txBody>
      </p:sp>
      <p:sp>
        <p:nvSpPr>
          <p:cNvPr id="10" name="Text 7"/>
          <p:cNvSpPr txBox="1"/>
          <p:nvPr/>
        </p:nvSpPr>
        <p:spPr>
          <a:xfrm>
            <a:off x="877824" y="2871073"/>
            <a:ext cx="2903403" cy="187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0"/>
              </a:lnSpc>
              <a:buNone/>
            </a:pPr>
            <a:r>
              <a:rPr lang="en-US" sz="81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Calibration valid-to date and usable range on every tool</a:t>
            </a:r>
            <a:endParaRPr lang="en-US" sz="810" dirty="0"/>
          </a:p>
        </p:txBody>
      </p:sp>
      <p:sp>
        <p:nvSpPr>
          <p:cNvPr id="11" name="Text 8"/>
          <p:cNvSpPr txBox="1"/>
          <p:nvPr/>
        </p:nvSpPr>
        <p:spPr>
          <a:xfrm>
            <a:off x="877824" y="3296269"/>
            <a:ext cx="2903403" cy="187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0"/>
              </a:lnSpc>
              <a:buNone/>
            </a:pPr>
            <a:r>
              <a:rPr lang="en-US" sz="81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to the cart and send one request</a:t>
            </a:r>
            <a:endParaRPr lang="en-US" sz="810" dirty="0"/>
          </a:p>
        </p:txBody>
      </p:sp>
      <p:sp>
        <p:nvSpPr>
          <p:cNvPr id="12" name="Text 9"/>
          <p:cNvSpPr txBox="1"/>
          <p:nvPr/>
        </p:nvSpPr>
        <p:spPr>
          <a:xfrm>
            <a:off x="877824" y="3721465"/>
            <a:ext cx="2903403" cy="187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0"/>
              </a:lnSpc>
              <a:buNone/>
            </a:pPr>
            <a:r>
              <a:rPr lang="en-US" sz="81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Overdue returns are flagged, so nothing goes missing</a:t>
            </a:r>
            <a:endParaRPr lang="en-US" sz="81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CFD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ustomer Parts table with a delivery to confirm on a ph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779008" y="1188720"/>
            <a:ext cx="3140415" cy="118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20"/>
              </a:lnSpc>
              <a:buNone/>
            </a:pPr>
            <a:r>
              <a:rPr lang="en-US" sz="720" spc="115" kern="0" dirty="0">
                <a:solidFill>
                  <a:srgbClr val="5A6E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INVENTORY &amp; QUALITY</a:t>
            </a:r>
            <a:endParaRPr lang="en-US" sz="720" dirty="0"/>
          </a:p>
        </p:txBody>
      </p:sp>
      <p:sp>
        <p:nvSpPr>
          <p:cNvPr id="4" name="Text 1"/>
          <p:cNvSpPr txBox="1"/>
          <p:nvPr/>
        </p:nvSpPr>
        <p:spPr>
          <a:xfrm>
            <a:off x="5486400" y="1426464"/>
            <a:ext cx="3616452" cy="7505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70"/>
              </a:lnSpc>
              <a:buNone/>
            </a:pPr>
            <a:r>
              <a:rPr lang="en-US" sz="2520" spc="-126" kern="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</a:t>
            </a:r>
            <a:endParaRPr lang="en-US" sz="2520" dirty="0"/>
          </a:p>
          <a:p>
            <a:pPr algn="l" indent="0" marL="0">
              <a:lnSpc>
                <a:spcPts val="2570"/>
              </a:lnSpc>
              <a:buNone/>
            </a:pPr>
            <a:r>
              <a:rPr lang="en-US" sz="2520" spc="-126" kern="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parts,</a:t>
            </a:r>
            <a:pPr algn="l" indent="0" marL="0">
              <a:lnSpc>
                <a:spcPts val="2570"/>
              </a:lnSpc>
              <a:buNone/>
            </a:pPr>
            <a:r>
              <a:rPr lang="en-US" sz="2520" b="1" spc="-126" kern="0" dirty="0">
                <a:solidFill>
                  <a:srgbClr val="164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lot</a:t>
            </a:r>
            <a:pPr algn="l" indent="0" marL="0">
              <a:lnSpc>
                <a:spcPts val="2570"/>
              </a:lnSpc>
              <a:buNone/>
            </a:pPr>
            <a:r>
              <a:rPr lang="en-US" sz="2520" b="1" spc="-126" kern="0" dirty="0">
                <a:solidFill>
                  <a:srgbClr val="2E7E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by</a:t>
            </a:r>
            <a:pPr algn="l" indent="0" marL="0">
              <a:lnSpc>
                <a:spcPts val="2570"/>
              </a:lnSpc>
              <a:buNone/>
            </a:pPr>
            <a:r>
              <a:rPr lang="en-US" sz="2520" b="1" spc="-126" kern="0" dirty="0">
                <a:solidFill>
                  <a:srgbClr val="649A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lot.</a:t>
            </a:r>
            <a:endParaRPr lang="en-US" sz="2520" dirty="0"/>
          </a:p>
        </p:txBody>
      </p:sp>
      <p:sp>
        <p:nvSpPr>
          <p:cNvPr id="5" name="Text 2"/>
          <p:cNvSpPr txBox="1"/>
          <p:nvPr/>
        </p:nvSpPr>
        <p:spPr>
          <a:xfrm>
            <a:off x="5907024" y="2263140"/>
            <a:ext cx="3002158" cy="213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990" b="1" spc="-10" kern="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Inspection status per lot</a:t>
            </a:r>
            <a:endParaRPr lang="en-US" sz="990" dirty="0"/>
          </a:p>
        </p:txBody>
      </p:sp>
      <p:sp>
        <p:nvSpPr>
          <p:cNvPr id="6" name="Text 3"/>
          <p:cNvSpPr txBox="1"/>
          <p:nvPr/>
        </p:nvSpPr>
        <p:spPr>
          <a:xfrm>
            <a:off x="5907024" y="2688336"/>
            <a:ext cx="3002158" cy="213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990" b="1" spc="-10" kern="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Aged parts flagged</a:t>
            </a:r>
            <a:endParaRPr lang="en-US" sz="990" dirty="0"/>
          </a:p>
        </p:txBody>
      </p:sp>
      <p:sp>
        <p:nvSpPr>
          <p:cNvPr id="7" name="Text 4"/>
          <p:cNvSpPr txBox="1"/>
          <p:nvPr/>
        </p:nvSpPr>
        <p:spPr>
          <a:xfrm>
            <a:off x="5907024" y="3112389"/>
            <a:ext cx="3002158" cy="213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990" b="1" spc="-10" kern="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Deliveries in and out</a:t>
            </a:r>
            <a:endParaRPr lang="en-US" sz="990" dirty="0"/>
          </a:p>
        </p:txBody>
      </p:sp>
      <p:sp>
        <p:nvSpPr>
          <p:cNvPr id="8" name="Text 5"/>
          <p:cNvSpPr txBox="1"/>
          <p:nvPr/>
        </p:nvSpPr>
        <p:spPr>
          <a:xfrm>
            <a:off x="5907024" y="3680889"/>
            <a:ext cx="3002158" cy="213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990" b="1" spc="-10" kern="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what really arrived</a:t>
            </a:r>
            <a:endParaRPr lang="en-US" sz="990" dirty="0"/>
          </a:p>
        </p:txBody>
      </p:sp>
      <p:sp>
        <p:nvSpPr>
          <p:cNvPr id="9" name="Text 6"/>
          <p:cNvSpPr txBox="1"/>
          <p:nvPr/>
        </p:nvSpPr>
        <p:spPr>
          <a:xfrm>
            <a:off x="5907024" y="2427018"/>
            <a:ext cx="3002158" cy="187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0"/>
              </a:lnSpc>
              <a:buNone/>
            </a:pPr>
            <a:r>
              <a:rPr lang="en-US" sz="81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OK, NG, Sorting and Hold, with the total and the lots</a:t>
            </a:r>
            <a:endParaRPr lang="en-US" sz="810" dirty="0"/>
          </a:p>
        </p:txBody>
      </p:sp>
      <p:sp>
        <p:nvSpPr>
          <p:cNvPr id="10" name="Text 7"/>
          <p:cNvSpPr txBox="1"/>
          <p:nvPr/>
        </p:nvSpPr>
        <p:spPr>
          <a:xfrm>
            <a:off x="5907024" y="2852214"/>
            <a:ext cx="3002158" cy="187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0"/>
              </a:lnSpc>
              <a:buNone/>
            </a:pPr>
            <a:r>
              <a:rPr lang="en-US" sz="81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Amber past the aged threshold, red past twice it</a:t>
            </a:r>
            <a:endParaRPr lang="en-US" sz="810" dirty="0"/>
          </a:p>
        </p:txBody>
      </p:sp>
      <p:sp>
        <p:nvSpPr>
          <p:cNvPr id="11" name="Text 8"/>
          <p:cNvSpPr txBox="1"/>
          <p:nvPr/>
        </p:nvSpPr>
        <p:spPr>
          <a:xfrm>
            <a:off x="5907024" y="3276267"/>
            <a:ext cx="3141147" cy="332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0"/>
              </a:lnSpc>
              <a:buNone/>
            </a:pPr>
            <a:r>
              <a:rPr lang="en-US" sz="81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Several parts on one Asset In-Out Form; booked stock is</a:t>
            </a:r>
            <a:endParaRPr lang="en-US" sz="810" dirty="0"/>
          </a:p>
          <a:p>
            <a:pPr algn="l" indent="0" marL="0">
              <a:lnSpc>
                <a:spcPts val="1140"/>
              </a:lnSpc>
              <a:buNone/>
            </a:pPr>
            <a:r>
              <a:rPr lang="en-US" sz="81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reserved</a:t>
            </a:r>
            <a:endParaRPr lang="en-US" sz="810" dirty="0"/>
          </a:p>
        </p:txBody>
      </p:sp>
      <p:sp>
        <p:nvSpPr>
          <p:cNvPr id="12" name="Text 9"/>
          <p:cNvSpPr txBox="1"/>
          <p:nvPr/>
        </p:nvSpPr>
        <p:spPr>
          <a:xfrm>
            <a:off x="5907024" y="3844766"/>
            <a:ext cx="3002158" cy="187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0"/>
              </a:lnSpc>
              <a:buNone/>
            </a:pPr>
            <a:r>
              <a:rPr lang="en-US" sz="81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 quantities per line; any difference goes in the log</a:t>
            </a:r>
            <a:endParaRPr lang="en-US" sz="81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CFD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onsumables and Usage screen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49808" y="1188720"/>
            <a:ext cx="3239171" cy="118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20"/>
              </a:lnSpc>
              <a:buNone/>
            </a:pPr>
            <a:r>
              <a:rPr lang="en-US" sz="720" spc="115" kern="0" dirty="0">
                <a:solidFill>
                  <a:srgbClr val="5A6E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INVENTORY &amp; QUALITY</a:t>
            </a:r>
            <a:endParaRPr lang="en-US" sz="72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426464"/>
            <a:ext cx="3719779" cy="7505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70"/>
              </a:lnSpc>
              <a:buNone/>
            </a:pPr>
            <a:r>
              <a:rPr lang="en-US" sz="2520" spc="-126" kern="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Catch problems before</a:t>
            </a:r>
            <a:endParaRPr lang="en-US" sz="2520" dirty="0"/>
          </a:p>
          <a:p>
            <a:pPr algn="l" indent="0" marL="0">
              <a:lnSpc>
                <a:spcPts val="2570"/>
              </a:lnSpc>
              <a:buNone/>
            </a:pPr>
            <a:r>
              <a:rPr lang="en-US" sz="2520" spc="-126" kern="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</a:t>
            </a:r>
            <a:pPr algn="l" indent="0" marL="0">
              <a:lnSpc>
                <a:spcPts val="2570"/>
              </a:lnSpc>
              <a:buNone/>
            </a:pPr>
            <a:r>
              <a:rPr lang="en-US" sz="2520" b="1" spc="-126" kern="0" dirty="0">
                <a:solidFill>
                  <a:srgbClr val="1C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become</a:t>
            </a:r>
            <a:pPr algn="l" indent="0" marL="0">
              <a:lnSpc>
                <a:spcPts val="2570"/>
              </a:lnSpc>
              <a:buNone/>
            </a:pPr>
            <a:r>
              <a:rPr lang="en-US" sz="2520" b="1" spc="-126" kern="0" dirty="0">
                <a:solidFill>
                  <a:srgbClr val="589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findings.</a:t>
            </a:r>
            <a:endParaRPr lang="en-US" sz="2520" dirty="0"/>
          </a:p>
        </p:txBody>
      </p:sp>
      <p:sp>
        <p:nvSpPr>
          <p:cNvPr id="5" name="Text 2"/>
          <p:cNvSpPr txBox="1"/>
          <p:nvPr/>
        </p:nvSpPr>
        <p:spPr>
          <a:xfrm>
            <a:off x="877824" y="2263140"/>
            <a:ext cx="3100913" cy="213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990" b="1" spc="-10" kern="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Predicted run-out</a:t>
            </a:r>
            <a:endParaRPr lang="en-US" sz="990" dirty="0"/>
          </a:p>
        </p:txBody>
      </p:sp>
      <p:sp>
        <p:nvSpPr>
          <p:cNvPr id="6" name="Text 3"/>
          <p:cNvSpPr txBox="1"/>
          <p:nvPr/>
        </p:nvSpPr>
        <p:spPr>
          <a:xfrm>
            <a:off x="877824" y="2688336"/>
            <a:ext cx="3100913" cy="213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990" b="1" spc="-10" kern="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Usage against the usual</a:t>
            </a:r>
            <a:endParaRPr lang="en-US" sz="990" dirty="0"/>
          </a:p>
        </p:txBody>
      </p:sp>
      <p:sp>
        <p:nvSpPr>
          <p:cNvPr id="7" name="Text 4"/>
          <p:cNvSpPr txBox="1"/>
          <p:nvPr/>
        </p:nvSpPr>
        <p:spPr>
          <a:xfrm>
            <a:off x="877824" y="3113532"/>
            <a:ext cx="3100913" cy="213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990" b="1" spc="-10" kern="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Approvals and alerts</a:t>
            </a:r>
            <a:endParaRPr lang="en-US" sz="990" dirty="0"/>
          </a:p>
        </p:txBody>
      </p:sp>
      <p:sp>
        <p:nvSpPr>
          <p:cNvPr id="8" name="Text 5"/>
          <p:cNvSpPr txBox="1"/>
          <p:nvPr/>
        </p:nvSpPr>
        <p:spPr>
          <a:xfrm>
            <a:off x="877824" y="3538728"/>
            <a:ext cx="3100913" cy="213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990" b="1" spc="-10" kern="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trail for ISO 9001</a:t>
            </a:r>
            <a:endParaRPr lang="en-US" sz="990" dirty="0"/>
          </a:p>
        </p:txBody>
      </p:sp>
      <p:sp>
        <p:nvSpPr>
          <p:cNvPr id="9" name="Text 6"/>
          <p:cNvSpPr txBox="1"/>
          <p:nvPr/>
        </p:nvSpPr>
        <p:spPr>
          <a:xfrm>
            <a:off x="877824" y="2427018"/>
            <a:ext cx="3100913" cy="187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0"/>
              </a:lnSpc>
              <a:buNone/>
            </a:pPr>
            <a:r>
              <a:rPr lang="en-US" sz="81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stock and spikes in demand, per warehouse</a:t>
            </a:r>
            <a:endParaRPr lang="en-US" sz="810" dirty="0"/>
          </a:p>
        </p:txBody>
      </p:sp>
      <p:sp>
        <p:nvSpPr>
          <p:cNvPr id="10" name="Text 7"/>
          <p:cNvSpPr txBox="1"/>
          <p:nvPr/>
        </p:nvSpPr>
        <p:spPr>
          <a:xfrm>
            <a:off x="877824" y="2852214"/>
            <a:ext cx="3100913" cy="187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0"/>
              </a:lnSpc>
              <a:buNone/>
            </a:pPr>
            <a:r>
              <a:rPr lang="en-US" sz="81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site and engineer, exported to Excel</a:t>
            </a:r>
            <a:endParaRPr lang="en-US" sz="810" dirty="0"/>
          </a:p>
        </p:txBody>
      </p:sp>
      <p:sp>
        <p:nvSpPr>
          <p:cNvPr id="11" name="Text 8"/>
          <p:cNvSpPr txBox="1"/>
          <p:nvPr/>
        </p:nvSpPr>
        <p:spPr>
          <a:xfrm>
            <a:off x="877824" y="3277410"/>
            <a:ext cx="3100913" cy="187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0"/>
              </a:lnSpc>
              <a:buNone/>
            </a:pPr>
            <a:r>
              <a:rPr lang="en-US" sz="81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To-Do queue, with phone notifications</a:t>
            </a:r>
            <a:endParaRPr lang="en-US" sz="810" dirty="0"/>
          </a:p>
        </p:txBody>
      </p:sp>
      <p:sp>
        <p:nvSpPr>
          <p:cNvPr id="12" name="Text 9"/>
          <p:cNvSpPr txBox="1"/>
          <p:nvPr/>
        </p:nvSpPr>
        <p:spPr>
          <a:xfrm>
            <a:off x="877824" y="3702606"/>
            <a:ext cx="3100913" cy="187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0"/>
              </a:lnSpc>
              <a:buNone/>
            </a:pPr>
            <a:r>
              <a:rPr lang="en-US" sz="81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changed what, and when</a:t>
            </a:r>
            <a:endParaRPr lang="en-US" sz="81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CFD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QR codes and app icons for both app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49808" y="1188720"/>
            <a:ext cx="3140415" cy="118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20"/>
              </a:lnSpc>
              <a:buNone/>
            </a:pPr>
            <a:r>
              <a:rPr lang="en-US" sz="720" spc="115" kern="0" dirty="0">
                <a:solidFill>
                  <a:srgbClr val="5A6E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 YOUR PHONE</a:t>
            </a:r>
            <a:endParaRPr lang="en-US" sz="72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444752"/>
            <a:ext cx="3616452" cy="9437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30"/>
              </a:lnSpc>
              <a:buNone/>
            </a:pPr>
            <a:r>
              <a:rPr lang="en-US" sz="3170" spc="-158" kern="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apps fit in</a:t>
            </a:r>
            <a:endParaRPr lang="en-US" sz="3170" dirty="0"/>
          </a:p>
          <a:p>
            <a:pPr algn="l" indent="0" marL="0">
              <a:lnSpc>
                <a:spcPts val="3230"/>
              </a:lnSpc>
              <a:buNone/>
            </a:pPr>
            <a:r>
              <a:rPr lang="en-US" sz="3170" b="1" spc="-158" kern="0" dirty="0">
                <a:solidFill>
                  <a:srgbClr val="1854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</a:t>
            </a:r>
            <a:pPr algn="l" indent="0" marL="0">
              <a:lnSpc>
                <a:spcPts val="3230"/>
              </a:lnSpc>
              <a:buNone/>
            </a:pPr>
            <a:r>
              <a:rPr lang="en-US" sz="3170" b="1" spc="-158" kern="0" dirty="0">
                <a:solidFill>
                  <a:srgbClr val="5090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pocket.</a:t>
            </a:r>
            <a:endParaRPr lang="en-US" sz="317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2430018"/>
            <a:ext cx="3616452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08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app has its own phone layout and installs</a:t>
            </a:r>
            <a:endParaRPr lang="en-US" sz="1080" dirty="0"/>
          </a:p>
          <a:p>
            <a:pPr algn="l" indent="0" marL="0">
              <a:lnSpc>
                <a:spcPts val="1620"/>
              </a:lnSpc>
              <a:buNone/>
            </a:pPr>
            <a:r>
              <a:rPr lang="en-US" sz="108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the browser like a native app. No app</a:t>
            </a:r>
            <a:endParaRPr lang="en-US" sz="1080" dirty="0"/>
          </a:p>
          <a:p>
            <a:pPr algn="l" indent="0" marL="0">
              <a:lnSpc>
                <a:spcPts val="1620"/>
              </a:lnSpc>
              <a:buNone/>
            </a:pPr>
            <a:r>
              <a:rPr lang="en-US" sz="108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 needed.</a:t>
            </a:r>
            <a:endParaRPr lang="en-US" sz="108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3248406"/>
            <a:ext cx="335768" cy="2258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70"/>
              </a:lnSpc>
              <a:buNone/>
            </a:pPr>
            <a:r>
              <a:rPr lang="en-US" sz="1370" b="1" spc="-41" kern="0" dirty="0">
                <a:solidFill>
                  <a:srgbClr val="2064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7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3731038"/>
            <a:ext cx="335768" cy="2258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70"/>
              </a:lnSpc>
              <a:buNone/>
            </a:pPr>
            <a:r>
              <a:rPr lang="en-US" sz="1370" b="1" spc="-41" kern="0" dirty="0">
                <a:solidFill>
                  <a:srgbClr val="256D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7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4054650"/>
            <a:ext cx="335768" cy="2258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70"/>
              </a:lnSpc>
              <a:buNone/>
            </a:pPr>
            <a:r>
              <a:rPr lang="en-US" sz="1370" b="1" spc="-41" kern="0" dirty="0">
                <a:solidFill>
                  <a:srgbClr val="256D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7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3284982"/>
            <a:ext cx="3151480" cy="3657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860" b="1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</a:t>
            </a:r>
            <a:pPr algn="l" indent="0" marL="0">
              <a:lnSpc>
                <a:spcPts val="1250"/>
              </a:lnSpc>
              <a:buNone/>
            </a:pPr>
            <a:r>
              <a:rPr lang="en-US" sz="86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code and sign in with your @trigo-group.com</a:t>
            </a:r>
            <a:endParaRPr lang="en-US" sz="860" dirty="0"/>
          </a:p>
          <a:p>
            <a:pPr algn="l" indent="0" marL="0">
              <a:lnSpc>
                <a:spcPts val="1250"/>
              </a:lnSpc>
              <a:buNone/>
            </a:pPr>
            <a:r>
              <a:rPr lang="en-US" sz="86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email.</a:t>
            </a:r>
            <a:endParaRPr lang="en-US" sz="860" dirty="0"/>
          </a:p>
        </p:txBody>
      </p:sp>
      <p:sp>
        <p:nvSpPr>
          <p:cNvPr id="10" name="Text 7"/>
          <p:cNvSpPr txBox="1"/>
          <p:nvPr/>
        </p:nvSpPr>
        <p:spPr>
          <a:xfrm>
            <a:off x="868680" y="3767614"/>
            <a:ext cx="3012034" cy="206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860" b="1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iPhone:</a:t>
            </a:r>
            <a:pPr algn="l" indent="0" marL="0">
              <a:lnSpc>
                <a:spcPts val="1250"/>
              </a:lnSpc>
              <a:buNone/>
            </a:pPr>
            <a:r>
              <a:rPr lang="en-US" sz="86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Safari tap Share, then Add to Home Screen.</a:t>
            </a:r>
            <a:endParaRPr lang="en-US" sz="860" dirty="0"/>
          </a:p>
        </p:txBody>
      </p:sp>
      <p:sp>
        <p:nvSpPr>
          <p:cNvPr id="11" name="Text 8"/>
          <p:cNvSpPr txBox="1"/>
          <p:nvPr/>
        </p:nvSpPr>
        <p:spPr>
          <a:xfrm>
            <a:off x="868680" y="4091226"/>
            <a:ext cx="3012034" cy="206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860" b="1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Android:</a:t>
            </a:r>
            <a:pPr algn="l" indent="0" marL="0">
              <a:lnSpc>
                <a:spcPts val="1250"/>
              </a:lnSpc>
              <a:buNone/>
            </a:pPr>
            <a:r>
              <a:rPr lang="en-US" sz="86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Chrome tap the menu, then Install app.</a:t>
            </a:r>
            <a:endParaRPr lang="en-US" sz="860" dirty="0"/>
          </a:p>
        </p:txBody>
      </p:sp>
      <p:sp>
        <p:nvSpPr>
          <p:cNvPr id="12" name="Text 9"/>
          <p:cNvSpPr txBox="1"/>
          <p:nvPr/>
        </p:nvSpPr>
        <p:spPr>
          <a:xfrm>
            <a:off x="4533567" y="1865376"/>
            <a:ext cx="1307581" cy="313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20" b="1" spc="-31" kern="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Manpower Board</a:t>
            </a:r>
            <a:endParaRPr lang="en-US" sz="1220" dirty="0"/>
          </a:p>
        </p:txBody>
      </p:sp>
      <p:sp>
        <p:nvSpPr>
          <p:cNvPr id="13" name="Text 10"/>
          <p:cNvSpPr txBox="1"/>
          <p:nvPr/>
        </p:nvSpPr>
        <p:spPr>
          <a:xfrm>
            <a:off x="6899862" y="1865376"/>
            <a:ext cx="1450004" cy="313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20" b="1" spc="-31" kern="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Inventory &amp; Quality</a:t>
            </a:r>
            <a:endParaRPr lang="en-US" sz="1220" dirty="0"/>
          </a:p>
        </p:txBody>
      </p:sp>
      <p:sp>
        <p:nvSpPr>
          <p:cNvPr id="14" name="Text 11"/>
          <p:cNvSpPr txBox="1"/>
          <p:nvPr/>
        </p:nvSpPr>
        <p:spPr>
          <a:xfrm>
            <a:off x="5409819" y="4389120"/>
            <a:ext cx="1074426" cy="2838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79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Installable app (PWA)</a:t>
            </a:r>
            <a:endParaRPr lang="en-US" sz="790" dirty="0"/>
          </a:p>
        </p:txBody>
      </p:sp>
      <p:sp>
        <p:nvSpPr>
          <p:cNvPr id="15" name="Text 12"/>
          <p:cNvSpPr txBox="1"/>
          <p:nvPr/>
        </p:nvSpPr>
        <p:spPr>
          <a:xfrm>
            <a:off x="6871145" y="4389120"/>
            <a:ext cx="661043" cy="2838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79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Phone layout</a:t>
            </a:r>
            <a:endParaRPr lang="en-US" sz="790" dirty="0"/>
          </a:p>
        </p:txBody>
      </p:sp>
      <p:sp>
        <p:nvSpPr>
          <p:cNvPr id="16" name="Text 13"/>
          <p:cNvSpPr txBox="1"/>
          <p:nvPr/>
        </p:nvSpPr>
        <p:spPr>
          <a:xfrm>
            <a:off x="4225911" y="3761327"/>
            <a:ext cx="182589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60"/>
              </a:lnSpc>
              <a:buNone/>
            </a:pPr>
            <a:r>
              <a:rPr lang="en-US" sz="720" dirty="0">
                <a:solidFill>
                  <a:srgbClr val="0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trigoth-manpowerboard.netlify.app</a:t>
            </a:r>
            <a:endParaRPr lang="en-US" sz="720" dirty="0"/>
          </a:p>
        </p:txBody>
      </p:sp>
      <p:sp>
        <p:nvSpPr>
          <p:cNvPr id="17" name="Text 14"/>
          <p:cNvSpPr txBox="1"/>
          <p:nvPr/>
        </p:nvSpPr>
        <p:spPr>
          <a:xfrm>
            <a:off x="6825630" y="3761327"/>
            <a:ext cx="149120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60"/>
              </a:lnSpc>
              <a:buNone/>
            </a:pPr>
            <a:r>
              <a:rPr lang="en-US" sz="720" dirty="0">
                <a:solidFill>
                  <a:srgbClr val="0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trigoth-inventory.pages.dev</a:t>
            </a:r>
            <a:endParaRPr lang="en-US" sz="7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Non-Rayong overview 2026</dc:title>
  <dc:subject>PptxGenJS Presentation</dc:subject>
  <dc:creator>TRIGO Quality Services Thailand</dc:creator>
  <cp:lastModifiedBy>TRIGO Quality Services Thailand</cp:lastModifiedBy>
  <cp:revision>1</cp:revision>
  <dcterms:created xsi:type="dcterms:W3CDTF">2026-10-16T21:08:32Z</dcterms:created>
  <dcterms:modified xsi:type="dcterms:W3CDTF">2026-10-16T21:08:32Z</dcterms:modified>
</cp:coreProperties>
</file>