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Opening
Non-Rayong overview for January to September 2026: LCBTH, BANGN and AMATA.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Performance
Hours fell 19% in April, then climbed 44% to a record 36,653 h in September. Q3 is the strongest quarter at 100.9K 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Site mix
Hours per mission = billable hours / distinct mission numbers (base number, ignoring monthly extension suffix). Per-piece units are pieces invoiced per unit of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Customers and hosts
Ford MVIP, MMTH Engine and Surtec Kariya together make up 71% of hours. The other 71 hosts share 14%.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· Section: Cost reduction
Two slides: the supplier change and the 2026 drink mix.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· Cost reduction: beverage supplier
Unit cost fell from 22.34 to 15.68 THB, and the monthly average from 80,899.75 to 64,983.03 THB. Cost per headcount trends down from August.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· Cost reduction: drink mix
Moving the mix toward electrolyte drinks, and adding herbal drinks and tea, targets 11.73 THB per unit. The 2025 figures still need a source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· Section: Operation excellence
Three slides: handheld OCR, the hybrid workflow and the poka-yoke controls.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· Operation excellence: handheld OCR
Source: supplied shopfloor OCR example and mission inspection-time comparisons. Reading a serial drops from 8 to 10 seconds by hand to 1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· Operation excellence: hybrid workflow
Data captured on the shopfloor lands in Google Sheets and Drive. An offline Excel record covers gaps, and the administrator reconciles both before the customer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· Operation excellence: poka-yoke
Two controls stop bad data at capture, one tells the operator when a box is full, and the administrator reviews before release. Next: the two web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· The two apps
Two internal tools, built for our sites. Same sign-in domain, same look, both installable on a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· Manpower: the daily board
Each card is a person, each column a mission with host, customer, shift and engineer. The tiles on top always add up: assigned plus leave plus standby equals total. The phone shows a forecast day being merged, one clash at a time: keep the carried-over plan or use the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· Manpower: planning ahead
Capacity compares demand per host with the people available. In the example, Wednesday 21/10 needs 40 against 36, so it shows 4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· Manpower: what managers see
Overview answers "is everyone placed?" first, then the numbers. Every chart has the exact figures on hover.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· Inventory: the system
Rayong and Amata warehouses, one at a time or both. The dashboard opens on what needs attention: out of stock, calibration overdue, returns late, parts aged over 60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· Inventory: the engineer's day
The same flow works for consumables (issue from stock) and customer parts (deliveries in and out). Camera scanning works in Chrome and Edge; a handheld scanner works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· Inventory: customer parts
Parts are tracked by the customer's part number, mission number and responsible engineer. A delivery due today shows on the To-Do list and in the bell until someone confirms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· Inventory: for management
Usage compares this period with the average of the previous three months. Open a site to see who issued what there. It is a fact to review, not a ranking of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· On your phone
New accounts are approved once by an admin. After installing, the app opens full screen from the home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: car body shop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1463040"/>
            <a:ext cx="748534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E4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Jan–Sep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828800"/>
            <a:ext cx="4546397" cy="1343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460" b="1" spc="-223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Non-Rayong</a:t>
            </a:r>
            <a:endParaRPr lang="en-US" sz="446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4460" b="1" spc="-223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2026.</a:t>
            </a:r>
            <a:endParaRPr lang="en-US" sz="446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161252"/>
            <a:ext cx="351312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hours, site mix and customers, then cost</a:t>
            </a:r>
            <a:endParaRPr lang="en-US" sz="9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reduction and operation excellence, across our three non-Rayong</a:t>
            </a:r>
            <a:endParaRPr lang="en-US" sz="9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sites.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708660" y="4023360"/>
            <a:ext cx="355673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</a:t>
            </a:r>
            <a:endParaRPr lang="en-US" sz="790" dirty="0"/>
          </a:p>
        </p:txBody>
      </p:sp>
      <p:sp>
        <p:nvSpPr>
          <p:cNvPr id="7" name="Text 4"/>
          <p:cNvSpPr txBox="1"/>
          <p:nvPr/>
        </p:nvSpPr>
        <p:spPr>
          <a:xfrm>
            <a:off x="1467755" y="4023360"/>
            <a:ext cx="388694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</a:t>
            </a:r>
            <a:endParaRPr lang="en-US" sz="790" dirty="0"/>
          </a:p>
        </p:txBody>
      </p:sp>
      <p:sp>
        <p:nvSpPr>
          <p:cNvPr id="8" name="Text 5"/>
          <p:cNvSpPr txBox="1"/>
          <p:nvPr/>
        </p:nvSpPr>
        <p:spPr>
          <a:xfrm>
            <a:off x="2257425" y="4023360"/>
            <a:ext cx="381288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AMATA</a:t>
            </a:r>
            <a:endParaRPr lang="en-US" sz="79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709732"/>
            <a:ext cx="1507714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spc="26" kern="0" dirty="0">
                <a:solidFill>
                  <a:srgbClr val="6F8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 Quality Services (Thailand)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tacked bar chart of monthly service hours by site, with what happened and quarterly hou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960120"/>
            <a:ext cx="875064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Performance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52728"/>
            <a:ext cx="5700181" cy="4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 set a record after the April dip.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621792" y="1929384"/>
            <a:ext cx="1545519" cy="211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83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service hours by site</a:t>
            </a:r>
            <a:endParaRPr lang="en-US" sz="830" dirty="0"/>
          </a:p>
        </p:txBody>
      </p:sp>
      <p:sp>
        <p:nvSpPr>
          <p:cNvPr id="6" name="Text 3"/>
          <p:cNvSpPr txBox="1"/>
          <p:nvPr/>
        </p:nvSpPr>
        <p:spPr>
          <a:xfrm>
            <a:off x="3956066" y="1939957"/>
            <a:ext cx="321880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</a:t>
            </a:r>
            <a:endParaRPr lang="en-US" sz="720" dirty="0"/>
          </a:p>
        </p:txBody>
      </p:sp>
      <p:sp>
        <p:nvSpPr>
          <p:cNvPr id="7" name="Text 4"/>
          <p:cNvSpPr txBox="1"/>
          <p:nvPr/>
        </p:nvSpPr>
        <p:spPr>
          <a:xfrm>
            <a:off x="4510135" y="1939957"/>
            <a:ext cx="354130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5094065" y="1939957"/>
            <a:ext cx="344717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AMATA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5925312" y="1874520"/>
            <a:ext cx="2804648" cy="356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2160" b="1" spc="-108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−19%</a:t>
            </a:r>
            <a:endParaRPr lang="en-US" sz="2160" dirty="0"/>
          </a:p>
        </p:txBody>
      </p:sp>
      <p:sp>
        <p:nvSpPr>
          <p:cNvPr id="10" name="Text 7"/>
          <p:cNvSpPr txBox="1"/>
          <p:nvPr/>
        </p:nvSpPr>
        <p:spPr>
          <a:xfrm>
            <a:off x="5925312" y="2194560"/>
            <a:ext cx="2804648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low vs Mar, 25,440 h; LCBTH −29%</a:t>
            </a:r>
            <a:endParaRPr lang="en-US" sz="720" dirty="0"/>
          </a:p>
        </p:txBody>
      </p:sp>
      <p:sp>
        <p:nvSpPr>
          <p:cNvPr id="11" name="Text 8"/>
          <p:cNvSpPr txBox="1"/>
          <p:nvPr/>
        </p:nvSpPr>
        <p:spPr>
          <a:xfrm>
            <a:off x="5925312" y="2610612"/>
            <a:ext cx="2804648" cy="356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2160" b="1" spc="-108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160" dirty="0"/>
          </a:p>
        </p:txBody>
      </p:sp>
      <p:sp>
        <p:nvSpPr>
          <p:cNvPr id="12" name="Text 9"/>
          <p:cNvSpPr txBox="1"/>
          <p:nvPr/>
        </p:nvSpPr>
        <p:spPr>
          <a:xfrm>
            <a:off x="5925312" y="2930652"/>
            <a:ext cx="2804648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to Sep: 25,440 h to a record 36,653 h</a:t>
            </a:r>
            <a:endParaRPr lang="en-US" sz="720" dirty="0"/>
          </a:p>
        </p:txBody>
      </p:sp>
      <p:sp>
        <p:nvSpPr>
          <p:cNvPr id="13" name="Text 10"/>
          <p:cNvSpPr txBox="1"/>
          <p:nvPr/>
        </p:nvSpPr>
        <p:spPr>
          <a:xfrm>
            <a:off x="5925312" y="3346704"/>
            <a:ext cx="2804648" cy="356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2160" b="1" spc="-108" kern="0" dirty="0">
                <a:solidFill>
                  <a:srgbClr val="9CC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176</a:t>
            </a:r>
            <a:endParaRPr lang="en-US" sz="2160" dirty="0"/>
          </a:p>
        </p:txBody>
      </p:sp>
      <p:sp>
        <p:nvSpPr>
          <p:cNvPr id="14" name="Text 11"/>
          <p:cNvSpPr txBox="1"/>
          <p:nvPr/>
        </p:nvSpPr>
        <p:spPr>
          <a:xfrm>
            <a:off x="5925312" y="3666744"/>
            <a:ext cx="2804648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FTE in Sep vs 141 Jan–Aug avg</a:t>
            </a:r>
            <a:endParaRPr lang="en-US" sz="720" dirty="0"/>
          </a:p>
        </p:txBody>
      </p:sp>
      <p:sp>
        <p:nvSpPr>
          <p:cNvPr id="15" name="Text 12"/>
          <p:cNvSpPr txBox="1"/>
          <p:nvPr/>
        </p:nvSpPr>
        <p:spPr>
          <a:xfrm>
            <a:off x="5925312" y="4073652"/>
            <a:ext cx="2804648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service hours</a:t>
            </a:r>
            <a:endParaRPr lang="en-US" sz="720" dirty="0"/>
          </a:p>
        </p:txBody>
      </p:sp>
      <p:sp>
        <p:nvSpPr>
          <p:cNvPr id="16" name="Text 13"/>
          <p:cNvSpPr txBox="1"/>
          <p:nvPr/>
        </p:nvSpPr>
        <p:spPr>
          <a:xfrm>
            <a:off x="5925312" y="4288536"/>
            <a:ext cx="23701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720" dirty="0"/>
          </a:p>
        </p:txBody>
      </p:sp>
      <p:sp>
        <p:nvSpPr>
          <p:cNvPr id="17" name="Text 14"/>
          <p:cNvSpPr txBox="1"/>
          <p:nvPr/>
        </p:nvSpPr>
        <p:spPr>
          <a:xfrm>
            <a:off x="7973568" y="4288536"/>
            <a:ext cx="5925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88.0K h</a:t>
            </a:r>
            <a:endParaRPr lang="en-US" sz="720" dirty="0"/>
          </a:p>
        </p:txBody>
      </p:sp>
      <p:sp>
        <p:nvSpPr>
          <p:cNvPr id="18" name="Text 15"/>
          <p:cNvSpPr txBox="1"/>
          <p:nvPr/>
        </p:nvSpPr>
        <p:spPr>
          <a:xfrm>
            <a:off x="5925312" y="4485132"/>
            <a:ext cx="23701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720" dirty="0"/>
          </a:p>
        </p:txBody>
      </p:sp>
      <p:sp>
        <p:nvSpPr>
          <p:cNvPr id="19" name="Text 16"/>
          <p:cNvSpPr txBox="1"/>
          <p:nvPr/>
        </p:nvSpPr>
        <p:spPr>
          <a:xfrm>
            <a:off x="7973568" y="4485132"/>
            <a:ext cx="5925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82.7K h</a:t>
            </a:r>
            <a:endParaRPr lang="en-US" sz="720" dirty="0"/>
          </a:p>
        </p:txBody>
      </p:sp>
      <p:sp>
        <p:nvSpPr>
          <p:cNvPr id="20" name="Text 17"/>
          <p:cNvSpPr txBox="1"/>
          <p:nvPr/>
        </p:nvSpPr>
        <p:spPr>
          <a:xfrm>
            <a:off x="5925312" y="4681728"/>
            <a:ext cx="23701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7973568" y="4681728"/>
            <a:ext cx="5925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100.9K h</a:t>
            </a:r>
            <a:endParaRPr lang="en-US" sz="7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nut of service-hour share and a stats card per s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960120"/>
            <a:ext cx="1338596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Site mix · Jan–Sep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52728"/>
            <a:ext cx="5920220" cy="4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 leads hours; BANGN leads missions.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558150" y="2553462"/>
            <a:ext cx="1718340" cy="3090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70"/>
              </a:lnSpc>
              <a:buNone/>
            </a:pPr>
            <a:r>
              <a:rPr lang="en-US" sz="1870" b="1" spc="-75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271.7k</a:t>
            </a:r>
            <a:endParaRPr lang="en-US" sz="1870" dirty="0"/>
          </a:p>
        </p:txBody>
      </p:sp>
      <p:sp>
        <p:nvSpPr>
          <p:cNvPr id="6" name="Text 3"/>
          <p:cNvSpPr txBox="1"/>
          <p:nvPr/>
        </p:nvSpPr>
        <p:spPr>
          <a:xfrm>
            <a:off x="558150" y="2791206"/>
            <a:ext cx="1718340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hrs</a:t>
            </a:r>
            <a:endParaRPr lang="en-US" sz="72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666744"/>
            <a:ext cx="1192315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</a:t>
            </a:r>
            <a:endParaRPr lang="en-US" sz="760" dirty="0"/>
          </a:p>
        </p:txBody>
      </p:sp>
      <p:sp>
        <p:nvSpPr>
          <p:cNvPr id="8" name="Text 5"/>
          <p:cNvSpPr txBox="1"/>
          <p:nvPr/>
        </p:nvSpPr>
        <p:spPr>
          <a:xfrm>
            <a:off x="1945243" y="3666744"/>
            <a:ext cx="289013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69.5%</a:t>
            </a:r>
            <a:endParaRPr lang="en-US" sz="76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879485"/>
            <a:ext cx="1182748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</a:t>
            </a:r>
            <a:endParaRPr lang="en-US" sz="760" dirty="0"/>
          </a:p>
        </p:txBody>
      </p:sp>
      <p:sp>
        <p:nvSpPr>
          <p:cNvPr id="10" name="Text 7"/>
          <p:cNvSpPr txBox="1"/>
          <p:nvPr/>
        </p:nvSpPr>
        <p:spPr>
          <a:xfrm>
            <a:off x="1936385" y="3879485"/>
            <a:ext cx="298580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20.0%</a:t>
            </a:r>
            <a:endParaRPr lang="en-US" sz="76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092226"/>
            <a:ext cx="1207128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AMATA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1958959" y="4092226"/>
            <a:ext cx="274200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10.6%</a:t>
            </a:r>
            <a:endParaRPr lang="en-US" sz="760" dirty="0"/>
          </a:p>
        </p:txBody>
      </p:sp>
      <p:sp>
        <p:nvSpPr>
          <p:cNvPr id="13" name="Text 10"/>
          <p:cNvSpPr txBox="1"/>
          <p:nvPr/>
        </p:nvSpPr>
        <p:spPr>
          <a:xfrm>
            <a:off x="2871216" y="1901952"/>
            <a:ext cx="432208" cy="230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0"/>
              </a:lnSpc>
              <a:buNone/>
            </a:pPr>
            <a:r>
              <a:rPr lang="en-US" sz="900" b="1" spc="3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2734056" y="2178701"/>
            <a:ext cx="59978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</a:t>
            </a:r>
            <a:endParaRPr lang="en-US" sz="710" dirty="0"/>
          </a:p>
        </p:txBody>
      </p:sp>
      <p:sp>
        <p:nvSpPr>
          <p:cNvPr id="15" name="Text 12"/>
          <p:cNvSpPr txBox="1"/>
          <p:nvPr/>
        </p:nvSpPr>
        <p:spPr>
          <a:xfrm>
            <a:off x="4027075" y="2178701"/>
            <a:ext cx="34163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188,739</a:t>
            </a:r>
            <a:endParaRPr lang="en-US" sz="710" dirty="0"/>
          </a:p>
        </p:txBody>
      </p:sp>
      <p:sp>
        <p:nvSpPr>
          <p:cNvPr id="16" name="Text 13"/>
          <p:cNvSpPr txBox="1"/>
          <p:nvPr/>
        </p:nvSpPr>
        <p:spPr>
          <a:xfrm>
            <a:off x="2734056" y="2393156"/>
            <a:ext cx="63820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hours</a:t>
            </a:r>
            <a:endParaRPr lang="en-US" sz="710" dirty="0"/>
          </a:p>
        </p:txBody>
      </p:sp>
      <p:sp>
        <p:nvSpPr>
          <p:cNvPr id="17" name="Text 14"/>
          <p:cNvSpPr txBox="1"/>
          <p:nvPr/>
        </p:nvSpPr>
        <p:spPr>
          <a:xfrm>
            <a:off x="4093797" y="2393156"/>
            <a:ext cx="26957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69.5%</a:t>
            </a:r>
            <a:endParaRPr lang="en-US" sz="710" dirty="0"/>
          </a:p>
        </p:txBody>
      </p:sp>
      <p:sp>
        <p:nvSpPr>
          <p:cNvPr id="18" name="Text 15"/>
          <p:cNvSpPr txBox="1"/>
          <p:nvPr/>
        </p:nvSpPr>
        <p:spPr>
          <a:xfrm>
            <a:off x="2734056" y="2607612"/>
            <a:ext cx="48930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710" dirty="0"/>
          </a:p>
        </p:txBody>
      </p:sp>
      <p:sp>
        <p:nvSpPr>
          <p:cNvPr id="19" name="Text 16"/>
          <p:cNvSpPr txBox="1"/>
          <p:nvPr/>
        </p:nvSpPr>
        <p:spPr>
          <a:xfrm>
            <a:off x="4231958" y="2607612"/>
            <a:ext cx="120358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710" dirty="0"/>
          </a:p>
        </p:txBody>
      </p:sp>
      <p:sp>
        <p:nvSpPr>
          <p:cNvPr id="20" name="Text 17"/>
          <p:cNvSpPr txBox="1"/>
          <p:nvPr/>
        </p:nvSpPr>
        <p:spPr>
          <a:xfrm>
            <a:off x="2734056" y="2822067"/>
            <a:ext cx="38730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710" dirty="0"/>
          </a:p>
        </p:txBody>
      </p:sp>
      <p:sp>
        <p:nvSpPr>
          <p:cNvPr id="21" name="Text 18"/>
          <p:cNvSpPr txBox="1"/>
          <p:nvPr/>
        </p:nvSpPr>
        <p:spPr>
          <a:xfrm>
            <a:off x="4238101" y="2822067"/>
            <a:ext cx="11372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710" dirty="0"/>
          </a:p>
        </p:txBody>
      </p:sp>
      <p:sp>
        <p:nvSpPr>
          <p:cNvPr id="22" name="Text 19"/>
          <p:cNvSpPr txBox="1"/>
          <p:nvPr/>
        </p:nvSpPr>
        <p:spPr>
          <a:xfrm>
            <a:off x="2734056" y="3036522"/>
            <a:ext cx="690052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/ mission</a:t>
            </a:r>
            <a:endParaRPr lang="en-US" sz="710" dirty="0"/>
          </a:p>
        </p:txBody>
      </p:sp>
      <p:sp>
        <p:nvSpPr>
          <p:cNvPr id="23" name="Text 20"/>
          <p:cNvSpPr txBox="1"/>
          <p:nvPr/>
        </p:nvSpPr>
        <p:spPr>
          <a:xfrm>
            <a:off x="4108228" y="3036522"/>
            <a:ext cx="25398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2,483</a:t>
            </a:r>
            <a:endParaRPr lang="en-US" sz="710" dirty="0"/>
          </a:p>
        </p:txBody>
      </p:sp>
      <p:sp>
        <p:nvSpPr>
          <p:cNvPr id="24" name="Text 21"/>
          <p:cNvSpPr txBox="1"/>
          <p:nvPr/>
        </p:nvSpPr>
        <p:spPr>
          <a:xfrm>
            <a:off x="2734056" y="3250978"/>
            <a:ext cx="65409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 fee days</a:t>
            </a:r>
            <a:endParaRPr lang="en-US" sz="710" dirty="0"/>
          </a:p>
        </p:txBody>
      </p:sp>
      <p:sp>
        <p:nvSpPr>
          <p:cNvPr id="25" name="Text 22"/>
          <p:cNvSpPr txBox="1"/>
          <p:nvPr/>
        </p:nvSpPr>
        <p:spPr>
          <a:xfrm>
            <a:off x="4094226" y="3250978"/>
            <a:ext cx="269108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2,004</a:t>
            </a:r>
            <a:endParaRPr lang="en-US" sz="710" dirty="0"/>
          </a:p>
        </p:txBody>
      </p:sp>
      <p:sp>
        <p:nvSpPr>
          <p:cNvPr id="26" name="Text 23"/>
          <p:cNvSpPr txBox="1"/>
          <p:nvPr/>
        </p:nvSpPr>
        <p:spPr>
          <a:xfrm>
            <a:off x="2734056" y="3465433"/>
            <a:ext cx="67292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Per-piece units</a:t>
            </a:r>
            <a:endParaRPr lang="en-US" sz="710" dirty="0"/>
          </a:p>
        </p:txBody>
      </p:sp>
      <p:sp>
        <p:nvSpPr>
          <p:cNvPr id="27" name="Text 24"/>
          <p:cNvSpPr txBox="1"/>
          <p:nvPr/>
        </p:nvSpPr>
        <p:spPr>
          <a:xfrm>
            <a:off x="4109514" y="3465433"/>
            <a:ext cx="25259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5,985</a:t>
            </a:r>
            <a:endParaRPr lang="en-US" sz="710" dirty="0"/>
          </a:p>
        </p:txBody>
      </p:sp>
      <p:sp>
        <p:nvSpPr>
          <p:cNvPr id="28" name="Text 25"/>
          <p:cNvSpPr txBox="1"/>
          <p:nvPr/>
        </p:nvSpPr>
        <p:spPr>
          <a:xfrm>
            <a:off x="2734056" y="3679889"/>
            <a:ext cx="72986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vs Jan hours</a:t>
            </a:r>
            <a:endParaRPr lang="en-US" sz="710" dirty="0"/>
          </a:p>
        </p:txBody>
      </p:sp>
      <p:sp>
        <p:nvSpPr>
          <p:cNvPr id="29" name="Text 26"/>
          <p:cNvSpPr txBox="1"/>
          <p:nvPr/>
        </p:nvSpPr>
        <p:spPr>
          <a:xfrm>
            <a:off x="4118658" y="3679889"/>
            <a:ext cx="242722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710" dirty="0"/>
          </a:p>
        </p:txBody>
      </p:sp>
      <p:sp>
        <p:nvSpPr>
          <p:cNvPr id="30" name="Text 27"/>
          <p:cNvSpPr txBox="1"/>
          <p:nvPr/>
        </p:nvSpPr>
        <p:spPr>
          <a:xfrm>
            <a:off x="2688336" y="4018788"/>
            <a:ext cx="183684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 = scale</a:t>
            </a:r>
            <a:endParaRPr lang="en-US" sz="730" dirty="0"/>
          </a:p>
        </p:txBody>
      </p:sp>
      <p:sp>
        <p:nvSpPr>
          <p:cNvPr id="31" name="Text 28"/>
          <p:cNvSpPr txBox="1"/>
          <p:nvPr/>
        </p:nvSpPr>
        <p:spPr>
          <a:xfrm>
            <a:off x="2688336" y="4190810"/>
            <a:ext cx="1921886" cy="38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Ford + AutoAlliance + Mitsubishi port/plant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inspection. ~2,500 hrs per mission; only 10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hosts.</a:t>
            </a:r>
            <a:endParaRPr lang="en-US" sz="660" dirty="0"/>
          </a:p>
        </p:txBody>
      </p:sp>
      <p:sp>
        <p:nvSpPr>
          <p:cNvPr id="32" name="Text 29"/>
          <p:cNvSpPr txBox="1"/>
          <p:nvPr/>
        </p:nvSpPr>
        <p:spPr>
          <a:xfrm>
            <a:off x="4956048" y="1901952"/>
            <a:ext cx="464612" cy="230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0"/>
              </a:lnSpc>
              <a:buNone/>
            </a:pPr>
            <a:r>
              <a:rPr lang="en-US" sz="900" b="1" spc="3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4818888" y="2178701"/>
            <a:ext cx="59978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</a:t>
            </a:r>
            <a:endParaRPr lang="en-US" sz="710" dirty="0"/>
          </a:p>
        </p:txBody>
      </p:sp>
      <p:sp>
        <p:nvSpPr>
          <p:cNvPr id="34" name="Text 31"/>
          <p:cNvSpPr txBox="1"/>
          <p:nvPr/>
        </p:nvSpPr>
        <p:spPr>
          <a:xfrm>
            <a:off x="6143482" y="2178701"/>
            <a:ext cx="307530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54,235</a:t>
            </a:r>
            <a:endParaRPr lang="en-US" sz="710" dirty="0"/>
          </a:p>
        </p:txBody>
      </p:sp>
      <p:sp>
        <p:nvSpPr>
          <p:cNvPr id="35" name="Text 32"/>
          <p:cNvSpPr txBox="1"/>
          <p:nvPr/>
        </p:nvSpPr>
        <p:spPr>
          <a:xfrm>
            <a:off x="4818888" y="2393156"/>
            <a:ext cx="63820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hours</a:t>
            </a:r>
            <a:endParaRPr lang="en-US" sz="710" dirty="0"/>
          </a:p>
        </p:txBody>
      </p:sp>
      <p:sp>
        <p:nvSpPr>
          <p:cNvPr id="36" name="Text 33"/>
          <p:cNvSpPr txBox="1"/>
          <p:nvPr/>
        </p:nvSpPr>
        <p:spPr>
          <a:xfrm>
            <a:off x="6170200" y="2393156"/>
            <a:ext cx="27867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20.0%</a:t>
            </a:r>
            <a:endParaRPr lang="en-US" sz="710" dirty="0"/>
          </a:p>
        </p:txBody>
      </p:sp>
      <p:sp>
        <p:nvSpPr>
          <p:cNvPr id="37" name="Text 34"/>
          <p:cNvSpPr txBox="1"/>
          <p:nvPr/>
        </p:nvSpPr>
        <p:spPr>
          <a:xfrm>
            <a:off x="4818888" y="2607612"/>
            <a:ext cx="48930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710" dirty="0"/>
          </a:p>
        </p:txBody>
      </p:sp>
      <p:sp>
        <p:nvSpPr>
          <p:cNvPr id="38" name="Text 35"/>
          <p:cNvSpPr txBox="1"/>
          <p:nvPr/>
        </p:nvSpPr>
        <p:spPr>
          <a:xfrm>
            <a:off x="6323648" y="2607612"/>
            <a:ext cx="11295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710" dirty="0"/>
          </a:p>
        </p:txBody>
      </p:sp>
      <p:sp>
        <p:nvSpPr>
          <p:cNvPr id="39" name="Text 36"/>
          <p:cNvSpPr txBox="1"/>
          <p:nvPr/>
        </p:nvSpPr>
        <p:spPr>
          <a:xfrm>
            <a:off x="4818888" y="2822067"/>
            <a:ext cx="38730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710" dirty="0"/>
          </a:p>
        </p:txBody>
      </p:sp>
      <p:sp>
        <p:nvSpPr>
          <p:cNvPr id="40" name="Text 37"/>
          <p:cNvSpPr txBox="1"/>
          <p:nvPr/>
        </p:nvSpPr>
        <p:spPr>
          <a:xfrm>
            <a:off x="6277070" y="2822067"/>
            <a:ext cx="16325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710" dirty="0"/>
          </a:p>
        </p:txBody>
      </p:sp>
      <p:sp>
        <p:nvSpPr>
          <p:cNvPr id="41" name="Text 38"/>
          <p:cNvSpPr txBox="1"/>
          <p:nvPr/>
        </p:nvSpPr>
        <p:spPr>
          <a:xfrm>
            <a:off x="4818888" y="3036522"/>
            <a:ext cx="690052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/ mission</a:t>
            </a:r>
            <a:endParaRPr lang="en-US" sz="710" dirty="0"/>
          </a:p>
        </p:txBody>
      </p:sp>
      <p:sp>
        <p:nvSpPr>
          <p:cNvPr id="42" name="Text 39"/>
          <p:cNvSpPr txBox="1"/>
          <p:nvPr/>
        </p:nvSpPr>
        <p:spPr>
          <a:xfrm>
            <a:off x="6271355" y="3036522"/>
            <a:ext cx="16942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387</a:t>
            </a:r>
            <a:endParaRPr lang="en-US" sz="710" dirty="0"/>
          </a:p>
        </p:txBody>
      </p:sp>
      <p:sp>
        <p:nvSpPr>
          <p:cNvPr id="43" name="Text 40"/>
          <p:cNvSpPr txBox="1"/>
          <p:nvPr/>
        </p:nvSpPr>
        <p:spPr>
          <a:xfrm>
            <a:off x="4818888" y="3250978"/>
            <a:ext cx="65409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 fee days</a:t>
            </a:r>
            <a:endParaRPr lang="en-US" sz="710" dirty="0"/>
          </a:p>
        </p:txBody>
      </p:sp>
      <p:sp>
        <p:nvSpPr>
          <p:cNvPr id="44" name="Text 41"/>
          <p:cNvSpPr txBox="1"/>
          <p:nvPr/>
        </p:nvSpPr>
        <p:spPr>
          <a:xfrm>
            <a:off x="6198918" y="3250978"/>
            <a:ext cx="247660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endParaRPr lang="en-US" sz="710" dirty="0"/>
          </a:p>
        </p:txBody>
      </p:sp>
      <p:sp>
        <p:nvSpPr>
          <p:cNvPr id="45" name="Text 42"/>
          <p:cNvSpPr txBox="1"/>
          <p:nvPr/>
        </p:nvSpPr>
        <p:spPr>
          <a:xfrm>
            <a:off x="4818888" y="3465433"/>
            <a:ext cx="67292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Per-piece units</a:t>
            </a:r>
            <a:endParaRPr lang="en-US" sz="710" dirty="0"/>
          </a:p>
        </p:txBody>
      </p:sp>
      <p:sp>
        <p:nvSpPr>
          <p:cNvPr id="46" name="Text 43"/>
          <p:cNvSpPr txBox="1"/>
          <p:nvPr/>
        </p:nvSpPr>
        <p:spPr>
          <a:xfrm>
            <a:off x="6147911" y="3465433"/>
            <a:ext cx="30274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23,533</a:t>
            </a:r>
            <a:endParaRPr lang="en-US" sz="710" dirty="0"/>
          </a:p>
        </p:txBody>
      </p:sp>
      <p:sp>
        <p:nvSpPr>
          <p:cNvPr id="47" name="Text 44"/>
          <p:cNvSpPr txBox="1"/>
          <p:nvPr/>
        </p:nvSpPr>
        <p:spPr>
          <a:xfrm>
            <a:off x="4818888" y="3679889"/>
            <a:ext cx="72986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vs Jan hours</a:t>
            </a:r>
            <a:endParaRPr lang="en-US" sz="710" dirty="0"/>
          </a:p>
        </p:txBody>
      </p:sp>
      <p:sp>
        <p:nvSpPr>
          <p:cNvPr id="48" name="Text 45"/>
          <p:cNvSpPr txBox="1"/>
          <p:nvPr/>
        </p:nvSpPr>
        <p:spPr>
          <a:xfrm>
            <a:off x="6199489" y="3679889"/>
            <a:ext cx="247042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+96%</a:t>
            </a:r>
            <a:endParaRPr lang="en-US" sz="710" dirty="0"/>
          </a:p>
        </p:txBody>
      </p:sp>
      <p:sp>
        <p:nvSpPr>
          <p:cNvPr id="49" name="Text 46"/>
          <p:cNvSpPr txBox="1"/>
          <p:nvPr/>
        </p:nvSpPr>
        <p:spPr>
          <a:xfrm>
            <a:off x="4773168" y="4018788"/>
            <a:ext cx="183684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 = breadth</a:t>
            </a:r>
            <a:endParaRPr lang="en-US" sz="730" dirty="0"/>
          </a:p>
        </p:txBody>
      </p:sp>
      <p:sp>
        <p:nvSpPr>
          <p:cNvPr id="50" name="Text 47"/>
          <p:cNvSpPr txBox="1"/>
          <p:nvPr/>
        </p:nvSpPr>
        <p:spPr>
          <a:xfrm>
            <a:off x="4773168" y="4190810"/>
            <a:ext cx="1921886" cy="38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 missions, 53 customers, 70% of per-piece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units. Many short sorting jobs (~390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hrs/mission).</a:t>
            </a:r>
            <a:endParaRPr lang="en-US" sz="660" dirty="0"/>
          </a:p>
        </p:txBody>
      </p:sp>
      <p:sp>
        <p:nvSpPr>
          <p:cNvPr id="51" name="Text 48"/>
          <p:cNvSpPr txBox="1"/>
          <p:nvPr/>
        </p:nvSpPr>
        <p:spPr>
          <a:xfrm>
            <a:off x="7040880" y="1901952"/>
            <a:ext cx="462298" cy="230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0"/>
              </a:lnSpc>
              <a:buNone/>
            </a:pPr>
            <a:r>
              <a:rPr lang="en-US" sz="900" b="1" spc="3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AMATA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6903720" y="2178701"/>
            <a:ext cx="59978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</a:t>
            </a:r>
            <a:endParaRPr lang="en-US" sz="710" dirty="0"/>
          </a:p>
        </p:txBody>
      </p:sp>
      <p:sp>
        <p:nvSpPr>
          <p:cNvPr id="53" name="Text 50"/>
          <p:cNvSpPr txBox="1"/>
          <p:nvPr/>
        </p:nvSpPr>
        <p:spPr>
          <a:xfrm>
            <a:off x="8229314" y="2178701"/>
            <a:ext cx="306450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28,687</a:t>
            </a:r>
            <a:endParaRPr lang="en-US" sz="710" dirty="0"/>
          </a:p>
        </p:txBody>
      </p:sp>
      <p:sp>
        <p:nvSpPr>
          <p:cNvPr id="54" name="Text 51"/>
          <p:cNvSpPr txBox="1"/>
          <p:nvPr/>
        </p:nvSpPr>
        <p:spPr>
          <a:xfrm>
            <a:off x="6903720" y="2393156"/>
            <a:ext cx="63820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hours</a:t>
            </a:r>
            <a:endParaRPr lang="en-US" sz="710" dirty="0"/>
          </a:p>
        </p:txBody>
      </p:sp>
      <p:sp>
        <p:nvSpPr>
          <p:cNvPr id="55" name="Text 52"/>
          <p:cNvSpPr txBox="1"/>
          <p:nvPr/>
        </p:nvSpPr>
        <p:spPr>
          <a:xfrm>
            <a:off x="8276177" y="2393156"/>
            <a:ext cx="255838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10.6%</a:t>
            </a:r>
            <a:endParaRPr lang="en-US" sz="710" dirty="0"/>
          </a:p>
        </p:txBody>
      </p:sp>
      <p:sp>
        <p:nvSpPr>
          <p:cNvPr id="56" name="Text 53"/>
          <p:cNvSpPr txBox="1"/>
          <p:nvPr/>
        </p:nvSpPr>
        <p:spPr>
          <a:xfrm>
            <a:off x="6903720" y="2607612"/>
            <a:ext cx="48930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710" dirty="0"/>
          </a:p>
        </p:txBody>
      </p:sp>
      <p:sp>
        <p:nvSpPr>
          <p:cNvPr id="57" name="Text 54"/>
          <p:cNvSpPr txBox="1"/>
          <p:nvPr/>
        </p:nvSpPr>
        <p:spPr>
          <a:xfrm>
            <a:off x="8426339" y="2607612"/>
            <a:ext cx="9366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710" dirty="0"/>
          </a:p>
        </p:txBody>
      </p:sp>
      <p:sp>
        <p:nvSpPr>
          <p:cNvPr id="58" name="Text 55"/>
          <p:cNvSpPr txBox="1"/>
          <p:nvPr/>
        </p:nvSpPr>
        <p:spPr>
          <a:xfrm>
            <a:off x="6903720" y="2822067"/>
            <a:ext cx="38730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710" dirty="0"/>
          </a:p>
        </p:txBody>
      </p:sp>
      <p:sp>
        <p:nvSpPr>
          <p:cNvPr id="59" name="Text 56"/>
          <p:cNvSpPr txBox="1"/>
          <p:nvPr/>
        </p:nvSpPr>
        <p:spPr>
          <a:xfrm>
            <a:off x="8404908" y="2822067"/>
            <a:ext cx="11680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710" dirty="0"/>
          </a:p>
        </p:txBody>
      </p:sp>
      <p:sp>
        <p:nvSpPr>
          <p:cNvPr id="60" name="Text 57"/>
          <p:cNvSpPr txBox="1"/>
          <p:nvPr/>
        </p:nvSpPr>
        <p:spPr>
          <a:xfrm>
            <a:off x="6903720" y="3036522"/>
            <a:ext cx="690052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/ mission</a:t>
            </a:r>
            <a:endParaRPr lang="en-US" sz="710" dirty="0"/>
          </a:p>
        </p:txBody>
      </p:sp>
      <p:sp>
        <p:nvSpPr>
          <p:cNvPr id="61" name="Text 58"/>
          <p:cNvSpPr txBox="1"/>
          <p:nvPr/>
        </p:nvSpPr>
        <p:spPr>
          <a:xfrm>
            <a:off x="8354044" y="3036522"/>
            <a:ext cx="17174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637</a:t>
            </a:r>
            <a:endParaRPr lang="en-US" sz="710" dirty="0"/>
          </a:p>
        </p:txBody>
      </p:sp>
      <p:sp>
        <p:nvSpPr>
          <p:cNvPr id="62" name="Text 59"/>
          <p:cNvSpPr txBox="1"/>
          <p:nvPr/>
        </p:nvSpPr>
        <p:spPr>
          <a:xfrm>
            <a:off x="6903720" y="3250978"/>
            <a:ext cx="65409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 fee days</a:t>
            </a:r>
            <a:endParaRPr lang="en-US" sz="710" dirty="0"/>
          </a:p>
        </p:txBody>
      </p:sp>
      <p:sp>
        <p:nvSpPr>
          <p:cNvPr id="63" name="Text 60"/>
          <p:cNvSpPr txBox="1"/>
          <p:nvPr/>
        </p:nvSpPr>
        <p:spPr>
          <a:xfrm>
            <a:off x="8347901" y="3250978"/>
            <a:ext cx="17837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663</a:t>
            </a:r>
            <a:endParaRPr lang="en-US" sz="710" dirty="0"/>
          </a:p>
        </p:txBody>
      </p:sp>
      <p:sp>
        <p:nvSpPr>
          <p:cNvPr id="64" name="Text 61"/>
          <p:cNvSpPr txBox="1"/>
          <p:nvPr/>
        </p:nvSpPr>
        <p:spPr>
          <a:xfrm>
            <a:off x="6903720" y="3465433"/>
            <a:ext cx="67292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Per-piece units</a:t>
            </a:r>
            <a:endParaRPr lang="en-US" sz="710" dirty="0"/>
          </a:p>
        </p:txBody>
      </p:sp>
      <p:sp>
        <p:nvSpPr>
          <p:cNvPr id="65" name="Text 62"/>
          <p:cNvSpPr txBox="1"/>
          <p:nvPr/>
        </p:nvSpPr>
        <p:spPr>
          <a:xfrm>
            <a:off x="8292036" y="3465433"/>
            <a:ext cx="238710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4,160</a:t>
            </a:r>
            <a:endParaRPr lang="en-US" sz="710" dirty="0"/>
          </a:p>
        </p:txBody>
      </p:sp>
      <p:sp>
        <p:nvSpPr>
          <p:cNvPr id="66" name="Text 63"/>
          <p:cNvSpPr txBox="1"/>
          <p:nvPr/>
        </p:nvSpPr>
        <p:spPr>
          <a:xfrm>
            <a:off x="6903720" y="3679889"/>
            <a:ext cx="72986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vs Jan hours</a:t>
            </a:r>
            <a:endParaRPr lang="en-US" sz="710" dirty="0"/>
          </a:p>
        </p:txBody>
      </p:sp>
      <p:sp>
        <p:nvSpPr>
          <p:cNvPr id="67" name="Text 64"/>
          <p:cNvSpPr txBox="1"/>
          <p:nvPr/>
        </p:nvSpPr>
        <p:spPr>
          <a:xfrm>
            <a:off x="8298752" y="3679889"/>
            <a:ext cx="231458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+35%</a:t>
            </a:r>
            <a:endParaRPr lang="en-US" sz="710" dirty="0"/>
          </a:p>
        </p:txBody>
      </p:sp>
      <p:sp>
        <p:nvSpPr>
          <p:cNvPr id="68" name="Text 65"/>
          <p:cNvSpPr txBox="1"/>
          <p:nvPr/>
        </p:nvSpPr>
        <p:spPr>
          <a:xfrm>
            <a:off x="6858000" y="4018788"/>
            <a:ext cx="183684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 = growth</a:t>
            </a:r>
            <a:endParaRPr lang="en-US" sz="730" dirty="0"/>
          </a:p>
        </p:txBody>
      </p:sp>
      <p:sp>
        <p:nvSpPr>
          <p:cNvPr id="69" name="Text 66"/>
          <p:cNvSpPr txBox="1"/>
          <p:nvPr/>
        </p:nvSpPr>
        <p:spPr>
          <a:xfrm>
            <a:off x="6858000" y="4190810"/>
            <a:ext cx="1921886" cy="270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up 96% from Jan to Sep, the fastest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of the three sites.</a:t>
            </a:r>
            <a:endParaRPr lang="en-US" sz="6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orizontal bar chart of service hours by host, with host highligh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960120"/>
            <a:ext cx="1149881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Customers &amp; hosts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52728"/>
            <a:ext cx="6948354" cy="4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major hosts account for 71% of service hours.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621792" y="1929384"/>
            <a:ext cx="2076482" cy="211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83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 by host and site, Jan–Sep</a:t>
            </a:r>
            <a:endParaRPr lang="en-US" sz="830" dirty="0"/>
          </a:p>
        </p:txBody>
      </p:sp>
      <p:sp>
        <p:nvSpPr>
          <p:cNvPr id="6" name="Text 3"/>
          <p:cNvSpPr txBox="1"/>
          <p:nvPr/>
        </p:nvSpPr>
        <p:spPr>
          <a:xfrm>
            <a:off x="4413266" y="1939957"/>
            <a:ext cx="321880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</a:t>
            </a:r>
            <a:endParaRPr lang="en-US" sz="720" dirty="0"/>
          </a:p>
        </p:txBody>
      </p:sp>
      <p:sp>
        <p:nvSpPr>
          <p:cNvPr id="7" name="Text 4"/>
          <p:cNvSpPr txBox="1"/>
          <p:nvPr/>
        </p:nvSpPr>
        <p:spPr>
          <a:xfrm>
            <a:off x="4967335" y="1939957"/>
            <a:ext cx="354130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5551265" y="1939957"/>
            <a:ext cx="344717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AMATA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6428232" y="1892808"/>
            <a:ext cx="2261494" cy="427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590" b="1" spc="-130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51%</a:t>
            </a:r>
            <a:endParaRPr lang="en-US" sz="2590" dirty="0"/>
          </a:p>
        </p:txBody>
      </p:sp>
      <p:sp>
        <p:nvSpPr>
          <p:cNvPr id="10" name="Text 7"/>
          <p:cNvSpPr txBox="1"/>
          <p:nvPr/>
        </p:nvSpPr>
        <p:spPr>
          <a:xfrm>
            <a:off x="6428232" y="2267712"/>
            <a:ext cx="2366193" cy="283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Ford MVIP activity: 138.4K h across the Ford and</a:t>
            </a:r>
            <a:endParaRPr lang="en-US" sz="720" dirty="0"/>
          </a:p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Alliance plants</a:t>
            </a:r>
            <a:endParaRPr lang="en-US" sz="720" dirty="0"/>
          </a:p>
        </p:txBody>
      </p:sp>
      <p:sp>
        <p:nvSpPr>
          <p:cNvPr id="11" name="Text 8"/>
          <p:cNvSpPr txBox="1"/>
          <p:nvPr/>
        </p:nvSpPr>
        <p:spPr>
          <a:xfrm>
            <a:off x="6428232" y="2843784"/>
            <a:ext cx="2261494" cy="427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590" b="1" spc="-130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590" dirty="0"/>
          </a:p>
        </p:txBody>
      </p:sp>
      <p:sp>
        <p:nvSpPr>
          <p:cNvPr id="12" name="Text 9"/>
          <p:cNvSpPr txBox="1"/>
          <p:nvPr/>
        </p:nvSpPr>
        <p:spPr>
          <a:xfrm>
            <a:off x="6428232" y="3218688"/>
            <a:ext cx="2366193" cy="283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at MMTH Engine: largest host, 38.1K h;</a:t>
            </a:r>
            <a:endParaRPr lang="en-US" sz="720" dirty="0"/>
          </a:p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TMBP serves 11</a:t>
            </a:r>
            <a:endParaRPr lang="en-US" sz="720" dirty="0"/>
          </a:p>
        </p:txBody>
      </p:sp>
      <p:sp>
        <p:nvSpPr>
          <p:cNvPr id="13" name="Text 10"/>
          <p:cNvSpPr txBox="1"/>
          <p:nvPr/>
        </p:nvSpPr>
        <p:spPr>
          <a:xfrm>
            <a:off x="6428232" y="3794760"/>
            <a:ext cx="2261494" cy="427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590" b="1" spc="-130" kern="0" dirty="0">
                <a:solidFill>
                  <a:srgbClr val="9CC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4.5×</a:t>
            </a:r>
            <a:endParaRPr lang="en-US" sz="2590" dirty="0"/>
          </a:p>
        </p:txBody>
      </p:sp>
      <p:sp>
        <p:nvSpPr>
          <p:cNvPr id="14" name="Text 11"/>
          <p:cNvSpPr txBox="1"/>
          <p:nvPr/>
        </p:nvSpPr>
        <p:spPr>
          <a:xfrm>
            <a:off x="6428232" y="4169664"/>
            <a:ext cx="2366193" cy="283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Yusen Logistic growth: 331 h in Jan → 1,488 h in</a:t>
            </a:r>
            <a:endParaRPr lang="en-US" sz="720" dirty="0"/>
          </a:p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</a:t>
            </a:r>
            <a:endParaRPr lang="en-US" sz="7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ction: Cost reduction, coin stacks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3435287"/>
            <a:ext cx="1369457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E4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Non-Rayong overview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746183"/>
            <a:ext cx="3357677" cy="5386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60"/>
              </a:lnSpc>
              <a:buNone/>
            </a:pPr>
            <a:r>
              <a:rPr lang="en-US" sz="3170" b="1" spc="-15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reduction.</a:t>
            </a:r>
            <a:endParaRPr lang="en-US" sz="317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270248"/>
            <a:ext cx="3099816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beverage supplier, and a 2026 drink mix that</a:t>
            </a:r>
            <a:endParaRPr lang="en-US" sz="86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lowers the cost per unit.</a:t>
            </a:r>
            <a:endParaRPr lang="en-US" sz="8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vious and current supplier unit cost, with a monthly total cost and cost per headcount 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960120"/>
            <a:ext cx="1114236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Beverage supplier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52728"/>
            <a:ext cx="5816836" cy="4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change reduced unit cost by 30%.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636633"/>
            <a:ext cx="3946042" cy="231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purchase cost, with the monthly operating trend kept in view.</a:t>
            </a:r>
            <a:endParaRPr lang="en-US" sz="940" dirty="0"/>
          </a:p>
        </p:txBody>
      </p:sp>
      <p:sp>
        <p:nvSpPr>
          <p:cNvPr id="6" name="Text 3"/>
          <p:cNvSpPr txBox="1"/>
          <p:nvPr/>
        </p:nvSpPr>
        <p:spPr>
          <a:xfrm>
            <a:off x="603504" y="2313432"/>
            <a:ext cx="2646639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b="1" spc="52" kern="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SUPPLIER</a:t>
            </a:r>
            <a:endParaRPr lang="en-US" sz="650" dirty="0"/>
          </a:p>
        </p:txBody>
      </p:sp>
      <p:sp>
        <p:nvSpPr>
          <p:cNvPr id="7" name="Text 4"/>
          <p:cNvSpPr txBox="1"/>
          <p:nvPr/>
        </p:nvSpPr>
        <p:spPr>
          <a:xfrm>
            <a:off x="603504" y="2477453"/>
            <a:ext cx="2646639" cy="4052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60"/>
              </a:lnSpc>
              <a:buNone/>
            </a:pPr>
            <a:r>
              <a:rPr lang="en-US" sz="1580" b="1" spc="-48" kern="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22.34 THB / unit</a:t>
            </a:r>
            <a:endParaRPr lang="en-US" sz="1580" dirty="0"/>
          </a:p>
        </p:txBody>
      </p:sp>
      <p:sp>
        <p:nvSpPr>
          <p:cNvPr id="8" name="Text 5"/>
          <p:cNvSpPr txBox="1"/>
          <p:nvPr/>
        </p:nvSpPr>
        <p:spPr>
          <a:xfrm>
            <a:off x="603504" y="2825782"/>
            <a:ext cx="264663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avg. 80,899.75 THB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603504" y="3333274"/>
            <a:ext cx="2646639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b="1" spc="52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SUPPLIER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603504" y="3497294"/>
            <a:ext cx="2646639" cy="4052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60"/>
              </a:lnSpc>
              <a:buNone/>
            </a:pPr>
            <a:r>
              <a:rPr lang="en-US" sz="1580" b="1" spc="-48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15.68 THB / unit</a:t>
            </a:r>
            <a:endParaRPr lang="en-US" sz="1580" dirty="0"/>
          </a:p>
        </p:txBody>
      </p:sp>
      <p:sp>
        <p:nvSpPr>
          <p:cNvPr id="11" name="Text 8"/>
          <p:cNvSpPr txBox="1"/>
          <p:nvPr/>
        </p:nvSpPr>
        <p:spPr>
          <a:xfrm>
            <a:off x="603504" y="3845624"/>
            <a:ext cx="264663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avg. 64,983.03 THB</a:t>
            </a:r>
            <a:endParaRPr lang="en-US" sz="720" dirty="0"/>
          </a:p>
        </p:txBody>
      </p:sp>
      <p:sp>
        <p:nvSpPr>
          <p:cNvPr id="12" name="Text 9"/>
          <p:cNvSpPr txBox="1"/>
          <p:nvPr/>
        </p:nvSpPr>
        <p:spPr>
          <a:xfrm>
            <a:off x="3685032" y="2340864"/>
            <a:ext cx="1262832" cy="211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83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 and cost / HC</a:t>
            </a:r>
            <a:endParaRPr lang="en-US" sz="830" dirty="0"/>
          </a:p>
        </p:txBody>
      </p:sp>
      <p:sp>
        <p:nvSpPr>
          <p:cNvPr id="13" name="Text 10"/>
          <p:cNvSpPr txBox="1"/>
          <p:nvPr/>
        </p:nvSpPr>
        <p:spPr>
          <a:xfrm>
            <a:off x="5962460" y="2351437"/>
            <a:ext cx="776463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supplier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6937439" y="2351437"/>
            <a:ext cx="738195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supplier</a:t>
            </a:r>
            <a:endParaRPr lang="en-US" sz="720" dirty="0"/>
          </a:p>
        </p:txBody>
      </p:sp>
      <p:sp>
        <p:nvSpPr>
          <p:cNvPr id="15" name="Text 12"/>
          <p:cNvSpPr txBox="1"/>
          <p:nvPr/>
        </p:nvSpPr>
        <p:spPr>
          <a:xfrm>
            <a:off x="7876985" y="2351437"/>
            <a:ext cx="69684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/ HC, right</a:t>
            </a:r>
            <a:endParaRPr lang="en-US" sz="720" dirty="0"/>
          </a:p>
        </p:txBody>
      </p:sp>
      <p:sp>
        <p:nvSpPr>
          <p:cNvPr id="16" name="Text 13"/>
          <p:cNvSpPr txBox="1"/>
          <p:nvPr/>
        </p:nvSpPr>
        <p:spPr>
          <a:xfrm>
            <a:off x="3685032" y="4515993"/>
            <a:ext cx="5224150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sequence as supplied · Supplier change from Aug onward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everage allocation 2025 against 2026, with expected cost per un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960120"/>
            <a:ext cx="728628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Drink mix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52728"/>
            <a:ext cx="6017123" cy="4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drink mix targets 47.5% lower unit cost.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636633"/>
            <a:ext cx="3886480" cy="231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Redistribute the beverage mix and introduce herbal drinks and tea.</a:t>
            </a:r>
            <a:endParaRPr lang="en-US" sz="940" dirty="0"/>
          </a:p>
        </p:txBody>
      </p:sp>
      <p:sp>
        <p:nvSpPr>
          <p:cNvPr id="6" name="Text 3"/>
          <p:cNvSpPr txBox="1"/>
          <p:nvPr/>
        </p:nvSpPr>
        <p:spPr>
          <a:xfrm>
            <a:off x="621792" y="2372868"/>
            <a:ext cx="1481328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b="1" spc="52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BEVERAGE ALLOCATION</a:t>
            </a:r>
            <a:endParaRPr lang="en-US" sz="650" dirty="0"/>
          </a:p>
        </p:txBody>
      </p:sp>
      <p:sp>
        <p:nvSpPr>
          <p:cNvPr id="7" name="Text 4"/>
          <p:cNvSpPr txBox="1"/>
          <p:nvPr/>
        </p:nvSpPr>
        <p:spPr>
          <a:xfrm>
            <a:off x="2139696" y="2372868"/>
            <a:ext cx="1688714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b="1" spc="52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Y2025</a:t>
            </a:r>
            <a:endParaRPr lang="en-US" sz="650" dirty="0"/>
          </a:p>
        </p:txBody>
      </p:sp>
      <p:sp>
        <p:nvSpPr>
          <p:cNvPr id="8" name="Text 5"/>
          <p:cNvSpPr txBox="1"/>
          <p:nvPr/>
        </p:nvSpPr>
        <p:spPr>
          <a:xfrm>
            <a:off x="3849624" y="2372868"/>
            <a:ext cx="1688714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b="1" spc="52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Y2026</a:t>
            </a:r>
            <a:endParaRPr lang="en-US" sz="6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628329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Electrolyte drink</a:t>
            </a:r>
            <a:endParaRPr lang="en-US" sz="790" dirty="0"/>
          </a:p>
        </p:txBody>
      </p:sp>
      <p:sp>
        <p:nvSpPr>
          <p:cNvPr id="10" name="Text 7"/>
          <p:cNvSpPr txBox="1"/>
          <p:nvPr/>
        </p:nvSpPr>
        <p:spPr>
          <a:xfrm>
            <a:off x="3537585" y="2631900"/>
            <a:ext cx="178994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760" dirty="0"/>
          </a:p>
        </p:txBody>
      </p:sp>
      <p:sp>
        <p:nvSpPr>
          <p:cNvPr id="11" name="Text 8"/>
          <p:cNvSpPr txBox="1"/>
          <p:nvPr/>
        </p:nvSpPr>
        <p:spPr>
          <a:xfrm>
            <a:off x="5218224" y="2631900"/>
            <a:ext cx="210626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2912221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 drink</a:t>
            </a:r>
            <a:endParaRPr lang="en-US" sz="790" dirty="0"/>
          </a:p>
        </p:txBody>
      </p:sp>
      <p:sp>
        <p:nvSpPr>
          <p:cNvPr id="13" name="Text 10"/>
          <p:cNvSpPr txBox="1"/>
          <p:nvPr/>
        </p:nvSpPr>
        <p:spPr>
          <a:xfrm>
            <a:off x="3517583" y="2915793"/>
            <a:ext cx="200597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</a:t>
            </a:r>
            <a:endParaRPr lang="en-US" sz="760" dirty="0"/>
          </a:p>
        </p:txBody>
      </p:sp>
      <p:sp>
        <p:nvSpPr>
          <p:cNvPr id="14" name="Text 11"/>
          <p:cNvSpPr txBox="1"/>
          <p:nvPr/>
        </p:nvSpPr>
        <p:spPr>
          <a:xfrm>
            <a:off x="5245227" y="2915793"/>
            <a:ext cx="181463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</a:t>
            </a:r>
            <a:endParaRPr lang="en-US" sz="760" dirty="0"/>
          </a:p>
        </p:txBody>
      </p:sp>
      <p:sp>
        <p:nvSpPr>
          <p:cNvPr id="15" name="Text 12"/>
          <p:cNvSpPr txBox="1"/>
          <p:nvPr/>
        </p:nvSpPr>
        <p:spPr>
          <a:xfrm>
            <a:off x="621792" y="3196114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drink</a:t>
            </a:r>
            <a:endParaRPr lang="en-US" sz="790" dirty="0"/>
          </a:p>
        </p:txBody>
      </p:sp>
      <p:sp>
        <p:nvSpPr>
          <p:cNvPr id="16" name="Text 13"/>
          <p:cNvSpPr txBox="1"/>
          <p:nvPr/>
        </p:nvSpPr>
        <p:spPr>
          <a:xfrm>
            <a:off x="3537585" y="3199686"/>
            <a:ext cx="178994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760" dirty="0"/>
          </a:p>
        </p:txBody>
      </p:sp>
      <p:sp>
        <p:nvSpPr>
          <p:cNvPr id="17" name="Text 14"/>
          <p:cNvSpPr txBox="1"/>
          <p:nvPr/>
        </p:nvSpPr>
        <p:spPr>
          <a:xfrm>
            <a:off x="5248513" y="3199686"/>
            <a:ext cx="177914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760" dirty="0"/>
          </a:p>
        </p:txBody>
      </p:sp>
      <p:sp>
        <p:nvSpPr>
          <p:cNvPr id="18" name="Text 15"/>
          <p:cNvSpPr txBox="1"/>
          <p:nvPr/>
        </p:nvSpPr>
        <p:spPr>
          <a:xfrm>
            <a:off x="621792" y="3480006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drink coffee</a:t>
            </a:r>
            <a:endParaRPr lang="en-US" sz="790" dirty="0"/>
          </a:p>
        </p:txBody>
      </p:sp>
      <p:sp>
        <p:nvSpPr>
          <p:cNvPr id="19" name="Text 16"/>
          <p:cNvSpPr txBox="1"/>
          <p:nvPr/>
        </p:nvSpPr>
        <p:spPr>
          <a:xfrm>
            <a:off x="3571875" y="3483578"/>
            <a:ext cx="141961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760" dirty="0"/>
          </a:p>
        </p:txBody>
      </p:sp>
      <p:sp>
        <p:nvSpPr>
          <p:cNvPr id="20" name="Text 17"/>
          <p:cNvSpPr txBox="1"/>
          <p:nvPr/>
        </p:nvSpPr>
        <p:spPr>
          <a:xfrm>
            <a:off x="5284518" y="3483578"/>
            <a:ext cx="139029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760" dirty="0"/>
          </a:p>
        </p:txBody>
      </p:sp>
      <p:sp>
        <p:nvSpPr>
          <p:cNvPr id="21" name="Text 18"/>
          <p:cNvSpPr txBox="1"/>
          <p:nvPr/>
        </p:nvSpPr>
        <p:spPr>
          <a:xfrm>
            <a:off x="621792" y="3763899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Herbal drink</a:t>
            </a:r>
            <a:pPr algn="l" indent="0" marL="0">
              <a:lnSpc>
                <a:spcPts val="1230"/>
              </a:lnSpc>
              <a:buNone/>
            </a:pPr>
            <a:r>
              <a:rPr lang="en-US" sz="79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New</a:t>
            </a:r>
            <a:endParaRPr lang="en-US" sz="790" dirty="0"/>
          </a:p>
        </p:txBody>
      </p:sp>
      <p:sp>
        <p:nvSpPr>
          <p:cNvPr id="22" name="Text 19"/>
          <p:cNvSpPr txBox="1"/>
          <p:nvPr/>
        </p:nvSpPr>
        <p:spPr>
          <a:xfrm>
            <a:off x="3654600" y="3767471"/>
            <a:ext cx="52618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760" dirty="0"/>
          </a:p>
        </p:txBody>
      </p:sp>
      <p:sp>
        <p:nvSpPr>
          <p:cNvPr id="23" name="Text 20"/>
          <p:cNvSpPr txBox="1"/>
          <p:nvPr/>
        </p:nvSpPr>
        <p:spPr>
          <a:xfrm>
            <a:off x="5284518" y="3767471"/>
            <a:ext cx="139029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760" dirty="0"/>
          </a:p>
        </p:txBody>
      </p:sp>
      <p:sp>
        <p:nvSpPr>
          <p:cNvPr id="24" name="Text 21"/>
          <p:cNvSpPr txBox="1"/>
          <p:nvPr/>
        </p:nvSpPr>
        <p:spPr>
          <a:xfrm>
            <a:off x="621792" y="4047792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</a:t>
            </a:r>
            <a:pPr algn="l" indent="0" marL="0">
              <a:lnSpc>
                <a:spcPts val="1230"/>
              </a:lnSpc>
              <a:buNone/>
            </a:pPr>
            <a:r>
              <a:rPr lang="en-US" sz="79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New</a:t>
            </a:r>
            <a:endParaRPr lang="en-US" sz="790" dirty="0"/>
          </a:p>
        </p:txBody>
      </p:sp>
      <p:sp>
        <p:nvSpPr>
          <p:cNvPr id="25" name="Text 22"/>
          <p:cNvSpPr txBox="1"/>
          <p:nvPr/>
        </p:nvSpPr>
        <p:spPr>
          <a:xfrm>
            <a:off x="3654600" y="4051364"/>
            <a:ext cx="52618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760" dirty="0"/>
          </a:p>
        </p:txBody>
      </p:sp>
      <p:sp>
        <p:nvSpPr>
          <p:cNvPr id="26" name="Text 23"/>
          <p:cNvSpPr txBox="1"/>
          <p:nvPr/>
        </p:nvSpPr>
        <p:spPr>
          <a:xfrm>
            <a:off x="5284518" y="4051364"/>
            <a:ext cx="139029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760" dirty="0"/>
          </a:p>
        </p:txBody>
      </p:sp>
      <p:sp>
        <p:nvSpPr>
          <p:cNvPr id="27" name="Text 24"/>
          <p:cNvSpPr txBox="1"/>
          <p:nvPr/>
        </p:nvSpPr>
        <p:spPr>
          <a:xfrm>
            <a:off x="6016752" y="2340864"/>
            <a:ext cx="2705892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b="1" spc="52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COST / UNIT</a:t>
            </a:r>
            <a:endParaRPr lang="en-US" sz="650" dirty="0"/>
          </a:p>
        </p:txBody>
      </p:sp>
      <p:sp>
        <p:nvSpPr>
          <p:cNvPr id="28" name="Text 25"/>
          <p:cNvSpPr txBox="1"/>
          <p:nvPr/>
        </p:nvSpPr>
        <p:spPr>
          <a:xfrm>
            <a:off x="6016752" y="2578037"/>
            <a:ext cx="2705892" cy="546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10"/>
              </a:lnSpc>
              <a:buNone/>
            </a:pPr>
            <a:r>
              <a:rPr lang="en-US" sz="3310" b="1" spc="-16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11.73</a:t>
            </a:r>
            <a:endParaRPr lang="en-US" sz="3310" dirty="0"/>
          </a:p>
        </p:txBody>
      </p:sp>
      <p:sp>
        <p:nvSpPr>
          <p:cNvPr id="29" name="Text 26"/>
          <p:cNvSpPr txBox="1"/>
          <p:nvPr/>
        </p:nvSpPr>
        <p:spPr>
          <a:xfrm>
            <a:off x="6016752" y="3026093"/>
            <a:ext cx="2705892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THB / unit</a:t>
            </a:r>
            <a:endParaRPr lang="en-US" sz="790" dirty="0"/>
          </a:p>
        </p:txBody>
      </p:sp>
      <p:sp>
        <p:nvSpPr>
          <p:cNvPr id="30" name="Text 27"/>
          <p:cNvSpPr txBox="1"/>
          <p:nvPr/>
        </p:nvSpPr>
        <p:spPr>
          <a:xfrm>
            <a:off x="6016752" y="3401425"/>
            <a:ext cx="691286" cy="4420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80"/>
              </a:lnSpc>
              <a:buNone/>
            </a:pPr>
            <a:r>
              <a:rPr lang="en-US" sz="1730" b="1" spc="-69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10.61</a:t>
            </a:r>
            <a:endParaRPr lang="en-US" sz="1730" dirty="0"/>
          </a:p>
        </p:txBody>
      </p:sp>
      <p:sp>
        <p:nvSpPr>
          <p:cNvPr id="31" name="Text 28"/>
          <p:cNvSpPr txBox="1"/>
          <p:nvPr/>
        </p:nvSpPr>
        <p:spPr>
          <a:xfrm>
            <a:off x="6748272" y="3500580"/>
            <a:ext cx="191585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THB saved per unit</a:t>
            </a:r>
            <a:endParaRPr lang="en-US" sz="720" dirty="0"/>
          </a:p>
        </p:txBody>
      </p:sp>
      <p:sp>
        <p:nvSpPr>
          <p:cNvPr id="32" name="Text 29"/>
          <p:cNvSpPr txBox="1"/>
          <p:nvPr/>
        </p:nvSpPr>
        <p:spPr>
          <a:xfrm>
            <a:off x="6016752" y="3960924"/>
            <a:ext cx="691286" cy="4420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80"/>
              </a:lnSpc>
              <a:buNone/>
            </a:pPr>
            <a:r>
              <a:rPr lang="en-US" sz="1730" b="1" spc="-69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47.5%</a:t>
            </a:r>
            <a:endParaRPr lang="en-US" sz="1730" dirty="0"/>
          </a:p>
        </p:txBody>
      </p:sp>
      <p:sp>
        <p:nvSpPr>
          <p:cNvPr id="33" name="Text 30"/>
          <p:cNvSpPr txBox="1"/>
          <p:nvPr/>
        </p:nvSpPr>
        <p:spPr>
          <a:xfrm>
            <a:off x="6748272" y="4060079"/>
            <a:ext cx="191585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2025</a:t>
            </a:r>
            <a:endParaRPr lang="en-US" sz="72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4681728"/>
            <a:ext cx="8887968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check required: 2025 electrolyte allocation is 21% in the table but 18% in the source pie. 2025 table totals 103%; all supplied allocations are retained pending confirmation.</a:t>
            </a:r>
            <a:endParaRPr lang="en-US" sz="6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ction: Operation excellence, inspection camera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3020949"/>
            <a:ext cx="1369457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E4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Non-Rayong overview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331845"/>
            <a:ext cx="3513125" cy="95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0"/>
              </a:lnSpc>
              <a:buNone/>
            </a:pPr>
            <a:r>
              <a:rPr lang="en-US" sz="3170" b="1" spc="-15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</a:t>
            </a:r>
            <a:endParaRPr lang="en-US" sz="3170" dirty="0"/>
          </a:p>
          <a:p>
            <a:pPr algn="l" indent="0" marL="0">
              <a:lnSpc>
                <a:spcPts val="3260"/>
              </a:lnSpc>
              <a:buNone/>
            </a:pPr>
            <a:r>
              <a:rPr lang="en-US" sz="3170" b="1" spc="-15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excellence.</a:t>
            </a:r>
            <a:endParaRPr lang="en-US" sz="317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270248"/>
            <a:ext cx="3099816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Handheld OCR, a hybrid online and offline workflow,</a:t>
            </a:r>
            <a:endParaRPr lang="en-US" sz="86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four poka-yoke controls.</a:t>
            </a:r>
            <a:endParaRPr lang="en-US" sz="8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andheld OCR: manual 8 to 10 seconds against 1 second, mission table and a shopfloor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960120"/>
            <a:ext cx="973819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Handheld OCR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52728"/>
            <a:ext cx="5992978" cy="714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Handheld OCR replaces manual</a:t>
            </a:r>
            <a:endParaRPr lang="en-US" sz="2380" dirty="0"/>
          </a:p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serial-number recording.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947386"/>
            <a:ext cx="5382621" cy="222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part serials with handheld OCR and automatically record inspection data in Google Sheets.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670048"/>
            <a:ext cx="1235674" cy="404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450" b="1" spc="-98" kern="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8–10 sec</a:t>
            </a:r>
            <a:endParaRPr lang="en-US" sz="24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026664"/>
            <a:ext cx="1235674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b="1" spc="52" kern="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650" dirty="0"/>
          </a:p>
        </p:txBody>
      </p:sp>
      <p:sp>
        <p:nvSpPr>
          <p:cNvPr id="8" name="Text 5"/>
          <p:cNvSpPr txBox="1"/>
          <p:nvPr/>
        </p:nvSpPr>
        <p:spPr>
          <a:xfrm>
            <a:off x="2277999" y="2670048"/>
            <a:ext cx="1044182" cy="404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450" b="1" spc="-98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2450" dirty="0"/>
          </a:p>
        </p:txBody>
      </p:sp>
      <p:sp>
        <p:nvSpPr>
          <p:cNvPr id="9" name="Text 6"/>
          <p:cNvSpPr txBox="1"/>
          <p:nvPr/>
        </p:nvSpPr>
        <p:spPr>
          <a:xfrm>
            <a:off x="2277999" y="3026664"/>
            <a:ext cx="1044182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b="1" spc="52" kern="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+ AUTO RECORD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3665458" y="2688336"/>
            <a:ext cx="1371771" cy="356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2160" b="1" spc="-8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−87.5–90%</a:t>
            </a:r>
            <a:endParaRPr lang="en-US" sz="2160" dirty="0"/>
          </a:p>
        </p:txBody>
      </p:sp>
      <p:sp>
        <p:nvSpPr>
          <p:cNvPr id="11" name="Text 8"/>
          <p:cNvSpPr txBox="1"/>
          <p:nvPr/>
        </p:nvSpPr>
        <p:spPr>
          <a:xfrm>
            <a:off x="3665458" y="3008376"/>
            <a:ext cx="1371771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b="1" spc="5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PER SERIAL</a:t>
            </a:r>
            <a:endParaRPr lang="en-US" sz="650" dirty="0"/>
          </a:p>
        </p:txBody>
      </p:sp>
      <p:sp>
        <p:nvSpPr>
          <p:cNvPr id="12" name="Text 9"/>
          <p:cNvSpPr txBox="1"/>
          <p:nvPr/>
        </p:nvSpPr>
        <p:spPr>
          <a:xfrm>
            <a:off x="603504" y="3490865"/>
            <a:ext cx="1283818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b="1" spc="49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</a:t>
            </a:r>
            <a:endParaRPr lang="en-US" sz="610" dirty="0"/>
          </a:p>
        </p:txBody>
      </p:sp>
      <p:sp>
        <p:nvSpPr>
          <p:cNvPr id="13" name="Text 10"/>
          <p:cNvSpPr txBox="1"/>
          <p:nvPr/>
        </p:nvSpPr>
        <p:spPr>
          <a:xfrm>
            <a:off x="1883664" y="3490865"/>
            <a:ext cx="1264067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b="1" spc="49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MARKING</a:t>
            </a:r>
            <a:endParaRPr lang="en-US" sz="610" dirty="0"/>
          </a:p>
        </p:txBody>
      </p:sp>
      <p:sp>
        <p:nvSpPr>
          <p:cNvPr id="14" name="Text 11"/>
          <p:cNvSpPr txBox="1"/>
          <p:nvPr/>
        </p:nvSpPr>
        <p:spPr>
          <a:xfrm>
            <a:off x="3145536" y="3490865"/>
            <a:ext cx="641909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b="1" spc="49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610" dirty="0"/>
          </a:p>
        </p:txBody>
      </p:sp>
      <p:sp>
        <p:nvSpPr>
          <p:cNvPr id="15" name="Text 12"/>
          <p:cNvSpPr txBox="1"/>
          <p:nvPr/>
        </p:nvSpPr>
        <p:spPr>
          <a:xfrm>
            <a:off x="3831336" y="3430715"/>
            <a:ext cx="929945" cy="277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b="1" spc="49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+ AUTO</a:t>
            </a:r>
            <a:endParaRPr lang="en-US" sz="610" dirty="0"/>
          </a:p>
          <a:p>
            <a:pPr algn="l" indent="0" marL="0">
              <a:lnSpc>
                <a:spcPts val="950"/>
              </a:lnSpc>
              <a:buNone/>
            </a:pPr>
            <a:r>
              <a:rPr lang="en-US" sz="610" b="1" spc="49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</a:t>
            </a:r>
            <a:endParaRPr lang="en-US" sz="610" dirty="0"/>
          </a:p>
        </p:txBody>
      </p:sp>
      <p:sp>
        <p:nvSpPr>
          <p:cNvPr id="16" name="Text 13"/>
          <p:cNvSpPr txBox="1"/>
          <p:nvPr/>
        </p:nvSpPr>
        <p:spPr>
          <a:xfrm>
            <a:off x="4745736" y="3490865"/>
            <a:ext cx="740664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b="1" spc="49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SAVED</a:t>
            </a:r>
            <a:endParaRPr lang="en-US" sz="610" dirty="0"/>
          </a:p>
        </p:txBody>
      </p:sp>
      <p:sp>
        <p:nvSpPr>
          <p:cNvPr id="17" name="Text 14"/>
          <p:cNvSpPr txBox="1"/>
          <p:nvPr/>
        </p:nvSpPr>
        <p:spPr>
          <a:xfrm>
            <a:off x="603504" y="3766471"/>
            <a:ext cx="1283818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LCBTH.26.0005</a:t>
            </a:r>
            <a:endParaRPr lang="en-US" sz="730" dirty="0"/>
          </a:p>
        </p:txBody>
      </p:sp>
      <p:sp>
        <p:nvSpPr>
          <p:cNvPr id="18" name="Text 15"/>
          <p:cNvSpPr txBox="1"/>
          <p:nvPr/>
        </p:nvSpPr>
        <p:spPr>
          <a:xfrm>
            <a:off x="1883664" y="3766471"/>
            <a:ext cx="126406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peen</a:t>
            </a:r>
            <a:endParaRPr lang="en-US" sz="730" dirty="0"/>
          </a:p>
        </p:txBody>
      </p:sp>
      <p:sp>
        <p:nvSpPr>
          <p:cNvPr id="19" name="Text 16"/>
          <p:cNvSpPr txBox="1"/>
          <p:nvPr/>
        </p:nvSpPr>
        <p:spPr>
          <a:xfrm>
            <a:off x="3145536" y="3766471"/>
            <a:ext cx="641909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sec</a:t>
            </a:r>
            <a:endParaRPr lang="en-US" sz="730" dirty="0"/>
          </a:p>
        </p:txBody>
      </p:sp>
      <p:sp>
        <p:nvSpPr>
          <p:cNvPr id="20" name="Text 17"/>
          <p:cNvSpPr txBox="1"/>
          <p:nvPr/>
        </p:nvSpPr>
        <p:spPr>
          <a:xfrm>
            <a:off x="3831336" y="3766471"/>
            <a:ext cx="88879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21" name="Text 18"/>
          <p:cNvSpPr txBox="1"/>
          <p:nvPr/>
        </p:nvSpPr>
        <p:spPr>
          <a:xfrm>
            <a:off x="4718304" y="3757327"/>
            <a:ext cx="740664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−87.5%</a:t>
            </a:r>
            <a:endParaRPr lang="en-US" sz="730" dirty="0"/>
          </a:p>
        </p:txBody>
      </p:sp>
      <p:sp>
        <p:nvSpPr>
          <p:cNvPr id="22" name="Text 19"/>
          <p:cNvSpPr txBox="1"/>
          <p:nvPr/>
        </p:nvSpPr>
        <p:spPr>
          <a:xfrm>
            <a:off x="603504" y="4015073"/>
            <a:ext cx="1283818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LCBTH.26.0002</a:t>
            </a:r>
            <a:endParaRPr lang="en-US" sz="730" dirty="0"/>
          </a:p>
        </p:txBody>
      </p:sp>
      <p:sp>
        <p:nvSpPr>
          <p:cNvPr id="23" name="Text 20"/>
          <p:cNvSpPr txBox="1"/>
          <p:nvPr/>
        </p:nvSpPr>
        <p:spPr>
          <a:xfrm>
            <a:off x="1883664" y="4015073"/>
            <a:ext cx="126406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peen</a:t>
            </a:r>
            <a:endParaRPr lang="en-US" sz="730" dirty="0"/>
          </a:p>
        </p:txBody>
      </p:sp>
      <p:sp>
        <p:nvSpPr>
          <p:cNvPr id="24" name="Text 21"/>
          <p:cNvSpPr txBox="1"/>
          <p:nvPr/>
        </p:nvSpPr>
        <p:spPr>
          <a:xfrm>
            <a:off x="3145536" y="4015073"/>
            <a:ext cx="641909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sec</a:t>
            </a:r>
            <a:endParaRPr lang="en-US" sz="730" dirty="0"/>
          </a:p>
        </p:txBody>
      </p:sp>
      <p:sp>
        <p:nvSpPr>
          <p:cNvPr id="25" name="Text 22"/>
          <p:cNvSpPr txBox="1"/>
          <p:nvPr/>
        </p:nvSpPr>
        <p:spPr>
          <a:xfrm>
            <a:off x="3831336" y="4015073"/>
            <a:ext cx="88879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26" name="Text 23"/>
          <p:cNvSpPr txBox="1"/>
          <p:nvPr/>
        </p:nvSpPr>
        <p:spPr>
          <a:xfrm>
            <a:off x="4718304" y="4005929"/>
            <a:ext cx="740664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−87.5%</a:t>
            </a:r>
            <a:endParaRPr lang="en-US" sz="730" dirty="0"/>
          </a:p>
        </p:txBody>
      </p:sp>
      <p:sp>
        <p:nvSpPr>
          <p:cNvPr id="27" name="Text 24"/>
          <p:cNvSpPr txBox="1"/>
          <p:nvPr/>
        </p:nvSpPr>
        <p:spPr>
          <a:xfrm>
            <a:off x="603504" y="4263676"/>
            <a:ext cx="1283818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LCBTH.26.0027</a:t>
            </a:r>
            <a:endParaRPr lang="en-US" sz="730" dirty="0"/>
          </a:p>
        </p:txBody>
      </p:sp>
      <p:sp>
        <p:nvSpPr>
          <p:cNvPr id="28" name="Text 25"/>
          <p:cNvSpPr txBox="1"/>
          <p:nvPr/>
        </p:nvSpPr>
        <p:spPr>
          <a:xfrm>
            <a:off x="1883664" y="4263676"/>
            <a:ext cx="126406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Stamped</a:t>
            </a:r>
            <a:endParaRPr lang="en-US" sz="730" dirty="0"/>
          </a:p>
        </p:txBody>
      </p:sp>
      <p:sp>
        <p:nvSpPr>
          <p:cNvPr id="29" name="Text 26"/>
          <p:cNvSpPr txBox="1"/>
          <p:nvPr/>
        </p:nvSpPr>
        <p:spPr>
          <a:xfrm>
            <a:off x="3145536" y="4263676"/>
            <a:ext cx="641909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sec</a:t>
            </a:r>
            <a:endParaRPr lang="en-US" sz="730" dirty="0"/>
          </a:p>
        </p:txBody>
      </p:sp>
      <p:sp>
        <p:nvSpPr>
          <p:cNvPr id="30" name="Text 27"/>
          <p:cNvSpPr txBox="1"/>
          <p:nvPr/>
        </p:nvSpPr>
        <p:spPr>
          <a:xfrm>
            <a:off x="3831336" y="4263676"/>
            <a:ext cx="88879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31" name="Text 28"/>
          <p:cNvSpPr txBox="1"/>
          <p:nvPr/>
        </p:nvSpPr>
        <p:spPr>
          <a:xfrm>
            <a:off x="4718304" y="4254532"/>
            <a:ext cx="740664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−90%</a:t>
            </a:r>
            <a:endParaRPr lang="en-US" sz="730" dirty="0"/>
          </a:p>
        </p:txBody>
      </p:sp>
      <p:sp>
        <p:nvSpPr>
          <p:cNvPr id="32" name="Text 29"/>
          <p:cNvSpPr txBox="1"/>
          <p:nvPr/>
        </p:nvSpPr>
        <p:spPr>
          <a:xfrm>
            <a:off x="603504" y="4512278"/>
            <a:ext cx="1283818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LCBTH.26.0007</a:t>
            </a:r>
            <a:endParaRPr lang="en-US" sz="730" dirty="0"/>
          </a:p>
        </p:txBody>
      </p:sp>
      <p:sp>
        <p:nvSpPr>
          <p:cNvPr id="33" name="Text 30"/>
          <p:cNvSpPr txBox="1"/>
          <p:nvPr/>
        </p:nvSpPr>
        <p:spPr>
          <a:xfrm>
            <a:off x="1883664" y="4512278"/>
            <a:ext cx="126406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Embossed</a:t>
            </a:r>
            <a:endParaRPr lang="en-US" sz="730" dirty="0"/>
          </a:p>
        </p:txBody>
      </p:sp>
      <p:sp>
        <p:nvSpPr>
          <p:cNvPr id="34" name="Text 31"/>
          <p:cNvSpPr txBox="1"/>
          <p:nvPr/>
        </p:nvSpPr>
        <p:spPr>
          <a:xfrm>
            <a:off x="3145536" y="4512278"/>
            <a:ext cx="641909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sec</a:t>
            </a:r>
            <a:endParaRPr lang="en-US" sz="730" dirty="0"/>
          </a:p>
        </p:txBody>
      </p:sp>
      <p:sp>
        <p:nvSpPr>
          <p:cNvPr id="35" name="Text 32"/>
          <p:cNvSpPr txBox="1"/>
          <p:nvPr/>
        </p:nvSpPr>
        <p:spPr>
          <a:xfrm>
            <a:off x="3831336" y="4512278"/>
            <a:ext cx="88879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36" name="Text 33"/>
          <p:cNvSpPr txBox="1"/>
          <p:nvPr/>
        </p:nvSpPr>
        <p:spPr>
          <a:xfrm>
            <a:off x="4718304" y="4503134"/>
            <a:ext cx="740664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−88.9%</a:t>
            </a:r>
            <a:endParaRPr lang="en-US" sz="730" dirty="0"/>
          </a:p>
        </p:txBody>
      </p:sp>
      <p:sp>
        <p:nvSpPr>
          <p:cNvPr id="37" name="Text 34"/>
          <p:cNvSpPr txBox="1"/>
          <p:nvPr/>
        </p:nvSpPr>
        <p:spPr>
          <a:xfrm>
            <a:off x="603504" y="4777454"/>
            <a:ext cx="5214275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peen / stamped / embossed · Barcode / Data Matrix · Internal configuration; supplied mission comparisons.</a:t>
            </a:r>
            <a:endParaRPr lang="en-US" sz="650" dirty="0"/>
          </a:p>
        </p:txBody>
      </p:sp>
      <p:sp>
        <p:nvSpPr>
          <p:cNvPr id="38" name="Text 35"/>
          <p:cNvSpPr txBox="1"/>
          <p:nvPr/>
        </p:nvSpPr>
        <p:spPr>
          <a:xfrm>
            <a:off x="7771543" y="4754880"/>
            <a:ext cx="988478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Shopfloor OCR in use</a:t>
            </a:r>
            <a:endParaRPr lang="en-US" sz="720" dirty="0"/>
          </a:p>
        </p:txBody>
      </p:sp>
      <p:sp>
        <p:nvSpPr>
          <p:cNvPr id="39" name="Text 36"/>
          <p:cNvSpPr txBox="1"/>
          <p:nvPr/>
        </p:nvSpPr>
        <p:spPr>
          <a:xfrm>
            <a:off x="7330773" y="4896612"/>
            <a:ext cx="1464509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KEYENCE BT-A1000 · LCBTH.26.0005</a:t>
            </a:r>
            <a:endParaRPr lang="en-US" sz="6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ybrid workflow from shopfloor to customer report, with an offline Excel pa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960120"/>
            <a:ext cx="1042793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Hybrid workflow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52728"/>
            <a:ext cx="9299448" cy="714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hybrid workflow connects shopfloor</a:t>
            </a:r>
            <a:endParaRPr lang="en-US" sz="2380" dirty="0"/>
          </a:p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to customer reports.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947386"/>
            <a:ext cx="5081418" cy="231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cloud records + offline Excel support → administrator review → customer report.</a:t>
            </a:r>
            <a:endParaRPr lang="en-US" sz="940" dirty="0"/>
          </a:p>
        </p:txBody>
      </p:sp>
      <p:sp>
        <p:nvSpPr>
          <p:cNvPr id="6" name="Text 3"/>
          <p:cNvSpPr txBox="1"/>
          <p:nvPr/>
        </p:nvSpPr>
        <p:spPr>
          <a:xfrm>
            <a:off x="57607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Shopfloor</a:t>
            </a:r>
            <a:endParaRPr lang="en-US" sz="940" dirty="0"/>
          </a:p>
        </p:txBody>
      </p:sp>
      <p:sp>
        <p:nvSpPr>
          <p:cNvPr id="7" name="Text 4"/>
          <p:cNvSpPr txBox="1"/>
          <p:nvPr/>
        </p:nvSpPr>
        <p:spPr>
          <a:xfrm>
            <a:off x="57607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Handheld OCR / QR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57607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 + Good / NG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226771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Sheets</a:t>
            </a:r>
            <a:endParaRPr lang="en-US" sz="940" dirty="0"/>
          </a:p>
        </p:txBody>
      </p:sp>
      <p:sp>
        <p:nvSpPr>
          <p:cNvPr id="10" name="Text 7"/>
          <p:cNvSpPr txBox="1"/>
          <p:nvPr/>
        </p:nvSpPr>
        <p:spPr>
          <a:xfrm>
            <a:off x="226771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Auto-record data</a:t>
            </a:r>
            <a:endParaRPr lang="en-US" sz="720" dirty="0"/>
          </a:p>
        </p:txBody>
      </p:sp>
      <p:sp>
        <p:nvSpPr>
          <p:cNvPr id="11" name="Text 8"/>
          <p:cNvSpPr txBox="1"/>
          <p:nvPr/>
        </p:nvSpPr>
        <p:spPr>
          <a:xfrm>
            <a:off x="226771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access</a:t>
            </a:r>
            <a:endParaRPr lang="en-US" sz="720" dirty="0"/>
          </a:p>
        </p:txBody>
      </p:sp>
      <p:sp>
        <p:nvSpPr>
          <p:cNvPr id="12" name="Text 9"/>
          <p:cNvSpPr txBox="1"/>
          <p:nvPr/>
        </p:nvSpPr>
        <p:spPr>
          <a:xfrm>
            <a:off x="395935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Drive</a:t>
            </a:r>
            <a:endParaRPr lang="en-US" sz="940" dirty="0"/>
          </a:p>
        </p:txBody>
      </p:sp>
      <p:sp>
        <p:nvSpPr>
          <p:cNvPr id="13" name="Text 10"/>
          <p:cNvSpPr txBox="1"/>
          <p:nvPr/>
        </p:nvSpPr>
        <p:spPr>
          <a:xfrm>
            <a:off x="395935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online files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395935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access</a:t>
            </a:r>
            <a:endParaRPr lang="en-US" sz="720" dirty="0"/>
          </a:p>
        </p:txBody>
      </p:sp>
      <p:sp>
        <p:nvSpPr>
          <p:cNvPr id="15" name="Text 12"/>
          <p:cNvSpPr txBox="1"/>
          <p:nvPr/>
        </p:nvSpPr>
        <p:spPr>
          <a:xfrm>
            <a:off x="565099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Administrator</a:t>
            </a:r>
            <a:endParaRPr lang="en-US" sz="940" dirty="0"/>
          </a:p>
        </p:txBody>
      </p:sp>
      <p:sp>
        <p:nvSpPr>
          <p:cNvPr id="16" name="Text 13"/>
          <p:cNvSpPr txBox="1"/>
          <p:nvPr/>
        </p:nvSpPr>
        <p:spPr>
          <a:xfrm>
            <a:off x="565099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online data</a:t>
            </a:r>
            <a:endParaRPr lang="en-US" sz="720" dirty="0"/>
          </a:p>
        </p:txBody>
      </p:sp>
      <p:sp>
        <p:nvSpPr>
          <p:cNvPr id="17" name="Text 14"/>
          <p:cNvSpPr txBox="1"/>
          <p:nvPr/>
        </p:nvSpPr>
        <p:spPr>
          <a:xfrm>
            <a:off x="565099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 Excel</a:t>
            </a:r>
            <a:endParaRPr lang="en-US" sz="720" dirty="0"/>
          </a:p>
        </p:txBody>
      </p:sp>
      <p:sp>
        <p:nvSpPr>
          <p:cNvPr id="18" name="Text 15"/>
          <p:cNvSpPr txBox="1"/>
          <p:nvPr/>
        </p:nvSpPr>
        <p:spPr>
          <a:xfrm>
            <a:off x="734263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report</a:t>
            </a:r>
            <a:endParaRPr lang="en-US" sz="940" dirty="0"/>
          </a:p>
        </p:txBody>
      </p:sp>
      <p:sp>
        <p:nvSpPr>
          <p:cNvPr id="19" name="Text 16"/>
          <p:cNvSpPr txBox="1"/>
          <p:nvPr/>
        </p:nvSpPr>
        <p:spPr>
          <a:xfrm>
            <a:off x="734263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Reviewed results</a:t>
            </a:r>
            <a:endParaRPr lang="en-US" sz="720" dirty="0"/>
          </a:p>
        </p:txBody>
      </p:sp>
      <p:sp>
        <p:nvSpPr>
          <p:cNvPr id="20" name="Text 17"/>
          <p:cNvSpPr txBox="1"/>
          <p:nvPr/>
        </p:nvSpPr>
        <p:spPr>
          <a:xfrm>
            <a:off x="734263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final report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3703320" y="4291679"/>
            <a:ext cx="1125038" cy="221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offline</a:t>
            </a:r>
            <a:endParaRPr lang="en-US" sz="860" dirty="0"/>
          </a:p>
        </p:txBody>
      </p:sp>
      <p:sp>
        <p:nvSpPr>
          <p:cNvPr id="22" name="Text 19"/>
          <p:cNvSpPr txBox="1"/>
          <p:nvPr/>
        </p:nvSpPr>
        <p:spPr>
          <a:xfrm>
            <a:off x="3703320" y="4461701"/>
            <a:ext cx="1125038" cy="1749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68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serial + status record</a:t>
            </a:r>
            <a:endParaRPr lang="en-US" sz="680" dirty="0"/>
          </a:p>
        </p:txBody>
      </p:sp>
      <p:sp>
        <p:nvSpPr>
          <p:cNvPr id="23" name="Text 20"/>
          <p:cNvSpPr txBox="1"/>
          <p:nvPr/>
        </p:nvSpPr>
        <p:spPr>
          <a:xfrm>
            <a:off x="6400800" y="4224528"/>
            <a:ext cx="1580083" cy="1523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0"/>
              </a:lnSpc>
              <a:buNone/>
            </a:pPr>
            <a:r>
              <a:rPr lang="en-US" sz="68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 offline and online records</a:t>
            </a:r>
            <a:endParaRPr lang="en-US" sz="68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4789884"/>
            <a:ext cx="4196479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supplied OCR capture and MMTH hybrid workflow. Generic icons denote functions, not product logos.</a:t>
            </a:r>
            <a:endParaRPr lang="en-US" sz="61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ur poka-yoke contro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960120"/>
            <a:ext cx="771525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Poka-yoke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52728"/>
            <a:ext cx="6248118" cy="4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controls protect every inspection record.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636633"/>
            <a:ext cx="4876964" cy="231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+ voice guidance at capture. Administrator review before customer reporting.</a:t>
            </a:r>
            <a:endParaRPr lang="en-US" sz="94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2471595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part / serial</a:t>
            </a:r>
            <a:endParaRPr lang="en-US" sz="1040" dirty="0"/>
          </a:p>
        </p:txBody>
      </p:sp>
      <p:sp>
        <p:nvSpPr>
          <p:cNvPr id="7" name="Text 4"/>
          <p:cNvSpPr txBox="1"/>
          <p:nvPr/>
        </p:nvSpPr>
        <p:spPr>
          <a:xfrm>
            <a:off x="1152144" y="2704481"/>
            <a:ext cx="3416930" cy="189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against customer list / production plan. Warn on mismatch.</a:t>
            </a:r>
            <a:endParaRPr lang="en-US" sz="790" dirty="0"/>
          </a:p>
        </p:txBody>
      </p:sp>
      <p:sp>
        <p:nvSpPr>
          <p:cNvPr id="8" name="Text 5"/>
          <p:cNvSpPr txBox="1"/>
          <p:nvPr/>
        </p:nvSpPr>
        <p:spPr>
          <a:xfrm>
            <a:off x="5358384" y="2471595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scan</a:t>
            </a:r>
            <a:endParaRPr lang="en-US" sz="1040" dirty="0"/>
          </a:p>
        </p:txBody>
      </p:sp>
      <p:sp>
        <p:nvSpPr>
          <p:cNvPr id="9" name="Text 6"/>
          <p:cNvSpPr txBox="1"/>
          <p:nvPr/>
        </p:nvSpPr>
        <p:spPr>
          <a:xfrm>
            <a:off x="5358384" y="2704481"/>
            <a:ext cx="3416930" cy="189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out repeated scans. Prevent duplicate counting.</a:t>
            </a:r>
            <a:endParaRPr lang="en-US" sz="79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3355562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box</a:t>
            </a:r>
            <a:endParaRPr lang="en-US" sz="1040" dirty="0"/>
          </a:p>
        </p:txBody>
      </p:sp>
      <p:sp>
        <p:nvSpPr>
          <p:cNvPr id="11" name="Text 8"/>
          <p:cNvSpPr txBox="1"/>
          <p:nvPr/>
        </p:nvSpPr>
        <p:spPr>
          <a:xfrm>
            <a:off x="1152144" y="3588449"/>
            <a:ext cx="3416930" cy="189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+ popup notification when target quantity is reached.</a:t>
            </a:r>
            <a:endParaRPr lang="en-US" sz="790" dirty="0"/>
          </a:p>
        </p:txBody>
      </p:sp>
      <p:sp>
        <p:nvSpPr>
          <p:cNvPr id="12" name="Text 9"/>
          <p:cNvSpPr txBox="1"/>
          <p:nvPr/>
        </p:nvSpPr>
        <p:spPr>
          <a:xfrm>
            <a:off x="5358384" y="3282696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&amp; release</a:t>
            </a:r>
            <a:endParaRPr lang="en-US" sz="1040" dirty="0"/>
          </a:p>
        </p:txBody>
      </p:sp>
      <p:sp>
        <p:nvSpPr>
          <p:cNvPr id="13" name="Text 10"/>
          <p:cNvSpPr txBox="1"/>
          <p:nvPr/>
        </p:nvSpPr>
        <p:spPr>
          <a:xfrm>
            <a:off x="5358384" y="3515582"/>
            <a:ext cx="3575121" cy="335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Administrator checks offline + online records before submitting the</a:t>
            </a:r>
            <a:endParaRPr lang="en-US" sz="790" dirty="0"/>
          </a:p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report.</a:t>
            </a:r>
            <a:endParaRPr lang="en-US" sz="790" dirty="0"/>
          </a:p>
        </p:txBody>
      </p:sp>
      <p:sp>
        <p:nvSpPr>
          <p:cNvPr id="14" name="Text 11"/>
          <p:cNvSpPr txBox="1"/>
          <p:nvPr/>
        </p:nvSpPr>
        <p:spPr>
          <a:xfrm>
            <a:off x="603504" y="4407408"/>
            <a:ext cx="8571951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 data: Customer • Material • Batch • Order | Missions 04, 29, 31 · Internal configuration + Text-to-Speech support shopfloor use.</a:t>
            </a:r>
            <a:endParaRPr lang="en-US" sz="73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789884"/>
            <a:ext cx="3838491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supplied error-prevention workflow. Next: two web apps supporting Non-Rayong operations.</a:t>
            </a:r>
            <a:endParaRPr lang="en-US" sz="61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: Inventory dashboard and Manpower Board screensho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1188720"/>
            <a:ext cx="900987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E4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The two apps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572768"/>
            <a:ext cx="4339742" cy="1615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60"/>
              </a:lnSpc>
              <a:buNone/>
            </a:pPr>
            <a:r>
              <a:rPr lang="en-US" sz="3740" b="1" spc="-18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apps for</a:t>
            </a:r>
            <a:endParaRPr lang="en-US" sz="3740" dirty="0"/>
          </a:p>
          <a:p>
            <a:pPr algn="l" indent="0" marL="0">
              <a:lnSpc>
                <a:spcPts val="3860"/>
              </a:lnSpc>
              <a:buNone/>
            </a:pPr>
            <a:r>
              <a:rPr lang="en-US" sz="3740" b="1" spc="-18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we</a:t>
            </a:r>
            <a:endParaRPr lang="en-US" sz="3740" dirty="0"/>
          </a:p>
          <a:p>
            <a:pPr algn="l" indent="0" marL="0">
              <a:lnSpc>
                <a:spcPts val="3860"/>
              </a:lnSpc>
              <a:buNone/>
            </a:pPr>
            <a:r>
              <a:rPr lang="en-US" sz="3740" b="1" spc="-18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every day.</a:t>
            </a:r>
            <a:endParaRPr lang="en-US" sz="374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224546"/>
            <a:ext cx="3926434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Manpower Board plans who goes where. The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 System tracks tools, parts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consumables. Both run in the browser and on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phone.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745379" y="4230386"/>
            <a:ext cx="861176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790" dirty="0"/>
          </a:p>
        </p:txBody>
      </p:sp>
      <p:sp>
        <p:nvSpPr>
          <p:cNvPr id="7" name="Text 4"/>
          <p:cNvSpPr txBox="1"/>
          <p:nvPr/>
        </p:nvSpPr>
        <p:spPr>
          <a:xfrm>
            <a:off x="2009251" y="4230386"/>
            <a:ext cx="968881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790" dirty="0"/>
          </a:p>
        </p:txBody>
      </p:sp>
      <p:sp>
        <p:nvSpPr>
          <p:cNvPr id="8" name="Text 5"/>
          <p:cNvSpPr txBox="1"/>
          <p:nvPr/>
        </p:nvSpPr>
        <p:spPr>
          <a:xfrm>
            <a:off x="3372850" y="4230386"/>
            <a:ext cx="745139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phone</a:t>
            </a:r>
            <a:endParaRPr lang="en-US" sz="79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Board on desktop with the forecast merge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1143000"/>
            <a:ext cx="1079981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90472"/>
            <a:ext cx="3203143" cy="1149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40"/>
              </a:lnSpc>
              <a:buNone/>
            </a:pPr>
            <a:r>
              <a:rPr lang="en-US" sz="2660" b="1" spc="-133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Tomorrow's</a:t>
            </a:r>
            <a:endParaRPr lang="en-US" sz="2660" dirty="0"/>
          </a:p>
          <a:p>
            <a:pPr algn="l" indent="0" marL="0">
              <a:lnSpc>
                <a:spcPts val="2740"/>
              </a:lnSpc>
              <a:buNone/>
            </a:pPr>
            <a:r>
              <a:rPr lang="en-US" sz="2660" b="1" spc="-133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crew, planned</a:t>
            </a:r>
            <a:endParaRPr lang="en-US" sz="2660" dirty="0"/>
          </a:p>
          <a:p>
            <a:pPr algn="l" indent="0" marL="0">
              <a:lnSpc>
                <a:spcPts val="2740"/>
              </a:lnSpc>
              <a:buNone/>
            </a:pPr>
            <a:r>
              <a:rPr lang="en-US" sz="2660" b="1" spc="-133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one board.</a:t>
            </a:r>
            <a:endParaRPr lang="en-US" sz="266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682192"/>
            <a:ext cx="3203143" cy="588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magnet board, made digital. Drag people onto</a:t>
            </a:r>
            <a:endParaRPr lang="en-US" sz="940" dirty="0"/>
          </a:p>
          <a:p>
            <a:pPr algn="l" indent="0" marL="0">
              <a:lnSpc>
                <a:spcPts val="1400"/>
              </a:lnSpc>
              <a:buNone/>
            </a:pPr>
            <a:r>
              <a:rPr lang="en-US" sz="94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missions, leave or standby, and everyone sees the</a:t>
            </a:r>
            <a:endParaRPr lang="en-US" sz="940" dirty="0"/>
          </a:p>
          <a:p>
            <a:pPr algn="l" indent="0" marL="0">
              <a:lnSpc>
                <a:spcPts val="1400"/>
              </a:lnSpc>
              <a:buNone/>
            </a:pPr>
            <a:r>
              <a:rPr lang="en-US" sz="94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plan, live.</a:t>
            </a:r>
            <a:endParaRPr lang="en-US" sz="94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3401139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and drop planning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825192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 go, what to wear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4393692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a finished plan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565017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board per site, one card per person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3989070"/>
            <a:ext cx="2727838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host name opens Google Maps; PPE is on the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4557570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bumps it by accident</a:t>
            </a:r>
            <a:endParaRPr lang="en-US" sz="81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pacity grid with two short day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1143000"/>
            <a:ext cx="1079981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90472"/>
            <a:ext cx="3823106" cy="77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0"/>
              </a:lnSpc>
              <a:buNone/>
            </a:pPr>
            <a:r>
              <a:rPr lang="en-US" sz="2590" b="1" spc="-13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weeks ahead,</a:t>
            </a:r>
            <a:endParaRPr lang="en-US" sz="2590" dirty="0"/>
          </a:p>
          <a:p>
            <a:pPr algn="l" indent="0" marL="0">
              <a:lnSpc>
                <a:spcPts val="2670"/>
              </a:lnSpc>
              <a:buNone/>
            </a:pPr>
            <a:r>
              <a:rPr lang="en-US" sz="2590" b="1" spc="-13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just tomorrow.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352580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over the last working day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77776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days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202972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628168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516457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click, then change only what moved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941653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Tentative plans kept apart, merged with a side-by-side review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366849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someone another engineer planned and they are told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92045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JPG, PDF and Excel, plus the org chart as PowerPoint</a:t>
            </a:r>
            <a:endParaRPr lang="en-US" sz="810" dirty="0"/>
          </a:p>
        </p:txBody>
      </p:sp>
      <p:sp>
        <p:nvSpPr>
          <p:cNvPr id="13" name="Text 10"/>
          <p:cNvSpPr txBox="1"/>
          <p:nvPr/>
        </p:nvSpPr>
        <p:spPr>
          <a:xfrm>
            <a:off x="4389120" y="4215384"/>
            <a:ext cx="2212116" cy="1749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680" b="1" spc="55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ENGINEERS</a:t>
            </a:r>
            <a:endParaRPr lang="en-US" sz="680" dirty="0"/>
          </a:p>
        </p:txBody>
      </p:sp>
      <p:sp>
        <p:nvSpPr>
          <p:cNvPr id="14" name="Text 11"/>
          <p:cNvSpPr txBox="1"/>
          <p:nvPr/>
        </p:nvSpPr>
        <p:spPr>
          <a:xfrm>
            <a:off x="6638544" y="4215384"/>
            <a:ext cx="2212116" cy="1749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680" b="1" spc="55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MANAGEMENT</a:t>
            </a:r>
            <a:endParaRPr lang="en-US" sz="680" dirty="0"/>
          </a:p>
        </p:txBody>
      </p:sp>
      <p:sp>
        <p:nvSpPr>
          <p:cNvPr id="15" name="Text 12"/>
          <p:cNvSpPr txBox="1"/>
          <p:nvPr/>
        </p:nvSpPr>
        <p:spPr>
          <a:xfrm>
            <a:off x="4389120" y="4404836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 people each host needs per day.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grid shows every short day as you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type.</a:t>
            </a:r>
            <a:endParaRPr lang="en-US" sz="83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4404836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days show in red weeks before they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happen, with the worst day and peak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on top.</a:t>
            </a:r>
            <a:endParaRPr lang="en-US" sz="8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Overview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1143000"/>
            <a:ext cx="1079981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90472"/>
            <a:ext cx="3409798" cy="77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0"/>
              </a:lnSpc>
              <a:buNone/>
            </a:pPr>
            <a:r>
              <a:rPr lang="en-US" sz="2590" b="1" spc="-13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crew</a:t>
            </a:r>
            <a:endParaRPr lang="en-US" sz="2590" dirty="0"/>
          </a:p>
          <a:p>
            <a:pPr algn="l" indent="0" marL="0">
              <a:lnSpc>
                <a:spcPts val="2670"/>
              </a:lnSpc>
              <a:buNone/>
            </a:pPr>
            <a:r>
              <a:rPr lang="en-US" sz="2590" b="1" spc="-13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view.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352580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you can trust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77776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Idle staff named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202972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board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628168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and workload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516457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On-call staff who were not called stay out of the figure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941653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staff with no mission, listed by board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366849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Missions, headcount, leave and idle side by side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92045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over time and missions per engineer</a:t>
            </a:r>
            <a:endParaRPr lang="en-US" sz="81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ventory dashboard with the cart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86984" y="1143000"/>
            <a:ext cx="1179507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90472"/>
            <a:ext cx="3616452" cy="1087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520" b="1" spc="-12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tool, part</a:t>
            </a:r>
            <a:endParaRPr lang="en-US" sz="252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2520" b="1" spc="-12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consumable,</a:t>
            </a:r>
            <a:endParaRPr lang="en-US" sz="252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2520" b="1" spc="-12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accounted for.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663333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Consumables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308852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&amp; Calibration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513725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Parts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938921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To-Do and Audit Trail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827211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per warehouse against its safety level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3252407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Borrow, return and calibration due dates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677602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 per lot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4102799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in one queue, every change on record</a:t>
            </a:r>
            <a:endParaRPr lang="en-US" sz="81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ools and Calibration list on desktop and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1143000"/>
            <a:ext cx="1179507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90472"/>
            <a:ext cx="3513125" cy="77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0"/>
              </a:lnSpc>
              <a:buNone/>
            </a:pPr>
            <a:r>
              <a:rPr lang="en-US" sz="2590" b="1" spc="-13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 a tool</a:t>
            </a:r>
            <a:endParaRPr lang="en-US" sz="2590" dirty="0"/>
          </a:p>
          <a:p>
            <a:pPr algn="l" indent="0" marL="0">
              <a:lnSpc>
                <a:spcPts val="2670"/>
              </a:lnSpc>
              <a:buNone/>
            </a:pPr>
            <a:r>
              <a:rPr lang="en-US" sz="2590" b="1" spc="-13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minute.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352580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it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77776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202972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it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628168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it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516457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Search, or scan the barcode with your phone camera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941653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valid-to date and usable range on every tool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366849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to the cart and send one request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92045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returns are flagged, so nothing goes missing</a:t>
            </a:r>
            <a:endParaRPr lang="en-US" sz="81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ustomer Parts table with a delivery to confirm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86984" y="1143000"/>
            <a:ext cx="1179507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90472"/>
            <a:ext cx="3616452" cy="758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520" b="1" spc="-12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</a:t>
            </a:r>
            <a:endParaRPr lang="en-US" sz="252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2520" b="1" spc="-12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parts, lot by lot.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333720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Inspection status per lot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2758916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Aged parts flagged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18296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Deliveries in and out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75146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what really arrived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497598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Hold, with the total and the lots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2922794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 past the aged threshold, red past twice it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346847"/>
            <a:ext cx="3141147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parts on one Asset In-Out Form; booked stock is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3915347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quantities per line; any difference goes in the log</a:t>
            </a:r>
            <a:endParaRPr lang="en-US" sz="81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nsumables and Usage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1143000"/>
            <a:ext cx="1179507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90472"/>
            <a:ext cx="3719779" cy="758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520" b="1" spc="-12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problems before</a:t>
            </a:r>
            <a:endParaRPr lang="en-US" sz="252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2520" b="1" spc="-12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become findings.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333720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run-out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58916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against the usual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84112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and alerts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609308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 for ISO 9001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97598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stock and spikes in demand, per warehouse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922794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site and engineer, exported to Excel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347990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To-Do queue, with phone notifications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73186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changed what, and when</a:t>
            </a:r>
            <a:endParaRPr lang="en-US" sz="81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QR codes and app icons for both ap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1143000"/>
            <a:ext cx="971196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On your phone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508760"/>
            <a:ext cx="3616452" cy="95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0"/>
              </a:lnSpc>
              <a:buNone/>
            </a:pPr>
            <a:r>
              <a:rPr lang="en-US" sz="3170" b="1" spc="-158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apps fit</a:t>
            </a:r>
            <a:endParaRPr lang="en-US" sz="3170" dirty="0"/>
          </a:p>
          <a:p>
            <a:pPr algn="l" indent="0" marL="0">
              <a:lnSpc>
                <a:spcPts val="3260"/>
              </a:lnSpc>
              <a:buNone/>
            </a:pPr>
            <a:r>
              <a:rPr lang="en-US" sz="3170" b="1" spc="-158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pocket.</a:t>
            </a:r>
            <a:endParaRPr lang="en-US" sz="317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502027"/>
            <a:ext cx="361645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app has its own phone layout and installs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browser like a native app. No app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needed.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20415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7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793903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7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108371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7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347847"/>
            <a:ext cx="3151480" cy="36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code and sign in with your @trigo-group.com</a:t>
            </a:r>
            <a:endParaRPr lang="en-US" sz="860" dirty="0"/>
          </a:p>
          <a:p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email.</a:t>
            </a:r>
            <a:endParaRPr lang="en-US" sz="86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821335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iPhone: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Safari tap Share, then Add to Home Screen.</a:t>
            </a:r>
            <a:endParaRPr lang="en-US" sz="86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135803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Chrome tap the menu, then Install app.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4542854" y="1865376"/>
            <a:ext cx="1287521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1220" dirty="0"/>
          </a:p>
        </p:txBody>
      </p:sp>
      <p:sp>
        <p:nvSpPr>
          <p:cNvPr id="13" name="Text 10"/>
          <p:cNvSpPr txBox="1"/>
          <p:nvPr/>
        </p:nvSpPr>
        <p:spPr>
          <a:xfrm>
            <a:off x="6906435" y="1865376"/>
            <a:ext cx="1435808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1220" dirty="0"/>
          </a:p>
        </p:txBody>
      </p:sp>
      <p:sp>
        <p:nvSpPr>
          <p:cNvPr id="14" name="Text 11"/>
          <p:cNvSpPr txBox="1"/>
          <p:nvPr/>
        </p:nvSpPr>
        <p:spPr>
          <a:xfrm>
            <a:off x="5401247" y="4389120"/>
            <a:ext cx="1092788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Installable app (PWA)</a:t>
            </a:r>
            <a:endParaRPr lang="en-US" sz="790" dirty="0"/>
          </a:p>
        </p:txBody>
      </p:sp>
      <p:sp>
        <p:nvSpPr>
          <p:cNvPr id="15" name="Text 12"/>
          <p:cNvSpPr txBox="1"/>
          <p:nvPr/>
        </p:nvSpPr>
        <p:spPr>
          <a:xfrm>
            <a:off x="6879574" y="4389120"/>
            <a:ext cx="661351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layout</a:t>
            </a:r>
            <a:endParaRPr lang="en-US" sz="790" dirty="0"/>
          </a:p>
        </p:txBody>
      </p:sp>
      <p:sp>
        <p:nvSpPr>
          <p:cNvPr id="16" name="Text 13"/>
          <p:cNvSpPr txBox="1"/>
          <p:nvPr/>
        </p:nvSpPr>
        <p:spPr>
          <a:xfrm>
            <a:off x="4214487" y="3761327"/>
            <a:ext cx="184888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trigoth-manpowerboard.netlify.app</a:t>
            </a:r>
            <a:endParaRPr lang="en-US" sz="720" dirty="0"/>
          </a:p>
        </p:txBody>
      </p:sp>
      <p:sp>
        <p:nvSpPr>
          <p:cNvPr id="17" name="Text 14"/>
          <p:cNvSpPr txBox="1"/>
          <p:nvPr/>
        </p:nvSpPr>
        <p:spPr>
          <a:xfrm>
            <a:off x="6825173" y="3761327"/>
            <a:ext cx="14919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trigoth-inventory.pages.dev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Non-Rayong overview 2026</dc:title>
  <dc:subject>PptxGenJS Presentation</dc:subject>
  <dc:creator>TRIGO Quality Services Thailand</dc:creator>
  <cp:lastModifiedBy>TRIGO Quality Services Thailand</cp:lastModifiedBy>
  <cp:revision>1</cp:revision>
  <dcterms:created xsi:type="dcterms:W3CDTF">2026-10-21T03:22:48Z</dcterms:created>
  <dcterms:modified xsi:type="dcterms:W3CDTF">2026-10-21T03:22:48Z</dcterms:modified>
</cp:coreProperties>
</file>