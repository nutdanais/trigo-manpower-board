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Opening
Non-Rayong overview for January to September 2026: LCBTH, BANGN and AMATA.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 Performance
Hours fell 19% in April, then climbed 44% to a record 36,653 h in September. Q3 is the strongest quarter at 100.9K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 Site mix
Hours per mission = billable hours / distinct mission numbers (base number, ignoring monthly extension suffix). Per-piece units are pieces invoiced per unit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 Customers and hosts
Ford MVIP, MMTH Engine and Surtec Kariya together make up 71% of hours. The other 71 hosts share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 Section: Cost reduction
Two slides: the supplier change and the 2026 drink 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Cost reduction: beverage supplier
Unit cost fell from 22.34 to 15.68 THB, and the monthly average from 80,899.75 to 64,983.03 THB. Cost per headcount trends down from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Cost reduction: drink mix
Moving the mix toward electrolyte drinks, and adding herbal drinks and tea, targets 11.73 THB per unit. Against the current supplier's 15.68 THB, that saves 3.95 THB per unit, 25.2%. Together with the supplier change (22.34 to 15.68 THB), the unit cost falls from 22.34 to 11.73 THB, which is 10.61 THB or 47.5% below 2025. The 2025 figures still need a source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 Section: Operation excellence
Three slides: handheld OCR, the hybrid workflow and the poka-yoke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Operation excellence: handheld OCR
Source: supplied shopfloor OCR example and mission inspection-time comparisons. Reading a serial drops from 8 to 10 seconds by hand to 1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Operation excellence: hybrid workflow
Data captured on the shopfloor lands in Google Sheets and Drive. An offline Excel record covers gaps, and the administrator reconciles both before the customer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Operation excellence: poka-yoke
Two controls stop bad data at capture, one tells the operator when a box is full, and the administrator reviews before release. Next: the two web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Section: The two apps
The last section moves from the numbers to the tools behind them. Two web apps support the Non-Rayong sites: the Manpower Board for planning people and missions, and the Inventory and Quality System for tools, parts and consumables. Both run in the browser and on a phone. First the Manpower Board, then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two apps
Two internal tools, built for our sites. Same sign-in domain, same look, both installable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Manpower: the daily board
Each card is a person, each column a mission with host, customer, shift and engineer. The tiles on top always add up: assigned plus leave plus standby equals total. The phone shows a forecast day being merged, one clash at a time: keep the carried-over plan or use the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 Manpower: planning ahead
Capacity compares demand per host with the people available. In the example, Wednesday 21/10 needs 40 against 36, so it shows 4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Manpower: what managers see
Overview answers "is everyone placed?" first, then the numbers. Every chart has the exact figures on hover.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Inventory: the system
Rayong and Amata warehouses, one at a time or both. The dashboard opens on what needs attention: out of stock, calibration overdue, returns late, parts aged over 60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 Inventory: consumables
Each item shows what is on hand against its safety stock, one gauge per warehouse, so the short warehouse is named instead of hidden in a total. Predicted run-out and spike flags come from the last 30 days: a spike means at least 1.5 times the usual rate, and the filter shows items that run out within 14 days. Every row has an Add to cart button, and nothing is submitted until check-out. Deliveries are received and counts recorded from the buttons at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 Inventory: the engineer's day
The same flow works for consumables (issue from stock) and customer parts (deliveries in and out). Camera scanning works in Chrome and Edge; a handheld scanner works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 Inventory: customer parts
Parts are tracked by the customer's part number, mission number and responsible engineer. A delivery due today shows on the To-Do list and in the bell until someone confirms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On your phone
New accounts are approved once by an admin. After installing, the app opens full screen from the home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DFE"/>
        </a:solidFill>
      </p:bgPr>
    </p:bg>
    <p:spTree>
      <p:nvGrpSpPr>
        <p:cNvPr id="1" name=""/>
        <p:cNvGrpSpPr/>
        <p:nvPr/>
      </p:nvGrpSpPr>
      <p:grpSpPr>
        <a:xfrm>
          <a:off x="0" y="0"/>
          <a:ext cx="0" cy="0"/>
          <a:chOff x="0" y="0"/>
          <a:chExt cx="0" cy="0"/>
        </a:xfrm>
      </p:grpSpPr>
      <p:pic>
        <p:nvPicPr>
          <p:cNvPr id="2" name="Image 0" descr="Slide: Non-Rayong overview 2026.">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463040"/>
            <a:ext cx="748534"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Jan–Sep 2026</a:t>
            </a:r>
            <a:endParaRPr lang="en-US" sz="720" dirty="0"/>
          </a:p>
        </p:txBody>
      </p:sp>
      <p:sp>
        <p:nvSpPr>
          <p:cNvPr id="4" name="Text 1"/>
          <p:cNvSpPr txBox="1"/>
          <p:nvPr/>
        </p:nvSpPr>
        <p:spPr>
          <a:xfrm>
            <a:off x="457200" y="1828800"/>
            <a:ext cx="4546397" cy="1343041"/>
          </a:xfrm>
          <a:prstGeom prst="rect">
            <a:avLst/>
          </a:prstGeom>
          <a:noFill/>
          <a:ln/>
        </p:spPr>
        <p:txBody>
          <a:bodyPr wrap="square" lIns="0" tIns="0" rIns="0" bIns="0" rtlCol="0" anchor="t"/>
          <a:lstStyle/>
          <a:p>
            <a:pPr algn="l" indent="0" marL="0">
              <a:lnSpc>
                <a:spcPts val="4600"/>
              </a:lnSpc>
              <a:buNone/>
            </a:pPr>
            <a:r>
              <a:rPr lang="en-US" sz="4460" b="1" spc="-223" kern="0" dirty="0">
                <a:solidFill>
                  <a:srgbClr val="FFFFFF"/>
                </a:solidFill>
                <a:latin typeface="Arial" pitchFamily="34" charset="0"/>
                <a:ea typeface="Arial" pitchFamily="34" charset="-122"/>
                <a:cs typeface="Arial" pitchFamily="34" charset="-120"/>
              </a:rPr>
              <a:t>Non-Rayong</a:t>
            </a:r>
            <a:endParaRPr lang="en-US" sz="4460" dirty="0"/>
          </a:p>
          <a:p>
            <a:pPr algn="l" indent="0" marL="0">
              <a:lnSpc>
                <a:spcPts val="4600"/>
              </a:lnSpc>
              <a:buNone/>
            </a:pPr>
            <a:r>
              <a:rPr lang="en-US" sz="4460" b="1" spc="-223" kern="0" dirty="0">
                <a:solidFill>
                  <a:srgbClr val="FFFFFF"/>
                </a:solidFill>
                <a:latin typeface="Arial" pitchFamily="34" charset="0"/>
                <a:ea typeface="Arial" pitchFamily="34" charset="-122"/>
                <a:cs typeface="Arial" pitchFamily="34" charset="-120"/>
              </a:rPr>
              <a:t>overview 2026.</a:t>
            </a:r>
            <a:endParaRPr lang="en-US" sz="4460" dirty="0"/>
          </a:p>
        </p:txBody>
      </p:sp>
      <p:sp>
        <p:nvSpPr>
          <p:cNvPr id="5" name="Text 2"/>
          <p:cNvSpPr txBox="1"/>
          <p:nvPr/>
        </p:nvSpPr>
        <p:spPr>
          <a:xfrm>
            <a:off x="457200" y="3161252"/>
            <a:ext cx="3513125" cy="603504"/>
          </a:xfrm>
          <a:prstGeom prst="rect">
            <a:avLst/>
          </a:prstGeom>
          <a:noFill/>
          <a:ln/>
        </p:spPr>
        <p:txBody>
          <a:bodyPr wrap="square" lIns="0" tIns="0" rIns="0" bIns="0" rtlCol="0" anchor="t"/>
          <a:lstStyle/>
          <a:p>
            <a:pPr algn="l" indent="0" marL="0">
              <a:lnSpc>
                <a:spcPts val="1440"/>
              </a:lnSpc>
              <a:buNone/>
            </a:pPr>
            <a:r>
              <a:rPr lang="en-US" sz="900" dirty="0">
                <a:solidFill>
                  <a:srgbClr val="9DB6D4"/>
                </a:solidFill>
                <a:latin typeface="Arial" pitchFamily="34" charset="0"/>
                <a:ea typeface="Arial" pitchFamily="34" charset="-122"/>
                <a:cs typeface="Arial" pitchFamily="34" charset="-120"/>
              </a:rPr>
              <a:t>Service hours, site mix and customers, then cost</a:t>
            </a:r>
            <a:endParaRPr lang="en-US" sz="900" dirty="0"/>
          </a:p>
          <a:p>
            <a:pPr algn="l" indent="0" marL="0">
              <a:lnSpc>
                <a:spcPts val="1440"/>
              </a:lnSpc>
              <a:buNone/>
            </a:pPr>
            <a:r>
              <a:rPr lang="en-US" sz="900" dirty="0">
                <a:solidFill>
                  <a:srgbClr val="9DB6D4"/>
                </a:solidFill>
                <a:latin typeface="Arial" pitchFamily="34" charset="0"/>
                <a:ea typeface="Arial" pitchFamily="34" charset="-122"/>
                <a:cs typeface="Arial" pitchFamily="34" charset="-120"/>
              </a:rPr>
              <a:t>reduction and operation excellence, across our three non-Rayong</a:t>
            </a:r>
            <a:endParaRPr lang="en-US" sz="900" dirty="0"/>
          </a:p>
          <a:p>
            <a:pPr algn="l" indent="0" marL="0">
              <a:lnSpc>
                <a:spcPts val="1440"/>
              </a:lnSpc>
              <a:buNone/>
            </a:pPr>
            <a:r>
              <a:rPr lang="en-US" sz="900" dirty="0">
                <a:solidFill>
                  <a:srgbClr val="9DB6D4"/>
                </a:solidFill>
                <a:latin typeface="Arial" pitchFamily="34" charset="0"/>
                <a:ea typeface="Arial" pitchFamily="34" charset="-122"/>
                <a:cs typeface="Arial" pitchFamily="34" charset="-120"/>
              </a:rPr>
              <a:t>sites.</a:t>
            </a:r>
            <a:endParaRPr lang="en-US" sz="900" dirty="0"/>
          </a:p>
        </p:txBody>
      </p:sp>
      <p:sp>
        <p:nvSpPr>
          <p:cNvPr id="6" name="Text 3"/>
          <p:cNvSpPr txBox="1"/>
          <p:nvPr/>
        </p:nvSpPr>
        <p:spPr>
          <a:xfrm>
            <a:off x="708660" y="4023360"/>
            <a:ext cx="355673"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LCBTH</a:t>
            </a:r>
            <a:endParaRPr lang="en-US" sz="790" dirty="0"/>
          </a:p>
        </p:txBody>
      </p:sp>
      <p:sp>
        <p:nvSpPr>
          <p:cNvPr id="7" name="Text 4"/>
          <p:cNvSpPr txBox="1"/>
          <p:nvPr/>
        </p:nvSpPr>
        <p:spPr>
          <a:xfrm>
            <a:off x="1467755" y="4023360"/>
            <a:ext cx="388694"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BANGN</a:t>
            </a:r>
            <a:endParaRPr lang="en-US" sz="790" dirty="0"/>
          </a:p>
        </p:txBody>
      </p:sp>
      <p:sp>
        <p:nvSpPr>
          <p:cNvPr id="8" name="Text 5"/>
          <p:cNvSpPr txBox="1"/>
          <p:nvPr/>
        </p:nvSpPr>
        <p:spPr>
          <a:xfrm>
            <a:off x="2257425" y="4023360"/>
            <a:ext cx="381288"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AMATA</a:t>
            </a:r>
            <a:endParaRPr lang="en-US" sz="790" dirty="0"/>
          </a:p>
        </p:txBody>
      </p:sp>
      <p:sp>
        <p:nvSpPr>
          <p:cNvPr id="9" name="Text 6"/>
          <p:cNvSpPr txBox="1"/>
          <p:nvPr/>
        </p:nvSpPr>
        <p:spPr>
          <a:xfrm>
            <a:off x="457200" y="4709732"/>
            <a:ext cx="1507714" cy="165712"/>
          </a:xfrm>
          <a:prstGeom prst="rect">
            <a:avLst/>
          </a:prstGeom>
          <a:noFill/>
          <a:ln/>
        </p:spPr>
        <p:txBody>
          <a:bodyPr wrap="none" lIns="0" tIns="0" rIns="0" bIns="0" rtlCol="0" anchor="t"/>
          <a:lstStyle/>
          <a:p>
            <a:pPr algn="l" indent="0" marL="0">
              <a:lnSpc>
                <a:spcPts val="1000"/>
              </a:lnSpc>
              <a:buNone/>
            </a:pPr>
            <a:r>
              <a:rPr lang="en-US" sz="650" spc="26" kern="0" dirty="0">
                <a:solidFill>
                  <a:srgbClr val="6F8FB5"/>
                </a:solidFill>
                <a:latin typeface="Arial" pitchFamily="34" charset="0"/>
                <a:ea typeface="Arial" pitchFamily="34" charset="-122"/>
                <a:cs typeface="Arial" pitchFamily="34" charset="-120"/>
              </a:rPr>
              <a:t>TRIGO Quality Services (Thailand)</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DFE"/>
        </a:solidFill>
      </p:bgPr>
    </p:bg>
    <p:spTree>
      <p:nvGrpSpPr>
        <p:cNvPr id="1" name=""/>
        <p:cNvGrpSpPr/>
        <p:nvPr/>
      </p:nvGrpSpPr>
      <p:grpSpPr>
        <a:xfrm>
          <a:off x="0" y="0"/>
          <a:ext cx="0" cy="0"/>
          <a:chOff x="0" y="0"/>
          <a:chExt cx="0" cy="0"/>
        </a:xfrm>
      </p:grpSpPr>
      <p:pic>
        <p:nvPicPr>
          <p:cNvPr id="2" name="Image 0" descr="Slide: September set a record after the April dip.">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875064"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01 · Performance</a:t>
            </a:r>
            <a:endParaRPr lang="en-US" sz="720" dirty="0"/>
          </a:p>
        </p:txBody>
      </p:sp>
      <p:sp>
        <p:nvSpPr>
          <p:cNvPr id="4" name="Text 1"/>
          <p:cNvSpPr txBox="1"/>
          <p:nvPr/>
        </p:nvSpPr>
        <p:spPr>
          <a:xfrm>
            <a:off x="457200" y="1252728"/>
            <a:ext cx="5700181"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September set a record after the April dip.</a:t>
            </a:r>
            <a:endParaRPr lang="en-US" sz="2380" dirty="0"/>
          </a:p>
        </p:txBody>
      </p:sp>
      <p:sp>
        <p:nvSpPr>
          <p:cNvPr id="5" name="Text 2"/>
          <p:cNvSpPr txBox="1"/>
          <p:nvPr/>
        </p:nvSpPr>
        <p:spPr>
          <a:xfrm>
            <a:off x="621792" y="1929384"/>
            <a:ext cx="1545519" cy="211775"/>
          </a:xfrm>
          <a:prstGeom prst="rect">
            <a:avLst/>
          </a:prstGeom>
          <a:noFill/>
          <a:ln/>
        </p:spPr>
        <p:txBody>
          <a:bodyPr wrap="none" lIns="0" tIns="0" rIns="0" bIns="0" rtlCol="0" anchor="t"/>
          <a:lstStyle/>
          <a:p>
            <a:pPr algn="l" indent="0" marL="0">
              <a:lnSpc>
                <a:spcPts val="1280"/>
              </a:lnSpc>
              <a:buNone/>
            </a:pPr>
            <a:r>
              <a:rPr lang="en-US" sz="830" b="1" dirty="0">
                <a:solidFill>
                  <a:srgbClr val="071A33"/>
                </a:solidFill>
                <a:latin typeface="Arial" pitchFamily="34" charset="0"/>
                <a:ea typeface="Arial" pitchFamily="34" charset="-122"/>
                <a:cs typeface="Arial" pitchFamily="34" charset="-120"/>
              </a:rPr>
              <a:t>Monthly service hours by site</a:t>
            </a:r>
            <a:endParaRPr lang="en-US" sz="830" dirty="0"/>
          </a:p>
        </p:txBody>
      </p:sp>
      <p:sp>
        <p:nvSpPr>
          <p:cNvPr id="6" name="Text 3"/>
          <p:cNvSpPr txBox="1"/>
          <p:nvPr/>
        </p:nvSpPr>
        <p:spPr>
          <a:xfrm>
            <a:off x="3956066" y="1939957"/>
            <a:ext cx="321880"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LCBTH</a:t>
            </a:r>
            <a:endParaRPr lang="en-US" sz="720" dirty="0"/>
          </a:p>
        </p:txBody>
      </p:sp>
      <p:sp>
        <p:nvSpPr>
          <p:cNvPr id="7" name="Text 4"/>
          <p:cNvSpPr txBox="1"/>
          <p:nvPr/>
        </p:nvSpPr>
        <p:spPr>
          <a:xfrm>
            <a:off x="4510135" y="1939957"/>
            <a:ext cx="354130"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BANGN</a:t>
            </a:r>
            <a:endParaRPr lang="en-US" sz="720" dirty="0"/>
          </a:p>
        </p:txBody>
      </p:sp>
      <p:sp>
        <p:nvSpPr>
          <p:cNvPr id="8" name="Text 5"/>
          <p:cNvSpPr txBox="1"/>
          <p:nvPr/>
        </p:nvSpPr>
        <p:spPr>
          <a:xfrm>
            <a:off x="5094065" y="1939957"/>
            <a:ext cx="344717"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AMATA</a:t>
            </a:r>
            <a:endParaRPr lang="en-US" sz="720" dirty="0"/>
          </a:p>
        </p:txBody>
      </p:sp>
      <p:sp>
        <p:nvSpPr>
          <p:cNvPr id="9" name="Text 6"/>
          <p:cNvSpPr txBox="1"/>
          <p:nvPr/>
        </p:nvSpPr>
        <p:spPr>
          <a:xfrm>
            <a:off x="5925312" y="1874520"/>
            <a:ext cx="2804648" cy="356616"/>
          </a:xfrm>
          <a:prstGeom prst="rect">
            <a:avLst/>
          </a:prstGeom>
          <a:noFill/>
          <a:ln/>
        </p:spPr>
        <p:txBody>
          <a:bodyPr wrap="none" lIns="0" tIns="0" rIns="0" bIns="0" rtlCol="0" anchor="t"/>
          <a:lstStyle/>
          <a:p>
            <a:pPr algn="l" indent="0" marL="0">
              <a:lnSpc>
                <a:spcPts val="2160"/>
              </a:lnSpc>
              <a:buNone/>
            </a:pPr>
            <a:r>
              <a:rPr lang="en-US" sz="2160" b="1" spc="-108" kern="0" dirty="0">
                <a:solidFill>
                  <a:srgbClr val="1A62D6"/>
                </a:solidFill>
                <a:latin typeface="Arial" pitchFamily="34" charset="0"/>
                <a:ea typeface="Arial" pitchFamily="34" charset="-122"/>
                <a:cs typeface="Arial" pitchFamily="34" charset="-120"/>
              </a:rPr>
              <a:t>−19%</a:t>
            </a:r>
            <a:endParaRPr lang="en-US" sz="2160" dirty="0"/>
          </a:p>
        </p:txBody>
      </p:sp>
      <p:sp>
        <p:nvSpPr>
          <p:cNvPr id="10" name="Text 7"/>
          <p:cNvSpPr txBox="1"/>
          <p:nvPr/>
        </p:nvSpPr>
        <p:spPr>
          <a:xfrm>
            <a:off x="5925312" y="2194560"/>
            <a:ext cx="2804648"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Apr low vs Mar, 25,440 h; LCBTH −29%</a:t>
            </a:r>
            <a:endParaRPr lang="en-US" sz="720" dirty="0"/>
          </a:p>
        </p:txBody>
      </p:sp>
      <p:sp>
        <p:nvSpPr>
          <p:cNvPr id="11" name="Text 8"/>
          <p:cNvSpPr txBox="1"/>
          <p:nvPr/>
        </p:nvSpPr>
        <p:spPr>
          <a:xfrm>
            <a:off x="5925312" y="2610612"/>
            <a:ext cx="2804648" cy="356616"/>
          </a:xfrm>
          <a:prstGeom prst="rect">
            <a:avLst/>
          </a:prstGeom>
          <a:noFill/>
          <a:ln/>
        </p:spPr>
        <p:txBody>
          <a:bodyPr wrap="none" lIns="0" tIns="0" rIns="0" bIns="0" rtlCol="0" anchor="t"/>
          <a:lstStyle/>
          <a:p>
            <a:pPr algn="l" indent="0" marL="0">
              <a:lnSpc>
                <a:spcPts val="2160"/>
              </a:lnSpc>
              <a:buNone/>
            </a:pPr>
            <a:r>
              <a:rPr lang="en-US" sz="2160" b="1" spc="-108" kern="0" dirty="0">
                <a:solidFill>
                  <a:srgbClr val="1A62D6"/>
                </a:solidFill>
                <a:latin typeface="Arial" pitchFamily="34" charset="0"/>
                <a:ea typeface="Arial" pitchFamily="34" charset="-122"/>
                <a:cs typeface="Arial" pitchFamily="34" charset="-120"/>
              </a:rPr>
              <a:t>+44%</a:t>
            </a:r>
            <a:endParaRPr lang="en-US" sz="2160" dirty="0"/>
          </a:p>
        </p:txBody>
      </p:sp>
      <p:sp>
        <p:nvSpPr>
          <p:cNvPr id="12" name="Text 9"/>
          <p:cNvSpPr txBox="1"/>
          <p:nvPr/>
        </p:nvSpPr>
        <p:spPr>
          <a:xfrm>
            <a:off x="5925312" y="2930652"/>
            <a:ext cx="2804648"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Apr to Sep: 25,440 h to a record 36,653 h</a:t>
            </a:r>
            <a:endParaRPr lang="en-US" sz="720" dirty="0"/>
          </a:p>
        </p:txBody>
      </p:sp>
      <p:sp>
        <p:nvSpPr>
          <p:cNvPr id="13" name="Text 10"/>
          <p:cNvSpPr txBox="1"/>
          <p:nvPr/>
        </p:nvSpPr>
        <p:spPr>
          <a:xfrm>
            <a:off x="5925312" y="3346704"/>
            <a:ext cx="2804648" cy="356616"/>
          </a:xfrm>
          <a:prstGeom prst="rect">
            <a:avLst/>
          </a:prstGeom>
          <a:noFill/>
          <a:ln/>
        </p:spPr>
        <p:txBody>
          <a:bodyPr wrap="none" lIns="0" tIns="0" rIns="0" bIns="0" rtlCol="0" anchor="t"/>
          <a:lstStyle/>
          <a:p>
            <a:pPr algn="l" indent="0" marL="0">
              <a:lnSpc>
                <a:spcPts val="2160"/>
              </a:lnSpc>
              <a:buNone/>
            </a:pPr>
            <a:r>
              <a:rPr lang="en-US" sz="2160" b="1" spc="-108" kern="0" dirty="0">
                <a:solidFill>
                  <a:srgbClr val="9CCBFF"/>
                </a:solidFill>
                <a:latin typeface="Arial" pitchFamily="34" charset="0"/>
                <a:ea typeface="Arial" pitchFamily="34" charset="-122"/>
                <a:cs typeface="Arial" pitchFamily="34" charset="-120"/>
              </a:rPr>
              <a:t>176</a:t>
            </a:r>
            <a:endParaRPr lang="en-US" sz="2160" dirty="0"/>
          </a:p>
        </p:txBody>
      </p:sp>
      <p:sp>
        <p:nvSpPr>
          <p:cNvPr id="14" name="Text 11"/>
          <p:cNvSpPr txBox="1"/>
          <p:nvPr/>
        </p:nvSpPr>
        <p:spPr>
          <a:xfrm>
            <a:off x="5925312" y="3666744"/>
            <a:ext cx="2804648" cy="160477"/>
          </a:xfrm>
          <a:prstGeom prst="rect">
            <a:avLst/>
          </a:prstGeom>
          <a:noFill/>
          <a:ln/>
        </p:spPr>
        <p:txBody>
          <a:bodyPr wrap="none" lIns="0" tIns="0" rIns="0" bIns="0" rtlCol="0" anchor="t"/>
          <a:lstStyle/>
          <a:p>
            <a:pPr algn="l" indent="0" marL="0">
              <a:lnSpc>
                <a:spcPts val="970"/>
              </a:lnSpc>
              <a:buNone/>
            </a:pPr>
            <a:r>
              <a:rPr lang="en-US" sz="720" dirty="0">
                <a:solidFill>
                  <a:srgbClr val="9DB6D4"/>
                </a:solidFill>
                <a:latin typeface="Arial" pitchFamily="34" charset="0"/>
                <a:ea typeface="Arial" pitchFamily="34" charset="-122"/>
                <a:cs typeface="Arial" pitchFamily="34" charset="-120"/>
              </a:rPr>
              <a:t>FTE in Sep vs 141 Jan–Aug avg</a:t>
            </a:r>
            <a:endParaRPr lang="en-US" sz="720" dirty="0"/>
          </a:p>
        </p:txBody>
      </p:sp>
      <p:sp>
        <p:nvSpPr>
          <p:cNvPr id="15" name="Text 12"/>
          <p:cNvSpPr txBox="1"/>
          <p:nvPr/>
        </p:nvSpPr>
        <p:spPr>
          <a:xfrm>
            <a:off x="5925312" y="4073652"/>
            <a:ext cx="2804648"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Quarterly service hours</a:t>
            </a:r>
            <a:endParaRPr lang="en-US" sz="720" dirty="0"/>
          </a:p>
        </p:txBody>
      </p:sp>
      <p:sp>
        <p:nvSpPr>
          <p:cNvPr id="16" name="Text 13"/>
          <p:cNvSpPr txBox="1"/>
          <p:nvPr/>
        </p:nvSpPr>
        <p:spPr>
          <a:xfrm>
            <a:off x="5925312" y="4288536"/>
            <a:ext cx="237012"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Q1</a:t>
            </a:r>
            <a:endParaRPr lang="en-US" sz="720" dirty="0"/>
          </a:p>
        </p:txBody>
      </p:sp>
      <p:sp>
        <p:nvSpPr>
          <p:cNvPr id="17" name="Text 14"/>
          <p:cNvSpPr txBox="1"/>
          <p:nvPr/>
        </p:nvSpPr>
        <p:spPr>
          <a:xfrm>
            <a:off x="7973568" y="4288536"/>
            <a:ext cx="59253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88.0K h</a:t>
            </a:r>
            <a:endParaRPr lang="en-US" sz="720" dirty="0"/>
          </a:p>
        </p:txBody>
      </p:sp>
      <p:sp>
        <p:nvSpPr>
          <p:cNvPr id="18" name="Text 15"/>
          <p:cNvSpPr txBox="1"/>
          <p:nvPr/>
        </p:nvSpPr>
        <p:spPr>
          <a:xfrm>
            <a:off x="5925312" y="4485132"/>
            <a:ext cx="237012"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Q2</a:t>
            </a:r>
            <a:endParaRPr lang="en-US" sz="720" dirty="0"/>
          </a:p>
        </p:txBody>
      </p:sp>
      <p:sp>
        <p:nvSpPr>
          <p:cNvPr id="19" name="Text 16"/>
          <p:cNvSpPr txBox="1"/>
          <p:nvPr/>
        </p:nvSpPr>
        <p:spPr>
          <a:xfrm>
            <a:off x="7973568" y="4485132"/>
            <a:ext cx="59253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82.7K h</a:t>
            </a:r>
            <a:endParaRPr lang="en-US" sz="720" dirty="0"/>
          </a:p>
        </p:txBody>
      </p:sp>
      <p:sp>
        <p:nvSpPr>
          <p:cNvPr id="20" name="Text 17"/>
          <p:cNvSpPr txBox="1"/>
          <p:nvPr/>
        </p:nvSpPr>
        <p:spPr>
          <a:xfrm>
            <a:off x="5925312" y="4681728"/>
            <a:ext cx="237012" cy="184252"/>
          </a:xfrm>
          <a:prstGeom prst="rect">
            <a:avLst/>
          </a:prstGeom>
          <a:noFill/>
          <a:ln/>
        </p:spPr>
        <p:txBody>
          <a:bodyPr wrap="none" lIns="0" tIns="0" rIns="0" bIns="0" rtlCol="0" anchor="t"/>
          <a:lstStyle/>
          <a:p>
            <a:pPr algn="l" indent="0" marL="0">
              <a:lnSpc>
                <a:spcPts val="1120"/>
              </a:lnSpc>
              <a:buNone/>
            </a:pPr>
            <a:r>
              <a:rPr lang="en-US" sz="720" b="1" dirty="0">
                <a:solidFill>
                  <a:srgbClr val="071A33"/>
                </a:solidFill>
                <a:latin typeface="Arial" pitchFamily="34" charset="0"/>
                <a:ea typeface="Arial" pitchFamily="34" charset="-122"/>
                <a:cs typeface="Arial" pitchFamily="34" charset="-120"/>
              </a:rPr>
              <a:t>Q3</a:t>
            </a:r>
            <a:endParaRPr lang="en-US" sz="720" dirty="0"/>
          </a:p>
        </p:txBody>
      </p:sp>
      <p:sp>
        <p:nvSpPr>
          <p:cNvPr id="21" name="Text 18"/>
          <p:cNvSpPr txBox="1"/>
          <p:nvPr/>
        </p:nvSpPr>
        <p:spPr>
          <a:xfrm>
            <a:off x="7973568" y="4681728"/>
            <a:ext cx="592531" cy="184252"/>
          </a:xfrm>
          <a:prstGeom prst="rect">
            <a:avLst/>
          </a:prstGeom>
          <a:noFill/>
          <a:ln/>
        </p:spPr>
        <p:txBody>
          <a:bodyPr wrap="none" lIns="0" tIns="0" rIns="0" bIns="0" rtlCol="0" anchor="t"/>
          <a:lstStyle/>
          <a:p>
            <a:pPr algn="l" indent="0" marL="0">
              <a:lnSpc>
                <a:spcPts val="1120"/>
              </a:lnSpc>
              <a:buNone/>
            </a:pPr>
            <a:r>
              <a:rPr lang="en-US" sz="720" b="1" dirty="0">
                <a:solidFill>
                  <a:srgbClr val="071A33"/>
                </a:solidFill>
                <a:latin typeface="Arial" pitchFamily="34" charset="0"/>
                <a:ea typeface="Arial" pitchFamily="34" charset="-122"/>
                <a:cs typeface="Arial" pitchFamily="34" charset="-120"/>
              </a:rPr>
              <a:t>100.9K h</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DFE"/>
        </a:solidFill>
      </p:bgPr>
    </p:bg>
    <p:spTree>
      <p:nvGrpSpPr>
        <p:cNvPr id="1" name=""/>
        <p:cNvGrpSpPr/>
        <p:nvPr/>
      </p:nvGrpSpPr>
      <p:grpSpPr>
        <a:xfrm>
          <a:off x="0" y="0"/>
          <a:ext cx="0" cy="0"/>
          <a:chOff x="0" y="0"/>
          <a:chExt cx="0" cy="0"/>
        </a:xfrm>
      </p:grpSpPr>
      <p:pic>
        <p:nvPicPr>
          <p:cNvPr id="2" name="Image 0" descr="Slide: LCBTH leads hours; BANGN leads missions.">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1338596"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01 · Site mix · Jan–Sep 2026</a:t>
            </a:r>
            <a:endParaRPr lang="en-US" sz="720" dirty="0"/>
          </a:p>
        </p:txBody>
      </p:sp>
      <p:sp>
        <p:nvSpPr>
          <p:cNvPr id="4" name="Text 1"/>
          <p:cNvSpPr txBox="1"/>
          <p:nvPr/>
        </p:nvSpPr>
        <p:spPr>
          <a:xfrm>
            <a:off x="457200" y="1252728"/>
            <a:ext cx="5920220"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LCBTH leads hours; BANGN leads missions.</a:t>
            </a:r>
            <a:endParaRPr lang="en-US" sz="2380" dirty="0"/>
          </a:p>
        </p:txBody>
      </p:sp>
      <p:sp>
        <p:nvSpPr>
          <p:cNvPr id="5" name="Text 2"/>
          <p:cNvSpPr txBox="1"/>
          <p:nvPr/>
        </p:nvSpPr>
        <p:spPr>
          <a:xfrm>
            <a:off x="558150" y="2553462"/>
            <a:ext cx="1718340" cy="309067"/>
          </a:xfrm>
          <a:prstGeom prst="rect">
            <a:avLst/>
          </a:prstGeom>
          <a:noFill/>
          <a:ln/>
        </p:spPr>
        <p:txBody>
          <a:bodyPr wrap="none" lIns="0" tIns="0" rIns="0" bIns="0" rtlCol="0" anchor="t"/>
          <a:lstStyle/>
          <a:p>
            <a:pPr algn="ctr" indent="0" marL="0">
              <a:lnSpc>
                <a:spcPts val="1870"/>
              </a:lnSpc>
              <a:buNone/>
            </a:pPr>
            <a:r>
              <a:rPr lang="en-US" sz="1870" b="1" spc="-75" kern="0" dirty="0">
                <a:solidFill>
                  <a:srgbClr val="071A33"/>
                </a:solidFill>
                <a:latin typeface="Arial" pitchFamily="34" charset="0"/>
                <a:ea typeface="Arial" pitchFamily="34" charset="-122"/>
                <a:cs typeface="Arial" pitchFamily="34" charset="-120"/>
              </a:rPr>
              <a:t>271.7k</a:t>
            </a:r>
            <a:endParaRPr lang="en-US" sz="1870" dirty="0"/>
          </a:p>
        </p:txBody>
      </p:sp>
      <p:sp>
        <p:nvSpPr>
          <p:cNvPr id="6" name="Text 3"/>
          <p:cNvSpPr txBox="1"/>
          <p:nvPr/>
        </p:nvSpPr>
        <p:spPr>
          <a:xfrm>
            <a:off x="558150" y="2791206"/>
            <a:ext cx="1718340" cy="184252"/>
          </a:xfrm>
          <a:prstGeom prst="rect">
            <a:avLst/>
          </a:prstGeom>
          <a:noFill/>
          <a:ln/>
        </p:spPr>
        <p:txBody>
          <a:bodyPr wrap="none" lIns="0" tIns="0" rIns="0" bIns="0" rtlCol="0" anchor="t"/>
          <a:lstStyle/>
          <a:p>
            <a:pPr algn="ctr" indent="0" marL="0">
              <a:lnSpc>
                <a:spcPts val="1120"/>
              </a:lnSpc>
              <a:buNone/>
            </a:pPr>
            <a:r>
              <a:rPr lang="en-US" sz="720" dirty="0">
                <a:solidFill>
                  <a:srgbClr val="4D6585"/>
                </a:solidFill>
                <a:latin typeface="Arial" pitchFamily="34" charset="0"/>
                <a:ea typeface="Arial" pitchFamily="34" charset="-122"/>
                <a:cs typeface="Arial" pitchFamily="34" charset="-120"/>
              </a:rPr>
              <a:t>service hrs</a:t>
            </a:r>
            <a:endParaRPr lang="en-US" sz="720" dirty="0"/>
          </a:p>
        </p:txBody>
      </p:sp>
      <p:sp>
        <p:nvSpPr>
          <p:cNvPr id="7" name="Text 4"/>
          <p:cNvSpPr txBox="1"/>
          <p:nvPr/>
        </p:nvSpPr>
        <p:spPr>
          <a:xfrm>
            <a:off x="777240" y="3666744"/>
            <a:ext cx="1192315" cy="193378"/>
          </a:xfrm>
          <a:prstGeom prst="rect">
            <a:avLst/>
          </a:prstGeom>
          <a:noFill/>
          <a:ln/>
        </p:spPr>
        <p:txBody>
          <a:bodyPr wrap="none" lIns="0" tIns="0" rIns="0" bIns="0" rtlCol="0" anchor="t"/>
          <a:lstStyle/>
          <a:p>
            <a:pPr algn="l" indent="0" marL="0">
              <a:lnSpc>
                <a:spcPts val="1170"/>
              </a:lnSpc>
              <a:buNone/>
            </a:pPr>
            <a:r>
              <a:rPr lang="en-US" sz="760" dirty="0">
                <a:solidFill>
                  <a:srgbClr val="071A33"/>
                </a:solidFill>
                <a:latin typeface="Arial" pitchFamily="34" charset="0"/>
                <a:ea typeface="Arial" pitchFamily="34" charset="-122"/>
                <a:cs typeface="Arial" pitchFamily="34" charset="-120"/>
              </a:rPr>
              <a:t>LCBTH</a:t>
            </a:r>
            <a:endParaRPr lang="en-US" sz="760" dirty="0"/>
          </a:p>
        </p:txBody>
      </p:sp>
      <p:sp>
        <p:nvSpPr>
          <p:cNvPr id="8" name="Text 5"/>
          <p:cNvSpPr txBox="1"/>
          <p:nvPr/>
        </p:nvSpPr>
        <p:spPr>
          <a:xfrm>
            <a:off x="1945243" y="3666744"/>
            <a:ext cx="289013"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69.5%</a:t>
            </a:r>
            <a:endParaRPr lang="en-US" sz="760" dirty="0"/>
          </a:p>
        </p:txBody>
      </p:sp>
      <p:sp>
        <p:nvSpPr>
          <p:cNvPr id="9" name="Text 6"/>
          <p:cNvSpPr txBox="1"/>
          <p:nvPr/>
        </p:nvSpPr>
        <p:spPr>
          <a:xfrm>
            <a:off x="777240" y="3879485"/>
            <a:ext cx="1182748" cy="193378"/>
          </a:xfrm>
          <a:prstGeom prst="rect">
            <a:avLst/>
          </a:prstGeom>
          <a:noFill/>
          <a:ln/>
        </p:spPr>
        <p:txBody>
          <a:bodyPr wrap="none" lIns="0" tIns="0" rIns="0" bIns="0" rtlCol="0" anchor="t"/>
          <a:lstStyle/>
          <a:p>
            <a:pPr algn="l" indent="0" marL="0">
              <a:lnSpc>
                <a:spcPts val="1170"/>
              </a:lnSpc>
              <a:buNone/>
            </a:pPr>
            <a:r>
              <a:rPr lang="en-US" sz="760" dirty="0">
                <a:solidFill>
                  <a:srgbClr val="071A33"/>
                </a:solidFill>
                <a:latin typeface="Arial" pitchFamily="34" charset="0"/>
                <a:ea typeface="Arial" pitchFamily="34" charset="-122"/>
                <a:cs typeface="Arial" pitchFamily="34" charset="-120"/>
              </a:rPr>
              <a:t>BANGN</a:t>
            </a:r>
            <a:endParaRPr lang="en-US" sz="760" dirty="0"/>
          </a:p>
        </p:txBody>
      </p:sp>
      <p:sp>
        <p:nvSpPr>
          <p:cNvPr id="10" name="Text 7"/>
          <p:cNvSpPr txBox="1"/>
          <p:nvPr/>
        </p:nvSpPr>
        <p:spPr>
          <a:xfrm>
            <a:off x="1936385" y="3879485"/>
            <a:ext cx="298580"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20.0%</a:t>
            </a:r>
            <a:endParaRPr lang="en-US" sz="760" dirty="0"/>
          </a:p>
        </p:txBody>
      </p:sp>
      <p:sp>
        <p:nvSpPr>
          <p:cNvPr id="11" name="Text 8"/>
          <p:cNvSpPr txBox="1"/>
          <p:nvPr/>
        </p:nvSpPr>
        <p:spPr>
          <a:xfrm>
            <a:off x="777240" y="4092226"/>
            <a:ext cx="1207128" cy="193378"/>
          </a:xfrm>
          <a:prstGeom prst="rect">
            <a:avLst/>
          </a:prstGeom>
          <a:noFill/>
          <a:ln/>
        </p:spPr>
        <p:txBody>
          <a:bodyPr wrap="none" lIns="0" tIns="0" rIns="0" bIns="0" rtlCol="0" anchor="t"/>
          <a:lstStyle/>
          <a:p>
            <a:pPr algn="l" indent="0" marL="0">
              <a:lnSpc>
                <a:spcPts val="1170"/>
              </a:lnSpc>
              <a:buNone/>
            </a:pPr>
            <a:r>
              <a:rPr lang="en-US" sz="760" dirty="0">
                <a:solidFill>
                  <a:srgbClr val="071A33"/>
                </a:solidFill>
                <a:latin typeface="Arial" pitchFamily="34" charset="0"/>
                <a:ea typeface="Arial" pitchFamily="34" charset="-122"/>
                <a:cs typeface="Arial" pitchFamily="34" charset="-120"/>
              </a:rPr>
              <a:t>AMATA</a:t>
            </a:r>
            <a:endParaRPr lang="en-US" sz="760" dirty="0"/>
          </a:p>
        </p:txBody>
      </p:sp>
      <p:sp>
        <p:nvSpPr>
          <p:cNvPr id="12" name="Text 9"/>
          <p:cNvSpPr txBox="1"/>
          <p:nvPr/>
        </p:nvSpPr>
        <p:spPr>
          <a:xfrm>
            <a:off x="1958959" y="4092226"/>
            <a:ext cx="274200"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10.6%</a:t>
            </a:r>
            <a:endParaRPr lang="en-US" sz="760" dirty="0"/>
          </a:p>
        </p:txBody>
      </p:sp>
      <p:sp>
        <p:nvSpPr>
          <p:cNvPr id="13" name="Text 10"/>
          <p:cNvSpPr txBox="1"/>
          <p:nvPr/>
        </p:nvSpPr>
        <p:spPr>
          <a:xfrm>
            <a:off x="2871216" y="1901952"/>
            <a:ext cx="432208" cy="230315"/>
          </a:xfrm>
          <a:prstGeom prst="rect">
            <a:avLst/>
          </a:prstGeom>
          <a:noFill/>
          <a:ln/>
        </p:spPr>
        <p:txBody>
          <a:bodyPr wrap="none" lIns="0" tIns="0" rIns="0" bIns="0" rtlCol="0" anchor="t"/>
          <a:lstStyle/>
          <a:p>
            <a:pPr algn="l" indent="0" marL="0">
              <a:lnSpc>
                <a:spcPts val="1390"/>
              </a:lnSpc>
              <a:buNone/>
            </a:pPr>
            <a:r>
              <a:rPr lang="en-US" sz="900" b="1" spc="36" kern="0" dirty="0">
                <a:solidFill>
                  <a:srgbClr val="071A33"/>
                </a:solidFill>
                <a:latin typeface="Arial" pitchFamily="34" charset="0"/>
                <a:ea typeface="Arial" pitchFamily="34" charset="-122"/>
                <a:cs typeface="Arial" pitchFamily="34" charset="-120"/>
              </a:rPr>
              <a:t>LCBTH</a:t>
            </a:r>
            <a:endParaRPr lang="en-US" sz="900" dirty="0"/>
          </a:p>
        </p:txBody>
      </p:sp>
      <p:sp>
        <p:nvSpPr>
          <p:cNvPr id="14" name="Text 11"/>
          <p:cNvSpPr txBox="1"/>
          <p:nvPr/>
        </p:nvSpPr>
        <p:spPr>
          <a:xfrm>
            <a:off x="2734056" y="2178701"/>
            <a:ext cx="59978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Service hours</a:t>
            </a:r>
            <a:endParaRPr lang="en-US" sz="710" dirty="0"/>
          </a:p>
        </p:txBody>
      </p:sp>
      <p:sp>
        <p:nvSpPr>
          <p:cNvPr id="15" name="Text 12"/>
          <p:cNvSpPr txBox="1"/>
          <p:nvPr/>
        </p:nvSpPr>
        <p:spPr>
          <a:xfrm>
            <a:off x="4027075" y="2178701"/>
            <a:ext cx="341631" cy="180401"/>
          </a:xfrm>
          <a:prstGeom prst="rect">
            <a:avLst/>
          </a:prstGeom>
          <a:noFill/>
          <a:ln/>
        </p:spPr>
        <p:txBody>
          <a:bodyPr wrap="none" lIns="0" tIns="0" rIns="0" bIns="0" rtlCol="0" anchor="t"/>
          <a:lstStyle/>
          <a:p>
            <a:pPr algn="l" indent="0" marL="0">
              <a:lnSpc>
                <a:spcPts val="1090"/>
              </a:lnSpc>
              <a:buNone/>
            </a:pPr>
            <a:r>
              <a:rPr lang="en-US" sz="710" b="1" dirty="0">
                <a:solidFill>
                  <a:srgbClr val="0B4FBF"/>
                </a:solidFill>
                <a:latin typeface="Arial" pitchFamily="34" charset="0"/>
                <a:ea typeface="Arial" pitchFamily="34" charset="-122"/>
                <a:cs typeface="Arial" pitchFamily="34" charset="-120"/>
              </a:rPr>
              <a:t>188,739</a:t>
            </a:r>
            <a:endParaRPr lang="en-US" sz="710" dirty="0"/>
          </a:p>
        </p:txBody>
      </p:sp>
      <p:sp>
        <p:nvSpPr>
          <p:cNvPr id="16" name="Text 13"/>
          <p:cNvSpPr txBox="1"/>
          <p:nvPr/>
        </p:nvSpPr>
        <p:spPr>
          <a:xfrm>
            <a:off x="2734056" y="2393156"/>
            <a:ext cx="638205"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Share of hours</a:t>
            </a:r>
            <a:endParaRPr lang="en-US" sz="710" dirty="0"/>
          </a:p>
        </p:txBody>
      </p:sp>
      <p:sp>
        <p:nvSpPr>
          <p:cNvPr id="17" name="Text 14"/>
          <p:cNvSpPr txBox="1"/>
          <p:nvPr/>
        </p:nvSpPr>
        <p:spPr>
          <a:xfrm>
            <a:off x="4093797" y="2393156"/>
            <a:ext cx="269571"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69.5%</a:t>
            </a:r>
            <a:endParaRPr lang="en-US" sz="710" dirty="0"/>
          </a:p>
        </p:txBody>
      </p:sp>
      <p:sp>
        <p:nvSpPr>
          <p:cNvPr id="18" name="Text 15"/>
          <p:cNvSpPr txBox="1"/>
          <p:nvPr/>
        </p:nvSpPr>
        <p:spPr>
          <a:xfrm>
            <a:off x="2734056" y="2607612"/>
            <a:ext cx="489301"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Customers</a:t>
            </a:r>
            <a:endParaRPr lang="en-US" sz="710" dirty="0"/>
          </a:p>
        </p:txBody>
      </p:sp>
      <p:sp>
        <p:nvSpPr>
          <p:cNvPr id="19" name="Text 16"/>
          <p:cNvSpPr txBox="1"/>
          <p:nvPr/>
        </p:nvSpPr>
        <p:spPr>
          <a:xfrm>
            <a:off x="4231958" y="2607612"/>
            <a:ext cx="120358"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20</a:t>
            </a:r>
            <a:endParaRPr lang="en-US" sz="710" dirty="0"/>
          </a:p>
        </p:txBody>
      </p:sp>
      <p:sp>
        <p:nvSpPr>
          <p:cNvPr id="20" name="Text 17"/>
          <p:cNvSpPr txBox="1"/>
          <p:nvPr/>
        </p:nvSpPr>
        <p:spPr>
          <a:xfrm>
            <a:off x="2734056" y="2822067"/>
            <a:ext cx="387306"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Missions</a:t>
            </a:r>
            <a:endParaRPr lang="en-US" sz="710" dirty="0"/>
          </a:p>
        </p:txBody>
      </p:sp>
      <p:sp>
        <p:nvSpPr>
          <p:cNvPr id="21" name="Text 18"/>
          <p:cNvSpPr txBox="1"/>
          <p:nvPr/>
        </p:nvSpPr>
        <p:spPr>
          <a:xfrm>
            <a:off x="4238101" y="2822067"/>
            <a:ext cx="113723"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76</a:t>
            </a:r>
            <a:endParaRPr lang="en-US" sz="710" dirty="0"/>
          </a:p>
        </p:txBody>
      </p:sp>
      <p:sp>
        <p:nvSpPr>
          <p:cNvPr id="22" name="Text 19"/>
          <p:cNvSpPr txBox="1"/>
          <p:nvPr/>
        </p:nvSpPr>
        <p:spPr>
          <a:xfrm>
            <a:off x="2734056" y="3036522"/>
            <a:ext cx="690052"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Hours / mission</a:t>
            </a:r>
            <a:endParaRPr lang="en-US" sz="710" dirty="0"/>
          </a:p>
        </p:txBody>
      </p:sp>
      <p:sp>
        <p:nvSpPr>
          <p:cNvPr id="23" name="Text 20"/>
          <p:cNvSpPr txBox="1"/>
          <p:nvPr/>
        </p:nvSpPr>
        <p:spPr>
          <a:xfrm>
            <a:off x="4108228" y="3036522"/>
            <a:ext cx="253986"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2,483</a:t>
            </a:r>
            <a:endParaRPr lang="en-US" sz="710" dirty="0"/>
          </a:p>
        </p:txBody>
      </p:sp>
      <p:sp>
        <p:nvSpPr>
          <p:cNvPr id="24" name="Text 21"/>
          <p:cNvSpPr txBox="1"/>
          <p:nvPr/>
        </p:nvSpPr>
        <p:spPr>
          <a:xfrm>
            <a:off x="2734056" y="3250978"/>
            <a:ext cx="654099"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Mgmt fee days</a:t>
            </a:r>
            <a:endParaRPr lang="en-US" sz="710" dirty="0"/>
          </a:p>
        </p:txBody>
      </p:sp>
      <p:sp>
        <p:nvSpPr>
          <p:cNvPr id="25" name="Text 22"/>
          <p:cNvSpPr txBox="1"/>
          <p:nvPr/>
        </p:nvSpPr>
        <p:spPr>
          <a:xfrm>
            <a:off x="4094226" y="3250978"/>
            <a:ext cx="269108"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2,004</a:t>
            </a:r>
            <a:endParaRPr lang="en-US" sz="710" dirty="0"/>
          </a:p>
        </p:txBody>
      </p:sp>
      <p:sp>
        <p:nvSpPr>
          <p:cNvPr id="26" name="Text 23"/>
          <p:cNvSpPr txBox="1"/>
          <p:nvPr/>
        </p:nvSpPr>
        <p:spPr>
          <a:xfrm>
            <a:off x="2734056" y="3465433"/>
            <a:ext cx="67292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Per-piece units</a:t>
            </a:r>
            <a:endParaRPr lang="en-US" sz="710" dirty="0"/>
          </a:p>
        </p:txBody>
      </p:sp>
      <p:sp>
        <p:nvSpPr>
          <p:cNvPr id="27" name="Text 24"/>
          <p:cNvSpPr txBox="1"/>
          <p:nvPr/>
        </p:nvSpPr>
        <p:spPr>
          <a:xfrm>
            <a:off x="4109514" y="3465433"/>
            <a:ext cx="252597"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5,985</a:t>
            </a:r>
            <a:endParaRPr lang="en-US" sz="710" dirty="0"/>
          </a:p>
        </p:txBody>
      </p:sp>
      <p:sp>
        <p:nvSpPr>
          <p:cNvPr id="28" name="Text 25"/>
          <p:cNvSpPr txBox="1"/>
          <p:nvPr/>
        </p:nvSpPr>
        <p:spPr>
          <a:xfrm>
            <a:off x="2734056" y="3679889"/>
            <a:ext cx="729863"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Sep vs Jan hours</a:t>
            </a:r>
            <a:endParaRPr lang="en-US" sz="710" dirty="0"/>
          </a:p>
        </p:txBody>
      </p:sp>
      <p:sp>
        <p:nvSpPr>
          <p:cNvPr id="29" name="Text 26"/>
          <p:cNvSpPr txBox="1"/>
          <p:nvPr/>
        </p:nvSpPr>
        <p:spPr>
          <a:xfrm>
            <a:off x="4118658" y="3679889"/>
            <a:ext cx="242722"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+30%</a:t>
            </a:r>
            <a:endParaRPr lang="en-US" sz="710" dirty="0"/>
          </a:p>
        </p:txBody>
      </p:sp>
      <p:sp>
        <p:nvSpPr>
          <p:cNvPr id="30" name="Text 27"/>
          <p:cNvSpPr txBox="1"/>
          <p:nvPr/>
        </p:nvSpPr>
        <p:spPr>
          <a:xfrm>
            <a:off x="2688336" y="4018788"/>
            <a:ext cx="1836847" cy="187959"/>
          </a:xfrm>
          <a:prstGeom prst="rect">
            <a:avLst/>
          </a:prstGeom>
          <a:noFill/>
          <a:ln/>
        </p:spPr>
        <p:txBody>
          <a:bodyPr wrap="none" lIns="0" tIns="0" rIns="0" bIns="0" rtlCol="0" anchor="t"/>
          <a:lstStyle/>
          <a:p>
            <a:pPr algn="l" indent="0" marL="0">
              <a:lnSpc>
                <a:spcPts val="1140"/>
              </a:lnSpc>
              <a:buNone/>
            </a:pPr>
            <a:r>
              <a:rPr lang="en-US" sz="730" b="1" dirty="0">
                <a:solidFill>
                  <a:srgbClr val="071A33"/>
                </a:solidFill>
                <a:latin typeface="Arial" pitchFamily="34" charset="0"/>
                <a:ea typeface="Arial" pitchFamily="34" charset="-122"/>
                <a:cs typeface="Arial" pitchFamily="34" charset="-120"/>
              </a:rPr>
              <a:t>LCBTH = scale</a:t>
            </a:r>
            <a:endParaRPr lang="en-US" sz="730" dirty="0"/>
          </a:p>
        </p:txBody>
      </p:sp>
      <p:sp>
        <p:nvSpPr>
          <p:cNvPr id="31" name="Text 28"/>
          <p:cNvSpPr txBox="1"/>
          <p:nvPr/>
        </p:nvSpPr>
        <p:spPr>
          <a:xfrm>
            <a:off x="2688336" y="4190810"/>
            <a:ext cx="1921886" cy="388519"/>
          </a:xfrm>
          <a:prstGeom prst="rect">
            <a:avLst/>
          </a:prstGeom>
          <a:noFill/>
          <a:ln/>
        </p:spPr>
        <p:txBody>
          <a:bodyPr wrap="square" lIns="0" tIns="0" rIns="0" bIns="0" rtlCol="0" anchor="t"/>
          <a:lstStyle/>
          <a:p>
            <a:pPr algn="l" indent="0" marL="0">
              <a:lnSpc>
                <a:spcPts val="930"/>
              </a:lnSpc>
              <a:buNone/>
            </a:pPr>
            <a:r>
              <a:rPr lang="en-US" sz="660" dirty="0">
                <a:solidFill>
                  <a:srgbClr val="4D6585"/>
                </a:solidFill>
                <a:latin typeface="Arial" pitchFamily="34" charset="0"/>
                <a:ea typeface="Arial" pitchFamily="34" charset="-122"/>
                <a:cs typeface="Arial" pitchFamily="34" charset="-120"/>
              </a:rPr>
              <a:t>Ford + AutoAlliance + Mitsubishi port/plant</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inspection. ~2,500 hrs per mission; only 10</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hosts.</a:t>
            </a:r>
            <a:endParaRPr lang="en-US" sz="660" dirty="0"/>
          </a:p>
        </p:txBody>
      </p:sp>
      <p:sp>
        <p:nvSpPr>
          <p:cNvPr id="32" name="Text 29"/>
          <p:cNvSpPr txBox="1"/>
          <p:nvPr/>
        </p:nvSpPr>
        <p:spPr>
          <a:xfrm>
            <a:off x="4956048" y="1901952"/>
            <a:ext cx="464612" cy="230315"/>
          </a:xfrm>
          <a:prstGeom prst="rect">
            <a:avLst/>
          </a:prstGeom>
          <a:noFill/>
          <a:ln/>
        </p:spPr>
        <p:txBody>
          <a:bodyPr wrap="none" lIns="0" tIns="0" rIns="0" bIns="0" rtlCol="0" anchor="t"/>
          <a:lstStyle/>
          <a:p>
            <a:pPr algn="l" indent="0" marL="0">
              <a:lnSpc>
                <a:spcPts val="1390"/>
              </a:lnSpc>
              <a:buNone/>
            </a:pPr>
            <a:r>
              <a:rPr lang="en-US" sz="900" b="1" spc="36" kern="0" dirty="0">
                <a:solidFill>
                  <a:srgbClr val="071A33"/>
                </a:solidFill>
                <a:latin typeface="Arial" pitchFamily="34" charset="0"/>
                <a:ea typeface="Arial" pitchFamily="34" charset="-122"/>
                <a:cs typeface="Arial" pitchFamily="34" charset="-120"/>
              </a:rPr>
              <a:t>BANGN</a:t>
            </a:r>
            <a:endParaRPr lang="en-US" sz="900" dirty="0"/>
          </a:p>
        </p:txBody>
      </p:sp>
      <p:sp>
        <p:nvSpPr>
          <p:cNvPr id="33" name="Text 30"/>
          <p:cNvSpPr txBox="1"/>
          <p:nvPr/>
        </p:nvSpPr>
        <p:spPr>
          <a:xfrm>
            <a:off x="4818888" y="2178701"/>
            <a:ext cx="59978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Service hours</a:t>
            </a:r>
            <a:endParaRPr lang="en-US" sz="710" dirty="0"/>
          </a:p>
        </p:txBody>
      </p:sp>
      <p:sp>
        <p:nvSpPr>
          <p:cNvPr id="34" name="Text 31"/>
          <p:cNvSpPr txBox="1"/>
          <p:nvPr/>
        </p:nvSpPr>
        <p:spPr>
          <a:xfrm>
            <a:off x="6143482" y="2178701"/>
            <a:ext cx="307530"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54,235</a:t>
            </a:r>
            <a:endParaRPr lang="en-US" sz="710" dirty="0"/>
          </a:p>
        </p:txBody>
      </p:sp>
      <p:sp>
        <p:nvSpPr>
          <p:cNvPr id="35" name="Text 32"/>
          <p:cNvSpPr txBox="1"/>
          <p:nvPr/>
        </p:nvSpPr>
        <p:spPr>
          <a:xfrm>
            <a:off x="4818888" y="2393156"/>
            <a:ext cx="638205"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Share of hours</a:t>
            </a:r>
            <a:endParaRPr lang="en-US" sz="710" dirty="0"/>
          </a:p>
        </p:txBody>
      </p:sp>
      <p:sp>
        <p:nvSpPr>
          <p:cNvPr id="36" name="Text 33"/>
          <p:cNvSpPr txBox="1"/>
          <p:nvPr/>
        </p:nvSpPr>
        <p:spPr>
          <a:xfrm>
            <a:off x="6170200" y="2393156"/>
            <a:ext cx="278675"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20.0%</a:t>
            </a:r>
            <a:endParaRPr lang="en-US" sz="710" dirty="0"/>
          </a:p>
        </p:txBody>
      </p:sp>
      <p:sp>
        <p:nvSpPr>
          <p:cNvPr id="37" name="Text 34"/>
          <p:cNvSpPr txBox="1"/>
          <p:nvPr/>
        </p:nvSpPr>
        <p:spPr>
          <a:xfrm>
            <a:off x="4818888" y="2607612"/>
            <a:ext cx="489301"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Customers</a:t>
            </a:r>
            <a:endParaRPr lang="en-US" sz="710" dirty="0"/>
          </a:p>
        </p:txBody>
      </p:sp>
      <p:sp>
        <p:nvSpPr>
          <p:cNvPr id="38" name="Text 35"/>
          <p:cNvSpPr txBox="1"/>
          <p:nvPr/>
        </p:nvSpPr>
        <p:spPr>
          <a:xfrm>
            <a:off x="6323648" y="2607612"/>
            <a:ext cx="112951"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53</a:t>
            </a:r>
            <a:endParaRPr lang="en-US" sz="710" dirty="0"/>
          </a:p>
        </p:txBody>
      </p:sp>
      <p:sp>
        <p:nvSpPr>
          <p:cNvPr id="39" name="Text 36"/>
          <p:cNvSpPr txBox="1"/>
          <p:nvPr/>
        </p:nvSpPr>
        <p:spPr>
          <a:xfrm>
            <a:off x="4818888" y="2822067"/>
            <a:ext cx="387306"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Missions</a:t>
            </a:r>
            <a:endParaRPr lang="en-US" sz="710" dirty="0"/>
          </a:p>
        </p:txBody>
      </p:sp>
      <p:sp>
        <p:nvSpPr>
          <p:cNvPr id="40" name="Text 37"/>
          <p:cNvSpPr txBox="1"/>
          <p:nvPr/>
        </p:nvSpPr>
        <p:spPr>
          <a:xfrm>
            <a:off x="6277070" y="2822067"/>
            <a:ext cx="163255" cy="180401"/>
          </a:xfrm>
          <a:prstGeom prst="rect">
            <a:avLst/>
          </a:prstGeom>
          <a:noFill/>
          <a:ln/>
        </p:spPr>
        <p:txBody>
          <a:bodyPr wrap="none" lIns="0" tIns="0" rIns="0" bIns="0" rtlCol="0" anchor="t"/>
          <a:lstStyle/>
          <a:p>
            <a:pPr algn="l" indent="0" marL="0">
              <a:lnSpc>
                <a:spcPts val="1090"/>
              </a:lnSpc>
              <a:buNone/>
            </a:pPr>
            <a:r>
              <a:rPr lang="en-US" sz="710" b="1" dirty="0">
                <a:solidFill>
                  <a:srgbClr val="0B4FBF"/>
                </a:solidFill>
                <a:latin typeface="Arial" pitchFamily="34" charset="0"/>
                <a:ea typeface="Arial" pitchFamily="34" charset="-122"/>
                <a:cs typeface="Arial" pitchFamily="34" charset="-120"/>
              </a:rPr>
              <a:t>140</a:t>
            </a:r>
            <a:endParaRPr lang="en-US" sz="710" dirty="0"/>
          </a:p>
        </p:txBody>
      </p:sp>
      <p:sp>
        <p:nvSpPr>
          <p:cNvPr id="41" name="Text 38"/>
          <p:cNvSpPr txBox="1"/>
          <p:nvPr/>
        </p:nvSpPr>
        <p:spPr>
          <a:xfrm>
            <a:off x="4818888" y="3036522"/>
            <a:ext cx="690052"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Hours / mission</a:t>
            </a:r>
            <a:endParaRPr lang="en-US" sz="710" dirty="0"/>
          </a:p>
        </p:txBody>
      </p:sp>
      <p:sp>
        <p:nvSpPr>
          <p:cNvPr id="42" name="Text 39"/>
          <p:cNvSpPr txBox="1"/>
          <p:nvPr/>
        </p:nvSpPr>
        <p:spPr>
          <a:xfrm>
            <a:off x="6271355" y="3036522"/>
            <a:ext cx="169427" cy="180401"/>
          </a:xfrm>
          <a:prstGeom prst="rect">
            <a:avLst/>
          </a:prstGeom>
          <a:noFill/>
          <a:ln/>
        </p:spPr>
        <p:txBody>
          <a:bodyPr wrap="none" lIns="0" tIns="0" rIns="0" bIns="0" rtlCol="0" anchor="t"/>
          <a:lstStyle/>
          <a:p>
            <a:pPr algn="l" indent="0" marL="0">
              <a:lnSpc>
                <a:spcPts val="1090"/>
              </a:lnSpc>
              <a:buNone/>
            </a:pPr>
            <a:r>
              <a:rPr lang="en-US" sz="710" b="1" dirty="0">
                <a:solidFill>
                  <a:srgbClr val="0B4FBF"/>
                </a:solidFill>
                <a:latin typeface="Arial" pitchFamily="34" charset="0"/>
                <a:ea typeface="Arial" pitchFamily="34" charset="-122"/>
                <a:cs typeface="Arial" pitchFamily="34" charset="-120"/>
              </a:rPr>
              <a:t>387</a:t>
            </a:r>
            <a:endParaRPr lang="en-US" sz="710" dirty="0"/>
          </a:p>
        </p:txBody>
      </p:sp>
      <p:sp>
        <p:nvSpPr>
          <p:cNvPr id="43" name="Text 40"/>
          <p:cNvSpPr txBox="1"/>
          <p:nvPr/>
        </p:nvSpPr>
        <p:spPr>
          <a:xfrm>
            <a:off x="4818888" y="3250978"/>
            <a:ext cx="654099"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Mgmt fee days</a:t>
            </a:r>
            <a:endParaRPr lang="en-US" sz="710" dirty="0"/>
          </a:p>
        </p:txBody>
      </p:sp>
      <p:sp>
        <p:nvSpPr>
          <p:cNvPr id="44" name="Text 41"/>
          <p:cNvSpPr txBox="1"/>
          <p:nvPr/>
        </p:nvSpPr>
        <p:spPr>
          <a:xfrm>
            <a:off x="6198918" y="3250978"/>
            <a:ext cx="247660"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1,200</a:t>
            </a:r>
            <a:endParaRPr lang="en-US" sz="710" dirty="0"/>
          </a:p>
        </p:txBody>
      </p:sp>
      <p:sp>
        <p:nvSpPr>
          <p:cNvPr id="45" name="Text 42"/>
          <p:cNvSpPr txBox="1"/>
          <p:nvPr/>
        </p:nvSpPr>
        <p:spPr>
          <a:xfrm>
            <a:off x="4818888" y="3465433"/>
            <a:ext cx="67292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Per-piece units</a:t>
            </a:r>
            <a:endParaRPr lang="en-US" sz="710" dirty="0"/>
          </a:p>
        </p:txBody>
      </p:sp>
      <p:sp>
        <p:nvSpPr>
          <p:cNvPr id="46" name="Text 43"/>
          <p:cNvSpPr txBox="1"/>
          <p:nvPr/>
        </p:nvSpPr>
        <p:spPr>
          <a:xfrm>
            <a:off x="6147911" y="3465433"/>
            <a:ext cx="302746"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23,533</a:t>
            </a:r>
            <a:endParaRPr lang="en-US" sz="710" dirty="0"/>
          </a:p>
        </p:txBody>
      </p:sp>
      <p:sp>
        <p:nvSpPr>
          <p:cNvPr id="47" name="Text 44"/>
          <p:cNvSpPr txBox="1"/>
          <p:nvPr/>
        </p:nvSpPr>
        <p:spPr>
          <a:xfrm>
            <a:off x="4818888" y="3679889"/>
            <a:ext cx="729863"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Sep vs Jan hours</a:t>
            </a:r>
            <a:endParaRPr lang="en-US" sz="710" dirty="0"/>
          </a:p>
        </p:txBody>
      </p:sp>
      <p:sp>
        <p:nvSpPr>
          <p:cNvPr id="48" name="Text 45"/>
          <p:cNvSpPr txBox="1"/>
          <p:nvPr/>
        </p:nvSpPr>
        <p:spPr>
          <a:xfrm>
            <a:off x="6199489" y="3679889"/>
            <a:ext cx="247042" cy="180401"/>
          </a:xfrm>
          <a:prstGeom prst="rect">
            <a:avLst/>
          </a:prstGeom>
          <a:noFill/>
          <a:ln/>
        </p:spPr>
        <p:txBody>
          <a:bodyPr wrap="none" lIns="0" tIns="0" rIns="0" bIns="0" rtlCol="0" anchor="t"/>
          <a:lstStyle/>
          <a:p>
            <a:pPr algn="l" indent="0" marL="0">
              <a:lnSpc>
                <a:spcPts val="1090"/>
              </a:lnSpc>
              <a:buNone/>
            </a:pPr>
            <a:r>
              <a:rPr lang="en-US" sz="710" b="1" dirty="0">
                <a:solidFill>
                  <a:srgbClr val="0B4FBF"/>
                </a:solidFill>
                <a:latin typeface="Arial" pitchFamily="34" charset="0"/>
                <a:ea typeface="Arial" pitchFamily="34" charset="-122"/>
                <a:cs typeface="Arial" pitchFamily="34" charset="-120"/>
              </a:rPr>
              <a:t>+96%</a:t>
            </a:r>
            <a:endParaRPr lang="en-US" sz="710" dirty="0"/>
          </a:p>
        </p:txBody>
      </p:sp>
      <p:sp>
        <p:nvSpPr>
          <p:cNvPr id="49" name="Text 46"/>
          <p:cNvSpPr txBox="1"/>
          <p:nvPr/>
        </p:nvSpPr>
        <p:spPr>
          <a:xfrm>
            <a:off x="4773168" y="4018788"/>
            <a:ext cx="1836847" cy="187959"/>
          </a:xfrm>
          <a:prstGeom prst="rect">
            <a:avLst/>
          </a:prstGeom>
          <a:noFill/>
          <a:ln/>
        </p:spPr>
        <p:txBody>
          <a:bodyPr wrap="none" lIns="0" tIns="0" rIns="0" bIns="0" rtlCol="0" anchor="t"/>
          <a:lstStyle/>
          <a:p>
            <a:pPr algn="l" indent="0" marL="0">
              <a:lnSpc>
                <a:spcPts val="1140"/>
              </a:lnSpc>
              <a:buNone/>
            </a:pPr>
            <a:r>
              <a:rPr lang="en-US" sz="730" b="1" dirty="0">
                <a:solidFill>
                  <a:srgbClr val="071A33"/>
                </a:solidFill>
                <a:latin typeface="Arial" pitchFamily="34" charset="0"/>
                <a:ea typeface="Arial" pitchFamily="34" charset="-122"/>
                <a:cs typeface="Arial" pitchFamily="34" charset="-120"/>
              </a:rPr>
              <a:t>BANGN = breadth</a:t>
            </a:r>
            <a:endParaRPr lang="en-US" sz="730" dirty="0"/>
          </a:p>
        </p:txBody>
      </p:sp>
      <p:sp>
        <p:nvSpPr>
          <p:cNvPr id="50" name="Text 47"/>
          <p:cNvSpPr txBox="1"/>
          <p:nvPr/>
        </p:nvSpPr>
        <p:spPr>
          <a:xfrm>
            <a:off x="4773168" y="4190810"/>
            <a:ext cx="1921886" cy="388519"/>
          </a:xfrm>
          <a:prstGeom prst="rect">
            <a:avLst/>
          </a:prstGeom>
          <a:noFill/>
          <a:ln/>
        </p:spPr>
        <p:txBody>
          <a:bodyPr wrap="square" lIns="0" tIns="0" rIns="0" bIns="0" rtlCol="0" anchor="t"/>
          <a:lstStyle/>
          <a:p>
            <a:pPr algn="l" indent="0" marL="0">
              <a:lnSpc>
                <a:spcPts val="930"/>
              </a:lnSpc>
              <a:buNone/>
            </a:pPr>
            <a:r>
              <a:rPr lang="en-US" sz="660" dirty="0">
                <a:solidFill>
                  <a:srgbClr val="4D6585"/>
                </a:solidFill>
                <a:latin typeface="Arial" pitchFamily="34" charset="0"/>
                <a:ea typeface="Arial" pitchFamily="34" charset="-122"/>
                <a:cs typeface="Arial" pitchFamily="34" charset="-120"/>
              </a:rPr>
              <a:t>140 missions, 53 customers, 70% of per-piece</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units. Many short sorting jobs (~390</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hrs/mission).</a:t>
            </a:r>
            <a:endParaRPr lang="en-US" sz="660" dirty="0"/>
          </a:p>
        </p:txBody>
      </p:sp>
      <p:sp>
        <p:nvSpPr>
          <p:cNvPr id="51" name="Text 48"/>
          <p:cNvSpPr txBox="1"/>
          <p:nvPr/>
        </p:nvSpPr>
        <p:spPr>
          <a:xfrm>
            <a:off x="7040880" y="1901952"/>
            <a:ext cx="462298" cy="230315"/>
          </a:xfrm>
          <a:prstGeom prst="rect">
            <a:avLst/>
          </a:prstGeom>
          <a:noFill/>
          <a:ln/>
        </p:spPr>
        <p:txBody>
          <a:bodyPr wrap="none" lIns="0" tIns="0" rIns="0" bIns="0" rtlCol="0" anchor="t"/>
          <a:lstStyle/>
          <a:p>
            <a:pPr algn="l" indent="0" marL="0">
              <a:lnSpc>
                <a:spcPts val="1390"/>
              </a:lnSpc>
              <a:buNone/>
            </a:pPr>
            <a:r>
              <a:rPr lang="en-US" sz="900" b="1" spc="36" kern="0" dirty="0">
                <a:solidFill>
                  <a:srgbClr val="071A33"/>
                </a:solidFill>
                <a:latin typeface="Arial" pitchFamily="34" charset="0"/>
                <a:ea typeface="Arial" pitchFamily="34" charset="-122"/>
                <a:cs typeface="Arial" pitchFamily="34" charset="-120"/>
              </a:rPr>
              <a:t>AMATA</a:t>
            </a:r>
            <a:endParaRPr lang="en-US" sz="900" dirty="0"/>
          </a:p>
        </p:txBody>
      </p:sp>
      <p:sp>
        <p:nvSpPr>
          <p:cNvPr id="52" name="Text 49"/>
          <p:cNvSpPr txBox="1"/>
          <p:nvPr/>
        </p:nvSpPr>
        <p:spPr>
          <a:xfrm>
            <a:off x="6903720" y="2178701"/>
            <a:ext cx="59978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Service hours</a:t>
            </a:r>
            <a:endParaRPr lang="en-US" sz="710" dirty="0"/>
          </a:p>
        </p:txBody>
      </p:sp>
      <p:sp>
        <p:nvSpPr>
          <p:cNvPr id="53" name="Text 50"/>
          <p:cNvSpPr txBox="1"/>
          <p:nvPr/>
        </p:nvSpPr>
        <p:spPr>
          <a:xfrm>
            <a:off x="8229314" y="2178701"/>
            <a:ext cx="306450"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28,687</a:t>
            </a:r>
            <a:endParaRPr lang="en-US" sz="710" dirty="0"/>
          </a:p>
        </p:txBody>
      </p:sp>
      <p:sp>
        <p:nvSpPr>
          <p:cNvPr id="54" name="Text 51"/>
          <p:cNvSpPr txBox="1"/>
          <p:nvPr/>
        </p:nvSpPr>
        <p:spPr>
          <a:xfrm>
            <a:off x="6903720" y="2393156"/>
            <a:ext cx="638205"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Share of hours</a:t>
            </a:r>
            <a:endParaRPr lang="en-US" sz="710" dirty="0"/>
          </a:p>
        </p:txBody>
      </p:sp>
      <p:sp>
        <p:nvSpPr>
          <p:cNvPr id="55" name="Text 52"/>
          <p:cNvSpPr txBox="1"/>
          <p:nvPr/>
        </p:nvSpPr>
        <p:spPr>
          <a:xfrm>
            <a:off x="8276177" y="2393156"/>
            <a:ext cx="255838"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10.6%</a:t>
            </a:r>
            <a:endParaRPr lang="en-US" sz="710" dirty="0"/>
          </a:p>
        </p:txBody>
      </p:sp>
      <p:sp>
        <p:nvSpPr>
          <p:cNvPr id="56" name="Text 53"/>
          <p:cNvSpPr txBox="1"/>
          <p:nvPr/>
        </p:nvSpPr>
        <p:spPr>
          <a:xfrm>
            <a:off x="6903720" y="2607612"/>
            <a:ext cx="489301"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Customers</a:t>
            </a:r>
            <a:endParaRPr lang="en-US" sz="710" dirty="0"/>
          </a:p>
        </p:txBody>
      </p:sp>
      <p:sp>
        <p:nvSpPr>
          <p:cNvPr id="57" name="Text 54"/>
          <p:cNvSpPr txBox="1"/>
          <p:nvPr/>
        </p:nvSpPr>
        <p:spPr>
          <a:xfrm>
            <a:off x="8426339" y="2607612"/>
            <a:ext cx="93663"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31</a:t>
            </a:r>
            <a:endParaRPr lang="en-US" sz="710" dirty="0"/>
          </a:p>
        </p:txBody>
      </p:sp>
      <p:sp>
        <p:nvSpPr>
          <p:cNvPr id="58" name="Text 55"/>
          <p:cNvSpPr txBox="1"/>
          <p:nvPr/>
        </p:nvSpPr>
        <p:spPr>
          <a:xfrm>
            <a:off x="6903720" y="2822067"/>
            <a:ext cx="387306"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Missions</a:t>
            </a:r>
            <a:endParaRPr lang="en-US" sz="710" dirty="0"/>
          </a:p>
        </p:txBody>
      </p:sp>
      <p:sp>
        <p:nvSpPr>
          <p:cNvPr id="59" name="Text 56"/>
          <p:cNvSpPr txBox="1"/>
          <p:nvPr/>
        </p:nvSpPr>
        <p:spPr>
          <a:xfrm>
            <a:off x="8404908" y="2822067"/>
            <a:ext cx="116809"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45</a:t>
            </a:r>
            <a:endParaRPr lang="en-US" sz="710" dirty="0"/>
          </a:p>
        </p:txBody>
      </p:sp>
      <p:sp>
        <p:nvSpPr>
          <p:cNvPr id="60" name="Text 57"/>
          <p:cNvSpPr txBox="1"/>
          <p:nvPr/>
        </p:nvSpPr>
        <p:spPr>
          <a:xfrm>
            <a:off x="6903720" y="3036522"/>
            <a:ext cx="690052"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Hours / mission</a:t>
            </a:r>
            <a:endParaRPr lang="en-US" sz="710" dirty="0"/>
          </a:p>
        </p:txBody>
      </p:sp>
      <p:sp>
        <p:nvSpPr>
          <p:cNvPr id="61" name="Text 58"/>
          <p:cNvSpPr txBox="1"/>
          <p:nvPr/>
        </p:nvSpPr>
        <p:spPr>
          <a:xfrm>
            <a:off x="8354044" y="3036522"/>
            <a:ext cx="171741"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637</a:t>
            </a:r>
            <a:endParaRPr lang="en-US" sz="710" dirty="0"/>
          </a:p>
        </p:txBody>
      </p:sp>
      <p:sp>
        <p:nvSpPr>
          <p:cNvPr id="62" name="Text 59"/>
          <p:cNvSpPr txBox="1"/>
          <p:nvPr/>
        </p:nvSpPr>
        <p:spPr>
          <a:xfrm>
            <a:off x="6903720" y="3250978"/>
            <a:ext cx="654099"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Mgmt fee days</a:t>
            </a:r>
            <a:endParaRPr lang="en-US" sz="710" dirty="0"/>
          </a:p>
        </p:txBody>
      </p:sp>
      <p:sp>
        <p:nvSpPr>
          <p:cNvPr id="63" name="Text 60"/>
          <p:cNvSpPr txBox="1"/>
          <p:nvPr/>
        </p:nvSpPr>
        <p:spPr>
          <a:xfrm>
            <a:off x="8347901" y="3250978"/>
            <a:ext cx="178377"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663</a:t>
            </a:r>
            <a:endParaRPr lang="en-US" sz="710" dirty="0"/>
          </a:p>
        </p:txBody>
      </p:sp>
      <p:sp>
        <p:nvSpPr>
          <p:cNvPr id="64" name="Text 61"/>
          <p:cNvSpPr txBox="1"/>
          <p:nvPr/>
        </p:nvSpPr>
        <p:spPr>
          <a:xfrm>
            <a:off x="6903720" y="3465433"/>
            <a:ext cx="67292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Per-piece units</a:t>
            </a:r>
            <a:endParaRPr lang="en-US" sz="710" dirty="0"/>
          </a:p>
        </p:txBody>
      </p:sp>
      <p:sp>
        <p:nvSpPr>
          <p:cNvPr id="65" name="Text 62"/>
          <p:cNvSpPr txBox="1"/>
          <p:nvPr/>
        </p:nvSpPr>
        <p:spPr>
          <a:xfrm>
            <a:off x="8292036" y="3465433"/>
            <a:ext cx="238710"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4,160</a:t>
            </a:r>
            <a:endParaRPr lang="en-US" sz="710" dirty="0"/>
          </a:p>
        </p:txBody>
      </p:sp>
      <p:sp>
        <p:nvSpPr>
          <p:cNvPr id="66" name="Text 63"/>
          <p:cNvSpPr txBox="1"/>
          <p:nvPr/>
        </p:nvSpPr>
        <p:spPr>
          <a:xfrm>
            <a:off x="6903720" y="3679889"/>
            <a:ext cx="729863"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Sep vs Jan hours</a:t>
            </a:r>
            <a:endParaRPr lang="en-US" sz="710" dirty="0"/>
          </a:p>
        </p:txBody>
      </p:sp>
      <p:sp>
        <p:nvSpPr>
          <p:cNvPr id="67" name="Text 64"/>
          <p:cNvSpPr txBox="1"/>
          <p:nvPr/>
        </p:nvSpPr>
        <p:spPr>
          <a:xfrm>
            <a:off x="8298752" y="3679889"/>
            <a:ext cx="231458"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+35%</a:t>
            </a:r>
            <a:endParaRPr lang="en-US" sz="710" dirty="0"/>
          </a:p>
        </p:txBody>
      </p:sp>
      <p:sp>
        <p:nvSpPr>
          <p:cNvPr id="68" name="Text 65"/>
          <p:cNvSpPr txBox="1"/>
          <p:nvPr/>
        </p:nvSpPr>
        <p:spPr>
          <a:xfrm>
            <a:off x="6858000" y="4018788"/>
            <a:ext cx="1836847" cy="187959"/>
          </a:xfrm>
          <a:prstGeom prst="rect">
            <a:avLst/>
          </a:prstGeom>
          <a:noFill/>
          <a:ln/>
        </p:spPr>
        <p:txBody>
          <a:bodyPr wrap="none" lIns="0" tIns="0" rIns="0" bIns="0" rtlCol="0" anchor="t"/>
          <a:lstStyle/>
          <a:p>
            <a:pPr algn="l" indent="0" marL="0">
              <a:lnSpc>
                <a:spcPts val="1140"/>
              </a:lnSpc>
              <a:buNone/>
            </a:pPr>
            <a:r>
              <a:rPr lang="en-US" sz="730" b="1" dirty="0">
                <a:solidFill>
                  <a:srgbClr val="071A33"/>
                </a:solidFill>
                <a:latin typeface="Arial" pitchFamily="34" charset="0"/>
                <a:ea typeface="Arial" pitchFamily="34" charset="-122"/>
                <a:cs typeface="Arial" pitchFamily="34" charset="-120"/>
              </a:rPr>
              <a:t>BANGN = growth</a:t>
            </a:r>
            <a:endParaRPr lang="en-US" sz="730" dirty="0"/>
          </a:p>
        </p:txBody>
      </p:sp>
      <p:sp>
        <p:nvSpPr>
          <p:cNvPr id="69" name="Text 66"/>
          <p:cNvSpPr txBox="1"/>
          <p:nvPr/>
        </p:nvSpPr>
        <p:spPr>
          <a:xfrm>
            <a:off x="6858000" y="4190810"/>
            <a:ext cx="1921886" cy="270790"/>
          </a:xfrm>
          <a:prstGeom prst="rect">
            <a:avLst/>
          </a:prstGeom>
          <a:noFill/>
          <a:ln/>
        </p:spPr>
        <p:txBody>
          <a:bodyPr wrap="square" lIns="0" tIns="0" rIns="0" bIns="0" rtlCol="0" anchor="t"/>
          <a:lstStyle/>
          <a:p>
            <a:pPr algn="l" indent="0" marL="0">
              <a:lnSpc>
                <a:spcPts val="930"/>
              </a:lnSpc>
              <a:buNone/>
            </a:pPr>
            <a:r>
              <a:rPr lang="en-US" sz="660" dirty="0">
                <a:solidFill>
                  <a:srgbClr val="4D6585"/>
                </a:solidFill>
                <a:latin typeface="Arial" pitchFamily="34" charset="0"/>
                <a:ea typeface="Arial" pitchFamily="34" charset="-122"/>
                <a:cs typeface="Arial" pitchFamily="34" charset="-120"/>
              </a:rPr>
              <a:t>Hours up 96% from Jan to Sep, the fastest</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growth of the three sites.</a:t>
            </a:r>
            <a:endParaRPr lang="en-US" sz="6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DFE"/>
        </a:solidFill>
      </p:bgPr>
    </p:bg>
    <p:spTree>
      <p:nvGrpSpPr>
        <p:cNvPr id="1" name=""/>
        <p:cNvGrpSpPr/>
        <p:nvPr/>
      </p:nvGrpSpPr>
      <p:grpSpPr>
        <a:xfrm>
          <a:off x="0" y="0"/>
          <a:ext cx="0" cy="0"/>
          <a:chOff x="0" y="0"/>
          <a:chExt cx="0" cy="0"/>
        </a:xfrm>
      </p:grpSpPr>
      <p:pic>
        <p:nvPicPr>
          <p:cNvPr id="2" name="Image 0" descr="Slide: Three major hosts account for 71% of service hours.">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1149881"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01 · Customers &amp; hosts</a:t>
            </a:r>
            <a:endParaRPr lang="en-US" sz="720" dirty="0"/>
          </a:p>
        </p:txBody>
      </p:sp>
      <p:sp>
        <p:nvSpPr>
          <p:cNvPr id="4" name="Text 1"/>
          <p:cNvSpPr txBox="1"/>
          <p:nvPr/>
        </p:nvSpPr>
        <p:spPr>
          <a:xfrm>
            <a:off x="457200" y="1252728"/>
            <a:ext cx="6948354"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Three major hosts account for 71% of service hours.</a:t>
            </a:r>
            <a:endParaRPr lang="en-US" sz="2380" dirty="0"/>
          </a:p>
        </p:txBody>
      </p:sp>
      <p:sp>
        <p:nvSpPr>
          <p:cNvPr id="5" name="Text 2"/>
          <p:cNvSpPr txBox="1"/>
          <p:nvPr/>
        </p:nvSpPr>
        <p:spPr>
          <a:xfrm>
            <a:off x="621792" y="1929384"/>
            <a:ext cx="2076482" cy="211775"/>
          </a:xfrm>
          <a:prstGeom prst="rect">
            <a:avLst/>
          </a:prstGeom>
          <a:noFill/>
          <a:ln/>
        </p:spPr>
        <p:txBody>
          <a:bodyPr wrap="none" lIns="0" tIns="0" rIns="0" bIns="0" rtlCol="0" anchor="t"/>
          <a:lstStyle/>
          <a:p>
            <a:pPr algn="l" indent="0" marL="0">
              <a:lnSpc>
                <a:spcPts val="1280"/>
              </a:lnSpc>
              <a:buNone/>
            </a:pPr>
            <a:r>
              <a:rPr lang="en-US" sz="830" b="1" dirty="0">
                <a:solidFill>
                  <a:srgbClr val="071A33"/>
                </a:solidFill>
                <a:latin typeface="Arial" pitchFamily="34" charset="0"/>
                <a:ea typeface="Arial" pitchFamily="34" charset="-122"/>
                <a:cs typeface="Arial" pitchFamily="34" charset="-120"/>
              </a:rPr>
              <a:t>Service hours by host and site, Jan–Sep</a:t>
            </a:r>
            <a:endParaRPr lang="en-US" sz="830" dirty="0"/>
          </a:p>
        </p:txBody>
      </p:sp>
      <p:sp>
        <p:nvSpPr>
          <p:cNvPr id="6" name="Text 3"/>
          <p:cNvSpPr txBox="1"/>
          <p:nvPr/>
        </p:nvSpPr>
        <p:spPr>
          <a:xfrm>
            <a:off x="4413266" y="1939957"/>
            <a:ext cx="321880"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LCBTH</a:t>
            </a:r>
            <a:endParaRPr lang="en-US" sz="720" dirty="0"/>
          </a:p>
        </p:txBody>
      </p:sp>
      <p:sp>
        <p:nvSpPr>
          <p:cNvPr id="7" name="Text 4"/>
          <p:cNvSpPr txBox="1"/>
          <p:nvPr/>
        </p:nvSpPr>
        <p:spPr>
          <a:xfrm>
            <a:off x="4967335" y="1939957"/>
            <a:ext cx="354130"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BANGN</a:t>
            </a:r>
            <a:endParaRPr lang="en-US" sz="720" dirty="0"/>
          </a:p>
        </p:txBody>
      </p:sp>
      <p:sp>
        <p:nvSpPr>
          <p:cNvPr id="8" name="Text 5"/>
          <p:cNvSpPr txBox="1"/>
          <p:nvPr/>
        </p:nvSpPr>
        <p:spPr>
          <a:xfrm>
            <a:off x="5551265" y="1939957"/>
            <a:ext cx="344717"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AMATA</a:t>
            </a:r>
            <a:endParaRPr lang="en-US" sz="720" dirty="0"/>
          </a:p>
        </p:txBody>
      </p:sp>
      <p:sp>
        <p:nvSpPr>
          <p:cNvPr id="9" name="Text 6"/>
          <p:cNvSpPr txBox="1"/>
          <p:nvPr/>
        </p:nvSpPr>
        <p:spPr>
          <a:xfrm>
            <a:off x="6428232" y="1892808"/>
            <a:ext cx="2261494" cy="427939"/>
          </a:xfrm>
          <a:prstGeom prst="rect">
            <a:avLst/>
          </a:prstGeom>
          <a:noFill/>
          <a:ln/>
        </p:spPr>
        <p:txBody>
          <a:bodyPr wrap="none" lIns="0" tIns="0" rIns="0" bIns="0" rtlCol="0" anchor="t"/>
          <a:lstStyle/>
          <a:p>
            <a:pPr algn="l" indent="0" marL="0">
              <a:lnSpc>
                <a:spcPts val="2590"/>
              </a:lnSpc>
              <a:buNone/>
            </a:pPr>
            <a:r>
              <a:rPr lang="en-US" sz="2590" b="1" spc="-130" kern="0" dirty="0">
                <a:solidFill>
                  <a:srgbClr val="1A62D6"/>
                </a:solidFill>
                <a:latin typeface="Arial" pitchFamily="34" charset="0"/>
                <a:ea typeface="Arial" pitchFamily="34" charset="-122"/>
                <a:cs typeface="Arial" pitchFamily="34" charset="-120"/>
              </a:rPr>
              <a:t>51%</a:t>
            </a:r>
            <a:endParaRPr lang="en-US" sz="2590" dirty="0"/>
          </a:p>
        </p:txBody>
      </p:sp>
      <p:sp>
        <p:nvSpPr>
          <p:cNvPr id="10" name="Text 7"/>
          <p:cNvSpPr txBox="1"/>
          <p:nvPr/>
        </p:nvSpPr>
        <p:spPr>
          <a:xfrm>
            <a:off x="6428232" y="2267712"/>
            <a:ext cx="2366193" cy="283921"/>
          </a:xfrm>
          <a:prstGeom prst="rect">
            <a:avLst/>
          </a:prstGeom>
          <a:noFill/>
          <a:ln/>
        </p:spPr>
        <p:txBody>
          <a:bodyPr wrap="squar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Ford MVIP activity: 138.4K h across the Ford and</a:t>
            </a:r>
            <a:endParaRPr lang="en-US" sz="720" dirty="0"/>
          </a:p>
          <a:p>
            <a:pPr algn="l" indent="0" marL="0">
              <a:lnSpc>
                <a:spcPts val="970"/>
              </a:lnSpc>
              <a:buNone/>
            </a:pPr>
            <a:r>
              <a:rPr lang="en-US" sz="720" dirty="0">
                <a:solidFill>
                  <a:srgbClr val="4D6585"/>
                </a:solidFill>
                <a:latin typeface="Arial" pitchFamily="34" charset="0"/>
                <a:ea typeface="Arial" pitchFamily="34" charset="-122"/>
                <a:cs typeface="Arial" pitchFamily="34" charset="-120"/>
              </a:rPr>
              <a:t>Auto Alliance plants</a:t>
            </a:r>
            <a:endParaRPr lang="en-US" sz="720" dirty="0"/>
          </a:p>
        </p:txBody>
      </p:sp>
      <p:sp>
        <p:nvSpPr>
          <p:cNvPr id="11" name="Text 8"/>
          <p:cNvSpPr txBox="1"/>
          <p:nvPr/>
        </p:nvSpPr>
        <p:spPr>
          <a:xfrm>
            <a:off x="6428232" y="2843784"/>
            <a:ext cx="2261494" cy="427939"/>
          </a:xfrm>
          <a:prstGeom prst="rect">
            <a:avLst/>
          </a:prstGeom>
          <a:noFill/>
          <a:ln/>
        </p:spPr>
        <p:txBody>
          <a:bodyPr wrap="none" lIns="0" tIns="0" rIns="0" bIns="0" rtlCol="0" anchor="t"/>
          <a:lstStyle/>
          <a:p>
            <a:pPr algn="l" indent="0" marL="0">
              <a:lnSpc>
                <a:spcPts val="2590"/>
              </a:lnSpc>
              <a:buNone/>
            </a:pPr>
            <a:r>
              <a:rPr lang="en-US" sz="2590" b="1" spc="-130" kern="0" dirty="0">
                <a:solidFill>
                  <a:srgbClr val="1A62D6"/>
                </a:solidFill>
                <a:latin typeface="Arial" pitchFamily="34" charset="0"/>
                <a:ea typeface="Arial" pitchFamily="34" charset="-122"/>
                <a:cs typeface="Arial" pitchFamily="34" charset="-120"/>
              </a:rPr>
              <a:t>14</a:t>
            </a:r>
            <a:endParaRPr lang="en-US" sz="2590" dirty="0"/>
          </a:p>
        </p:txBody>
      </p:sp>
      <p:sp>
        <p:nvSpPr>
          <p:cNvPr id="12" name="Text 9"/>
          <p:cNvSpPr txBox="1"/>
          <p:nvPr/>
        </p:nvSpPr>
        <p:spPr>
          <a:xfrm>
            <a:off x="6428232" y="3218688"/>
            <a:ext cx="2366193" cy="283921"/>
          </a:xfrm>
          <a:prstGeom prst="rect">
            <a:avLst/>
          </a:prstGeom>
          <a:noFill/>
          <a:ln/>
        </p:spPr>
        <p:txBody>
          <a:bodyPr wrap="squar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Customers at MMTH Engine: largest host, 38.1K h;</a:t>
            </a:r>
            <a:endParaRPr lang="en-US" sz="720" dirty="0"/>
          </a:p>
          <a:p>
            <a:pPr algn="l" indent="0" marL="0">
              <a:lnSpc>
                <a:spcPts val="970"/>
              </a:lnSpc>
              <a:buNone/>
            </a:pPr>
            <a:r>
              <a:rPr lang="en-US" sz="720" dirty="0">
                <a:solidFill>
                  <a:srgbClr val="4D6585"/>
                </a:solidFill>
                <a:latin typeface="Arial" pitchFamily="34" charset="0"/>
                <a:ea typeface="Arial" pitchFamily="34" charset="-122"/>
                <a:cs typeface="Arial" pitchFamily="34" charset="-120"/>
              </a:rPr>
              <a:t>TMBP serves 11</a:t>
            </a:r>
            <a:endParaRPr lang="en-US" sz="720" dirty="0"/>
          </a:p>
        </p:txBody>
      </p:sp>
      <p:sp>
        <p:nvSpPr>
          <p:cNvPr id="13" name="Text 10"/>
          <p:cNvSpPr txBox="1"/>
          <p:nvPr/>
        </p:nvSpPr>
        <p:spPr>
          <a:xfrm>
            <a:off x="6428232" y="3794760"/>
            <a:ext cx="2261494" cy="427939"/>
          </a:xfrm>
          <a:prstGeom prst="rect">
            <a:avLst/>
          </a:prstGeom>
          <a:noFill/>
          <a:ln/>
        </p:spPr>
        <p:txBody>
          <a:bodyPr wrap="none" lIns="0" tIns="0" rIns="0" bIns="0" rtlCol="0" anchor="t"/>
          <a:lstStyle/>
          <a:p>
            <a:pPr algn="l" indent="0" marL="0">
              <a:lnSpc>
                <a:spcPts val="2590"/>
              </a:lnSpc>
              <a:buNone/>
            </a:pPr>
            <a:r>
              <a:rPr lang="en-US" sz="2590" b="1" spc="-130" kern="0" dirty="0">
                <a:solidFill>
                  <a:srgbClr val="9CCBFF"/>
                </a:solidFill>
                <a:latin typeface="Arial" pitchFamily="34" charset="0"/>
                <a:ea typeface="Arial" pitchFamily="34" charset="-122"/>
                <a:cs typeface="Arial" pitchFamily="34" charset="-120"/>
              </a:rPr>
              <a:t>4.5×</a:t>
            </a:r>
            <a:endParaRPr lang="en-US" sz="2590" dirty="0"/>
          </a:p>
        </p:txBody>
      </p:sp>
      <p:sp>
        <p:nvSpPr>
          <p:cNvPr id="14" name="Text 11"/>
          <p:cNvSpPr txBox="1"/>
          <p:nvPr/>
        </p:nvSpPr>
        <p:spPr>
          <a:xfrm>
            <a:off x="6428232" y="4169664"/>
            <a:ext cx="2366193" cy="283921"/>
          </a:xfrm>
          <a:prstGeom prst="rect">
            <a:avLst/>
          </a:prstGeom>
          <a:noFill/>
          <a:ln/>
        </p:spPr>
        <p:txBody>
          <a:bodyPr wrap="square" lIns="0" tIns="0" rIns="0" bIns="0" rtlCol="0" anchor="t"/>
          <a:lstStyle/>
          <a:p>
            <a:pPr algn="l" indent="0" marL="0">
              <a:lnSpc>
                <a:spcPts val="970"/>
              </a:lnSpc>
              <a:buNone/>
            </a:pPr>
            <a:r>
              <a:rPr lang="en-US" sz="720" dirty="0">
                <a:solidFill>
                  <a:srgbClr val="9DB6D4"/>
                </a:solidFill>
                <a:latin typeface="Arial" pitchFamily="34" charset="0"/>
                <a:ea typeface="Arial" pitchFamily="34" charset="-122"/>
                <a:cs typeface="Arial" pitchFamily="34" charset="-120"/>
              </a:rPr>
              <a:t>Yusen Logistic growth: 331 h in Jan → 1,488 h in</a:t>
            </a:r>
            <a:endParaRPr lang="en-US" sz="720" dirty="0"/>
          </a:p>
          <a:p>
            <a:pPr algn="l" indent="0" marL="0">
              <a:lnSpc>
                <a:spcPts val="970"/>
              </a:lnSpc>
              <a:buNone/>
            </a:pPr>
            <a:r>
              <a:rPr lang="en-US" sz="720" dirty="0">
                <a:solidFill>
                  <a:srgbClr val="9DB6D4"/>
                </a:solidFill>
                <a:latin typeface="Arial" pitchFamily="34" charset="0"/>
                <a:ea typeface="Arial" pitchFamily="34" charset="-122"/>
                <a:cs typeface="Arial" pitchFamily="34" charset="-120"/>
              </a:rPr>
              <a:t>Sep</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DFE"/>
        </a:solidFill>
      </p:bgPr>
    </p:bg>
    <p:spTree>
      <p:nvGrpSpPr>
        <p:cNvPr id="1" name=""/>
        <p:cNvGrpSpPr/>
        <p:nvPr/>
      </p:nvGrpSpPr>
      <p:grpSpPr>
        <a:xfrm>
          <a:off x="0" y="0"/>
          <a:ext cx="0" cy="0"/>
          <a:chOff x="0" y="0"/>
          <a:chExt cx="0" cy="0"/>
        </a:xfrm>
      </p:grpSpPr>
      <p:pic>
        <p:nvPicPr>
          <p:cNvPr id="2" name="Image 0" descr="Slide: Cost reduction.">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3435287"/>
            <a:ext cx="1369457"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Non-Rayong overview 2026</a:t>
            </a:r>
            <a:endParaRPr lang="en-US" sz="720" dirty="0"/>
          </a:p>
        </p:txBody>
      </p:sp>
      <p:sp>
        <p:nvSpPr>
          <p:cNvPr id="4" name="Text 1"/>
          <p:cNvSpPr txBox="1"/>
          <p:nvPr/>
        </p:nvSpPr>
        <p:spPr>
          <a:xfrm>
            <a:off x="457200" y="3746183"/>
            <a:ext cx="3357677" cy="538659"/>
          </a:xfrm>
          <a:prstGeom prst="rect">
            <a:avLst/>
          </a:prstGeom>
          <a:noFill/>
          <a:ln/>
        </p:spPr>
        <p:txBody>
          <a:bodyPr wrap="none" lIns="0" tIns="0" rIns="0" bIns="0" rtlCol="0" anchor="t"/>
          <a:lstStyle/>
          <a:p>
            <a:pPr algn="l" indent="0" marL="0">
              <a:lnSpc>
                <a:spcPts val="3260"/>
              </a:lnSpc>
              <a:buNone/>
            </a:pPr>
            <a:r>
              <a:rPr lang="en-US" sz="3170" b="1" spc="-158" kern="0" dirty="0">
                <a:solidFill>
                  <a:srgbClr val="FFFFFF"/>
                </a:solidFill>
                <a:latin typeface="Arial" pitchFamily="34" charset="0"/>
                <a:ea typeface="Arial" pitchFamily="34" charset="-122"/>
                <a:cs typeface="Arial" pitchFamily="34" charset="-120"/>
              </a:rPr>
              <a:t>Cost reduction.</a:t>
            </a:r>
            <a:endParaRPr lang="en-US" sz="3170" dirty="0"/>
          </a:p>
        </p:txBody>
      </p:sp>
      <p:sp>
        <p:nvSpPr>
          <p:cNvPr id="5" name="Text 2"/>
          <p:cNvSpPr txBox="1"/>
          <p:nvPr/>
        </p:nvSpPr>
        <p:spPr>
          <a:xfrm>
            <a:off x="457200" y="4270248"/>
            <a:ext cx="3099816" cy="378562"/>
          </a:xfrm>
          <a:prstGeom prst="rect">
            <a:avLst/>
          </a:prstGeom>
          <a:noFill/>
          <a:ln/>
        </p:spPr>
        <p:txBody>
          <a:bodyPr wrap="square" lIns="0" tIns="0" rIns="0" bIns="0" rtlCol="0" anchor="t"/>
          <a:lstStyle/>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A new beverage supplier, and a 2026 drink mix that</a:t>
            </a:r>
            <a:endParaRPr lang="en-US" sz="860" dirty="0"/>
          </a:p>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lowers the cost per unit.</a:t>
            </a:r>
            <a:endParaRPr lang="en-US"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DFE"/>
        </a:solidFill>
      </p:bgPr>
    </p:bg>
    <p:spTree>
      <p:nvGrpSpPr>
        <p:cNvPr id="1" name=""/>
        <p:cNvGrpSpPr/>
        <p:nvPr/>
      </p:nvGrpSpPr>
      <p:grpSpPr>
        <a:xfrm>
          <a:off x="0" y="0"/>
          <a:ext cx="0" cy="0"/>
          <a:chOff x="0" y="0"/>
          <a:chExt cx="0" cy="0"/>
        </a:xfrm>
      </p:grpSpPr>
      <p:pic>
        <p:nvPicPr>
          <p:cNvPr id="2" name="Image 0" descr="Slide: Supplier change reduced unit cost by 30%.">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1114236"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02 · Beverage supplier</a:t>
            </a:r>
            <a:endParaRPr lang="en-US" sz="720" dirty="0"/>
          </a:p>
        </p:txBody>
      </p:sp>
      <p:sp>
        <p:nvSpPr>
          <p:cNvPr id="4" name="Text 1"/>
          <p:cNvSpPr txBox="1"/>
          <p:nvPr/>
        </p:nvSpPr>
        <p:spPr>
          <a:xfrm>
            <a:off x="457200" y="1252728"/>
            <a:ext cx="5816836"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Supplier change reduced unit cost by 30%.</a:t>
            </a:r>
            <a:endParaRPr lang="en-US" sz="2380" dirty="0"/>
          </a:p>
        </p:txBody>
      </p:sp>
      <p:sp>
        <p:nvSpPr>
          <p:cNvPr id="5" name="Text 2"/>
          <p:cNvSpPr txBox="1"/>
          <p:nvPr/>
        </p:nvSpPr>
        <p:spPr>
          <a:xfrm>
            <a:off x="457200" y="1636633"/>
            <a:ext cx="3946042" cy="231800"/>
          </a:xfrm>
          <a:prstGeom prst="rect">
            <a:avLst/>
          </a:prstGeom>
          <a:noFill/>
          <a:ln/>
        </p:spPr>
        <p:txBody>
          <a:bodyPr wrap="non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Lower purchase cost, with the monthly operating trend kept in view.</a:t>
            </a:r>
            <a:endParaRPr lang="en-US" sz="940" dirty="0"/>
          </a:p>
        </p:txBody>
      </p:sp>
      <p:sp>
        <p:nvSpPr>
          <p:cNvPr id="6" name="Text 3"/>
          <p:cNvSpPr txBox="1"/>
          <p:nvPr/>
        </p:nvSpPr>
        <p:spPr>
          <a:xfrm>
            <a:off x="603504" y="2313432"/>
            <a:ext cx="2646639"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5F7691"/>
                </a:solidFill>
                <a:latin typeface="Arial" pitchFamily="34" charset="0"/>
                <a:ea typeface="Arial" pitchFamily="34" charset="-122"/>
                <a:cs typeface="Arial" pitchFamily="34" charset="-120"/>
              </a:rPr>
              <a:t>PREVIOUS SUPPLIER</a:t>
            </a:r>
            <a:endParaRPr lang="en-US" sz="650" dirty="0"/>
          </a:p>
        </p:txBody>
      </p:sp>
      <p:sp>
        <p:nvSpPr>
          <p:cNvPr id="7" name="Text 4"/>
          <p:cNvSpPr txBox="1"/>
          <p:nvPr/>
        </p:nvSpPr>
        <p:spPr>
          <a:xfrm>
            <a:off x="603504" y="2477453"/>
            <a:ext cx="2646639" cy="405296"/>
          </a:xfrm>
          <a:prstGeom prst="rect">
            <a:avLst/>
          </a:prstGeom>
          <a:noFill/>
          <a:ln/>
        </p:spPr>
        <p:txBody>
          <a:bodyPr wrap="none" lIns="0" tIns="0" rIns="0" bIns="0" rtlCol="0" anchor="t"/>
          <a:lstStyle/>
          <a:p>
            <a:pPr algn="l" indent="0" marL="0">
              <a:lnSpc>
                <a:spcPts val="2460"/>
              </a:lnSpc>
              <a:buNone/>
            </a:pPr>
            <a:r>
              <a:rPr lang="en-US" sz="1580" b="1" spc="-48" kern="0" dirty="0">
                <a:solidFill>
                  <a:srgbClr val="5F7691"/>
                </a:solidFill>
                <a:latin typeface="Arial" pitchFamily="34" charset="0"/>
                <a:ea typeface="Arial" pitchFamily="34" charset="-122"/>
                <a:cs typeface="Arial" pitchFamily="34" charset="-120"/>
              </a:rPr>
              <a:t>22.34 THB / unit</a:t>
            </a:r>
            <a:endParaRPr lang="en-US" sz="1580" dirty="0"/>
          </a:p>
        </p:txBody>
      </p:sp>
      <p:sp>
        <p:nvSpPr>
          <p:cNvPr id="8" name="Text 5"/>
          <p:cNvSpPr txBox="1"/>
          <p:nvPr/>
        </p:nvSpPr>
        <p:spPr>
          <a:xfrm>
            <a:off x="603504" y="2825782"/>
            <a:ext cx="2646639"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Monthly avg. 80,899.75 THB</a:t>
            </a:r>
            <a:endParaRPr lang="en-US" sz="720" dirty="0"/>
          </a:p>
        </p:txBody>
      </p:sp>
      <p:sp>
        <p:nvSpPr>
          <p:cNvPr id="9" name="Text 6"/>
          <p:cNvSpPr txBox="1"/>
          <p:nvPr/>
        </p:nvSpPr>
        <p:spPr>
          <a:xfrm>
            <a:off x="603504" y="3333274"/>
            <a:ext cx="2646639"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1A62D6"/>
                </a:solidFill>
                <a:latin typeface="Arial" pitchFamily="34" charset="0"/>
                <a:ea typeface="Arial" pitchFamily="34" charset="-122"/>
                <a:cs typeface="Arial" pitchFamily="34" charset="-120"/>
              </a:rPr>
              <a:t>CURRENT SUPPLIER</a:t>
            </a:r>
            <a:endParaRPr lang="en-US" sz="650" dirty="0"/>
          </a:p>
        </p:txBody>
      </p:sp>
      <p:sp>
        <p:nvSpPr>
          <p:cNvPr id="10" name="Text 7"/>
          <p:cNvSpPr txBox="1"/>
          <p:nvPr/>
        </p:nvSpPr>
        <p:spPr>
          <a:xfrm>
            <a:off x="603504" y="3497294"/>
            <a:ext cx="2646639" cy="405296"/>
          </a:xfrm>
          <a:prstGeom prst="rect">
            <a:avLst/>
          </a:prstGeom>
          <a:noFill/>
          <a:ln/>
        </p:spPr>
        <p:txBody>
          <a:bodyPr wrap="none" lIns="0" tIns="0" rIns="0" bIns="0" rtlCol="0" anchor="t"/>
          <a:lstStyle/>
          <a:p>
            <a:pPr algn="l" indent="0" marL="0">
              <a:lnSpc>
                <a:spcPts val="2460"/>
              </a:lnSpc>
              <a:buNone/>
            </a:pPr>
            <a:r>
              <a:rPr lang="en-US" sz="1580" b="1" spc="-48" kern="0" dirty="0">
                <a:solidFill>
                  <a:srgbClr val="1A62D6"/>
                </a:solidFill>
                <a:latin typeface="Arial" pitchFamily="34" charset="0"/>
                <a:ea typeface="Arial" pitchFamily="34" charset="-122"/>
                <a:cs typeface="Arial" pitchFamily="34" charset="-120"/>
              </a:rPr>
              <a:t>15.68 THB / unit</a:t>
            </a:r>
            <a:endParaRPr lang="en-US" sz="1580" dirty="0"/>
          </a:p>
        </p:txBody>
      </p:sp>
      <p:sp>
        <p:nvSpPr>
          <p:cNvPr id="11" name="Text 8"/>
          <p:cNvSpPr txBox="1"/>
          <p:nvPr/>
        </p:nvSpPr>
        <p:spPr>
          <a:xfrm>
            <a:off x="603504" y="3845624"/>
            <a:ext cx="2646639"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Monthly avg. 64,983.03 THB</a:t>
            </a:r>
            <a:endParaRPr lang="en-US" sz="720" dirty="0"/>
          </a:p>
        </p:txBody>
      </p:sp>
      <p:sp>
        <p:nvSpPr>
          <p:cNvPr id="12" name="Text 9"/>
          <p:cNvSpPr txBox="1"/>
          <p:nvPr/>
        </p:nvSpPr>
        <p:spPr>
          <a:xfrm>
            <a:off x="3685032" y="2340864"/>
            <a:ext cx="1262832" cy="211775"/>
          </a:xfrm>
          <a:prstGeom prst="rect">
            <a:avLst/>
          </a:prstGeom>
          <a:noFill/>
          <a:ln/>
        </p:spPr>
        <p:txBody>
          <a:bodyPr wrap="none" lIns="0" tIns="0" rIns="0" bIns="0" rtlCol="0" anchor="t"/>
          <a:lstStyle/>
          <a:p>
            <a:pPr algn="l" indent="0" marL="0">
              <a:lnSpc>
                <a:spcPts val="1280"/>
              </a:lnSpc>
              <a:buNone/>
            </a:pPr>
            <a:r>
              <a:rPr lang="en-US" sz="830" b="1" dirty="0">
                <a:solidFill>
                  <a:srgbClr val="071A33"/>
                </a:solidFill>
                <a:latin typeface="Arial" pitchFamily="34" charset="0"/>
                <a:ea typeface="Arial" pitchFamily="34" charset="-122"/>
                <a:cs typeface="Arial" pitchFamily="34" charset="-120"/>
              </a:rPr>
              <a:t>Total cost and cost / HC</a:t>
            </a:r>
            <a:endParaRPr lang="en-US" sz="830" dirty="0"/>
          </a:p>
        </p:txBody>
      </p:sp>
      <p:sp>
        <p:nvSpPr>
          <p:cNvPr id="13" name="Text 10"/>
          <p:cNvSpPr txBox="1"/>
          <p:nvPr/>
        </p:nvSpPr>
        <p:spPr>
          <a:xfrm>
            <a:off x="5962460" y="2351437"/>
            <a:ext cx="776463"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Previous supplier</a:t>
            </a:r>
            <a:endParaRPr lang="en-US" sz="720" dirty="0"/>
          </a:p>
        </p:txBody>
      </p:sp>
      <p:sp>
        <p:nvSpPr>
          <p:cNvPr id="14" name="Text 11"/>
          <p:cNvSpPr txBox="1"/>
          <p:nvPr/>
        </p:nvSpPr>
        <p:spPr>
          <a:xfrm>
            <a:off x="6937439" y="2351437"/>
            <a:ext cx="738195"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Current supplier</a:t>
            </a:r>
            <a:endParaRPr lang="en-US" sz="720" dirty="0"/>
          </a:p>
        </p:txBody>
      </p:sp>
      <p:sp>
        <p:nvSpPr>
          <p:cNvPr id="15" name="Text 12"/>
          <p:cNvSpPr txBox="1"/>
          <p:nvPr/>
        </p:nvSpPr>
        <p:spPr>
          <a:xfrm>
            <a:off x="7876985" y="2351437"/>
            <a:ext cx="69684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Cost / HC, right</a:t>
            </a:r>
            <a:endParaRPr lang="en-US" sz="720" dirty="0"/>
          </a:p>
        </p:txBody>
      </p:sp>
      <p:sp>
        <p:nvSpPr>
          <p:cNvPr id="16" name="Text 13"/>
          <p:cNvSpPr txBox="1"/>
          <p:nvPr/>
        </p:nvSpPr>
        <p:spPr>
          <a:xfrm>
            <a:off x="3685032" y="4515993"/>
            <a:ext cx="5224150" cy="165712"/>
          </a:xfrm>
          <a:prstGeom prst="rect">
            <a:avLst/>
          </a:prstGeom>
          <a:noFill/>
          <a:ln/>
        </p:spPr>
        <p:txBody>
          <a:bodyPr wrap="none" lIns="0" tIns="0" rIns="0" bIns="0" rtlCol="0" anchor="t"/>
          <a:lstStyle/>
          <a:p>
            <a:pPr algn="l" indent="0" marL="0">
              <a:lnSpc>
                <a:spcPts val="1000"/>
              </a:lnSpc>
              <a:buNone/>
            </a:pPr>
            <a:r>
              <a:rPr lang="en-US" sz="650" dirty="0">
                <a:solidFill>
                  <a:srgbClr val="5F7691"/>
                </a:solidFill>
                <a:latin typeface="Arial" pitchFamily="34" charset="0"/>
                <a:ea typeface="Arial" pitchFamily="34" charset="-122"/>
                <a:cs typeface="Arial" pitchFamily="34" charset="-120"/>
              </a:rPr>
              <a:t>Monthly sequence as supplied · Supplier change from Aug onward</a:t>
            </a:r>
            <a:endParaRPr lang="en-US" sz="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DFE"/>
        </a:solidFill>
      </p:bgPr>
    </p:bg>
    <p:spTree>
      <p:nvGrpSpPr>
        <p:cNvPr id="1" name=""/>
        <p:cNvGrpSpPr/>
        <p:nvPr/>
      </p:nvGrpSpPr>
      <p:grpSpPr>
        <a:xfrm>
          <a:off x="0" y="0"/>
          <a:ext cx="0" cy="0"/>
          <a:chOff x="0" y="0"/>
          <a:chExt cx="0" cy="0"/>
        </a:xfrm>
      </p:grpSpPr>
      <p:pic>
        <p:nvPicPr>
          <p:cNvPr id="2" name="Image 0" descr="Slide: 2026 drink mix cuts unit cost by a further 25.2%.">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728628"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02 · Drink mix</a:t>
            </a:r>
            <a:endParaRPr lang="en-US" sz="720" dirty="0"/>
          </a:p>
        </p:txBody>
      </p:sp>
      <p:sp>
        <p:nvSpPr>
          <p:cNvPr id="4" name="Text 1"/>
          <p:cNvSpPr txBox="1"/>
          <p:nvPr/>
        </p:nvSpPr>
        <p:spPr>
          <a:xfrm>
            <a:off x="457200" y="1252728"/>
            <a:ext cx="6464917"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2026 drink mix cuts unit cost by a further 25.2%.</a:t>
            </a:r>
            <a:endParaRPr lang="en-US" sz="2380" dirty="0"/>
          </a:p>
        </p:txBody>
      </p:sp>
      <p:sp>
        <p:nvSpPr>
          <p:cNvPr id="5" name="Text 2"/>
          <p:cNvSpPr txBox="1"/>
          <p:nvPr/>
        </p:nvSpPr>
        <p:spPr>
          <a:xfrm>
            <a:off x="457200" y="1636633"/>
            <a:ext cx="3886480" cy="231800"/>
          </a:xfrm>
          <a:prstGeom prst="rect">
            <a:avLst/>
          </a:prstGeom>
          <a:noFill/>
          <a:ln/>
        </p:spPr>
        <p:txBody>
          <a:bodyPr wrap="non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Redistribute the beverage mix and introduce herbal drinks and tea.</a:t>
            </a:r>
            <a:endParaRPr lang="en-US" sz="940" dirty="0"/>
          </a:p>
        </p:txBody>
      </p:sp>
      <p:sp>
        <p:nvSpPr>
          <p:cNvPr id="6" name="Text 3"/>
          <p:cNvSpPr txBox="1"/>
          <p:nvPr/>
        </p:nvSpPr>
        <p:spPr>
          <a:xfrm>
            <a:off x="621792" y="2128695"/>
            <a:ext cx="1481328"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0B4FBF"/>
                </a:solidFill>
                <a:latin typeface="Arial" pitchFamily="34" charset="0"/>
                <a:ea typeface="Arial" pitchFamily="34" charset="-122"/>
                <a:cs typeface="Arial" pitchFamily="34" charset="-120"/>
              </a:rPr>
              <a:t>BEVERAGE ALLOCATION</a:t>
            </a:r>
            <a:endParaRPr lang="en-US" sz="650" dirty="0"/>
          </a:p>
        </p:txBody>
      </p:sp>
      <p:sp>
        <p:nvSpPr>
          <p:cNvPr id="7" name="Text 4"/>
          <p:cNvSpPr txBox="1"/>
          <p:nvPr/>
        </p:nvSpPr>
        <p:spPr>
          <a:xfrm>
            <a:off x="2139696" y="2128695"/>
            <a:ext cx="1688714"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0B4FBF"/>
                </a:solidFill>
                <a:latin typeface="Arial" pitchFamily="34" charset="0"/>
                <a:ea typeface="Arial" pitchFamily="34" charset="-122"/>
                <a:cs typeface="Arial" pitchFamily="34" charset="-120"/>
              </a:rPr>
              <a:t>Y2025</a:t>
            </a:r>
            <a:endParaRPr lang="en-US" sz="650" dirty="0"/>
          </a:p>
        </p:txBody>
      </p:sp>
      <p:sp>
        <p:nvSpPr>
          <p:cNvPr id="8" name="Text 5"/>
          <p:cNvSpPr txBox="1"/>
          <p:nvPr/>
        </p:nvSpPr>
        <p:spPr>
          <a:xfrm>
            <a:off x="3849624" y="2128695"/>
            <a:ext cx="1688714"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0B4FBF"/>
                </a:solidFill>
                <a:latin typeface="Arial" pitchFamily="34" charset="0"/>
                <a:ea typeface="Arial" pitchFamily="34" charset="-122"/>
                <a:cs typeface="Arial" pitchFamily="34" charset="-120"/>
              </a:rPr>
              <a:t>Y2026</a:t>
            </a:r>
            <a:endParaRPr lang="en-US" sz="650" dirty="0"/>
          </a:p>
        </p:txBody>
      </p:sp>
      <p:sp>
        <p:nvSpPr>
          <p:cNvPr id="9" name="Text 6"/>
          <p:cNvSpPr txBox="1"/>
          <p:nvPr/>
        </p:nvSpPr>
        <p:spPr>
          <a:xfrm>
            <a:off x="621792" y="2353008"/>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Electrolyte drink</a:t>
            </a:r>
            <a:endParaRPr lang="en-US" sz="790" dirty="0"/>
          </a:p>
        </p:txBody>
      </p:sp>
      <p:sp>
        <p:nvSpPr>
          <p:cNvPr id="10" name="Text 7"/>
          <p:cNvSpPr txBox="1"/>
          <p:nvPr/>
        </p:nvSpPr>
        <p:spPr>
          <a:xfrm>
            <a:off x="3537585" y="2356580"/>
            <a:ext cx="178994"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21%</a:t>
            </a:r>
            <a:endParaRPr lang="en-US" sz="760" dirty="0"/>
          </a:p>
        </p:txBody>
      </p:sp>
      <p:sp>
        <p:nvSpPr>
          <p:cNvPr id="11" name="Text 8"/>
          <p:cNvSpPr txBox="1"/>
          <p:nvPr/>
        </p:nvSpPr>
        <p:spPr>
          <a:xfrm>
            <a:off x="5218224" y="2356580"/>
            <a:ext cx="210626"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50%</a:t>
            </a:r>
            <a:endParaRPr lang="en-US" sz="760" dirty="0"/>
          </a:p>
        </p:txBody>
      </p:sp>
      <p:sp>
        <p:nvSpPr>
          <p:cNvPr id="12" name="Text 9"/>
          <p:cNvSpPr txBox="1"/>
          <p:nvPr/>
        </p:nvSpPr>
        <p:spPr>
          <a:xfrm>
            <a:off x="621792" y="2605754"/>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Soft drink</a:t>
            </a:r>
            <a:endParaRPr lang="en-US" sz="790" dirty="0"/>
          </a:p>
        </p:txBody>
      </p:sp>
      <p:sp>
        <p:nvSpPr>
          <p:cNvPr id="13" name="Text 10"/>
          <p:cNvSpPr txBox="1"/>
          <p:nvPr/>
        </p:nvSpPr>
        <p:spPr>
          <a:xfrm>
            <a:off x="3517583" y="2609326"/>
            <a:ext cx="200597"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53%</a:t>
            </a:r>
            <a:endParaRPr lang="en-US" sz="760" dirty="0"/>
          </a:p>
        </p:txBody>
      </p:sp>
      <p:sp>
        <p:nvSpPr>
          <p:cNvPr id="14" name="Text 11"/>
          <p:cNvSpPr txBox="1"/>
          <p:nvPr/>
        </p:nvSpPr>
        <p:spPr>
          <a:xfrm>
            <a:off x="5245227" y="2609326"/>
            <a:ext cx="181463"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14%</a:t>
            </a:r>
            <a:endParaRPr lang="en-US" sz="760" dirty="0"/>
          </a:p>
        </p:txBody>
      </p:sp>
      <p:sp>
        <p:nvSpPr>
          <p:cNvPr id="15" name="Text 12"/>
          <p:cNvSpPr txBox="1"/>
          <p:nvPr/>
        </p:nvSpPr>
        <p:spPr>
          <a:xfrm>
            <a:off x="621792" y="2858500"/>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Energy drink</a:t>
            </a:r>
            <a:endParaRPr lang="en-US" sz="790" dirty="0"/>
          </a:p>
        </p:txBody>
      </p:sp>
      <p:sp>
        <p:nvSpPr>
          <p:cNvPr id="16" name="Text 13"/>
          <p:cNvSpPr txBox="1"/>
          <p:nvPr/>
        </p:nvSpPr>
        <p:spPr>
          <a:xfrm>
            <a:off x="3537585" y="2862072"/>
            <a:ext cx="178994"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21%</a:t>
            </a:r>
            <a:endParaRPr lang="en-US" sz="760" dirty="0"/>
          </a:p>
        </p:txBody>
      </p:sp>
      <p:sp>
        <p:nvSpPr>
          <p:cNvPr id="17" name="Text 14"/>
          <p:cNvSpPr txBox="1"/>
          <p:nvPr/>
        </p:nvSpPr>
        <p:spPr>
          <a:xfrm>
            <a:off x="5248513" y="2862072"/>
            <a:ext cx="177914"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15%</a:t>
            </a:r>
            <a:endParaRPr lang="en-US" sz="760" dirty="0"/>
          </a:p>
        </p:txBody>
      </p:sp>
      <p:sp>
        <p:nvSpPr>
          <p:cNvPr id="18" name="Text 15"/>
          <p:cNvSpPr txBox="1"/>
          <p:nvPr/>
        </p:nvSpPr>
        <p:spPr>
          <a:xfrm>
            <a:off x="621792" y="3111246"/>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Ready to drink coffee</a:t>
            </a:r>
            <a:endParaRPr lang="en-US" sz="790" dirty="0"/>
          </a:p>
        </p:txBody>
      </p:sp>
      <p:sp>
        <p:nvSpPr>
          <p:cNvPr id="19" name="Text 16"/>
          <p:cNvSpPr txBox="1"/>
          <p:nvPr/>
        </p:nvSpPr>
        <p:spPr>
          <a:xfrm>
            <a:off x="3571875" y="3114818"/>
            <a:ext cx="141961"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8%</a:t>
            </a:r>
            <a:endParaRPr lang="en-US" sz="760" dirty="0"/>
          </a:p>
        </p:txBody>
      </p:sp>
      <p:sp>
        <p:nvSpPr>
          <p:cNvPr id="20" name="Text 17"/>
          <p:cNvSpPr txBox="1"/>
          <p:nvPr/>
        </p:nvSpPr>
        <p:spPr>
          <a:xfrm>
            <a:off x="5284518" y="3114818"/>
            <a:ext cx="139029"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7%</a:t>
            </a:r>
            <a:endParaRPr lang="en-US" sz="760" dirty="0"/>
          </a:p>
        </p:txBody>
      </p:sp>
      <p:sp>
        <p:nvSpPr>
          <p:cNvPr id="21" name="Text 18"/>
          <p:cNvSpPr txBox="1"/>
          <p:nvPr/>
        </p:nvSpPr>
        <p:spPr>
          <a:xfrm>
            <a:off x="621792" y="3363992"/>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Herbal drink</a:t>
            </a:r>
            <a:pPr algn="l" indent="0" marL="0">
              <a:lnSpc>
                <a:spcPts val="1230"/>
              </a:lnSpc>
              <a:buNone/>
            </a:pPr>
            <a:r>
              <a:rPr lang="en-US" sz="790" b="1" dirty="0">
                <a:solidFill>
                  <a:srgbClr val="0B4FBF"/>
                </a:solidFill>
                <a:latin typeface="Arial" pitchFamily="34" charset="0"/>
                <a:ea typeface="Arial" pitchFamily="34" charset="-122"/>
                <a:cs typeface="Arial" pitchFamily="34" charset="-120"/>
              </a:rPr>
              <a:t> New</a:t>
            </a:r>
            <a:endParaRPr lang="en-US" sz="790" dirty="0"/>
          </a:p>
        </p:txBody>
      </p:sp>
      <p:sp>
        <p:nvSpPr>
          <p:cNvPr id="22" name="Text 19"/>
          <p:cNvSpPr txBox="1"/>
          <p:nvPr/>
        </p:nvSpPr>
        <p:spPr>
          <a:xfrm>
            <a:off x="3654600" y="3367564"/>
            <a:ext cx="52618"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a:t>
            </a:r>
            <a:endParaRPr lang="en-US" sz="760" dirty="0"/>
          </a:p>
        </p:txBody>
      </p:sp>
      <p:sp>
        <p:nvSpPr>
          <p:cNvPr id="23" name="Text 20"/>
          <p:cNvSpPr txBox="1"/>
          <p:nvPr/>
        </p:nvSpPr>
        <p:spPr>
          <a:xfrm>
            <a:off x="5284518" y="3367564"/>
            <a:ext cx="139029"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7%</a:t>
            </a:r>
            <a:endParaRPr lang="en-US" sz="760" dirty="0"/>
          </a:p>
        </p:txBody>
      </p:sp>
      <p:sp>
        <p:nvSpPr>
          <p:cNvPr id="24" name="Text 21"/>
          <p:cNvSpPr txBox="1"/>
          <p:nvPr/>
        </p:nvSpPr>
        <p:spPr>
          <a:xfrm>
            <a:off x="621792" y="3616738"/>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Tea</a:t>
            </a:r>
            <a:pPr algn="l" indent="0" marL="0">
              <a:lnSpc>
                <a:spcPts val="1230"/>
              </a:lnSpc>
              <a:buNone/>
            </a:pPr>
            <a:r>
              <a:rPr lang="en-US" sz="790" b="1" dirty="0">
                <a:solidFill>
                  <a:srgbClr val="0B4FBF"/>
                </a:solidFill>
                <a:latin typeface="Arial" pitchFamily="34" charset="0"/>
                <a:ea typeface="Arial" pitchFamily="34" charset="-122"/>
                <a:cs typeface="Arial" pitchFamily="34" charset="-120"/>
              </a:rPr>
              <a:t> New</a:t>
            </a:r>
            <a:endParaRPr lang="en-US" sz="790" dirty="0"/>
          </a:p>
        </p:txBody>
      </p:sp>
      <p:sp>
        <p:nvSpPr>
          <p:cNvPr id="25" name="Text 22"/>
          <p:cNvSpPr txBox="1"/>
          <p:nvPr/>
        </p:nvSpPr>
        <p:spPr>
          <a:xfrm>
            <a:off x="3654600" y="3620310"/>
            <a:ext cx="52618"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a:t>
            </a:r>
            <a:endParaRPr lang="en-US" sz="760" dirty="0"/>
          </a:p>
        </p:txBody>
      </p:sp>
      <p:sp>
        <p:nvSpPr>
          <p:cNvPr id="26" name="Text 23"/>
          <p:cNvSpPr txBox="1"/>
          <p:nvPr/>
        </p:nvSpPr>
        <p:spPr>
          <a:xfrm>
            <a:off x="5284518" y="3620310"/>
            <a:ext cx="139029"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7%</a:t>
            </a:r>
            <a:endParaRPr lang="en-US" sz="760" dirty="0"/>
          </a:p>
        </p:txBody>
      </p:sp>
      <p:sp>
        <p:nvSpPr>
          <p:cNvPr id="27" name="Text 24"/>
          <p:cNvSpPr txBox="1"/>
          <p:nvPr/>
        </p:nvSpPr>
        <p:spPr>
          <a:xfrm>
            <a:off x="6016752" y="2084832"/>
            <a:ext cx="2705892"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0B4FBF"/>
                </a:solidFill>
                <a:latin typeface="Arial" pitchFamily="34" charset="0"/>
                <a:ea typeface="Arial" pitchFamily="34" charset="-122"/>
                <a:cs typeface="Arial" pitchFamily="34" charset="-120"/>
              </a:rPr>
              <a:t>EXPECTED COST / UNIT</a:t>
            </a:r>
            <a:endParaRPr lang="en-US" sz="650" dirty="0"/>
          </a:p>
        </p:txBody>
      </p:sp>
      <p:sp>
        <p:nvSpPr>
          <p:cNvPr id="28" name="Text 25"/>
          <p:cNvSpPr txBox="1"/>
          <p:nvPr/>
        </p:nvSpPr>
        <p:spPr>
          <a:xfrm>
            <a:off x="6016752" y="2285429"/>
            <a:ext cx="2705892" cy="546811"/>
          </a:xfrm>
          <a:prstGeom prst="rect">
            <a:avLst/>
          </a:prstGeom>
          <a:noFill/>
          <a:ln/>
        </p:spPr>
        <p:txBody>
          <a:bodyPr wrap="none" lIns="0" tIns="0" rIns="0" bIns="0" rtlCol="0" anchor="t"/>
          <a:lstStyle/>
          <a:p>
            <a:pPr algn="l" indent="0" marL="0">
              <a:lnSpc>
                <a:spcPts val="3310"/>
              </a:lnSpc>
              <a:buNone/>
            </a:pPr>
            <a:r>
              <a:rPr lang="en-US" sz="3310" b="1" spc="-166" kern="0" dirty="0">
                <a:solidFill>
                  <a:srgbClr val="071A33"/>
                </a:solidFill>
                <a:latin typeface="Arial" pitchFamily="34" charset="0"/>
                <a:ea typeface="Arial" pitchFamily="34" charset="-122"/>
                <a:cs typeface="Arial" pitchFamily="34" charset="-120"/>
              </a:rPr>
              <a:t>11.73</a:t>
            </a:r>
            <a:endParaRPr lang="en-US" sz="3310" dirty="0"/>
          </a:p>
        </p:txBody>
      </p:sp>
      <p:sp>
        <p:nvSpPr>
          <p:cNvPr id="29" name="Text 26"/>
          <p:cNvSpPr txBox="1"/>
          <p:nvPr/>
        </p:nvSpPr>
        <p:spPr>
          <a:xfrm>
            <a:off x="6016752" y="2733485"/>
            <a:ext cx="2705892" cy="202648"/>
          </a:xfrm>
          <a:prstGeom prst="rect">
            <a:avLst/>
          </a:prstGeom>
          <a:noFill/>
          <a:ln/>
        </p:spPr>
        <p:txBody>
          <a:bodyPr wrap="none" lIns="0" tIns="0" rIns="0" bIns="0" rtlCol="0" anchor="t"/>
          <a:lstStyle/>
          <a:p>
            <a:pPr algn="l" indent="0" marL="0">
              <a:lnSpc>
                <a:spcPts val="1230"/>
              </a:lnSpc>
              <a:buNone/>
            </a:pPr>
            <a:r>
              <a:rPr lang="en-US" sz="790" dirty="0">
                <a:solidFill>
                  <a:srgbClr val="4D6585"/>
                </a:solidFill>
                <a:latin typeface="Arial" pitchFamily="34" charset="0"/>
                <a:ea typeface="Arial" pitchFamily="34" charset="-122"/>
                <a:cs typeface="Arial" pitchFamily="34" charset="-120"/>
              </a:rPr>
              <a:t>THB / unit</a:t>
            </a:r>
            <a:endParaRPr lang="en-US" sz="790" dirty="0"/>
          </a:p>
        </p:txBody>
      </p:sp>
      <p:sp>
        <p:nvSpPr>
          <p:cNvPr id="30" name="Text 27"/>
          <p:cNvSpPr txBox="1"/>
          <p:nvPr/>
        </p:nvSpPr>
        <p:spPr>
          <a:xfrm>
            <a:off x="6016752" y="3044809"/>
            <a:ext cx="691286" cy="386900"/>
          </a:xfrm>
          <a:prstGeom prst="rect">
            <a:avLst/>
          </a:prstGeom>
          <a:noFill/>
          <a:ln/>
        </p:spPr>
        <p:txBody>
          <a:bodyPr wrap="none" lIns="0" tIns="0" rIns="0" bIns="0" rtlCol="0" anchor="t"/>
          <a:lstStyle/>
          <a:p>
            <a:pPr algn="l" indent="0" marL="0">
              <a:lnSpc>
                <a:spcPts val="2340"/>
              </a:lnSpc>
              <a:buNone/>
            </a:pPr>
            <a:r>
              <a:rPr lang="en-US" sz="1510" b="1" spc="-60" kern="0" dirty="0">
                <a:solidFill>
                  <a:srgbClr val="1A62D6"/>
                </a:solidFill>
                <a:latin typeface="Arial" pitchFamily="34" charset="0"/>
                <a:ea typeface="Arial" pitchFamily="34" charset="-122"/>
                <a:cs typeface="Arial" pitchFamily="34" charset="-120"/>
              </a:rPr>
              <a:t>3.95</a:t>
            </a:r>
            <a:endParaRPr lang="en-US" sz="1510" dirty="0"/>
          </a:p>
        </p:txBody>
      </p:sp>
      <p:sp>
        <p:nvSpPr>
          <p:cNvPr id="31" name="Text 28"/>
          <p:cNvSpPr txBox="1"/>
          <p:nvPr/>
        </p:nvSpPr>
        <p:spPr>
          <a:xfrm>
            <a:off x="6748272" y="3058954"/>
            <a:ext cx="191585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THB saved per unit</a:t>
            </a:r>
            <a:endParaRPr lang="en-US" sz="720" dirty="0"/>
          </a:p>
        </p:txBody>
      </p:sp>
      <p:sp>
        <p:nvSpPr>
          <p:cNvPr id="32" name="Text 29"/>
          <p:cNvSpPr txBox="1"/>
          <p:nvPr/>
        </p:nvSpPr>
        <p:spPr>
          <a:xfrm>
            <a:off x="6748272" y="3200686"/>
            <a:ext cx="1915851" cy="165712"/>
          </a:xfrm>
          <a:prstGeom prst="rect">
            <a:avLst/>
          </a:prstGeom>
          <a:noFill/>
          <a:ln/>
        </p:spPr>
        <p:txBody>
          <a:bodyPr wrap="none" lIns="0" tIns="0" rIns="0" bIns="0" rtlCol="0" anchor="t"/>
          <a:lstStyle/>
          <a:p>
            <a:pPr algn="l" indent="0" marL="0">
              <a:lnSpc>
                <a:spcPts val="1000"/>
              </a:lnSpc>
              <a:buNone/>
            </a:pPr>
            <a:r>
              <a:rPr lang="en-US" sz="650" dirty="0">
                <a:solidFill>
                  <a:srgbClr val="6C84A3"/>
                </a:solidFill>
                <a:latin typeface="Arial" pitchFamily="34" charset="0"/>
                <a:ea typeface="Arial" pitchFamily="34" charset="-122"/>
                <a:cs typeface="Arial" pitchFamily="34" charset="-120"/>
              </a:rPr>
              <a:t>15.68 − 11.73 = 3.95</a:t>
            </a:r>
            <a:endParaRPr lang="en-US" sz="650" dirty="0"/>
          </a:p>
        </p:txBody>
      </p:sp>
      <p:sp>
        <p:nvSpPr>
          <p:cNvPr id="33" name="Text 30"/>
          <p:cNvSpPr txBox="1"/>
          <p:nvPr/>
        </p:nvSpPr>
        <p:spPr>
          <a:xfrm>
            <a:off x="6016752" y="3497866"/>
            <a:ext cx="691286" cy="386900"/>
          </a:xfrm>
          <a:prstGeom prst="rect">
            <a:avLst/>
          </a:prstGeom>
          <a:noFill/>
          <a:ln/>
        </p:spPr>
        <p:txBody>
          <a:bodyPr wrap="none" lIns="0" tIns="0" rIns="0" bIns="0" rtlCol="0" anchor="t"/>
          <a:lstStyle/>
          <a:p>
            <a:pPr algn="l" indent="0" marL="0">
              <a:lnSpc>
                <a:spcPts val="2340"/>
              </a:lnSpc>
              <a:buNone/>
            </a:pPr>
            <a:r>
              <a:rPr lang="en-US" sz="1510" b="1" spc="-60" kern="0" dirty="0">
                <a:solidFill>
                  <a:srgbClr val="1A62D6"/>
                </a:solidFill>
                <a:latin typeface="Arial" pitchFamily="34" charset="0"/>
                <a:ea typeface="Arial" pitchFamily="34" charset="-122"/>
                <a:cs typeface="Arial" pitchFamily="34" charset="-120"/>
              </a:rPr>
              <a:t>25.2%</a:t>
            </a:r>
            <a:endParaRPr lang="en-US" sz="1510" dirty="0"/>
          </a:p>
        </p:txBody>
      </p:sp>
      <p:sp>
        <p:nvSpPr>
          <p:cNvPr id="34" name="Text 31"/>
          <p:cNvSpPr txBox="1"/>
          <p:nvPr/>
        </p:nvSpPr>
        <p:spPr>
          <a:xfrm>
            <a:off x="6748272" y="3512010"/>
            <a:ext cx="191585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below current supplier</a:t>
            </a:r>
            <a:endParaRPr lang="en-US" sz="720" dirty="0"/>
          </a:p>
        </p:txBody>
      </p:sp>
      <p:sp>
        <p:nvSpPr>
          <p:cNvPr id="35" name="Text 32"/>
          <p:cNvSpPr txBox="1"/>
          <p:nvPr/>
        </p:nvSpPr>
        <p:spPr>
          <a:xfrm>
            <a:off x="6748272" y="3653742"/>
            <a:ext cx="1915851" cy="165712"/>
          </a:xfrm>
          <a:prstGeom prst="rect">
            <a:avLst/>
          </a:prstGeom>
          <a:noFill/>
          <a:ln/>
        </p:spPr>
        <p:txBody>
          <a:bodyPr wrap="none" lIns="0" tIns="0" rIns="0" bIns="0" rtlCol="0" anchor="t"/>
          <a:lstStyle/>
          <a:p>
            <a:pPr algn="l" indent="0" marL="0">
              <a:lnSpc>
                <a:spcPts val="1000"/>
              </a:lnSpc>
              <a:buNone/>
            </a:pPr>
            <a:r>
              <a:rPr lang="en-US" sz="650" dirty="0">
                <a:solidFill>
                  <a:srgbClr val="6C84A3"/>
                </a:solidFill>
                <a:latin typeface="Arial" pitchFamily="34" charset="0"/>
                <a:ea typeface="Arial" pitchFamily="34" charset="-122"/>
                <a:cs typeface="Arial" pitchFamily="34" charset="-120"/>
              </a:rPr>
              <a:t>3.95 ÷ 15.68</a:t>
            </a:r>
            <a:endParaRPr lang="en-US" sz="650" dirty="0"/>
          </a:p>
        </p:txBody>
      </p:sp>
      <p:sp>
        <p:nvSpPr>
          <p:cNvPr id="36" name="Text 33"/>
          <p:cNvSpPr txBox="1"/>
          <p:nvPr/>
        </p:nvSpPr>
        <p:spPr>
          <a:xfrm>
            <a:off x="658368" y="4163092"/>
            <a:ext cx="1653235" cy="309570"/>
          </a:xfrm>
          <a:prstGeom prst="rect">
            <a:avLst/>
          </a:prstGeom>
          <a:noFill/>
          <a:ln/>
        </p:spPr>
        <p:txBody>
          <a:bodyPr wrap="square" lIns="0" tIns="0" rIns="0" bIns="0" rtlCol="0" anchor="t"/>
          <a:lstStyle/>
          <a:p>
            <a:pPr algn="l" indent="0" marL="0">
              <a:lnSpc>
                <a:spcPts val="1060"/>
              </a:lnSpc>
              <a:buNone/>
            </a:pPr>
            <a:r>
              <a:rPr lang="en-US" sz="680" b="1" spc="55" kern="0" dirty="0">
                <a:solidFill>
                  <a:srgbClr val="FFFFFF"/>
                </a:solidFill>
                <a:latin typeface="Arial" pitchFamily="34" charset="0"/>
                <a:ea typeface="Arial" pitchFamily="34" charset="-122"/>
                <a:cs typeface="Arial" pitchFamily="34" charset="-120"/>
              </a:rPr>
              <a:t>TOGETHER: SUPPLIER</a:t>
            </a:r>
            <a:endParaRPr lang="en-US" sz="680" dirty="0"/>
          </a:p>
          <a:p>
            <a:pPr algn="l" indent="0" marL="0">
              <a:lnSpc>
                <a:spcPts val="1060"/>
              </a:lnSpc>
              <a:buNone/>
            </a:pPr>
            <a:r>
              <a:rPr lang="en-US" sz="680" b="1" spc="55" kern="0" dirty="0">
                <a:solidFill>
                  <a:srgbClr val="FFFFFF"/>
                </a:solidFill>
                <a:latin typeface="Arial" pitchFamily="34" charset="0"/>
                <a:ea typeface="Arial" pitchFamily="34" charset="-122"/>
                <a:cs typeface="Arial" pitchFamily="34" charset="-120"/>
              </a:rPr>
              <a:t>CHANGE + DRINK MIX</a:t>
            </a:r>
            <a:endParaRPr lang="en-US" sz="680" dirty="0"/>
          </a:p>
        </p:txBody>
      </p:sp>
      <p:sp>
        <p:nvSpPr>
          <p:cNvPr id="37" name="Text 34"/>
          <p:cNvSpPr txBox="1"/>
          <p:nvPr/>
        </p:nvSpPr>
        <p:spPr>
          <a:xfrm>
            <a:off x="2908221" y="4127659"/>
            <a:ext cx="576792" cy="442090"/>
          </a:xfrm>
          <a:prstGeom prst="rect">
            <a:avLst/>
          </a:prstGeom>
          <a:noFill/>
          <a:ln/>
        </p:spPr>
        <p:txBody>
          <a:bodyPr wrap="none" lIns="0" tIns="0" rIns="0" bIns="0" rtlCol="0" anchor="t"/>
          <a:lstStyle/>
          <a:p>
            <a:pPr algn="l" indent="0" marL="0">
              <a:lnSpc>
                <a:spcPts val="2680"/>
              </a:lnSpc>
              <a:buNone/>
            </a:pPr>
            <a:r>
              <a:rPr lang="en-US" sz="1730" b="1" spc="-52" kern="0" dirty="0">
                <a:solidFill>
                  <a:srgbClr val="FFFFFF"/>
                </a:solidFill>
                <a:latin typeface="Arial" pitchFamily="34" charset="0"/>
                <a:ea typeface="Arial" pitchFamily="34" charset="-122"/>
                <a:cs typeface="Arial" pitchFamily="34" charset="-120"/>
              </a:rPr>
              <a:t>22.34</a:t>
            </a:r>
            <a:endParaRPr lang="en-US" sz="1730" dirty="0"/>
          </a:p>
        </p:txBody>
      </p:sp>
      <p:sp>
        <p:nvSpPr>
          <p:cNvPr id="38" name="Text 35"/>
          <p:cNvSpPr txBox="1"/>
          <p:nvPr/>
        </p:nvSpPr>
        <p:spPr>
          <a:xfrm>
            <a:off x="3762327" y="4127659"/>
            <a:ext cx="535284" cy="442090"/>
          </a:xfrm>
          <a:prstGeom prst="rect">
            <a:avLst/>
          </a:prstGeom>
          <a:noFill/>
          <a:ln/>
        </p:spPr>
        <p:txBody>
          <a:bodyPr wrap="none" lIns="0" tIns="0" rIns="0" bIns="0" rtlCol="0" anchor="t"/>
          <a:lstStyle/>
          <a:p>
            <a:pPr algn="l" indent="0" marL="0">
              <a:lnSpc>
                <a:spcPts val="2680"/>
              </a:lnSpc>
              <a:buNone/>
            </a:pPr>
            <a:r>
              <a:rPr lang="en-US" sz="1730" b="1" spc="-52" kern="0" dirty="0">
                <a:solidFill>
                  <a:srgbClr val="FFFFFF"/>
                </a:solidFill>
                <a:latin typeface="Arial" pitchFamily="34" charset="0"/>
                <a:ea typeface="Arial" pitchFamily="34" charset="-122"/>
                <a:cs typeface="Arial" pitchFamily="34" charset="-120"/>
              </a:rPr>
              <a:t>15.68</a:t>
            </a:r>
            <a:endParaRPr lang="en-US" sz="1730" dirty="0"/>
          </a:p>
        </p:txBody>
      </p:sp>
      <p:sp>
        <p:nvSpPr>
          <p:cNvPr id="39" name="Text 36"/>
          <p:cNvSpPr txBox="1"/>
          <p:nvPr/>
        </p:nvSpPr>
        <p:spPr>
          <a:xfrm>
            <a:off x="4578001" y="4127659"/>
            <a:ext cx="455817" cy="442090"/>
          </a:xfrm>
          <a:prstGeom prst="rect">
            <a:avLst/>
          </a:prstGeom>
          <a:noFill/>
          <a:ln/>
        </p:spPr>
        <p:txBody>
          <a:bodyPr wrap="none" lIns="0" tIns="0" rIns="0" bIns="0" rtlCol="0" anchor="t"/>
          <a:lstStyle/>
          <a:p>
            <a:pPr algn="l" indent="0" marL="0">
              <a:lnSpc>
                <a:spcPts val="2680"/>
              </a:lnSpc>
              <a:buNone/>
            </a:pPr>
            <a:r>
              <a:rPr lang="en-US" sz="1730" b="1" spc="-52" kern="0" dirty="0">
                <a:solidFill>
                  <a:srgbClr val="FFFFFF"/>
                </a:solidFill>
                <a:latin typeface="Arial" pitchFamily="34" charset="0"/>
                <a:ea typeface="Arial" pitchFamily="34" charset="-122"/>
                <a:cs typeface="Arial" pitchFamily="34" charset="-120"/>
              </a:rPr>
              <a:t>11.73</a:t>
            </a:r>
            <a:endParaRPr lang="en-US" sz="1730" dirty="0"/>
          </a:p>
        </p:txBody>
      </p:sp>
      <p:sp>
        <p:nvSpPr>
          <p:cNvPr id="40" name="Text 37"/>
          <p:cNvSpPr txBox="1"/>
          <p:nvPr/>
        </p:nvSpPr>
        <p:spPr>
          <a:xfrm>
            <a:off x="5091494" y="4273963"/>
            <a:ext cx="460909" cy="184252"/>
          </a:xfrm>
          <a:prstGeom prst="rect">
            <a:avLst/>
          </a:prstGeom>
          <a:noFill/>
          <a:ln/>
        </p:spPr>
        <p:txBody>
          <a:bodyPr wrap="none" lIns="0" tIns="0" rIns="0" bIns="0" rtlCol="0" anchor="t"/>
          <a:lstStyle/>
          <a:p>
            <a:pPr algn="l" indent="0" marL="0">
              <a:lnSpc>
                <a:spcPts val="1120"/>
              </a:lnSpc>
              <a:buNone/>
            </a:pPr>
            <a:r>
              <a:rPr lang="en-US" sz="720" dirty="0">
                <a:solidFill>
                  <a:srgbClr val="FFFFFF"/>
                </a:solidFill>
                <a:latin typeface="Arial" pitchFamily="34" charset="0"/>
                <a:ea typeface="Arial" pitchFamily="34" charset="-122"/>
                <a:cs typeface="Arial" pitchFamily="34" charset="-120"/>
              </a:rPr>
              <a:t>THB / unit</a:t>
            </a:r>
            <a:endParaRPr lang="en-US" sz="720" dirty="0"/>
          </a:p>
        </p:txBody>
      </p:sp>
      <p:sp>
        <p:nvSpPr>
          <p:cNvPr id="41" name="Text 38"/>
          <p:cNvSpPr txBox="1"/>
          <p:nvPr/>
        </p:nvSpPr>
        <p:spPr>
          <a:xfrm>
            <a:off x="6305074" y="4085082"/>
            <a:ext cx="852998" cy="552755"/>
          </a:xfrm>
          <a:prstGeom prst="rect">
            <a:avLst/>
          </a:prstGeom>
          <a:noFill/>
          <a:ln/>
        </p:spPr>
        <p:txBody>
          <a:bodyPr wrap="none" lIns="0" tIns="0" rIns="0" bIns="0" rtlCol="0" anchor="t"/>
          <a:lstStyle/>
          <a:p>
            <a:pPr algn="l" indent="0" marL="0">
              <a:lnSpc>
                <a:spcPts val="3350"/>
              </a:lnSpc>
              <a:buNone/>
            </a:pPr>
            <a:r>
              <a:rPr lang="en-US" sz="2160" b="1" spc="-86" kern="0" dirty="0">
                <a:solidFill>
                  <a:srgbClr val="FFFFFF"/>
                </a:solidFill>
                <a:latin typeface="Arial" pitchFamily="34" charset="0"/>
                <a:ea typeface="Arial" pitchFamily="34" charset="-122"/>
                <a:cs typeface="Arial" pitchFamily="34" charset="-120"/>
              </a:rPr>
              <a:t>−47.5%</a:t>
            </a:r>
            <a:endParaRPr lang="en-US" sz="2160" dirty="0"/>
          </a:p>
        </p:txBody>
      </p:sp>
      <p:sp>
        <p:nvSpPr>
          <p:cNvPr id="42" name="Text 39"/>
          <p:cNvSpPr txBox="1"/>
          <p:nvPr/>
        </p:nvSpPr>
        <p:spPr>
          <a:xfrm>
            <a:off x="7186327" y="4286250"/>
            <a:ext cx="1403250" cy="184252"/>
          </a:xfrm>
          <a:prstGeom prst="rect">
            <a:avLst/>
          </a:prstGeom>
          <a:noFill/>
          <a:ln/>
        </p:spPr>
        <p:txBody>
          <a:bodyPr wrap="none" lIns="0" tIns="0" rIns="0" bIns="0" rtlCol="0" anchor="t"/>
          <a:lstStyle/>
          <a:p>
            <a:pPr algn="l" indent="0" marL="0">
              <a:lnSpc>
                <a:spcPts val="1120"/>
              </a:lnSpc>
              <a:buNone/>
            </a:pPr>
            <a:r>
              <a:rPr lang="en-US" sz="720" dirty="0">
                <a:solidFill>
                  <a:srgbClr val="FFFFFF"/>
                </a:solidFill>
                <a:latin typeface="Arial" pitchFamily="34" charset="0"/>
                <a:ea typeface="Arial" pitchFamily="34" charset="-122"/>
                <a:cs typeface="Arial" pitchFamily="34" charset="-120"/>
              </a:rPr>
              <a:t>from 2025 (−10.61 THB per unit)</a:t>
            </a:r>
            <a:endParaRPr lang="en-US" sz="720" dirty="0"/>
          </a:p>
        </p:txBody>
      </p:sp>
      <p:sp>
        <p:nvSpPr>
          <p:cNvPr id="43" name="Text 40"/>
          <p:cNvSpPr txBox="1"/>
          <p:nvPr/>
        </p:nvSpPr>
        <p:spPr>
          <a:xfrm>
            <a:off x="457200" y="4681728"/>
            <a:ext cx="8887968" cy="156585"/>
          </a:xfrm>
          <a:prstGeom prst="rect">
            <a:avLst/>
          </a:prstGeom>
          <a:noFill/>
          <a:ln/>
        </p:spPr>
        <p:txBody>
          <a:bodyPr wrap="none" lIns="0" tIns="0" rIns="0" bIns="0" rtlCol="0" anchor="t"/>
          <a:lstStyle/>
          <a:p>
            <a:pPr algn="l" indent="0" marL="0">
              <a:lnSpc>
                <a:spcPts val="950"/>
              </a:lnSpc>
              <a:buNone/>
            </a:pPr>
            <a:r>
              <a:rPr lang="en-US" sz="610" dirty="0">
                <a:solidFill>
                  <a:srgbClr val="5F7691"/>
                </a:solidFill>
                <a:latin typeface="Arial" pitchFamily="34" charset="0"/>
                <a:ea typeface="Arial" pitchFamily="34" charset="-122"/>
                <a:cs typeface="Arial" pitchFamily="34" charset="-120"/>
              </a:rPr>
              <a:t>Source check required: 2025 electrolyte allocation is 21% in the table but 18% in the source pie. 2025 table totals 103%; all supplied allocations are retained pending confirmation.</a:t>
            </a:r>
            <a:endParaRPr lang="en-US" sz="61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DFE"/>
        </a:solidFill>
      </p:bgPr>
    </p:bg>
    <p:spTree>
      <p:nvGrpSpPr>
        <p:cNvPr id="1" name=""/>
        <p:cNvGrpSpPr/>
        <p:nvPr/>
      </p:nvGrpSpPr>
      <p:grpSpPr>
        <a:xfrm>
          <a:off x="0" y="0"/>
          <a:ext cx="0" cy="0"/>
          <a:chOff x="0" y="0"/>
          <a:chExt cx="0" cy="0"/>
        </a:xfrm>
      </p:grpSpPr>
      <p:pic>
        <p:nvPicPr>
          <p:cNvPr id="2" name="Image 0" descr="Slide: Operation excellence.">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3020949"/>
            <a:ext cx="1369457"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Non-Rayong overview 2026</a:t>
            </a:r>
            <a:endParaRPr lang="en-US" sz="720" dirty="0"/>
          </a:p>
        </p:txBody>
      </p:sp>
      <p:sp>
        <p:nvSpPr>
          <p:cNvPr id="4" name="Text 1"/>
          <p:cNvSpPr txBox="1"/>
          <p:nvPr/>
        </p:nvSpPr>
        <p:spPr>
          <a:xfrm>
            <a:off x="457200" y="3331845"/>
            <a:ext cx="3513125" cy="952997"/>
          </a:xfrm>
          <a:prstGeom prst="rect">
            <a:avLst/>
          </a:prstGeom>
          <a:noFill/>
          <a:ln/>
        </p:spPr>
        <p:txBody>
          <a:bodyPr wrap="square" lIns="0" tIns="0" rIns="0" bIns="0" rtlCol="0" anchor="t"/>
          <a:lstStyle/>
          <a:p>
            <a:pPr algn="l" indent="0" marL="0">
              <a:lnSpc>
                <a:spcPts val="3260"/>
              </a:lnSpc>
              <a:buNone/>
            </a:pPr>
            <a:r>
              <a:rPr lang="en-US" sz="3170" b="1" spc="-158" kern="0" dirty="0">
                <a:solidFill>
                  <a:srgbClr val="FFFFFF"/>
                </a:solidFill>
                <a:latin typeface="Arial" pitchFamily="34" charset="0"/>
                <a:ea typeface="Arial" pitchFamily="34" charset="-122"/>
                <a:cs typeface="Arial" pitchFamily="34" charset="-120"/>
              </a:rPr>
              <a:t>Operation</a:t>
            </a:r>
            <a:endParaRPr lang="en-US" sz="3170" dirty="0"/>
          </a:p>
          <a:p>
            <a:pPr algn="l" indent="0" marL="0">
              <a:lnSpc>
                <a:spcPts val="3260"/>
              </a:lnSpc>
              <a:buNone/>
            </a:pPr>
            <a:r>
              <a:rPr lang="en-US" sz="3170" b="1" spc="-158" kern="0" dirty="0">
                <a:solidFill>
                  <a:srgbClr val="FFFFFF"/>
                </a:solidFill>
                <a:latin typeface="Arial" pitchFamily="34" charset="0"/>
                <a:ea typeface="Arial" pitchFamily="34" charset="-122"/>
                <a:cs typeface="Arial" pitchFamily="34" charset="-120"/>
              </a:rPr>
              <a:t>excellence.</a:t>
            </a:r>
            <a:endParaRPr lang="en-US" sz="3170" dirty="0"/>
          </a:p>
        </p:txBody>
      </p:sp>
      <p:sp>
        <p:nvSpPr>
          <p:cNvPr id="5" name="Text 2"/>
          <p:cNvSpPr txBox="1"/>
          <p:nvPr/>
        </p:nvSpPr>
        <p:spPr>
          <a:xfrm>
            <a:off x="457200" y="4270248"/>
            <a:ext cx="3099816" cy="378562"/>
          </a:xfrm>
          <a:prstGeom prst="rect">
            <a:avLst/>
          </a:prstGeom>
          <a:noFill/>
          <a:ln/>
        </p:spPr>
        <p:txBody>
          <a:bodyPr wrap="square" lIns="0" tIns="0" rIns="0" bIns="0" rtlCol="0" anchor="t"/>
          <a:lstStyle/>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Handheld OCR, a hybrid online and offline workflow,</a:t>
            </a:r>
            <a:endParaRPr lang="en-US" sz="860" dirty="0"/>
          </a:p>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and four poka-yoke controls.</a:t>
            </a:r>
            <a:endParaRPr lang="en-US" sz="8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DFE"/>
        </a:solidFill>
      </p:bgPr>
    </p:bg>
    <p:spTree>
      <p:nvGrpSpPr>
        <p:cNvPr id="1" name=""/>
        <p:cNvGrpSpPr/>
        <p:nvPr/>
      </p:nvGrpSpPr>
      <p:grpSpPr>
        <a:xfrm>
          <a:off x="0" y="0"/>
          <a:ext cx="0" cy="0"/>
          <a:chOff x="0" y="0"/>
          <a:chExt cx="0" cy="0"/>
        </a:xfrm>
      </p:grpSpPr>
      <p:pic>
        <p:nvPicPr>
          <p:cNvPr id="2" name="Image 0" descr="Slide: Handheld OCR replaces manual serial-number recordi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973819"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03 · Handheld OCR</a:t>
            </a:r>
            <a:endParaRPr lang="en-US" sz="720" dirty="0"/>
          </a:p>
        </p:txBody>
      </p:sp>
      <p:sp>
        <p:nvSpPr>
          <p:cNvPr id="4" name="Text 1"/>
          <p:cNvSpPr txBox="1"/>
          <p:nvPr/>
        </p:nvSpPr>
        <p:spPr>
          <a:xfrm>
            <a:off x="457200" y="1252728"/>
            <a:ext cx="5992978" cy="714748"/>
          </a:xfrm>
          <a:prstGeom prst="rect">
            <a:avLst/>
          </a:prstGeom>
          <a:noFill/>
          <a:ln/>
        </p:spPr>
        <p:txBody>
          <a:bodyPr wrap="squar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Handheld OCR replaces manual</a:t>
            </a:r>
            <a:endParaRPr lang="en-US" sz="2380" dirty="0"/>
          </a:p>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serial-number recording.</a:t>
            </a:r>
            <a:endParaRPr lang="en-US" sz="2380" dirty="0"/>
          </a:p>
        </p:txBody>
      </p:sp>
      <p:sp>
        <p:nvSpPr>
          <p:cNvPr id="5" name="Text 2"/>
          <p:cNvSpPr txBox="1"/>
          <p:nvPr/>
        </p:nvSpPr>
        <p:spPr>
          <a:xfrm>
            <a:off x="457200" y="1947386"/>
            <a:ext cx="5382621" cy="222885"/>
          </a:xfrm>
          <a:prstGeom prst="rect">
            <a:avLst/>
          </a:prstGeom>
          <a:noFill/>
          <a:ln/>
        </p:spPr>
        <p:txBody>
          <a:bodyPr wrap="none" lIns="0" tIns="0" rIns="0" bIns="0" rtlCol="0" anchor="t"/>
          <a:lstStyle/>
          <a:p>
            <a:pPr algn="l" indent="0" marL="0">
              <a:lnSpc>
                <a:spcPts val="1350"/>
              </a:lnSpc>
              <a:buNone/>
            </a:pPr>
            <a:r>
              <a:rPr lang="en-US" sz="900" dirty="0">
                <a:solidFill>
                  <a:srgbClr val="4D6585"/>
                </a:solidFill>
                <a:latin typeface="Arial" pitchFamily="34" charset="0"/>
                <a:ea typeface="Arial" pitchFamily="34" charset="-122"/>
                <a:cs typeface="Arial" pitchFamily="34" charset="-120"/>
              </a:rPr>
              <a:t>Read part serials with handheld OCR and automatically record inspection data in Google Sheets.</a:t>
            </a:r>
            <a:endParaRPr lang="en-US" sz="900" dirty="0"/>
          </a:p>
        </p:txBody>
      </p:sp>
      <p:sp>
        <p:nvSpPr>
          <p:cNvPr id="6" name="Text 3"/>
          <p:cNvSpPr txBox="1"/>
          <p:nvPr/>
        </p:nvSpPr>
        <p:spPr>
          <a:xfrm>
            <a:off x="457200" y="2670048"/>
            <a:ext cx="1235674" cy="404165"/>
          </a:xfrm>
          <a:prstGeom prst="rect">
            <a:avLst/>
          </a:prstGeom>
          <a:noFill/>
          <a:ln/>
        </p:spPr>
        <p:txBody>
          <a:bodyPr wrap="none" lIns="0" tIns="0" rIns="0" bIns="0" rtlCol="0" anchor="t"/>
          <a:lstStyle/>
          <a:p>
            <a:pPr algn="l" indent="0" marL="0">
              <a:lnSpc>
                <a:spcPts val="2450"/>
              </a:lnSpc>
              <a:buNone/>
            </a:pPr>
            <a:r>
              <a:rPr lang="en-US" sz="2450" b="1" spc="-98" kern="0" dirty="0">
                <a:solidFill>
                  <a:srgbClr val="5F7691"/>
                </a:solidFill>
                <a:latin typeface="Arial" pitchFamily="34" charset="0"/>
                <a:ea typeface="Arial" pitchFamily="34" charset="-122"/>
                <a:cs typeface="Arial" pitchFamily="34" charset="-120"/>
              </a:rPr>
              <a:t>8–10 sec</a:t>
            </a:r>
            <a:endParaRPr lang="en-US" sz="2450" dirty="0"/>
          </a:p>
        </p:txBody>
      </p:sp>
      <p:sp>
        <p:nvSpPr>
          <p:cNvPr id="7" name="Text 4"/>
          <p:cNvSpPr txBox="1"/>
          <p:nvPr/>
        </p:nvSpPr>
        <p:spPr>
          <a:xfrm>
            <a:off x="457200" y="3026664"/>
            <a:ext cx="1235674"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5F7691"/>
                </a:solidFill>
                <a:latin typeface="Arial" pitchFamily="34" charset="0"/>
                <a:ea typeface="Arial" pitchFamily="34" charset="-122"/>
                <a:cs typeface="Arial" pitchFamily="34" charset="-120"/>
              </a:rPr>
              <a:t>MANUAL</a:t>
            </a:r>
            <a:endParaRPr lang="en-US" sz="650" dirty="0"/>
          </a:p>
        </p:txBody>
      </p:sp>
      <p:sp>
        <p:nvSpPr>
          <p:cNvPr id="8" name="Text 5"/>
          <p:cNvSpPr txBox="1"/>
          <p:nvPr/>
        </p:nvSpPr>
        <p:spPr>
          <a:xfrm>
            <a:off x="2277999" y="2670048"/>
            <a:ext cx="1044182" cy="404165"/>
          </a:xfrm>
          <a:prstGeom prst="rect">
            <a:avLst/>
          </a:prstGeom>
          <a:noFill/>
          <a:ln/>
        </p:spPr>
        <p:txBody>
          <a:bodyPr wrap="none" lIns="0" tIns="0" rIns="0" bIns="0" rtlCol="0" anchor="t"/>
          <a:lstStyle/>
          <a:p>
            <a:pPr algn="l" indent="0" marL="0">
              <a:lnSpc>
                <a:spcPts val="2450"/>
              </a:lnSpc>
              <a:buNone/>
            </a:pPr>
            <a:r>
              <a:rPr lang="en-US" sz="2450" b="1" spc="-98" kern="0" dirty="0">
                <a:solidFill>
                  <a:srgbClr val="1A62D6"/>
                </a:solidFill>
                <a:latin typeface="Arial" pitchFamily="34" charset="0"/>
                <a:ea typeface="Arial" pitchFamily="34" charset="-122"/>
                <a:cs typeface="Arial" pitchFamily="34" charset="-120"/>
              </a:rPr>
              <a:t>1 sec</a:t>
            </a:r>
            <a:endParaRPr lang="en-US" sz="2450" dirty="0"/>
          </a:p>
        </p:txBody>
      </p:sp>
      <p:sp>
        <p:nvSpPr>
          <p:cNvPr id="9" name="Text 6"/>
          <p:cNvSpPr txBox="1"/>
          <p:nvPr/>
        </p:nvSpPr>
        <p:spPr>
          <a:xfrm>
            <a:off x="2277999" y="3026664"/>
            <a:ext cx="1044182"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5F7691"/>
                </a:solidFill>
                <a:latin typeface="Arial" pitchFamily="34" charset="0"/>
                <a:ea typeface="Arial" pitchFamily="34" charset="-122"/>
                <a:cs typeface="Arial" pitchFamily="34" charset="-120"/>
              </a:rPr>
              <a:t>OCR + AUTO RECORD</a:t>
            </a:r>
            <a:endParaRPr lang="en-US" sz="650" dirty="0"/>
          </a:p>
        </p:txBody>
      </p:sp>
      <p:sp>
        <p:nvSpPr>
          <p:cNvPr id="10" name="Text 7"/>
          <p:cNvSpPr txBox="1"/>
          <p:nvPr/>
        </p:nvSpPr>
        <p:spPr>
          <a:xfrm>
            <a:off x="3665458" y="2688336"/>
            <a:ext cx="844820" cy="356616"/>
          </a:xfrm>
          <a:prstGeom prst="rect">
            <a:avLst/>
          </a:prstGeom>
          <a:noFill/>
          <a:ln/>
        </p:spPr>
        <p:txBody>
          <a:bodyPr wrap="none" lIns="0" tIns="0" rIns="0" bIns="0" rtlCol="0" anchor="t"/>
          <a:lstStyle/>
          <a:p>
            <a:pPr algn="l" indent="0" marL="0">
              <a:lnSpc>
                <a:spcPts val="2160"/>
              </a:lnSpc>
              <a:buNone/>
            </a:pPr>
            <a:r>
              <a:rPr lang="en-US" sz="2160" b="1" spc="-86" kern="0" dirty="0">
                <a:solidFill>
                  <a:srgbClr val="FFFFFF"/>
                </a:solidFill>
                <a:latin typeface="Arial" pitchFamily="34" charset="0"/>
                <a:ea typeface="Arial" pitchFamily="34" charset="-122"/>
                <a:cs typeface="Arial" pitchFamily="34" charset="-120"/>
              </a:rPr>
              <a:t>−90%</a:t>
            </a:r>
            <a:endParaRPr lang="en-US" sz="2160" dirty="0"/>
          </a:p>
        </p:txBody>
      </p:sp>
      <p:sp>
        <p:nvSpPr>
          <p:cNvPr id="11" name="Text 8"/>
          <p:cNvSpPr txBox="1"/>
          <p:nvPr/>
        </p:nvSpPr>
        <p:spPr>
          <a:xfrm>
            <a:off x="3665458" y="3008376"/>
            <a:ext cx="844820"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FFFFFF"/>
                </a:solidFill>
                <a:latin typeface="Arial" pitchFamily="34" charset="0"/>
                <a:ea typeface="Arial" pitchFamily="34" charset="-122"/>
                <a:cs typeface="Arial" pitchFamily="34" charset="-120"/>
              </a:rPr>
              <a:t>TIME PER SERIAL</a:t>
            </a:r>
            <a:endParaRPr lang="en-US" sz="650" dirty="0"/>
          </a:p>
        </p:txBody>
      </p:sp>
      <p:sp>
        <p:nvSpPr>
          <p:cNvPr id="12" name="Text 9"/>
          <p:cNvSpPr txBox="1"/>
          <p:nvPr/>
        </p:nvSpPr>
        <p:spPr>
          <a:xfrm>
            <a:off x="603504" y="3490865"/>
            <a:ext cx="1283818" cy="156585"/>
          </a:xfrm>
          <a:prstGeom prst="rect">
            <a:avLst/>
          </a:prstGeom>
          <a:noFill/>
          <a:ln/>
        </p:spPr>
        <p:txBody>
          <a:bodyPr wrap="non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MISSION</a:t>
            </a:r>
            <a:endParaRPr lang="en-US" sz="610" dirty="0"/>
          </a:p>
        </p:txBody>
      </p:sp>
      <p:sp>
        <p:nvSpPr>
          <p:cNvPr id="13" name="Text 10"/>
          <p:cNvSpPr txBox="1"/>
          <p:nvPr/>
        </p:nvSpPr>
        <p:spPr>
          <a:xfrm>
            <a:off x="1883664" y="3490865"/>
            <a:ext cx="1264067" cy="156585"/>
          </a:xfrm>
          <a:prstGeom prst="rect">
            <a:avLst/>
          </a:prstGeom>
          <a:noFill/>
          <a:ln/>
        </p:spPr>
        <p:txBody>
          <a:bodyPr wrap="non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MARKING</a:t>
            </a:r>
            <a:endParaRPr lang="en-US" sz="610" dirty="0"/>
          </a:p>
        </p:txBody>
      </p:sp>
      <p:sp>
        <p:nvSpPr>
          <p:cNvPr id="14" name="Text 11"/>
          <p:cNvSpPr txBox="1"/>
          <p:nvPr/>
        </p:nvSpPr>
        <p:spPr>
          <a:xfrm>
            <a:off x="3145536" y="3490865"/>
            <a:ext cx="641909" cy="156585"/>
          </a:xfrm>
          <a:prstGeom prst="rect">
            <a:avLst/>
          </a:prstGeom>
          <a:noFill/>
          <a:ln/>
        </p:spPr>
        <p:txBody>
          <a:bodyPr wrap="non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MANUAL</a:t>
            </a:r>
            <a:endParaRPr lang="en-US" sz="610" dirty="0"/>
          </a:p>
        </p:txBody>
      </p:sp>
      <p:sp>
        <p:nvSpPr>
          <p:cNvPr id="15" name="Text 12"/>
          <p:cNvSpPr txBox="1"/>
          <p:nvPr/>
        </p:nvSpPr>
        <p:spPr>
          <a:xfrm>
            <a:off x="3831336" y="3430715"/>
            <a:ext cx="929945" cy="277029"/>
          </a:xfrm>
          <a:prstGeom prst="rect">
            <a:avLst/>
          </a:prstGeom>
          <a:noFill/>
          <a:ln/>
        </p:spPr>
        <p:txBody>
          <a:bodyPr wrap="squar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OCR + AUTO</a:t>
            </a:r>
            <a:endParaRPr lang="en-US" sz="610" dirty="0"/>
          </a:p>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RECORD</a:t>
            </a:r>
            <a:endParaRPr lang="en-US" sz="610" dirty="0"/>
          </a:p>
        </p:txBody>
      </p:sp>
      <p:sp>
        <p:nvSpPr>
          <p:cNvPr id="16" name="Text 13"/>
          <p:cNvSpPr txBox="1"/>
          <p:nvPr/>
        </p:nvSpPr>
        <p:spPr>
          <a:xfrm>
            <a:off x="4745736" y="3490865"/>
            <a:ext cx="740664" cy="156585"/>
          </a:xfrm>
          <a:prstGeom prst="rect">
            <a:avLst/>
          </a:prstGeom>
          <a:noFill/>
          <a:ln/>
        </p:spPr>
        <p:txBody>
          <a:bodyPr wrap="non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TIME SAVED</a:t>
            </a:r>
            <a:endParaRPr lang="en-US" sz="610" dirty="0"/>
          </a:p>
        </p:txBody>
      </p:sp>
      <p:sp>
        <p:nvSpPr>
          <p:cNvPr id="17" name="Text 14"/>
          <p:cNvSpPr txBox="1"/>
          <p:nvPr/>
        </p:nvSpPr>
        <p:spPr>
          <a:xfrm>
            <a:off x="603504" y="3766471"/>
            <a:ext cx="1283818"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LCBTH.26.0005</a:t>
            </a:r>
            <a:endParaRPr lang="en-US" sz="730" dirty="0"/>
          </a:p>
        </p:txBody>
      </p:sp>
      <p:sp>
        <p:nvSpPr>
          <p:cNvPr id="18" name="Text 15"/>
          <p:cNvSpPr txBox="1"/>
          <p:nvPr/>
        </p:nvSpPr>
        <p:spPr>
          <a:xfrm>
            <a:off x="1883664" y="3766471"/>
            <a:ext cx="1264067"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Dot peen</a:t>
            </a:r>
            <a:endParaRPr lang="en-US" sz="730" dirty="0"/>
          </a:p>
        </p:txBody>
      </p:sp>
      <p:sp>
        <p:nvSpPr>
          <p:cNvPr id="19" name="Text 16"/>
          <p:cNvSpPr txBox="1"/>
          <p:nvPr/>
        </p:nvSpPr>
        <p:spPr>
          <a:xfrm>
            <a:off x="3145536" y="3766471"/>
            <a:ext cx="641909"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8 sec</a:t>
            </a:r>
            <a:endParaRPr lang="en-US" sz="730" dirty="0"/>
          </a:p>
        </p:txBody>
      </p:sp>
      <p:sp>
        <p:nvSpPr>
          <p:cNvPr id="20" name="Text 17"/>
          <p:cNvSpPr txBox="1"/>
          <p:nvPr/>
        </p:nvSpPr>
        <p:spPr>
          <a:xfrm>
            <a:off x="3831336" y="3766471"/>
            <a:ext cx="888797" cy="187959"/>
          </a:xfrm>
          <a:prstGeom prst="rect">
            <a:avLst/>
          </a:prstGeom>
          <a:noFill/>
          <a:ln/>
        </p:spPr>
        <p:txBody>
          <a:bodyPr wrap="none" lIns="0" tIns="0" rIns="0" bIns="0" rtlCol="0" anchor="t"/>
          <a:lstStyle/>
          <a:p>
            <a:pPr algn="l" indent="0" marL="0">
              <a:lnSpc>
                <a:spcPts val="1140"/>
              </a:lnSpc>
              <a:buNone/>
            </a:pPr>
            <a:r>
              <a:rPr lang="en-US" sz="730" b="1" dirty="0">
                <a:solidFill>
                  <a:srgbClr val="1A62D6"/>
                </a:solidFill>
                <a:latin typeface="Arial" pitchFamily="34" charset="0"/>
                <a:ea typeface="Arial" pitchFamily="34" charset="-122"/>
                <a:cs typeface="Arial" pitchFamily="34" charset="-120"/>
              </a:rPr>
              <a:t>1 sec</a:t>
            </a:r>
            <a:endParaRPr lang="en-US" sz="730" dirty="0"/>
          </a:p>
        </p:txBody>
      </p:sp>
      <p:sp>
        <p:nvSpPr>
          <p:cNvPr id="21" name="Text 18"/>
          <p:cNvSpPr txBox="1"/>
          <p:nvPr/>
        </p:nvSpPr>
        <p:spPr>
          <a:xfrm>
            <a:off x="4718304" y="3757327"/>
            <a:ext cx="740664" cy="206247"/>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−87.5%</a:t>
            </a:r>
            <a:endParaRPr lang="en-US" sz="730" dirty="0"/>
          </a:p>
        </p:txBody>
      </p:sp>
      <p:sp>
        <p:nvSpPr>
          <p:cNvPr id="22" name="Text 19"/>
          <p:cNvSpPr txBox="1"/>
          <p:nvPr/>
        </p:nvSpPr>
        <p:spPr>
          <a:xfrm>
            <a:off x="603504" y="4015073"/>
            <a:ext cx="1283818"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LCBTH.26.0002</a:t>
            </a:r>
            <a:endParaRPr lang="en-US" sz="730" dirty="0"/>
          </a:p>
        </p:txBody>
      </p:sp>
      <p:sp>
        <p:nvSpPr>
          <p:cNvPr id="23" name="Text 20"/>
          <p:cNvSpPr txBox="1"/>
          <p:nvPr/>
        </p:nvSpPr>
        <p:spPr>
          <a:xfrm>
            <a:off x="1883664" y="4015073"/>
            <a:ext cx="1264067"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Dot peen</a:t>
            </a:r>
            <a:endParaRPr lang="en-US" sz="730" dirty="0"/>
          </a:p>
        </p:txBody>
      </p:sp>
      <p:sp>
        <p:nvSpPr>
          <p:cNvPr id="24" name="Text 21"/>
          <p:cNvSpPr txBox="1"/>
          <p:nvPr/>
        </p:nvSpPr>
        <p:spPr>
          <a:xfrm>
            <a:off x="3145536" y="4015073"/>
            <a:ext cx="641909"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8 sec</a:t>
            </a:r>
            <a:endParaRPr lang="en-US" sz="730" dirty="0"/>
          </a:p>
        </p:txBody>
      </p:sp>
      <p:sp>
        <p:nvSpPr>
          <p:cNvPr id="25" name="Text 22"/>
          <p:cNvSpPr txBox="1"/>
          <p:nvPr/>
        </p:nvSpPr>
        <p:spPr>
          <a:xfrm>
            <a:off x="3831336" y="4015073"/>
            <a:ext cx="888797" cy="187959"/>
          </a:xfrm>
          <a:prstGeom prst="rect">
            <a:avLst/>
          </a:prstGeom>
          <a:noFill/>
          <a:ln/>
        </p:spPr>
        <p:txBody>
          <a:bodyPr wrap="none" lIns="0" tIns="0" rIns="0" bIns="0" rtlCol="0" anchor="t"/>
          <a:lstStyle/>
          <a:p>
            <a:pPr algn="l" indent="0" marL="0">
              <a:lnSpc>
                <a:spcPts val="1140"/>
              </a:lnSpc>
              <a:buNone/>
            </a:pPr>
            <a:r>
              <a:rPr lang="en-US" sz="730" b="1" dirty="0">
                <a:solidFill>
                  <a:srgbClr val="1A62D6"/>
                </a:solidFill>
                <a:latin typeface="Arial" pitchFamily="34" charset="0"/>
                <a:ea typeface="Arial" pitchFamily="34" charset="-122"/>
                <a:cs typeface="Arial" pitchFamily="34" charset="-120"/>
              </a:rPr>
              <a:t>1 sec</a:t>
            </a:r>
            <a:endParaRPr lang="en-US" sz="730" dirty="0"/>
          </a:p>
        </p:txBody>
      </p:sp>
      <p:sp>
        <p:nvSpPr>
          <p:cNvPr id="26" name="Text 23"/>
          <p:cNvSpPr txBox="1"/>
          <p:nvPr/>
        </p:nvSpPr>
        <p:spPr>
          <a:xfrm>
            <a:off x="4718304" y="4005929"/>
            <a:ext cx="740664" cy="206247"/>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−87.5%</a:t>
            </a:r>
            <a:endParaRPr lang="en-US" sz="730" dirty="0"/>
          </a:p>
        </p:txBody>
      </p:sp>
      <p:sp>
        <p:nvSpPr>
          <p:cNvPr id="27" name="Text 24"/>
          <p:cNvSpPr txBox="1"/>
          <p:nvPr/>
        </p:nvSpPr>
        <p:spPr>
          <a:xfrm>
            <a:off x="603504" y="4263676"/>
            <a:ext cx="1283818"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LCBTH.26.0027</a:t>
            </a:r>
            <a:endParaRPr lang="en-US" sz="730" dirty="0"/>
          </a:p>
        </p:txBody>
      </p:sp>
      <p:sp>
        <p:nvSpPr>
          <p:cNvPr id="28" name="Text 25"/>
          <p:cNvSpPr txBox="1"/>
          <p:nvPr/>
        </p:nvSpPr>
        <p:spPr>
          <a:xfrm>
            <a:off x="1883664" y="4263676"/>
            <a:ext cx="1264067"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Stamped</a:t>
            </a:r>
            <a:endParaRPr lang="en-US" sz="730" dirty="0"/>
          </a:p>
        </p:txBody>
      </p:sp>
      <p:sp>
        <p:nvSpPr>
          <p:cNvPr id="29" name="Text 26"/>
          <p:cNvSpPr txBox="1"/>
          <p:nvPr/>
        </p:nvSpPr>
        <p:spPr>
          <a:xfrm>
            <a:off x="3145536" y="4263676"/>
            <a:ext cx="641909"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10 sec</a:t>
            </a:r>
            <a:endParaRPr lang="en-US" sz="730" dirty="0"/>
          </a:p>
        </p:txBody>
      </p:sp>
      <p:sp>
        <p:nvSpPr>
          <p:cNvPr id="30" name="Text 27"/>
          <p:cNvSpPr txBox="1"/>
          <p:nvPr/>
        </p:nvSpPr>
        <p:spPr>
          <a:xfrm>
            <a:off x="3831336" y="4263676"/>
            <a:ext cx="888797" cy="187959"/>
          </a:xfrm>
          <a:prstGeom prst="rect">
            <a:avLst/>
          </a:prstGeom>
          <a:noFill/>
          <a:ln/>
        </p:spPr>
        <p:txBody>
          <a:bodyPr wrap="none" lIns="0" tIns="0" rIns="0" bIns="0" rtlCol="0" anchor="t"/>
          <a:lstStyle/>
          <a:p>
            <a:pPr algn="l" indent="0" marL="0">
              <a:lnSpc>
                <a:spcPts val="1140"/>
              </a:lnSpc>
              <a:buNone/>
            </a:pPr>
            <a:r>
              <a:rPr lang="en-US" sz="730" b="1" dirty="0">
                <a:solidFill>
                  <a:srgbClr val="1A62D6"/>
                </a:solidFill>
                <a:latin typeface="Arial" pitchFamily="34" charset="0"/>
                <a:ea typeface="Arial" pitchFamily="34" charset="-122"/>
                <a:cs typeface="Arial" pitchFamily="34" charset="-120"/>
              </a:rPr>
              <a:t>1 sec</a:t>
            </a:r>
            <a:endParaRPr lang="en-US" sz="730" dirty="0"/>
          </a:p>
        </p:txBody>
      </p:sp>
      <p:sp>
        <p:nvSpPr>
          <p:cNvPr id="31" name="Text 28"/>
          <p:cNvSpPr txBox="1"/>
          <p:nvPr/>
        </p:nvSpPr>
        <p:spPr>
          <a:xfrm>
            <a:off x="4718304" y="4254532"/>
            <a:ext cx="740664" cy="206247"/>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−90%</a:t>
            </a:r>
            <a:endParaRPr lang="en-US" sz="730" dirty="0"/>
          </a:p>
        </p:txBody>
      </p:sp>
      <p:sp>
        <p:nvSpPr>
          <p:cNvPr id="32" name="Text 29"/>
          <p:cNvSpPr txBox="1"/>
          <p:nvPr/>
        </p:nvSpPr>
        <p:spPr>
          <a:xfrm>
            <a:off x="603504" y="4512278"/>
            <a:ext cx="1283818"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LCBTH.26.0007</a:t>
            </a:r>
            <a:endParaRPr lang="en-US" sz="730" dirty="0"/>
          </a:p>
        </p:txBody>
      </p:sp>
      <p:sp>
        <p:nvSpPr>
          <p:cNvPr id="33" name="Text 30"/>
          <p:cNvSpPr txBox="1"/>
          <p:nvPr/>
        </p:nvSpPr>
        <p:spPr>
          <a:xfrm>
            <a:off x="1883664" y="4512278"/>
            <a:ext cx="1264067"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Embossed</a:t>
            </a:r>
            <a:endParaRPr lang="en-US" sz="730" dirty="0"/>
          </a:p>
        </p:txBody>
      </p:sp>
      <p:sp>
        <p:nvSpPr>
          <p:cNvPr id="34" name="Text 31"/>
          <p:cNvSpPr txBox="1"/>
          <p:nvPr/>
        </p:nvSpPr>
        <p:spPr>
          <a:xfrm>
            <a:off x="3145536" y="4512278"/>
            <a:ext cx="641909"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9 sec</a:t>
            </a:r>
            <a:endParaRPr lang="en-US" sz="730" dirty="0"/>
          </a:p>
        </p:txBody>
      </p:sp>
      <p:sp>
        <p:nvSpPr>
          <p:cNvPr id="35" name="Text 32"/>
          <p:cNvSpPr txBox="1"/>
          <p:nvPr/>
        </p:nvSpPr>
        <p:spPr>
          <a:xfrm>
            <a:off x="3831336" y="4512278"/>
            <a:ext cx="888797" cy="187959"/>
          </a:xfrm>
          <a:prstGeom prst="rect">
            <a:avLst/>
          </a:prstGeom>
          <a:noFill/>
          <a:ln/>
        </p:spPr>
        <p:txBody>
          <a:bodyPr wrap="none" lIns="0" tIns="0" rIns="0" bIns="0" rtlCol="0" anchor="t"/>
          <a:lstStyle/>
          <a:p>
            <a:pPr algn="l" indent="0" marL="0">
              <a:lnSpc>
                <a:spcPts val="1140"/>
              </a:lnSpc>
              <a:buNone/>
            </a:pPr>
            <a:r>
              <a:rPr lang="en-US" sz="730" b="1" dirty="0">
                <a:solidFill>
                  <a:srgbClr val="1A62D6"/>
                </a:solidFill>
                <a:latin typeface="Arial" pitchFamily="34" charset="0"/>
                <a:ea typeface="Arial" pitchFamily="34" charset="-122"/>
                <a:cs typeface="Arial" pitchFamily="34" charset="-120"/>
              </a:rPr>
              <a:t>1 sec</a:t>
            </a:r>
            <a:endParaRPr lang="en-US" sz="730" dirty="0"/>
          </a:p>
        </p:txBody>
      </p:sp>
      <p:sp>
        <p:nvSpPr>
          <p:cNvPr id="36" name="Text 33"/>
          <p:cNvSpPr txBox="1"/>
          <p:nvPr/>
        </p:nvSpPr>
        <p:spPr>
          <a:xfrm>
            <a:off x="4718304" y="4503134"/>
            <a:ext cx="740664" cy="206247"/>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−88.9%</a:t>
            </a:r>
            <a:endParaRPr lang="en-US" sz="730" dirty="0"/>
          </a:p>
        </p:txBody>
      </p:sp>
      <p:sp>
        <p:nvSpPr>
          <p:cNvPr id="37" name="Text 34"/>
          <p:cNvSpPr txBox="1"/>
          <p:nvPr/>
        </p:nvSpPr>
        <p:spPr>
          <a:xfrm>
            <a:off x="603504" y="4777454"/>
            <a:ext cx="5214275" cy="165712"/>
          </a:xfrm>
          <a:prstGeom prst="rect">
            <a:avLst/>
          </a:prstGeom>
          <a:noFill/>
          <a:ln/>
        </p:spPr>
        <p:txBody>
          <a:bodyPr wrap="none" lIns="0" tIns="0" rIns="0" bIns="0" rtlCol="0" anchor="t"/>
          <a:lstStyle/>
          <a:p>
            <a:pPr algn="l" indent="0" marL="0">
              <a:lnSpc>
                <a:spcPts val="1000"/>
              </a:lnSpc>
              <a:buNone/>
            </a:pPr>
            <a:r>
              <a:rPr lang="en-US" sz="650" dirty="0">
                <a:solidFill>
                  <a:srgbClr val="5F7691"/>
                </a:solidFill>
                <a:latin typeface="Arial" pitchFamily="34" charset="0"/>
                <a:ea typeface="Arial" pitchFamily="34" charset="-122"/>
                <a:cs typeface="Arial" pitchFamily="34" charset="-120"/>
              </a:rPr>
              <a:t>Dot peen / stamped / embossed · Barcode / Data Matrix · Internal configuration; supplied mission comparisons.</a:t>
            </a:r>
            <a:endParaRPr lang="en-US" sz="650" dirty="0"/>
          </a:p>
        </p:txBody>
      </p:sp>
      <p:sp>
        <p:nvSpPr>
          <p:cNvPr id="38" name="Text 35"/>
          <p:cNvSpPr txBox="1"/>
          <p:nvPr/>
        </p:nvSpPr>
        <p:spPr>
          <a:xfrm>
            <a:off x="7863840" y="3968496"/>
            <a:ext cx="981608" cy="325984"/>
          </a:xfrm>
          <a:prstGeom prst="rect">
            <a:avLst/>
          </a:prstGeom>
          <a:noFill/>
          <a:ln/>
        </p:spPr>
        <p:txBody>
          <a:bodyPr wrap="square" lIns="0" tIns="0" rIns="0" bIns="0" rtlCol="0" anchor="t"/>
          <a:lstStyle/>
          <a:p>
            <a:pPr algn="l" indent="0" marL="0">
              <a:lnSpc>
                <a:spcPts val="1120"/>
              </a:lnSpc>
              <a:buNone/>
            </a:pPr>
            <a:r>
              <a:rPr lang="en-US" sz="720" b="1" dirty="0">
                <a:solidFill>
                  <a:srgbClr val="071A33"/>
                </a:solidFill>
                <a:latin typeface="Arial" pitchFamily="34" charset="0"/>
                <a:ea typeface="Arial" pitchFamily="34" charset="-122"/>
                <a:cs typeface="Arial" pitchFamily="34" charset="-120"/>
              </a:rPr>
              <a:t>Shopfloor OCR in</a:t>
            </a:r>
            <a:endParaRPr lang="en-US" sz="720" dirty="0"/>
          </a:p>
          <a:p>
            <a:pPr algn="l" indent="0" marL="0">
              <a:lnSpc>
                <a:spcPts val="1120"/>
              </a:lnSpc>
              <a:buNone/>
            </a:pPr>
            <a:r>
              <a:rPr lang="en-US" sz="720" b="1" dirty="0">
                <a:solidFill>
                  <a:srgbClr val="071A33"/>
                </a:solidFill>
                <a:latin typeface="Arial" pitchFamily="34" charset="0"/>
                <a:ea typeface="Arial" pitchFamily="34" charset="-122"/>
                <a:cs typeface="Arial" pitchFamily="34" charset="-120"/>
              </a:rPr>
              <a:t>use</a:t>
            </a:r>
            <a:endParaRPr lang="en-US" sz="720" dirty="0"/>
          </a:p>
        </p:txBody>
      </p:sp>
      <p:sp>
        <p:nvSpPr>
          <p:cNvPr id="39" name="Text 36"/>
          <p:cNvSpPr txBox="1"/>
          <p:nvPr/>
        </p:nvSpPr>
        <p:spPr>
          <a:xfrm>
            <a:off x="7863840" y="4279392"/>
            <a:ext cx="981608" cy="250100"/>
          </a:xfrm>
          <a:prstGeom prst="rect">
            <a:avLst/>
          </a:prstGeom>
          <a:noFill/>
          <a:ln/>
        </p:spPr>
        <p:txBody>
          <a:bodyPr wrap="square" lIns="0" tIns="0" rIns="0" bIns="0" rtlCol="0" anchor="t"/>
          <a:lstStyle/>
          <a:p>
            <a:pPr algn="l" indent="0" marL="0">
              <a:lnSpc>
                <a:spcPts val="860"/>
              </a:lnSpc>
              <a:buNone/>
            </a:pPr>
            <a:r>
              <a:rPr lang="en-US" sz="610" dirty="0">
                <a:solidFill>
                  <a:srgbClr val="4D6585"/>
                </a:solidFill>
                <a:latin typeface="Arial" pitchFamily="34" charset="0"/>
                <a:ea typeface="Arial" pitchFamily="34" charset="-122"/>
                <a:cs typeface="Arial" pitchFamily="34" charset="-120"/>
              </a:rPr>
              <a:t>KEYENCE BT-A1000 ·</a:t>
            </a:r>
            <a:endParaRPr lang="en-US" sz="610" dirty="0"/>
          </a:p>
          <a:p>
            <a:pPr algn="l" indent="0" marL="0">
              <a:lnSpc>
                <a:spcPts val="860"/>
              </a:lnSpc>
              <a:buNone/>
            </a:pPr>
            <a:r>
              <a:rPr lang="en-US" sz="610" dirty="0">
                <a:solidFill>
                  <a:srgbClr val="4D6585"/>
                </a:solidFill>
                <a:latin typeface="Arial" pitchFamily="34" charset="0"/>
                <a:ea typeface="Arial" pitchFamily="34" charset="-122"/>
                <a:cs typeface="Arial" pitchFamily="34" charset="-120"/>
              </a:rPr>
              <a:t>LCBTH.26.0005</a:t>
            </a:r>
            <a:endParaRPr lang="en-US" sz="61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DFE"/>
        </a:solidFill>
      </p:bgPr>
    </p:bg>
    <p:spTree>
      <p:nvGrpSpPr>
        <p:cNvPr id="1" name=""/>
        <p:cNvGrpSpPr/>
        <p:nvPr/>
      </p:nvGrpSpPr>
      <p:grpSpPr>
        <a:xfrm>
          <a:off x="0" y="0"/>
          <a:ext cx="0" cy="0"/>
          <a:chOff x="0" y="0"/>
          <a:chExt cx="0" cy="0"/>
        </a:xfrm>
      </p:grpSpPr>
      <p:pic>
        <p:nvPicPr>
          <p:cNvPr id="2" name="Image 0" descr="Slide: A hybrid workflow connects shopfloor capture to customer reports.">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1042793"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03 · Hybrid workflow</a:t>
            </a:r>
            <a:endParaRPr lang="en-US" sz="720" dirty="0"/>
          </a:p>
        </p:txBody>
      </p:sp>
      <p:sp>
        <p:nvSpPr>
          <p:cNvPr id="4" name="Text 1"/>
          <p:cNvSpPr txBox="1"/>
          <p:nvPr/>
        </p:nvSpPr>
        <p:spPr>
          <a:xfrm>
            <a:off x="457200" y="1252728"/>
            <a:ext cx="9299448" cy="714748"/>
          </a:xfrm>
          <a:prstGeom prst="rect">
            <a:avLst/>
          </a:prstGeom>
          <a:noFill/>
          <a:ln/>
        </p:spPr>
        <p:txBody>
          <a:bodyPr wrap="squar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A hybrid workflow connects shopfloor</a:t>
            </a:r>
            <a:endParaRPr lang="en-US" sz="2380" dirty="0"/>
          </a:p>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capture to customer reports.</a:t>
            </a:r>
            <a:endParaRPr lang="en-US" sz="2380" dirty="0"/>
          </a:p>
        </p:txBody>
      </p:sp>
      <p:sp>
        <p:nvSpPr>
          <p:cNvPr id="5" name="Text 2"/>
          <p:cNvSpPr txBox="1"/>
          <p:nvPr/>
        </p:nvSpPr>
        <p:spPr>
          <a:xfrm>
            <a:off x="457200" y="1947386"/>
            <a:ext cx="5081418" cy="231800"/>
          </a:xfrm>
          <a:prstGeom prst="rect">
            <a:avLst/>
          </a:prstGeom>
          <a:noFill/>
          <a:ln/>
        </p:spPr>
        <p:txBody>
          <a:bodyPr wrap="non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Online cloud records + offline Excel support → administrator review → customer report.</a:t>
            </a:r>
            <a:endParaRPr lang="en-US" sz="940" dirty="0"/>
          </a:p>
        </p:txBody>
      </p:sp>
      <p:sp>
        <p:nvSpPr>
          <p:cNvPr id="6" name="Text 3"/>
          <p:cNvSpPr txBox="1"/>
          <p:nvPr/>
        </p:nvSpPr>
        <p:spPr>
          <a:xfrm>
            <a:off x="57607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Shopfloor</a:t>
            </a:r>
            <a:endParaRPr lang="en-US" sz="940" dirty="0"/>
          </a:p>
        </p:txBody>
      </p:sp>
      <p:sp>
        <p:nvSpPr>
          <p:cNvPr id="7" name="Text 4"/>
          <p:cNvSpPr txBox="1"/>
          <p:nvPr/>
        </p:nvSpPr>
        <p:spPr>
          <a:xfrm>
            <a:off x="57607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Handheld OCR / QR</a:t>
            </a:r>
            <a:endParaRPr lang="en-US" sz="720" dirty="0"/>
          </a:p>
        </p:txBody>
      </p:sp>
      <p:sp>
        <p:nvSpPr>
          <p:cNvPr id="8" name="Text 5"/>
          <p:cNvSpPr txBox="1"/>
          <p:nvPr/>
        </p:nvSpPr>
        <p:spPr>
          <a:xfrm>
            <a:off x="57607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Serial + Good / NG</a:t>
            </a:r>
            <a:endParaRPr lang="en-US" sz="720" dirty="0"/>
          </a:p>
        </p:txBody>
      </p:sp>
      <p:sp>
        <p:nvSpPr>
          <p:cNvPr id="9" name="Text 6"/>
          <p:cNvSpPr txBox="1"/>
          <p:nvPr/>
        </p:nvSpPr>
        <p:spPr>
          <a:xfrm>
            <a:off x="226771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Google Sheets</a:t>
            </a:r>
            <a:endParaRPr lang="en-US" sz="940" dirty="0"/>
          </a:p>
        </p:txBody>
      </p:sp>
      <p:sp>
        <p:nvSpPr>
          <p:cNvPr id="10" name="Text 7"/>
          <p:cNvSpPr txBox="1"/>
          <p:nvPr/>
        </p:nvSpPr>
        <p:spPr>
          <a:xfrm>
            <a:off x="226771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Auto-record data</a:t>
            </a:r>
            <a:endParaRPr lang="en-US" sz="720" dirty="0"/>
          </a:p>
        </p:txBody>
      </p:sp>
      <p:sp>
        <p:nvSpPr>
          <p:cNvPr id="11" name="Text 8"/>
          <p:cNvSpPr txBox="1"/>
          <p:nvPr/>
        </p:nvSpPr>
        <p:spPr>
          <a:xfrm>
            <a:off x="226771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Real-time access</a:t>
            </a:r>
            <a:endParaRPr lang="en-US" sz="720" dirty="0"/>
          </a:p>
        </p:txBody>
      </p:sp>
      <p:sp>
        <p:nvSpPr>
          <p:cNvPr id="12" name="Text 9"/>
          <p:cNvSpPr txBox="1"/>
          <p:nvPr/>
        </p:nvSpPr>
        <p:spPr>
          <a:xfrm>
            <a:off x="395935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Google Drive</a:t>
            </a:r>
            <a:endParaRPr lang="en-US" sz="940" dirty="0"/>
          </a:p>
        </p:txBody>
      </p:sp>
      <p:sp>
        <p:nvSpPr>
          <p:cNvPr id="13" name="Text 10"/>
          <p:cNvSpPr txBox="1"/>
          <p:nvPr/>
        </p:nvSpPr>
        <p:spPr>
          <a:xfrm>
            <a:off x="395935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Shared online files</a:t>
            </a:r>
            <a:endParaRPr lang="en-US" sz="720" dirty="0"/>
          </a:p>
        </p:txBody>
      </p:sp>
      <p:sp>
        <p:nvSpPr>
          <p:cNvPr id="14" name="Text 11"/>
          <p:cNvSpPr txBox="1"/>
          <p:nvPr/>
        </p:nvSpPr>
        <p:spPr>
          <a:xfrm>
            <a:off x="395935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Supervisor access</a:t>
            </a:r>
            <a:endParaRPr lang="en-US" sz="720" dirty="0"/>
          </a:p>
        </p:txBody>
      </p:sp>
      <p:sp>
        <p:nvSpPr>
          <p:cNvPr id="15" name="Text 12"/>
          <p:cNvSpPr txBox="1"/>
          <p:nvPr/>
        </p:nvSpPr>
        <p:spPr>
          <a:xfrm>
            <a:off x="565099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Administrator</a:t>
            </a:r>
            <a:endParaRPr lang="en-US" sz="940" dirty="0"/>
          </a:p>
        </p:txBody>
      </p:sp>
      <p:sp>
        <p:nvSpPr>
          <p:cNvPr id="16" name="Text 13"/>
          <p:cNvSpPr txBox="1"/>
          <p:nvPr/>
        </p:nvSpPr>
        <p:spPr>
          <a:xfrm>
            <a:off x="565099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Review online data</a:t>
            </a:r>
            <a:endParaRPr lang="en-US" sz="720" dirty="0"/>
          </a:p>
        </p:txBody>
      </p:sp>
      <p:sp>
        <p:nvSpPr>
          <p:cNvPr id="17" name="Text 14"/>
          <p:cNvSpPr txBox="1"/>
          <p:nvPr/>
        </p:nvSpPr>
        <p:spPr>
          <a:xfrm>
            <a:off x="565099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Reconcile Excel</a:t>
            </a:r>
            <a:endParaRPr lang="en-US" sz="720" dirty="0"/>
          </a:p>
        </p:txBody>
      </p:sp>
      <p:sp>
        <p:nvSpPr>
          <p:cNvPr id="18" name="Text 15"/>
          <p:cNvSpPr txBox="1"/>
          <p:nvPr/>
        </p:nvSpPr>
        <p:spPr>
          <a:xfrm>
            <a:off x="734263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Customer report</a:t>
            </a:r>
            <a:endParaRPr lang="en-US" sz="940" dirty="0"/>
          </a:p>
        </p:txBody>
      </p:sp>
      <p:sp>
        <p:nvSpPr>
          <p:cNvPr id="19" name="Text 16"/>
          <p:cNvSpPr txBox="1"/>
          <p:nvPr/>
        </p:nvSpPr>
        <p:spPr>
          <a:xfrm>
            <a:off x="734263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Reviewed results</a:t>
            </a:r>
            <a:endParaRPr lang="en-US" sz="720" dirty="0"/>
          </a:p>
        </p:txBody>
      </p:sp>
      <p:sp>
        <p:nvSpPr>
          <p:cNvPr id="20" name="Text 17"/>
          <p:cNvSpPr txBox="1"/>
          <p:nvPr/>
        </p:nvSpPr>
        <p:spPr>
          <a:xfrm>
            <a:off x="734263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Submit final report</a:t>
            </a:r>
            <a:endParaRPr lang="en-US" sz="720" dirty="0"/>
          </a:p>
        </p:txBody>
      </p:sp>
      <p:sp>
        <p:nvSpPr>
          <p:cNvPr id="21" name="Text 18"/>
          <p:cNvSpPr txBox="1"/>
          <p:nvPr/>
        </p:nvSpPr>
        <p:spPr>
          <a:xfrm>
            <a:off x="3703320" y="4291679"/>
            <a:ext cx="1125038" cy="221045"/>
          </a:xfrm>
          <a:prstGeom prst="rect">
            <a:avLst/>
          </a:prstGeom>
          <a:noFill/>
          <a:ln/>
        </p:spPr>
        <p:txBody>
          <a:bodyPr wrap="none" lIns="0" tIns="0" rIns="0" bIns="0" rtlCol="0" anchor="t"/>
          <a:lstStyle/>
          <a:p>
            <a:pPr algn="l" indent="0" marL="0">
              <a:lnSpc>
                <a:spcPts val="1340"/>
              </a:lnSpc>
              <a:buNone/>
            </a:pPr>
            <a:r>
              <a:rPr lang="en-US" sz="860" b="1" dirty="0">
                <a:solidFill>
                  <a:srgbClr val="071A33"/>
                </a:solidFill>
                <a:latin typeface="Arial" pitchFamily="34" charset="0"/>
                <a:ea typeface="Arial" pitchFamily="34" charset="-122"/>
                <a:cs typeface="Arial" pitchFamily="34" charset="-120"/>
              </a:rPr>
              <a:t>Excel offline</a:t>
            </a:r>
            <a:endParaRPr lang="en-US" sz="860" dirty="0"/>
          </a:p>
        </p:txBody>
      </p:sp>
      <p:sp>
        <p:nvSpPr>
          <p:cNvPr id="22" name="Text 19"/>
          <p:cNvSpPr txBox="1"/>
          <p:nvPr/>
        </p:nvSpPr>
        <p:spPr>
          <a:xfrm>
            <a:off x="3703320" y="4461701"/>
            <a:ext cx="1125038" cy="174982"/>
          </a:xfrm>
          <a:prstGeom prst="rect">
            <a:avLst/>
          </a:prstGeom>
          <a:noFill/>
          <a:ln/>
        </p:spPr>
        <p:txBody>
          <a:bodyPr wrap="none" lIns="0" tIns="0" rIns="0" bIns="0" rtlCol="0" anchor="t"/>
          <a:lstStyle/>
          <a:p>
            <a:pPr algn="l" indent="0" marL="0">
              <a:lnSpc>
                <a:spcPts val="1060"/>
              </a:lnSpc>
              <a:buNone/>
            </a:pPr>
            <a:r>
              <a:rPr lang="en-US" sz="680" dirty="0">
                <a:solidFill>
                  <a:srgbClr val="4D6585"/>
                </a:solidFill>
                <a:latin typeface="Arial" pitchFamily="34" charset="0"/>
                <a:ea typeface="Arial" pitchFamily="34" charset="-122"/>
                <a:cs typeface="Arial" pitchFamily="34" charset="-120"/>
              </a:rPr>
              <a:t>Local serial + status record</a:t>
            </a:r>
            <a:endParaRPr lang="en-US" sz="680" dirty="0"/>
          </a:p>
        </p:txBody>
      </p:sp>
      <p:sp>
        <p:nvSpPr>
          <p:cNvPr id="23" name="Text 20"/>
          <p:cNvSpPr txBox="1"/>
          <p:nvPr/>
        </p:nvSpPr>
        <p:spPr>
          <a:xfrm>
            <a:off x="6400800" y="4224528"/>
            <a:ext cx="1580083" cy="152339"/>
          </a:xfrm>
          <a:prstGeom prst="rect">
            <a:avLst/>
          </a:prstGeom>
          <a:noFill/>
          <a:ln/>
        </p:spPr>
        <p:txBody>
          <a:bodyPr wrap="none" lIns="0" tIns="0" rIns="0" bIns="0" rtlCol="0" anchor="t"/>
          <a:lstStyle/>
          <a:p>
            <a:pPr algn="l" indent="0" marL="0">
              <a:lnSpc>
                <a:spcPts val="920"/>
              </a:lnSpc>
              <a:buNone/>
            </a:pPr>
            <a:r>
              <a:rPr lang="en-US" sz="680" dirty="0">
                <a:solidFill>
                  <a:srgbClr val="4D6585"/>
                </a:solidFill>
                <a:latin typeface="Arial" pitchFamily="34" charset="0"/>
                <a:ea typeface="Arial" pitchFamily="34" charset="-122"/>
                <a:cs typeface="Arial" pitchFamily="34" charset="-120"/>
              </a:rPr>
              <a:t>Reconcile offline and online records</a:t>
            </a:r>
            <a:endParaRPr lang="en-US" sz="680" dirty="0"/>
          </a:p>
        </p:txBody>
      </p:sp>
      <p:sp>
        <p:nvSpPr>
          <p:cNvPr id="24" name="Text 21"/>
          <p:cNvSpPr txBox="1"/>
          <p:nvPr/>
        </p:nvSpPr>
        <p:spPr>
          <a:xfrm>
            <a:off x="457200" y="4789884"/>
            <a:ext cx="4196479" cy="156585"/>
          </a:xfrm>
          <a:prstGeom prst="rect">
            <a:avLst/>
          </a:prstGeom>
          <a:noFill/>
          <a:ln/>
        </p:spPr>
        <p:txBody>
          <a:bodyPr wrap="none" lIns="0" tIns="0" rIns="0" bIns="0" rtlCol="0" anchor="t"/>
          <a:lstStyle/>
          <a:p>
            <a:pPr algn="l" indent="0" marL="0">
              <a:lnSpc>
                <a:spcPts val="950"/>
              </a:lnSpc>
              <a:buNone/>
            </a:pPr>
            <a:r>
              <a:rPr lang="en-US" sz="610" dirty="0">
                <a:solidFill>
                  <a:srgbClr val="5F7691"/>
                </a:solidFill>
                <a:latin typeface="Arial" pitchFamily="34" charset="0"/>
                <a:ea typeface="Arial" pitchFamily="34" charset="-122"/>
                <a:cs typeface="Arial" pitchFamily="34" charset="-120"/>
              </a:rPr>
              <a:t>Source: supplied OCR capture and MMTH hybrid workflow. Generic icons denote functions, not product logos.</a:t>
            </a:r>
            <a:endParaRPr lang="en-US" sz="61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DFE"/>
        </a:solidFill>
      </p:bgPr>
    </p:bg>
    <p:spTree>
      <p:nvGrpSpPr>
        <p:cNvPr id="1" name=""/>
        <p:cNvGrpSpPr/>
        <p:nvPr/>
      </p:nvGrpSpPr>
      <p:grpSpPr>
        <a:xfrm>
          <a:off x="0" y="0"/>
          <a:ext cx="0" cy="0"/>
          <a:chOff x="0" y="0"/>
          <a:chExt cx="0" cy="0"/>
        </a:xfrm>
      </p:grpSpPr>
      <p:pic>
        <p:nvPicPr>
          <p:cNvPr id="2" name="Image 0" descr="Slide: Four controls protect every inspection record.">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771525"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03 · Poka-yoke</a:t>
            </a:r>
            <a:endParaRPr lang="en-US" sz="720" dirty="0"/>
          </a:p>
        </p:txBody>
      </p:sp>
      <p:sp>
        <p:nvSpPr>
          <p:cNvPr id="4" name="Text 1"/>
          <p:cNvSpPr txBox="1"/>
          <p:nvPr/>
        </p:nvSpPr>
        <p:spPr>
          <a:xfrm>
            <a:off x="457200" y="1252728"/>
            <a:ext cx="6248118"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Four controls protect every inspection record.</a:t>
            </a:r>
            <a:endParaRPr lang="en-US" sz="2380" dirty="0"/>
          </a:p>
        </p:txBody>
      </p:sp>
      <p:sp>
        <p:nvSpPr>
          <p:cNvPr id="5" name="Text 2"/>
          <p:cNvSpPr txBox="1"/>
          <p:nvPr/>
        </p:nvSpPr>
        <p:spPr>
          <a:xfrm>
            <a:off x="457200" y="1636633"/>
            <a:ext cx="4876964" cy="231800"/>
          </a:xfrm>
          <a:prstGeom prst="rect">
            <a:avLst/>
          </a:prstGeom>
          <a:noFill/>
          <a:ln/>
        </p:spPr>
        <p:txBody>
          <a:bodyPr wrap="non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Visual + voice guidance at capture. Administrator review before customer reporting.</a:t>
            </a:r>
            <a:endParaRPr lang="en-US" sz="940" dirty="0"/>
          </a:p>
        </p:txBody>
      </p:sp>
      <p:sp>
        <p:nvSpPr>
          <p:cNvPr id="6" name="Text 3"/>
          <p:cNvSpPr txBox="1"/>
          <p:nvPr/>
        </p:nvSpPr>
        <p:spPr>
          <a:xfrm>
            <a:off x="1152144" y="2471595"/>
            <a:ext cx="341693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71A33"/>
                </a:solidFill>
                <a:latin typeface="Arial" pitchFamily="34" charset="0"/>
                <a:ea typeface="Arial" pitchFamily="34" charset="-122"/>
                <a:cs typeface="Arial" pitchFamily="34" charset="-120"/>
              </a:rPr>
              <a:t>Wrong part / serial</a:t>
            </a:r>
            <a:endParaRPr lang="en-US" sz="1040" dirty="0"/>
          </a:p>
        </p:txBody>
      </p:sp>
      <p:sp>
        <p:nvSpPr>
          <p:cNvPr id="7" name="Text 4"/>
          <p:cNvSpPr txBox="1"/>
          <p:nvPr/>
        </p:nvSpPr>
        <p:spPr>
          <a:xfrm>
            <a:off x="1152144" y="2704481"/>
            <a:ext cx="3416930" cy="189487"/>
          </a:xfrm>
          <a:prstGeom prst="rect">
            <a:avLst/>
          </a:prstGeom>
          <a:noFill/>
          <a:ln/>
        </p:spPr>
        <p:txBody>
          <a:bodyPr wrap="none" lIns="0" tIns="0" rIns="0" bIns="0" rtlCol="0" anchor="t"/>
          <a:lstStyle/>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Validate against customer list / production plan. Warn on mismatch.</a:t>
            </a:r>
            <a:endParaRPr lang="en-US" sz="790" dirty="0"/>
          </a:p>
        </p:txBody>
      </p:sp>
      <p:sp>
        <p:nvSpPr>
          <p:cNvPr id="8" name="Text 5"/>
          <p:cNvSpPr txBox="1"/>
          <p:nvPr/>
        </p:nvSpPr>
        <p:spPr>
          <a:xfrm>
            <a:off x="5358384" y="2471595"/>
            <a:ext cx="341693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71A33"/>
                </a:solidFill>
                <a:latin typeface="Arial" pitchFamily="34" charset="0"/>
                <a:ea typeface="Arial" pitchFamily="34" charset="-122"/>
                <a:cs typeface="Arial" pitchFamily="34" charset="-120"/>
              </a:rPr>
              <a:t>Duplicate scan</a:t>
            </a:r>
            <a:endParaRPr lang="en-US" sz="1040" dirty="0"/>
          </a:p>
        </p:txBody>
      </p:sp>
      <p:sp>
        <p:nvSpPr>
          <p:cNvPr id="9" name="Text 6"/>
          <p:cNvSpPr txBox="1"/>
          <p:nvPr/>
        </p:nvSpPr>
        <p:spPr>
          <a:xfrm>
            <a:off x="5358384" y="2704481"/>
            <a:ext cx="3416930" cy="189487"/>
          </a:xfrm>
          <a:prstGeom prst="rect">
            <a:avLst/>
          </a:prstGeom>
          <a:noFill/>
          <a:ln/>
        </p:spPr>
        <p:txBody>
          <a:bodyPr wrap="none" lIns="0" tIns="0" rIns="0" bIns="0" rtlCol="0" anchor="t"/>
          <a:lstStyle/>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Lock out repeated scans. Prevent duplicate counting.</a:t>
            </a:r>
            <a:endParaRPr lang="en-US" sz="790" dirty="0"/>
          </a:p>
        </p:txBody>
      </p:sp>
      <p:sp>
        <p:nvSpPr>
          <p:cNvPr id="10" name="Text 7"/>
          <p:cNvSpPr txBox="1"/>
          <p:nvPr/>
        </p:nvSpPr>
        <p:spPr>
          <a:xfrm>
            <a:off x="1152144" y="3355562"/>
            <a:ext cx="341693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71A33"/>
                </a:solidFill>
                <a:latin typeface="Arial" pitchFamily="34" charset="0"/>
                <a:ea typeface="Arial" pitchFamily="34" charset="-122"/>
                <a:cs typeface="Arial" pitchFamily="34" charset="-120"/>
              </a:rPr>
              <a:t>Full box</a:t>
            </a:r>
            <a:endParaRPr lang="en-US" sz="1040" dirty="0"/>
          </a:p>
        </p:txBody>
      </p:sp>
      <p:sp>
        <p:nvSpPr>
          <p:cNvPr id="11" name="Text 8"/>
          <p:cNvSpPr txBox="1"/>
          <p:nvPr/>
        </p:nvSpPr>
        <p:spPr>
          <a:xfrm>
            <a:off x="1152144" y="3588449"/>
            <a:ext cx="3416930" cy="189487"/>
          </a:xfrm>
          <a:prstGeom prst="rect">
            <a:avLst/>
          </a:prstGeom>
          <a:noFill/>
          <a:ln/>
        </p:spPr>
        <p:txBody>
          <a:bodyPr wrap="none" lIns="0" tIns="0" rIns="0" bIns="0" rtlCol="0" anchor="t"/>
          <a:lstStyle/>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Voice + popup notification when target quantity is reached.</a:t>
            </a:r>
            <a:endParaRPr lang="en-US" sz="790" dirty="0"/>
          </a:p>
        </p:txBody>
      </p:sp>
      <p:sp>
        <p:nvSpPr>
          <p:cNvPr id="12" name="Text 9"/>
          <p:cNvSpPr txBox="1"/>
          <p:nvPr/>
        </p:nvSpPr>
        <p:spPr>
          <a:xfrm>
            <a:off x="5358384" y="3282696"/>
            <a:ext cx="341693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71A33"/>
                </a:solidFill>
                <a:latin typeface="Arial" pitchFamily="34" charset="0"/>
                <a:ea typeface="Arial" pitchFamily="34" charset="-122"/>
                <a:cs typeface="Arial" pitchFamily="34" charset="-120"/>
              </a:rPr>
              <a:t>Review &amp; release</a:t>
            </a:r>
            <a:endParaRPr lang="en-US" sz="1040" dirty="0"/>
          </a:p>
        </p:txBody>
      </p:sp>
      <p:sp>
        <p:nvSpPr>
          <p:cNvPr id="13" name="Text 10"/>
          <p:cNvSpPr txBox="1"/>
          <p:nvPr/>
        </p:nvSpPr>
        <p:spPr>
          <a:xfrm>
            <a:off x="5358384" y="3515582"/>
            <a:ext cx="3575121" cy="335219"/>
          </a:xfrm>
          <a:prstGeom prst="rect">
            <a:avLst/>
          </a:prstGeom>
          <a:noFill/>
          <a:ln/>
        </p:spPr>
        <p:txBody>
          <a:bodyPr wrap="square" lIns="0" tIns="0" rIns="0" bIns="0" rtlCol="0" anchor="t"/>
          <a:lstStyle/>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Administrator checks offline + online records before submitting the</a:t>
            </a:r>
            <a:endParaRPr lang="en-US" sz="790" dirty="0"/>
          </a:p>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customer report.</a:t>
            </a:r>
            <a:endParaRPr lang="en-US" sz="790" dirty="0"/>
          </a:p>
        </p:txBody>
      </p:sp>
      <p:sp>
        <p:nvSpPr>
          <p:cNvPr id="14" name="Text 11"/>
          <p:cNvSpPr txBox="1"/>
          <p:nvPr/>
        </p:nvSpPr>
        <p:spPr>
          <a:xfrm>
            <a:off x="603504" y="4407408"/>
            <a:ext cx="8571951" cy="187959"/>
          </a:xfrm>
          <a:prstGeom prst="rect">
            <a:avLst/>
          </a:prstGeom>
          <a:noFill/>
          <a:ln/>
        </p:spPr>
        <p:txBody>
          <a:bodyPr wrap="none" lIns="0" tIns="0" rIns="0" bIns="0" rtlCol="0" anchor="t"/>
          <a:lstStyle/>
          <a:p>
            <a:pPr algn="l" indent="0" marL="0">
              <a:lnSpc>
                <a:spcPts val="1140"/>
              </a:lnSpc>
              <a:buNone/>
            </a:pPr>
            <a:r>
              <a:rPr lang="en-US" sz="730" dirty="0">
                <a:solidFill>
                  <a:srgbClr val="0B4FBF"/>
                </a:solidFill>
                <a:latin typeface="Arial" pitchFamily="34" charset="0"/>
                <a:ea typeface="Arial" pitchFamily="34" charset="-122"/>
                <a:cs typeface="Arial" pitchFamily="34" charset="-120"/>
              </a:rPr>
              <a:t>Linked data: Customer • Material • Batch • Order | Missions 04, 29, 31 · Internal configuration + Text-to-Speech support shopfloor use.</a:t>
            </a:r>
            <a:endParaRPr lang="en-US" sz="730" dirty="0"/>
          </a:p>
        </p:txBody>
      </p:sp>
      <p:sp>
        <p:nvSpPr>
          <p:cNvPr id="15" name="Text 12"/>
          <p:cNvSpPr txBox="1"/>
          <p:nvPr/>
        </p:nvSpPr>
        <p:spPr>
          <a:xfrm>
            <a:off x="457200" y="4789884"/>
            <a:ext cx="3838491" cy="156585"/>
          </a:xfrm>
          <a:prstGeom prst="rect">
            <a:avLst/>
          </a:prstGeom>
          <a:noFill/>
          <a:ln/>
        </p:spPr>
        <p:txBody>
          <a:bodyPr wrap="none" lIns="0" tIns="0" rIns="0" bIns="0" rtlCol="0" anchor="t"/>
          <a:lstStyle/>
          <a:p>
            <a:pPr algn="l" indent="0" marL="0">
              <a:lnSpc>
                <a:spcPts val="950"/>
              </a:lnSpc>
              <a:buNone/>
            </a:pPr>
            <a:r>
              <a:rPr lang="en-US" sz="610" dirty="0">
                <a:solidFill>
                  <a:srgbClr val="5F7691"/>
                </a:solidFill>
                <a:latin typeface="Arial" pitchFamily="34" charset="0"/>
                <a:ea typeface="Arial" pitchFamily="34" charset="-122"/>
                <a:cs typeface="Arial" pitchFamily="34" charset="-120"/>
              </a:rPr>
              <a:t>Source: supplied error-prevention workflow. Next: two web apps supporting Non-Rayong operations.</a:t>
            </a:r>
            <a:endParaRPr lang="en-US" sz="61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DFE"/>
        </a:solidFill>
      </p:bgPr>
    </p:bg>
    <p:spTree>
      <p:nvGrpSpPr>
        <p:cNvPr id="1" name=""/>
        <p:cNvGrpSpPr/>
        <p:nvPr/>
      </p:nvGrpSpPr>
      <p:grpSpPr>
        <a:xfrm>
          <a:off x="0" y="0"/>
          <a:ext cx="0" cy="0"/>
          <a:chOff x="0" y="0"/>
          <a:chExt cx="0" cy="0"/>
        </a:xfrm>
      </p:grpSpPr>
      <p:pic>
        <p:nvPicPr>
          <p:cNvPr id="2" name="Image 0" descr="Slide: The two apps.">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3270695"/>
            <a:ext cx="1369457"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Non-Rayong overview 2026</a:t>
            </a:r>
            <a:endParaRPr lang="en-US" sz="720" dirty="0"/>
          </a:p>
        </p:txBody>
      </p:sp>
      <p:sp>
        <p:nvSpPr>
          <p:cNvPr id="4" name="Text 1"/>
          <p:cNvSpPr txBox="1"/>
          <p:nvPr/>
        </p:nvSpPr>
        <p:spPr>
          <a:xfrm>
            <a:off x="457200" y="3581591"/>
            <a:ext cx="3357677" cy="538659"/>
          </a:xfrm>
          <a:prstGeom prst="rect">
            <a:avLst/>
          </a:prstGeom>
          <a:noFill/>
          <a:ln/>
        </p:spPr>
        <p:txBody>
          <a:bodyPr wrap="none" lIns="0" tIns="0" rIns="0" bIns="0" rtlCol="0" anchor="t"/>
          <a:lstStyle/>
          <a:p>
            <a:pPr algn="l" indent="0" marL="0">
              <a:lnSpc>
                <a:spcPts val="3260"/>
              </a:lnSpc>
              <a:buNone/>
            </a:pPr>
            <a:r>
              <a:rPr lang="en-US" sz="3170" b="1" spc="-158" kern="0" dirty="0">
                <a:solidFill>
                  <a:srgbClr val="FFFFFF"/>
                </a:solidFill>
                <a:latin typeface="Arial" pitchFamily="34" charset="0"/>
                <a:ea typeface="Arial" pitchFamily="34" charset="-122"/>
                <a:cs typeface="Arial" pitchFamily="34" charset="-120"/>
              </a:rPr>
              <a:t>The two apps.</a:t>
            </a:r>
            <a:endParaRPr lang="en-US" sz="3170" dirty="0"/>
          </a:p>
        </p:txBody>
      </p:sp>
      <p:sp>
        <p:nvSpPr>
          <p:cNvPr id="5" name="Text 2"/>
          <p:cNvSpPr txBox="1"/>
          <p:nvPr/>
        </p:nvSpPr>
        <p:spPr>
          <a:xfrm>
            <a:off x="457200" y="4105656"/>
            <a:ext cx="3099816" cy="543154"/>
          </a:xfrm>
          <a:prstGeom prst="rect">
            <a:avLst/>
          </a:prstGeom>
          <a:noFill/>
          <a:ln/>
        </p:spPr>
        <p:txBody>
          <a:bodyPr wrap="square" lIns="0" tIns="0" rIns="0" bIns="0" rtlCol="0" anchor="t"/>
          <a:lstStyle/>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The Manpower Board plans who goes where. The</a:t>
            </a:r>
            <a:endParaRPr lang="en-US" sz="860" dirty="0"/>
          </a:p>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Inventory &amp; Quality System tracks tools, parts</a:t>
            </a:r>
            <a:endParaRPr lang="en-US" sz="860" dirty="0"/>
          </a:p>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and consumables.</a:t>
            </a:r>
            <a:endParaRPr lang="en-US" sz="8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DFE"/>
        </a:solidFill>
      </p:bgPr>
    </p:bg>
    <p:spTree>
      <p:nvGrpSpPr>
        <p:cNvPr id="1" name=""/>
        <p:cNvGrpSpPr/>
        <p:nvPr/>
      </p:nvGrpSpPr>
      <p:grpSpPr>
        <a:xfrm>
          <a:off x="0" y="0"/>
          <a:ext cx="0" cy="0"/>
          <a:chOff x="0" y="0"/>
          <a:chExt cx="0" cy="0"/>
        </a:xfrm>
      </p:grpSpPr>
      <p:pic>
        <p:nvPicPr>
          <p:cNvPr id="2" name="Image 0" descr="Slide: Two apps for the work we do every day.">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88720"/>
            <a:ext cx="900987"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04 · The two apps</a:t>
            </a:r>
            <a:endParaRPr lang="en-US" sz="720" dirty="0"/>
          </a:p>
        </p:txBody>
      </p:sp>
      <p:sp>
        <p:nvSpPr>
          <p:cNvPr id="4" name="Text 1"/>
          <p:cNvSpPr txBox="1"/>
          <p:nvPr/>
        </p:nvSpPr>
        <p:spPr>
          <a:xfrm>
            <a:off x="457200" y="1572768"/>
            <a:ext cx="4339742" cy="1615824"/>
          </a:xfrm>
          <a:prstGeom prst="rect">
            <a:avLst/>
          </a:prstGeom>
          <a:noFill/>
          <a:ln/>
        </p:spPr>
        <p:txBody>
          <a:bodyPr wrap="square" lIns="0" tIns="0" rIns="0" bIns="0" rtlCol="0" anchor="t"/>
          <a:lstStyle/>
          <a:p>
            <a:pPr algn="l" indent="0" marL="0">
              <a:lnSpc>
                <a:spcPts val="3860"/>
              </a:lnSpc>
              <a:buNone/>
            </a:pPr>
            <a:r>
              <a:rPr lang="en-US" sz="3740" b="1" spc="-187" kern="0" dirty="0">
                <a:solidFill>
                  <a:srgbClr val="FFFFFF"/>
                </a:solidFill>
                <a:latin typeface="Arial" pitchFamily="34" charset="0"/>
                <a:ea typeface="Arial" pitchFamily="34" charset="-122"/>
                <a:cs typeface="Arial" pitchFamily="34" charset="-120"/>
              </a:rPr>
              <a:t>Two apps for</a:t>
            </a:r>
            <a:endParaRPr lang="en-US" sz="3740" dirty="0"/>
          </a:p>
          <a:p>
            <a:pPr algn="l" indent="0" marL="0">
              <a:lnSpc>
                <a:spcPts val="3860"/>
              </a:lnSpc>
              <a:buNone/>
            </a:pPr>
            <a:r>
              <a:rPr lang="en-US" sz="3740" b="1" spc="-187" kern="0" dirty="0">
                <a:solidFill>
                  <a:srgbClr val="FFFFFF"/>
                </a:solidFill>
                <a:latin typeface="Arial" pitchFamily="34" charset="0"/>
                <a:ea typeface="Arial" pitchFamily="34" charset="-122"/>
                <a:cs typeface="Arial" pitchFamily="34" charset="-120"/>
              </a:rPr>
              <a:t>the work we</a:t>
            </a:r>
            <a:endParaRPr lang="en-US" sz="3740" dirty="0"/>
          </a:p>
          <a:p>
            <a:pPr algn="l" indent="0" marL="0">
              <a:lnSpc>
                <a:spcPts val="3860"/>
              </a:lnSpc>
              <a:buNone/>
            </a:pPr>
            <a:r>
              <a:rPr lang="en-US" sz="3740" b="1" spc="-187" kern="0" dirty="0">
                <a:solidFill>
                  <a:srgbClr val="FFFFFF"/>
                </a:solidFill>
                <a:latin typeface="Arial" pitchFamily="34" charset="0"/>
                <a:ea typeface="Arial" pitchFamily="34" charset="-122"/>
                <a:cs typeface="Arial" pitchFamily="34" charset="-120"/>
              </a:rPr>
              <a:t>do every day.</a:t>
            </a:r>
            <a:endParaRPr lang="en-US" sz="3740" dirty="0"/>
          </a:p>
        </p:txBody>
      </p:sp>
      <p:sp>
        <p:nvSpPr>
          <p:cNvPr id="5" name="Text 2"/>
          <p:cNvSpPr txBox="1"/>
          <p:nvPr/>
        </p:nvSpPr>
        <p:spPr>
          <a:xfrm>
            <a:off x="457200" y="3224546"/>
            <a:ext cx="3926434" cy="884682"/>
          </a:xfrm>
          <a:prstGeom prst="rect">
            <a:avLst/>
          </a:prstGeom>
          <a:noFill/>
          <a:ln/>
        </p:spPr>
        <p:txBody>
          <a:bodyPr wrap="square" lIns="0" tIns="0" rIns="0" bIns="0" rtlCol="0" anchor="t"/>
          <a:lstStyle/>
          <a:p>
            <a:pPr algn="l" indent="0" marL="0">
              <a:lnSpc>
                <a:spcPts val="1620"/>
              </a:lnSpc>
              <a:buNone/>
            </a:pPr>
            <a:r>
              <a:rPr lang="en-US" sz="1080" dirty="0">
                <a:solidFill>
                  <a:srgbClr val="9DB6D4"/>
                </a:solidFill>
                <a:latin typeface="Arial" pitchFamily="34" charset="0"/>
                <a:ea typeface="Arial" pitchFamily="34" charset="-122"/>
                <a:cs typeface="Arial" pitchFamily="34" charset="-120"/>
              </a:rPr>
              <a:t>The Manpower Board plans who goes where. The</a:t>
            </a:r>
            <a:endParaRPr lang="en-US" sz="1080" dirty="0"/>
          </a:p>
          <a:p>
            <a:pPr algn="l" indent="0" marL="0">
              <a:lnSpc>
                <a:spcPts val="1620"/>
              </a:lnSpc>
              <a:buNone/>
            </a:pPr>
            <a:r>
              <a:rPr lang="en-US" sz="1080" dirty="0">
                <a:solidFill>
                  <a:srgbClr val="9DB6D4"/>
                </a:solidFill>
                <a:latin typeface="Arial" pitchFamily="34" charset="0"/>
                <a:ea typeface="Arial" pitchFamily="34" charset="-122"/>
                <a:cs typeface="Arial" pitchFamily="34" charset="-120"/>
              </a:rPr>
              <a:t>Inventory &amp; Quality System tracks tools, parts</a:t>
            </a:r>
            <a:endParaRPr lang="en-US" sz="1080" dirty="0"/>
          </a:p>
          <a:p>
            <a:pPr algn="l" indent="0" marL="0">
              <a:lnSpc>
                <a:spcPts val="1620"/>
              </a:lnSpc>
              <a:buNone/>
            </a:pPr>
            <a:r>
              <a:rPr lang="en-US" sz="1080" dirty="0">
                <a:solidFill>
                  <a:srgbClr val="9DB6D4"/>
                </a:solidFill>
                <a:latin typeface="Arial" pitchFamily="34" charset="0"/>
                <a:ea typeface="Arial" pitchFamily="34" charset="-122"/>
                <a:cs typeface="Arial" pitchFamily="34" charset="-120"/>
              </a:rPr>
              <a:t>and consumables. Both run in the browser and on</a:t>
            </a:r>
            <a:endParaRPr lang="en-US" sz="1080" dirty="0"/>
          </a:p>
          <a:p>
            <a:pPr algn="l" indent="0" marL="0">
              <a:lnSpc>
                <a:spcPts val="1620"/>
              </a:lnSpc>
              <a:buNone/>
            </a:pPr>
            <a:r>
              <a:rPr lang="en-US" sz="1080" dirty="0">
                <a:solidFill>
                  <a:srgbClr val="9DB6D4"/>
                </a:solidFill>
                <a:latin typeface="Arial" pitchFamily="34" charset="0"/>
                <a:ea typeface="Arial" pitchFamily="34" charset="-122"/>
                <a:cs typeface="Arial" pitchFamily="34" charset="-120"/>
              </a:rPr>
              <a:t>your phone.</a:t>
            </a:r>
            <a:endParaRPr lang="en-US" sz="1080" dirty="0"/>
          </a:p>
        </p:txBody>
      </p:sp>
      <p:sp>
        <p:nvSpPr>
          <p:cNvPr id="6" name="Text 3"/>
          <p:cNvSpPr txBox="1"/>
          <p:nvPr/>
        </p:nvSpPr>
        <p:spPr>
          <a:xfrm>
            <a:off x="745379" y="4230386"/>
            <a:ext cx="861176"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Manpower Board</a:t>
            </a:r>
            <a:endParaRPr lang="en-US" sz="790" dirty="0"/>
          </a:p>
        </p:txBody>
      </p:sp>
      <p:sp>
        <p:nvSpPr>
          <p:cNvPr id="7" name="Text 4"/>
          <p:cNvSpPr txBox="1"/>
          <p:nvPr/>
        </p:nvSpPr>
        <p:spPr>
          <a:xfrm>
            <a:off x="2009251" y="4230386"/>
            <a:ext cx="968881"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Inventory &amp; Quality</a:t>
            </a:r>
            <a:endParaRPr lang="en-US" sz="790" dirty="0"/>
          </a:p>
        </p:txBody>
      </p:sp>
      <p:sp>
        <p:nvSpPr>
          <p:cNvPr id="8" name="Text 5"/>
          <p:cNvSpPr txBox="1"/>
          <p:nvPr/>
        </p:nvSpPr>
        <p:spPr>
          <a:xfrm>
            <a:off x="3372850" y="4230386"/>
            <a:ext cx="745139"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On your phone</a:t>
            </a:r>
            <a:endParaRPr lang="en-US" sz="79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DFE"/>
        </a:solidFill>
      </p:bgPr>
    </p:bg>
    <p:spTree>
      <p:nvGrpSpPr>
        <p:cNvPr id="1" name=""/>
        <p:cNvGrpSpPr/>
        <p:nvPr/>
      </p:nvGrpSpPr>
      <p:grpSpPr>
        <a:xfrm>
          <a:off x="0" y="0"/>
          <a:ext cx="0" cy="0"/>
          <a:chOff x="0" y="0"/>
          <a:chExt cx="0" cy="0"/>
        </a:xfrm>
      </p:grpSpPr>
      <p:pic>
        <p:nvPicPr>
          <p:cNvPr id="2" name="Image 0" descr="Slide: Tomorrow's crew, planned on one board.">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457200" y="1618488"/>
            <a:ext cx="3203143" cy="1149960"/>
          </a:xfrm>
          <a:prstGeom prst="rect">
            <a:avLst/>
          </a:prstGeom>
          <a:noFill/>
          <a:ln/>
        </p:spPr>
        <p:txBody>
          <a:bodyPr wrap="square" lIns="0" tIns="0" rIns="0" bIns="0" rtlCol="0" anchor="t"/>
          <a:lstStyle/>
          <a:p>
            <a:pPr algn="l" indent="0" marL="0">
              <a:lnSpc>
                <a:spcPts val="2740"/>
              </a:lnSpc>
              <a:buNone/>
            </a:pPr>
            <a:r>
              <a:rPr lang="en-US" sz="2660" b="1" spc="-133" kern="0" dirty="0">
                <a:solidFill>
                  <a:srgbClr val="071A33"/>
                </a:solidFill>
                <a:latin typeface="Arial" pitchFamily="34" charset="0"/>
                <a:ea typeface="Arial" pitchFamily="34" charset="-122"/>
                <a:cs typeface="Arial" pitchFamily="34" charset="-120"/>
              </a:rPr>
              <a:t>Tomorrow's</a:t>
            </a:r>
            <a:endParaRPr lang="en-US" sz="2660" dirty="0"/>
          </a:p>
          <a:p>
            <a:pPr algn="l" indent="0" marL="0">
              <a:lnSpc>
                <a:spcPts val="2740"/>
              </a:lnSpc>
              <a:buNone/>
            </a:pPr>
            <a:r>
              <a:rPr lang="en-US" sz="2660" b="1" spc="-133" kern="0" dirty="0">
                <a:solidFill>
                  <a:srgbClr val="071A33"/>
                </a:solidFill>
                <a:latin typeface="Arial" pitchFamily="34" charset="0"/>
                <a:ea typeface="Arial" pitchFamily="34" charset="-122"/>
                <a:cs typeface="Arial" pitchFamily="34" charset="-120"/>
              </a:rPr>
              <a:t>crew, planned</a:t>
            </a:r>
            <a:endParaRPr lang="en-US" sz="2660" dirty="0"/>
          </a:p>
          <a:p>
            <a:pPr algn="l" indent="0" marL="0">
              <a:lnSpc>
                <a:spcPts val="2740"/>
              </a:lnSpc>
              <a:buNone/>
            </a:pPr>
            <a:r>
              <a:rPr lang="en-US" sz="2660" b="1" spc="-133" kern="0" dirty="0">
                <a:solidFill>
                  <a:srgbClr val="071A33"/>
                </a:solidFill>
                <a:latin typeface="Arial" pitchFamily="34" charset="0"/>
                <a:ea typeface="Arial" pitchFamily="34" charset="-122"/>
                <a:cs typeface="Arial" pitchFamily="34" charset="-120"/>
              </a:rPr>
              <a:t>on one board.</a:t>
            </a:r>
            <a:endParaRPr lang="en-US" sz="2660" dirty="0"/>
          </a:p>
        </p:txBody>
      </p:sp>
      <p:sp>
        <p:nvSpPr>
          <p:cNvPr id="4" name="Text 1"/>
          <p:cNvSpPr txBox="1"/>
          <p:nvPr/>
        </p:nvSpPr>
        <p:spPr>
          <a:xfrm>
            <a:off x="457200" y="2810208"/>
            <a:ext cx="3203143" cy="588416"/>
          </a:xfrm>
          <a:prstGeom prst="rect">
            <a:avLst/>
          </a:prstGeom>
          <a:noFill/>
          <a:ln/>
        </p:spPr>
        <p:txBody>
          <a:bodyPr wrap="squar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The magnet board, made digital. Drag people onto</a:t>
            </a:r>
            <a:endParaRPr lang="en-US" sz="940" dirty="0"/>
          </a:p>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missions, leave or standby, and everyone sees the</a:t>
            </a:r>
            <a:endParaRPr lang="en-US" sz="940" dirty="0"/>
          </a:p>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same plan, live.</a:t>
            </a:r>
            <a:endParaRPr lang="en-US" sz="940" dirty="0"/>
          </a:p>
        </p:txBody>
      </p:sp>
      <p:sp>
        <p:nvSpPr>
          <p:cNvPr id="5" name="Text 2"/>
          <p:cNvSpPr txBox="1"/>
          <p:nvPr/>
        </p:nvSpPr>
        <p:spPr>
          <a:xfrm>
            <a:off x="877824" y="3529155"/>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Drag and drop planning</a:t>
            </a:r>
            <a:endParaRPr lang="en-US" sz="990" dirty="0"/>
          </a:p>
        </p:txBody>
      </p:sp>
      <p:sp>
        <p:nvSpPr>
          <p:cNvPr id="6" name="Text 3"/>
          <p:cNvSpPr txBox="1"/>
          <p:nvPr/>
        </p:nvSpPr>
        <p:spPr>
          <a:xfrm>
            <a:off x="877824" y="3953208"/>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Where to go, what to wear</a:t>
            </a:r>
            <a:endParaRPr lang="en-US" sz="990" dirty="0"/>
          </a:p>
        </p:txBody>
      </p:sp>
      <p:sp>
        <p:nvSpPr>
          <p:cNvPr id="7" name="Text 4"/>
          <p:cNvSpPr txBox="1"/>
          <p:nvPr/>
        </p:nvSpPr>
        <p:spPr>
          <a:xfrm>
            <a:off x="877824" y="4521708"/>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Lock a finished plan</a:t>
            </a:r>
            <a:endParaRPr lang="en-US" sz="990" dirty="0"/>
          </a:p>
        </p:txBody>
      </p:sp>
      <p:sp>
        <p:nvSpPr>
          <p:cNvPr id="8" name="Text 5"/>
          <p:cNvSpPr txBox="1"/>
          <p:nvPr/>
        </p:nvSpPr>
        <p:spPr>
          <a:xfrm>
            <a:off x="877824" y="3693033"/>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One board per site, one card per person</a:t>
            </a:r>
            <a:endParaRPr lang="en-US" sz="810" dirty="0"/>
          </a:p>
        </p:txBody>
      </p:sp>
      <p:sp>
        <p:nvSpPr>
          <p:cNvPr id="9" name="Text 6"/>
          <p:cNvSpPr txBox="1"/>
          <p:nvPr/>
        </p:nvSpPr>
        <p:spPr>
          <a:xfrm>
            <a:off x="877824" y="4117086"/>
            <a:ext cx="2727838" cy="332576"/>
          </a:xfrm>
          <a:prstGeom prst="rect">
            <a:avLst/>
          </a:prstGeom>
          <a:noFill/>
          <a:ln/>
        </p:spPr>
        <p:txBody>
          <a:bodyPr wrap="squar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The host name opens Google Maps; PPE is on the</a:t>
            </a:r>
            <a:endParaRPr lang="en-US" sz="810" dirty="0"/>
          </a:p>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card</a:t>
            </a:r>
            <a:endParaRPr lang="en-US" sz="810" dirty="0"/>
          </a:p>
        </p:txBody>
      </p:sp>
      <p:sp>
        <p:nvSpPr>
          <p:cNvPr id="10" name="Text 7"/>
          <p:cNvSpPr txBox="1"/>
          <p:nvPr/>
        </p:nvSpPr>
        <p:spPr>
          <a:xfrm>
            <a:off x="877824" y="4685586"/>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Nobody bumps it by accident</a:t>
            </a:r>
            <a:endParaRPr lang="en-US" sz="81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DFE"/>
        </a:solidFill>
      </p:bgPr>
    </p:bg>
    <p:spTree>
      <p:nvGrpSpPr>
        <p:cNvPr id="1" name=""/>
        <p:cNvGrpSpPr/>
        <p:nvPr/>
      </p:nvGrpSpPr>
      <p:grpSpPr>
        <a:xfrm>
          <a:off x="0" y="0"/>
          <a:ext cx="0" cy="0"/>
          <a:chOff x="0" y="0"/>
          <a:chExt cx="0" cy="0"/>
        </a:xfrm>
      </p:grpSpPr>
      <p:pic>
        <p:nvPicPr>
          <p:cNvPr id="2" name="Image 0" descr="Slide: Plan weeks ahead, not just tomorrow.">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1079981"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Manpower Board</a:t>
            </a:r>
            <a:endParaRPr lang="en-US" sz="720" dirty="0"/>
          </a:p>
        </p:txBody>
      </p:sp>
      <p:sp>
        <p:nvSpPr>
          <p:cNvPr id="4" name="Text 1"/>
          <p:cNvSpPr txBox="1"/>
          <p:nvPr/>
        </p:nvSpPr>
        <p:spPr>
          <a:xfrm>
            <a:off x="457200" y="1490472"/>
            <a:ext cx="3823106" cy="779803"/>
          </a:xfrm>
          <a:prstGeom prst="rect">
            <a:avLst/>
          </a:prstGeom>
          <a:noFill/>
          <a:ln/>
        </p:spPr>
        <p:txBody>
          <a:bodyPr wrap="square" lIns="0" tIns="0" rIns="0" bIns="0" rtlCol="0" anchor="t"/>
          <a:lstStyle/>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Plan weeks ahead,</a:t>
            </a:r>
            <a:endParaRPr lang="en-US" sz="2590" dirty="0"/>
          </a:p>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not just tomorrow.</a:t>
            </a:r>
            <a:endParaRPr lang="en-US" sz="2590" dirty="0"/>
          </a:p>
        </p:txBody>
      </p:sp>
      <p:sp>
        <p:nvSpPr>
          <p:cNvPr id="5" name="Text 2"/>
          <p:cNvSpPr txBox="1"/>
          <p:nvPr/>
        </p:nvSpPr>
        <p:spPr>
          <a:xfrm>
            <a:off x="877824" y="2352580"/>
            <a:ext cx="319966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Carry over the last working day</a:t>
            </a:r>
            <a:endParaRPr lang="en-US" sz="990" dirty="0"/>
          </a:p>
        </p:txBody>
      </p:sp>
      <p:sp>
        <p:nvSpPr>
          <p:cNvPr id="6" name="Text 3"/>
          <p:cNvSpPr txBox="1"/>
          <p:nvPr/>
        </p:nvSpPr>
        <p:spPr>
          <a:xfrm>
            <a:off x="877824" y="2777776"/>
            <a:ext cx="319966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Forecast days</a:t>
            </a:r>
            <a:endParaRPr lang="en-US" sz="990" dirty="0"/>
          </a:p>
        </p:txBody>
      </p:sp>
      <p:sp>
        <p:nvSpPr>
          <p:cNvPr id="7" name="Text 4"/>
          <p:cNvSpPr txBox="1"/>
          <p:nvPr/>
        </p:nvSpPr>
        <p:spPr>
          <a:xfrm>
            <a:off x="877824" y="3202972"/>
            <a:ext cx="319966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Holds</a:t>
            </a:r>
            <a:endParaRPr lang="en-US" sz="990" dirty="0"/>
          </a:p>
        </p:txBody>
      </p:sp>
      <p:sp>
        <p:nvSpPr>
          <p:cNvPr id="8" name="Text 5"/>
          <p:cNvSpPr txBox="1"/>
          <p:nvPr/>
        </p:nvSpPr>
        <p:spPr>
          <a:xfrm>
            <a:off x="877824" y="3628168"/>
            <a:ext cx="319966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Export</a:t>
            </a:r>
            <a:endParaRPr lang="en-US" sz="990" dirty="0"/>
          </a:p>
        </p:txBody>
      </p:sp>
      <p:sp>
        <p:nvSpPr>
          <p:cNvPr id="9" name="Text 6"/>
          <p:cNvSpPr txBox="1"/>
          <p:nvPr/>
        </p:nvSpPr>
        <p:spPr>
          <a:xfrm>
            <a:off x="877824" y="2516457"/>
            <a:ext cx="319966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One click, then change only what moved</a:t>
            </a:r>
            <a:endParaRPr lang="en-US" sz="810" dirty="0"/>
          </a:p>
        </p:txBody>
      </p:sp>
      <p:sp>
        <p:nvSpPr>
          <p:cNvPr id="10" name="Text 7"/>
          <p:cNvSpPr txBox="1"/>
          <p:nvPr/>
        </p:nvSpPr>
        <p:spPr>
          <a:xfrm>
            <a:off x="877824" y="2941653"/>
            <a:ext cx="319966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Tentative plans kept apart, merged with a side-by-side review</a:t>
            </a:r>
            <a:endParaRPr lang="en-US" sz="810" dirty="0"/>
          </a:p>
        </p:txBody>
      </p:sp>
      <p:sp>
        <p:nvSpPr>
          <p:cNvPr id="11" name="Text 8"/>
          <p:cNvSpPr txBox="1"/>
          <p:nvPr/>
        </p:nvSpPr>
        <p:spPr>
          <a:xfrm>
            <a:off x="877824" y="3366849"/>
            <a:ext cx="319966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Take someone another engineer planned and they are told</a:t>
            </a:r>
            <a:endParaRPr lang="en-US" sz="810" dirty="0"/>
          </a:p>
        </p:txBody>
      </p:sp>
      <p:sp>
        <p:nvSpPr>
          <p:cNvPr id="12" name="Text 9"/>
          <p:cNvSpPr txBox="1"/>
          <p:nvPr/>
        </p:nvSpPr>
        <p:spPr>
          <a:xfrm>
            <a:off x="877824" y="3792045"/>
            <a:ext cx="319966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JPG, PDF and Excel, plus the org chart as PowerPoint</a:t>
            </a:r>
            <a:endParaRPr lang="en-US" sz="810" dirty="0"/>
          </a:p>
        </p:txBody>
      </p:sp>
      <p:sp>
        <p:nvSpPr>
          <p:cNvPr id="13" name="Text 10"/>
          <p:cNvSpPr txBox="1"/>
          <p:nvPr/>
        </p:nvSpPr>
        <p:spPr>
          <a:xfrm>
            <a:off x="4389120" y="4215384"/>
            <a:ext cx="2212116" cy="174982"/>
          </a:xfrm>
          <a:prstGeom prst="rect">
            <a:avLst/>
          </a:prstGeom>
          <a:noFill/>
          <a:ln/>
        </p:spPr>
        <p:txBody>
          <a:bodyPr wrap="none" lIns="0" tIns="0" rIns="0" bIns="0" rtlCol="0" anchor="t"/>
          <a:lstStyle/>
          <a:p>
            <a:pPr algn="l" indent="0" marL="0">
              <a:lnSpc>
                <a:spcPts val="1060"/>
              </a:lnSpc>
              <a:buNone/>
            </a:pPr>
            <a:r>
              <a:rPr lang="en-US" sz="680" b="1" spc="55" kern="0" dirty="0">
                <a:solidFill>
                  <a:srgbClr val="0B4FBF"/>
                </a:solidFill>
                <a:latin typeface="Arial" pitchFamily="34" charset="0"/>
                <a:ea typeface="Arial" pitchFamily="34" charset="-122"/>
                <a:cs typeface="Arial" pitchFamily="34" charset="-120"/>
              </a:rPr>
              <a:t>FOR ENGINEERS</a:t>
            </a:r>
            <a:endParaRPr lang="en-US" sz="680" dirty="0"/>
          </a:p>
        </p:txBody>
      </p:sp>
      <p:sp>
        <p:nvSpPr>
          <p:cNvPr id="14" name="Text 11"/>
          <p:cNvSpPr txBox="1"/>
          <p:nvPr/>
        </p:nvSpPr>
        <p:spPr>
          <a:xfrm>
            <a:off x="6638544" y="4215384"/>
            <a:ext cx="2212116" cy="174982"/>
          </a:xfrm>
          <a:prstGeom prst="rect">
            <a:avLst/>
          </a:prstGeom>
          <a:noFill/>
          <a:ln/>
        </p:spPr>
        <p:txBody>
          <a:bodyPr wrap="none" lIns="0" tIns="0" rIns="0" bIns="0" rtlCol="0" anchor="t"/>
          <a:lstStyle/>
          <a:p>
            <a:pPr algn="l" indent="0" marL="0">
              <a:lnSpc>
                <a:spcPts val="1060"/>
              </a:lnSpc>
              <a:buNone/>
            </a:pPr>
            <a:r>
              <a:rPr lang="en-US" sz="680" b="1" spc="55" kern="0" dirty="0">
                <a:solidFill>
                  <a:srgbClr val="0B4FBF"/>
                </a:solidFill>
                <a:latin typeface="Arial" pitchFamily="34" charset="0"/>
                <a:ea typeface="Arial" pitchFamily="34" charset="-122"/>
                <a:cs typeface="Arial" pitchFamily="34" charset="-120"/>
              </a:rPr>
              <a:t>FOR MANAGEMENT</a:t>
            </a:r>
            <a:endParaRPr lang="en-US" sz="680" dirty="0"/>
          </a:p>
        </p:txBody>
      </p:sp>
      <p:sp>
        <p:nvSpPr>
          <p:cNvPr id="15" name="Text 12"/>
          <p:cNvSpPr txBox="1"/>
          <p:nvPr/>
        </p:nvSpPr>
        <p:spPr>
          <a:xfrm>
            <a:off x="4389120" y="4404836"/>
            <a:ext cx="2314529" cy="520522"/>
          </a:xfrm>
          <a:prstGeom prst="rect">
            <a:avLst/>
          </a:prstGeom>
          <a:noFill/>
          <a:ln/>
        </p:spPr>
        <p:txBody>
          <a:bodyPr wrap="square" lIns="0" tIns="0" rIns="0" bIns="0" rtlCol="0" anchor="t"/>
          <a:lstStyle/>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Enter the people each host needs per day.</a:t>
            </a:r>
            <a:endParaRPr lang="en-US" sz="830" dirty="0"/>
          </a:p>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The grid shows every short day as you</a:t>
            </a:r>
            <a:endParaRPr lang="en-US" sz="830" dirty="0"/>
          </a:p>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type.</a:t>
            </a:r>
            <a:endParaRPr lang="en-US" sz="830" dirty="0"/>
          </a:p>
        </p:txBody>
      </p:sp>
      <p:sp>
        <p:nvSpPr>
          <p:cNvPr id="16" name="Text 13"/>
          <p:cNvSpPr txBox="1"/>
          <p:nvPr/>
        </p:nvSpPr>
        <p:spPr>
          <a:xfrm>
            <a:off x="6638544" y="4404836"/>
            <a:ext cx="2314529" cy="520522"/>
          </a:xfrm>
          <a:prstGeom prst="rect">
            <a:avLst/>
          </a:prstGeom>
          <a:noFill/>
          <a:ln/>
        </p:spPr>
        <p:txBody>
          <a:bodyPr wrap="square" lIns="0" tIns="0" rIns="0" bIns="0" rtlCol="0" anchor="t"/>
          <a:lstStyle/>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Short days show in red weeks before they</a:t>
            </a:r>
            <a:endParaRPr lang="en-US" sz="830" dirty="0"/>
          </a:p>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happen, with the worst day and peak</a:t>
            </a:r>
            <a:endParaRPr lang="en-US" sz="830" dirty="0"/>
          </a:p>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demand on top.</a:t>
            </a:r>
            <a:endParaRPr lang="en-US" sz="83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DFE"/>
        </a:solidFill>
      </p:bgPr>
    </p:bg>
    <p:spTree>
      <p:nvGrpSpPr>
        <p:cNvPr id="1" name=""/>
        <p:cNvGrpSpPr/>
        <p:nvPr/>
      </p:nvGrpSpPr>
      <p:grpSpPr>
        <a:xfrm>
          <a:off x="0" y="0"/>
          <a:ext cx="0" cy="0"/>
          <a:chOff x="0" y="0"/>
          <a:chExt cx="0" cy="0"/>
        </a:xfrm>
      </p:grpSpPr>
      <p:pic>
        <p:nvPicPr>
          <p:cNvPr id="2" name="Image 0" descr="Slide: The whole crew in one view.">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1079981"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Manpower Board</a:t>
            </a:r>
            <a:endParaRPr lang="en-US" sz="720" dirty="0"/>
          </a:p>
        </p:txBody>
      </p:sp>
      <p:sp>
        <p:nvSpPr>
          <p:cNvPr id="4" name="Text 1"/>
          <p:cNvSpPr txBox="1"/>
          <p:nvPr/>
        </p:nvSpPr>
        <p:spPr>
          <a:xfrm>
            <a:off x="457200" y="1490472"/>
            <a:ext cx="3409798" cy="779803"/>
          </a:xfrm>
          <a:prstGeom prst="rect">
            <a:avLst/>
          </a:prstGeom>
          <a:noFill/>
          <a:ln/>
        </p:spPr>
        <p:txBody>
          <a:bodyPr wrap="square" lIns="0" tIns="0" rIns="0" bIns="0" rtlCol="0" anchor="t"/>
          <a:lstStyle/>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The whole crew</a:t>
            </a:r>
            <a:endParaRPr lang="en-US" sz="2590" dirty="0"/>
          </a:p>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in one view.</a:t>
            </a:r>
            <a:endParaRPr lang="en-US" sz="2590" dirty="0"/>
          </a:p>
        </p:txBody>
      </p:sp>
      <p:sp>
        <p:nvSpPr>
          <p:cNvPr id="5" name="Text 2"/>
          <p:cNvSpPr txBox="1"/>
          <p:nvPr/>
        </p:nvSpPr>
        <p:spPr>
          <a:xfrm>
            <a:off x="877824" y="2352580"/>
            <a:ext cx="280464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Utilization you can trust</a:t>
            </a:r>
            <a:endParaRPr lang="en-US" sz="990" dirty="0"/>
          </a:p>
        </p:txBody>
      </p:sp>
      <p:sp>
        <p:nvSpPr>
          <p:cNvPr id="6" name="Text 3"/>
          <p:cNvSpPr txBox="1"/>
          <p:nvPr/>
        </p:nvSpPr>
        <p:spPr>
          <a:xfrm>
            <a:off x="877824" y="2777776"/>
            <a:ext cx="280464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Idle staff named</a:t>
            </a:r>
            <a:endParaRPr lang="en-US" sz="990" dirty="0"/>
          </a:p>
        </p:txBody>
      </p:sp>
      <p:sp>
        <p:nvSpPr>
          <p:cNvPr id="7" name="Text 4"/>
          <p:cNvSpPr txBox="1"/>
          <p:nvPr/>
        </p:nvSpPr>
        <p:spPr>
          <a:xfrm>
            <a:off x="877824" y="3202972"/>
            <a:ext cx="280464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By board</a:t>
            </a:r>
            <a:endParaRPr lang="en-US" sz="990" dirty="0"/>
          </a:p>
        </p:txBody>
      </p:sp>
      <p:sp>
        <p:nvSpPr>
          <p:cNvPr id="8" name="Text 5"/>
          <p:cNvSpPr txBox="1"/>
          <p:nvPr/>
        </p:nvSpPr>
        <p:spPr>
          <a:xfrm>
            <a:off x="877824" y="3628168"/>
            <a:ext cx="280464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History and workload</a:t>
            </a:r>
            <a:endParaRPr lang="en-US" sz="990" dirty="0"/>
          </a:p>
        </p:txBody>
      </p:sp>
      <p:sp>
        <p:nvSpPr>
          <p:cNvPr id="9" name="Text 6"/>
          <p:cNvSpPr txBox="1"/>
          <p:nvPr/>
        </p:nvSpPr>
        <p:spPr>
          <a:xfrm>
            <a:off x="877824" y="2516457"/>
            <a:ext cx="280464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On-call staff who were not called stay out of the figure</a:t>
            </a:r>
            <a:endParaRPr lang="en-US" sz="810" dirty="0"/>
          </a:p>
        </p:txBody>
      </p:sp>
      <p:sp>
        <p:nvSpPr>
          <p:cNvPr id="10" name="Text 7"/>
          <p:cNvSpPr txBox="1"/>
          <p:nvPr/>
        </p:nvSpPr>
        <p:spPr>
          <a:xfrm>
            <a:off x="877824" y="2941653"/>
            <a:ext cx="280464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Permanent staff with no mission, listed by board</a:t>
            </a:r>
            <a:endParaRPr lang="en-US" sz="810" dirty="0"/>
          </a:p>
        </p:txBody>
      </p:sp>
      <p:sp>
        <p:nvSpPr>
          <p:cNvPr id="11" name="Text 8"/>
          <p:cNvSpPr txBox="1"/>
          <p:nvPr/>
        </p:nvSpPr>
        <p:spPr>
          <a:xfrm>
            <a:off x="877824" y="3366849"/>
            <a:ext cx="280464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Missions, headcount, leave and idle side by side</a:t>
            </a:r>
            <a:endParaRPr lang="en-US" sz="810" dirty="0"/>
          </a:p>
        </p:txBody>
      </p:sp>
      <p:sp>
        <p:nvSpPr>
          <p:cNvPr id="12" name="Text 9"/>
          <p:cNvSpPr txBox="1"/>
          <p:nvPr/>
        </p:nvSpPr>
        <p:spPr>
          <a:xfrm>
            <a:off x="877824" y="3792045"/>
            <a:ext cx="280464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Utilization over time and missions per engineer</a:t>
            </a:r>
            <a:endParaRPr lang="en-US" sz="81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DFE"/>
        </a:solidFill>
      </p:bgPr>
    </p:bg>
    <p:spTree>
      <p:nvGrpSpPr>
        <p:cNvPr id="1" name=""/>
        <p:cNvGrpSpPr/>
        <p:nvPr/>
      </p:nvGrpSpPr>
      <p:grpSpPr>
        <a:xfrm>
          <a:off x="0" y="0"/>
          <a:ext cx="0" cy="0"/>
          <a:chOff x="0" y="0"/>
          <a:chExt cx="0" cy="0"/>
        </a:xfrm>
      </p:grpSpPr>
      <p:pic>
        <p:nvPicPr>
          <p:cNvPr id="2" name="Image 0" descr="Slide: Every tool, part and consumable, accounted for.">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486400" y="1618488"/>
            <a:ext cx="3616452" cy="1087730"/>
          </a:xfrm>
          <a:prstGeom prst="rect">
            <a:avLst/>
          </a:prstGeom>
          <a:noFill/>
          <a:ln/>
        </p:spPr>
        <p:txBody>
          <a:bodyPr wrap="square" lIns="0" tIns="0" rIns="0" bIns="0" rtlCol="0" anchor="t"/>
          <a:lstStyle/>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Every tool, part</a:t>
            </a:r>
            <a:endParaRPr lang="en-US" sz="2520" dirty="0"/>
          </a:p>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and consumable,</a:t>
            </a:r>
            <a:endParaRPr lang="en-US" sz="2520" dirty="0"/>
          </a:p>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accounted for.</a:t>
            </a:r>
            <a:endParaRPr lang="en-US" sz="2520" dirty="0"/>
          </a:p>
        </p:txBody>
      </p:sp>
      <p:sp>
        <p:nvSpPr>
          <p:cNvPr id="4" name="Text 1"/>
          <p:cNvSpPr txBox="1"/>
          <p:nvPr/>
        </p:nvSpPr>
        <p:spPr>
          <a:xfrm>
            <a:off x="5907024" y="2791349"/>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Consumables</a:t>
            </a:r>
            <a:endParaRPr lang="en-US" sz="990" dirty="0"/>
          </a:p>
        </p:txBody>
      </p:sp>
      <p:sp>
        <p:nvSpPr>
          <p:cNvPr id="5" name="Text 2"/>
          <p:cNvSpPr txBox="1"/>
          <p:nvPr/>
        </p:nvSpPr>
        <p:spPr>
          <a:xfrm>
            <a:off x="5907024" y="3216545"/>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Tools &amp; Calibration</a:t>
            </a:r>
            <a:endParaRPr lang="en-US" sz="990" dirty="0"/>
          </a:p>
        </p:txBody>
      </p:sp>
      <p:sp>
        <p:nvSpPr>
          <p:cNvPr id="6" name="Text 3"/>
          <p:cNvSpPr txBox="1"/>
          <p:nvPr/>
        </p:nvSpPr>
        <p:spPr>
          <a:xfrm>
            <a:off x="5907024" y="3641741"/>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Customer Parts</a:t>
            </a:r>
            <a:endParaRPr lang="en-US" sz="990" dirty="0"/>
          </a:p>
        </p:txBody>
      </p:sp>
      <p:sp>
        <p:nvSpPr>
          <p:cNvPr id="7" name="Text 4"/>
          <p:cNvSpPr txBox="1"/>
          <p:nvPr/>
        </p:nvSpPr>
        <p:spPr>
          <a:xfrm>
            <a:off x="5907024" y="4066937"/>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To-Do and Audit Trail</a:t>
            </a:r>
            <a:endParaRPr lang="en-US" sz="990" dirty="0"/>
          </a:p>
        </p:txBody>
      </p:sp>
      <p:sp>
        <p:nvSpPr>
          <p:cNvPr id="8" name="Text 5"/>
          <p:cNvSpPr txBox="1"/>
          <p:nvPr/>
        </p:nvSpPr>
        <p:spPr>
          <a:xfrm>
            <a:off x="5907024" y="2955227"/>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Stock per warehouse against its safety level</a:t>
            </a:r>
            <a:endParaRPr lang="en-US" sz="810" dirty="0"/>
          </a:p>
        </p:txBody>
      </p:sp>
      <p:sp>
        <p:nvSpPr>
          <p:cNvPr id="9" name="Text 6"/>
          <p:cNvSpPr txBox="1"/>
          <p:nvPr/>
        </p:nvSpPr>
        <p:spPr>
          <a:xfrm>
            <a:off x="5907024" y="3380423"/>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Borrow, return and calibration due dates</a:t>
            </a:r>
            <a:endParaRPr lang="en-US" sz="810" dirty="0"/>
          </a:p>
        </p:txBody>
      </p:sp>
      <p:sp>
        <p:nvSpPr>
          <p:cNvPr id="10" name="Text 7"/>
          <p:cNvSpPr txBox="1"/>
          <p:nvPr/>
        </p:nvSpPr>
        <p:spPr>
          <a:xfrm>
            <a:off x="5907024" y="3805619"/>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OK, NG, Sorting and Hold per lot</a:t>
            </a:r>
            <a:endParaRPr lang="en-US" sz="810" dirty="0"/>
          </a:p>
        </p:txBody>
      </p:sp>
      <p:sp>
        <p:nvSpPr>
          <p:cNvPr id="11" name="Text 8"/>
          <p:cNvSpPr txBox="1"/>
          <p:nvPr/>
        </p:nvSpPr>
        <p:spPr>
          <a:xfrm>
            <a:off x="5907024" y="4230815"/>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Approvals in one queue, every change on record</a:t>
            </a:r>
            <a:endParaRPr lang="en-US" sz="81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DFE"/>
        </a:solidFill>
      </p:bgPr>
    </p:bg>
    <p:spTree>
      <p:nvGrpSpPr>
        <p:cNvPr id="1" name=""/>
        <p:cNvGrpSpPr/>
        <p:nvPr/>
      </p:nvGrpSpPr>
      <p:grpSpPr>
        <a:xfrm>
          <a:off x="0" y="0"/>
          <a:ext cx="0" cy="0"/>
          <a:chOff x="0" y="0"/>
          <a:chExt cx="0" cy="0"/>
        </a:xfrm>
      </p:grpSpPr>
      <p:pic>
        <p:nvPicPr>
          <p:cNvPr id="2" name="Image 0" descr="Slide: Stay above safety stock in every warehouse.">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929225"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Consumables</a:t>
            </a:r>
            <a:endParaRPr lang="en-US" sz="720" dirty="0"/>
          </a:p>
        </p:txBody>
      </p:sp>
      <p:sp>
        <p:nvSpPr>
          <p:cNvPr id="4" name="Text 1"/>
          <p:cNvSpPr txBox="1"/>
          <p:nvPr/>
        </p:nvSpPr>
        <p:spPr>
          <a:xfrm>
            <a:off x="457200" y="1490472"/>
            <a:ext cx="3203143" cy="1056615"/>
          </a:xfrm>
          <a:prstGeom prst="rect">
            <a:avLst/>
          </a:prstGeom>
          <a:noFill/>
          <a:ln/>
        </p:spPr>
        <p:txBody>
          <a:bodyPr wrap="square" lIns="0" tIns="0" rIns="0" bIns="0" rtlCol="0" anchor="t"/>
          <a:lstStyle/>
          <a:p>
            <a:pPr algn="l" indent="0" marL="0">
              <a:lnSpc>
                <a:spcPts val="2520"/>
              </a:lnSpc>
              <a:buNone/>
            </a:pPr>
            <a:r>
              <a:rPr lang="en-US" sz="2450" b="1" spc="-122" kern="0" dirty="0">
                <a:solidFill>
                  <a:srgbClr val="071A33"/>
                </a:solidFill>
                <a:latin typeface="Arial" pitchFamily="34" charset="0"/>
                <a:ea typeface="Arial" pitchFamily="34" charset="-122"/>
                <a:cs typeface="Arial" pitchFamily="34" charset="-120"/>
              </a:rPr>
              <a:t>Stay above</a:t>
            </a:r>
            <a:endParaRPr lang="en-US" sz="2450" dirty="0"/>
          </a:p>
          <a:p>
            <a:pPr algn="l" indent="0" marL="0">
              <a:lnSpc>
                <a:spcPts val="2520"/>
              </a:lnSpc>
              <a:buNone/>
            </a:pPr>
            <a:r>
              <a:rPr lang="en-US" sz="2450" b="1" spc="-122" kern="0" dirty="0">
                <a:solidFill>
                  <a:srgbClr val="071A33"/>
                </a:solidFill>
                <a:latin typeface="Arial" pitchFamily="34" charset="0"/>
                <a:ea typeface="Arial" pitchFamily="34" charset="-122"/>
                <a:cs typeface="Arial" pitchFamily="34" charset="-120"/>
              </a:rPr>
              <a:t>safety stock in</a:t>
            </a:r>
            <a:endParaRPr lang="en-US" sz="2450" dirty="0"/>
          </a:p>
          <a:p>
            <a:pPr algn="l" indent="0" marL="0">
              <a:lnSpc>
                <a:spcPts val="2520"/>
              </a:lnSpc>
              <a:buNone/>
            </a:pPr>
            <a:r>
              <a:rPr lang="en-US" sz="2450" b="1" spc="-122" kern="0" dirty="0">
                <a:solidFill>
                  <a:srgbClr val="071A33"/>
                </a:solidFill>
                <a:latin typeface="Arial" pitchFamily="34" charset="0"/>
                <a:ea typeface="Arial" pitchFamily="34" charset="-122"/>
                <a:cs typeface="Arial" pitchFamily="34" charset="-120"/>
              </a:rPr>
              <a:t>every warehouse.</a:t>
            </a:r>
            <a:endParaRPr lang="en-US" sz="2450" dirty="0"/>
          </a:p>
        </p:txBody>
      </p:sp>
      <p:sp>
        <p:nvSpPr>
          <p:cNvPr id="5" name="Text 2"/>
          <p:cNvSpPr txBox="1"/>
          <p:nvPr/>
        </p:nvSpPr>
        <p:spPr>
          <a:xfrm>
            <a:off x="877824" y="2635044"/>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Safety stock per warehouse</a:t>
            </a:r>
            <a:endParaRPr lang="en-US" sz="990" dirty="0"/>
          </a:p>
        </p:txBody>
      </p:sp>
      <p:sp>
        <p:nvSpPr>
          <p:cNvPr id="6" name="Text 3"/>
          <p:cNvSpPr txBox="1"/>
          <p:nvPr/>
        </p:nvSpPr>
        <p:spPr>
          <a:xfrm>
            <a:off x="877824" y="3060240"/>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Clear stock status</a:t>
            </a:r>
            <a:endParaRPr lang="en-US" sz="990" dirty="0"/>
          </a:p>
        </p:txBody>
      </p:sp>
      <p:sp>
        <p:nvSpPr>
          <p:cNvPr id="7" name="Text 4"/>
          <p:cNvSpPr txBox="1"/>
          <p:nvPr/>
        </p:nvSpPr>
        <p:spPr>
          <a:xfrm>
            <a:off x="877824" y="3485436"/>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Predicted run-out and spikes</a:t>
            </a:r>
            <a:endParaRPr lang="en-US" sz="990" dirty="0"/>
          </a:p>
        </p:txBody>
      </p:sp>
      <p:sp>
        <p:nvSpPr>
          <p:cNvPr id="8" name="Text 5"/>
          <p:cNvSpPr txBox="1"/>
          <p:nvPr/>
        </p:nvSpPr>
        <p:spPr>
          <a:xfrm>
            <a:off x="877824" y="3910632"/>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Cart for every issue</a:t>
            </a:r>
            <a:endParaRPr lang="en-US" sz="990" dirty="0"/>
          </a:p>
        </p:txBody>
      </p:sp>
      <p:sp>
        <p:nvSpPr>
          <p:cNvPr id="9" name="Text 6"/>
          <p:cNvSpPr txBox="1"/>
          <p:nvPr/>
        </p:nvSpPr>
        <p:spPr>
          <a:xfrm>
            <a:off x="877824" y="2798921"/>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On hand against the safety level, with a gauge</a:t>
            </a:r>
            <a:endParaRPr lang="en-US" sz="810" dirty="0"/>
          </a:p>
        </p:txBody>
      </p:sp>
      <p:sp>
        <p:nvSpPr>
          <p:cNvPr id="10" name="Text 7"/>
          <p:cNvSpPr txBox="1"/>
          <p:nvPr/>
        </p:nvSpPr>
        <p:spPr>
          <a:xfrm>
            <a:off x="877824" y="3224117"/>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Out of stock, Low or In stock, warehouse named</a:t>
            </a:r>
            <a:endParaRPr lang="en-US" sz="810" dirty="0"/>
          </a:p>
        </p:txBody>
      </p:sp>
      <p:sp>
        <p:nvSpPr>
          <p:cNvPr id="11" name="Text 8"/>
          <p:cNvSpPr txBox="1"/>
          <p:nvPr/>
        </p:nvSpPr>
        <p:spPr>
          <a:xfrm>
            <a:off x="877824" y="3649313"/>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Days left and demand spikes, before it hurts</a:t>
            </a:r>
            <a:endParaRPr lang="en-US" sz="810" dirty="0"/>
          </a:p>
        </p:txBody>
      </p:sp>
      <p:sp>
        <p:nvSpPr>
          <p:cNvPr id="12" name="Text 9"/>
          <p:cNvSpPr txBox="1"/>
          <p:nvPr/>
        </p:nvSpPr>
        <p:spPr>
          <a:xfrm>
            <a:off x="877824" y="4074509"/>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Add items; nothing is sent until you check out</a:t>
            </a:r>
            <a:endParaRPr lang="en-US" sz="810" dirty="0"/>
          </a:p>
        </p:txBody>
      </p:sp>
      <p:sp>
        <p:nvSpPr>
          <p:cNvPr id="13" name="Text 10"/>
          <p:cNvSpPr txBox="1"/>
          <p:nvPr/>
        </p:nvSpPr>
        <p:spPr>
          <a:xfrm>
            <a:off x="731663" y="4526280"/>
            <a:ext cx="741127" cy="251460"/>
          </a:xfrm>
          <a:prstGeom prst="rect">
            <a:avLst/>
          </a:prstGeom>
          <a:noFill/>
          <a:ln/>
        </p:spPr>
        <p:txBody>
          <a:bodyPr wrap="none" lIns="0" tIns="0" rIns="0" bIns="0" rtlCol="0" anchor="ctr"/>
          <a:lstStyle/>
          <a:p>
            <a:pPr algn="l" indent="0" marL="0">
              <a:lnSpc>
                <a:spcPts val="860"/>
              </a:lnSpc>
              <a:buNone/>
            </a:pPr>
            <a:r>
              <a:rPr lang="en-US" sz="720" dirty="0">
                <a:solidFill>
                  <a:srgbClr val="071A33"/>
                </a:solidFill>
                <a:latin typeface="Arial" pitchFamily="34" charset="0"/>
                <a:ea typeface="Arial" pitchFamily="34" charset="-122"/>
                <a:cs typeface="Arial" pitchFamily="34" charset="-120"/>
              </a:rPr>
              <a:t>Receive delivery</a:t>
            </a:r>
            <a:endParaRPr lang="en-US" sz="720" dirty="0"/>
          </a:p>
        </p:txBody>
      </p:sp>
      <p:sp>
        <p:nvSpPr>
          <p:cNvPr id="14" name="Text 11"/>
          <p:cNvSpPr txBox="1"/>
          <p:nvPr/>
        </p:nvSpPr>
        <p:spPr>
          <a:xfrm>
            <a:off x="1847802" y="4526280"/>
            <a:ext cx="557813" cy="251460"/>
          </a:xfrm>
          <a:prstGeom prst="rect">
            <a:avLst/>
          </a:prstGeom>
          <a:noFill/>
          <a:ln/>
        </p:spPr>
        <p:txBody>
          <a:bodyPr wrap="none" lIns="0" tIns="0" rIns="0" bIns="0" rtlCol="0" anchor="ctr"/>
          <a:lstStyle/>
          <a:p>
            <a:pPr algn="l" indent="0" marL="0">
              <a:lnSpc>
                <a:spcPts val="860"/>
              </a:lnSpc>
              <a:buNone/>
            </a:pPr>
            <a:r>
              <a:rPr lang="en-US" sz="720" dirty="0">
                <a:solidFill>
                  <a:srgbClr val="071A33"/>
                </a:solidFill>
                <a:latin typeface="Arial" pitchFamily="34" charset="0"/>
                <a:ea typeface="Arial" pitchFamily="34" charset="-122"/>
                <a:cs typeface="Arial" pitchFamily="34" charset="-120"/>
              </a:rPr>
              <a:t>Count stock</a:t>
            </a:r>
            <a:endParaRPr lang="en-US" sz="720" dirty="0"/>
          </a:p>
        </p:txBody>
      </p:sp>
      <p:sp>
        <p:nvSpPr>
          <p:cNvPr id="15" name="Text 12"/>
          <p:cNvSpPr txBox="1"/>
          <p:nvPr/>
        </p:nvSpPr>
        <p:spPr>
          <a:xfrm>
            <a:off x="2794206" y="4526280"/>
            <a:ext cx="546085" cy="251460"/>
          </a:xfrm>
          <a:prstGeom prst="rect">
            <a:avLst/>
          </a:prstGeom>
          <a:noFill/>
          <a:ln/>
        </p:spPr>
        <p:txBody>
          <a:bodyPr wrap="none" lIns="0" tIns="0" rIns="0" bIns="0" rtlCol="0" anchor="ctr"/>
          <a:lstStyle/>
          <a:p>
            <a:pPr algn="l" indent="0" marL="0">
              <a:lnSpc>
                <a:spcPts val="860"/>
              </a:lnSpc>
              <a:buNone/>
            </a:pPr>
            <a:r>
              <a:rPr lang="en-US" sz="720" dirty="0">
                <a:solidFill>
                  <a:srgbClr val="071A33"/>
                </a:solidFill>
                <a:latin typeface="Arial" pitchFamily="34" charset="0"/>
                <a:ea typeface="Arial" pitchFamily="34" charset="-122"/>
                <a:cs typeface="Arial" pitchFamily="34" charset="-120"/>
              </a:rPr>
              <a:t>Stock filters</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DFE"/>
        </a:solidFill>
      </p:bgPr>
    </p:bg>
    <p:spTree>
      <p:nvGrpSpPr>
        <p:cNvPr id="1" name=""/>
        <p:cNvGrpSpPr/>
        <p:nvPr/>
      </p:nvGrpSpPr>
      <p:grpSpPr>
        <a:xfrm>
          <a:off x="0" y="0"/>
          <a:ext cx="0" cy="0"/>
          <a:chOff x="0" y="0"/>
          <a:chExt cx="0" cy="0"/>
        </a:xfrm>
      </p:grpSpPr>
      <p:pic>
        <p:nvPicPr>
          <p:cNvPr id="2" name="Image 0" descr="Slide: Borrow a tool in a minute.">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1179507"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Inventory &amp; Quality</a:t>
            </a:r>
            <a:endParaRPr lang="en-US" sz="720" dirty="0"/>
          </a:p>
        </p:txBody>
      </p:sp>
      <p:sp>
        <p:nvSpPr>
          <p:cNvPr id="4" name="Text 1"/>
          <p:cNvSpPr txBox="1"/>
          <p:nvPr/>
        </p:nvSpPr>
        <p:spPr>
          <a:xfrm>
            <a:off x="457200" y="1490472"/>
            <a:ext cx="3513125" cy="779803"/>
          </a:xfrm>
          <a:prstGeom prst="rect">
            <a:avLst/>
          </a:prstGeom>
          <a:noFill/>
          <a:ln/>
        </p:spPr>
        <p:txBody>
          <a:bodyPr wrap="square" lIns="0" tIns="0" rIns="0" bIns="0" rtlCol="0" anchor="t"/>
          <a:lstStyle/>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Borrow a tool</a:t>
            </a:r>
            <a:endParaRPr lang="en-US" sz="2590" dirty="0"/>
          </a:p>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in a minute.</a:t>
            </a:r>
            <a:endParaRPr lang="en-US" sz="2590" dirty="0"/>
          </a:p>
        </p:txBody>
      </p:sp>
      <p:sp>
        <p:nvSpPr>
          <p:cNvPr id="5" name="Text 2"/>
          <p:cNvSpPr txBox="1"/>
          <p:nvPr/>
        </p:nvSpPr>
        <p:spPr>
          <a:xfrm>
            <a:off x="877824" y="2352580"/>
            <a:ext cx="290340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Find it</a:t>
            </a:r>
            <a:endParaRPr lang="en-US" sz="990" dirty="0"/>
          </a:p>
        </p:txBody>
      </p:sp>
      <p:sp>
        <p:nvSpPr>
          <p:cNvPr id="6" name="Text 3"/>
          <p:cNvSpPr txBox="1"/>
          <p:nvPr/>
        </p:nvSpPr>
        <p:spPr>
          <a:xfrm>
            <a:off x="877824" y="2777776"/>
            <a:ext cx="290340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Check it</a:t>
            </a:r>
            <a:endParaRPr lang="en-US" sz="990" dirty="0"/>
          </a:p>
        </p:txBody>
      </p:sp>
      <p:sp>
        <p:nvSpPr>
          <p:cNvPr id="7" name="Text 4"/>
          <p:cNvSpPr txBox="1"/>
          <p:nvPr/>
        </p:nvSpPr>
        <p:spPr>
          <a:xfrm>
            <a:off x="877824" y="3202972"/>
            <a:ext cx="290340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Request it</a:t>
            </a:r>
            <a:endParaRPr lang="en-US" sz="990" dirty="0"/>
          </a:p>
        </p:txBody>
      </p:sp>
      <p:sp>
        <p:nvSpPr>
          <p:cNvPr id="8" name="Text 5"/>
          <p:cNvSpPr txBox="1"/>
          <p:nvPr/>
        </p:nvSpPr>
        <p:spPr>
          <a:xfrm>
            <a:off x="877824" y="3628168"/>
            <a:ext cx="290340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Return it</a:t>
            </a:r>
            <a:endParaRPr lang="en-US" sz="990" dirty="0"/>
          </a:p>
        </p:txBody>
      </p:sp>
      <p:sp>
        <p:nvSpPr>
          <p:cNvPr id="9" name="Text 6"/>
          <p:cNvSpPr txBox="1"/>
          <p:nvPr/>
        </p:nvSpPr>
        <p:spPr>
          <a:xfrm>
            <a:off x="877824" y="2516457"/>
            <a:ext cx="2903403"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Search, or scan the barcode with your phone camera</a:t>
            </a:r>
            <a:endParaRPr lang="en-US" sz="810" dirty="0"/>
          </a:p>
        </p:txBody>
      </p:sp>
      <p:sp>
        <p:nvSpPr>
          <p:cNvPr id="10" name="Text 7"/>
          <p:cNvSpPr txBox="1"/>
          <p:nvPr/>
        </p:nvSpPr>
        <p:spPr>
          <a:xfrm>
            <a:off x="877824" y="2941653"/>
            <a:ext cx="2903403"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Calibration valid-to date and usable range on every tool</a:t>
            </a:r>
            <a:endParaRPr lang="en-US" sz="810" dirty="0"/>
          </a:p>
        </p:txBody>
      </p:sp>
      <p:sp>
        <p:nvSpPr>
          <p:cNvPr id="11" name="Text 8"/>
          <p:cNvSpPr txBox="1"/>
          <p:nvPr/>
        </p:nvSpPr>
        <p:spPr>
          <a:xfrm>
            <a:off x="877824" y="3366849"/>
            <a:ext cx="2903403"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Add to the cart and send one request</a:t>
            </a:r>
            <a:endParaRPr lang="en-US" sz="810" dirty="0"/>
          </a:p>
        </p:txBody>
      </p:sp>
      <p:sp>
        <p:nvSpPr>
          <p:cNvPr id="12" name="Text 9"/>
          <p:cNvSpPr txBox="1"/>
          <p:nvPr/>
        </p:nvSpPr>
        <p:spPr>
          <a:xfrm>
            <a:off x="877824" y="3792045"/>
            <a:ext cx="2903403"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Overdue returns are flagged, so nothing goes missing</a:t>
            </a:r>
            <a:endParaRPr lang="en-US" sz="81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DFE"/>
        </a:solidFill>
      </p:bgPr>
    </p:bg>
    <p:spTree>
      <p:nvGrpSpPr>
        <p:cNvPr id="1" name=""/>
        <p:cNvGrpSpPr/>
        <p:nvPr/>
      </p:nvGrpSpPr>
      <p:grpSpPr>
        <a:xfrm>
          <a:off x="0" y="0"/>
          <a:ext cx="0" cy="0"/>
          <a:chOff x="0" y="0"/>
          <a:chExt cx="0" cy="0"/>
        </a:xfrm>
      </p:grpSpPr>
      <p:pic>
        <p:nvPicPr>
          <p:cNvPr id="2" name="Image 0" descr="Slide: Customer parts, lot by lot.">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86984" y="1143000"/>
            <a:ext cx="1179507"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Inventory &amp; Quality</a:t>
            </a:r>
            <a:endParaRPr lang="en-US" sz="720" dirty="0"/>
          </a:p>
        </p:txBody>
      </p:sp>
      <p:sp>
        <p:nvSpPr>
          <p:cNvPr id="4" name="Text 1"/>
          <p:cNvSpPr txBox="1"/>
          <p:nvPr/>
        </p:nvSpPr>
        <p:spPr>
          <a:xfrm>
            <a:off x="5486400" y="1490472"/>
            <a:ext cx="3616452" cy="758118"/>
          </a:xfrm>
          <a:prstGeom prst="rect">
            <a:avLst/>
          </a:prstGeom>
          <a:noFill/>
          <a:ln/>
        </p:spPr>
        <p:txBody>
          <a:bodyPr wrap="square" lIns="0" tIns="0" rIns="0" bIns="0" rtlCol="0" anchor="t"/>
          <a:lstStyle/>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Customer</a:t>
            </a:r>
            <a:endParaRPr lang="en-US" sz="2520" dirty="0"/>
          </a:p>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parts, lot by lot.</a:t>
            </a:r>
            <a:endParaRPr lang="en-US" sz="2520" dirty="0"/>
          </a:p>
        </p:txBody>
      </p:sp>
      <p:sp>
        <p:nvSpPr>
          <p:cNvPr id="5" name="Text 2"/>
          <p:cNvSpPr txBox="1"/>
          <p:nvPr/>
        </p:nvSpPr>
        <p:spPr>
          <a:xfrm>
            <a:off x="5907024" y="2333720"/>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Inspection status per lot</a:t>
            </a:r>
            <a:endParaRPr lang="en-US" sz="990" dirty="0"/>
          </a:p>
        </p:txBody>
      </p:sp>
      <p:sp>
        <p:nvSpPr>
          <p:cNvPr id="6" name="Text 3"/>
          <p:cNvSpPr txBox="1"/>
          <p:nvPr/>
        </p:nvSpPr>
        <p:spPr>
          <a:xfrm>
            <a:off x="5907024" y="2758916"/>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Aged parts flagged</a:t>
            </a:r>
            <a:endParaRPr lang="en-US" sz="990" dirty="0"/>
          </a:p>
        </p:txBody>
      </p:sp>
      <p:sp>
        <p:nvSpPr>
          <p:cNvPr id="7" name="Text 4"/>
          <p:cNvSpPr txBox="1"/>
          <p:nvPr/>
        </p:nvSpPr>
        <p:spPr>
          <a:xfrm>
            <a:off x="5907024" y="3182969"/>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Deliveries in and out</a:t>
            </a:r>
            <a:endParaRPr lang="en-US" sz="990" dirty="0"/>
          </a:p>
        </p:txBody>
      </p:sp>
      <p:sp>
        <p:nvSpPr>
          <p:cNvPr id="8" name="Text 5"/>
          <p:cNvSpPr txBox="1"/>
          <p:nvPr/>
        </p:nvSpPr>
        <p:spPr>
          <a:xfrm>
            <a:off x="5907024" y="3751469"/>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Confirm what really arrived</a:t>
            </a:r>
            <a:endParaRPr lang="en-US" sz="990" dirty="0"/>
          </a:p>
        </p:txBody>
      </p:sp>
      <p:sp>
        <p:nvSpPr>
          <p:cNvPr id="9" name="Text 6"/>
          <p:cNvSpPr txBox="1"/>
          <p:nvPr/>
        </p:nvSpPr>
        <p:spPr>
          <a:xfrm>
            <a:off x="5907024" y="2497598"/>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OK, NG, Sorting and Hold, with the total and the lots</a:t>
            </a:r>
            <a:endParaRPr lang="en-US" sz="810" dirty="0"/>
          </a:p>
        </p:txBody>
      </p:sp>
      <p:sp>
        <p:nvSpPr>
          <p:cNvPr id="10" name="Text 7"/>
          <p:cNvSpPr txBox="1"/>
          <p:nvPr/>
        </p:nvSpPr>
        <p:spPr>
          <a:xfrm>
            <a:off x="5907024" y="2922794"/>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Amber past the aged threshold, red past twice it</a:t>
            </a:r>
            <a:endParaRPr lang="en-US" sz="810" dirty="0"/>
          </a:p>
        </p:txBody>
      </p:sp>
      <p:sp>
        <p:nvSpPr>
          <p:cNvPr id="11" name="Text 8"/>
          <p:cNvSpPr txBox="1"/>
          <p:nvPr/>
        </p:nvSpPr>
        <p:spPr>
          <a:xfrm>
            <a:off x="5907024" y="3346847"/>
            <a:ext cx="3141147" cy="332576"/>
          </a:xfrm>
          <a:prstGeom prst="rect">
            <a:avLst/>
          </a:prstGeom>
          <a:noFill/>
          <a:ln/>
        </p:spPr>
        <p:txBody>
          <a:bodyPr wrap="squar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Several parts on one Asset In-Out Form; booked stock is</a:t>
            </a:r>
            <a:endParaRPr lang="en-US" sz="810" dirty="0"/>
          </a:p>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reserved</a:t>
            </a:r>
            <a:endParaRPr lang="en-US" sz="810" dirty="0"/>
          </a:p>
        </p:txBody>
      </p:sp>
      <p:sp>
        <p:nvSpPr>
          <p:cNvPr id="12" name="Text 9"/>
          <p:cNvSpPr txBox="1"/>
          <p:nvPr/>
        </p:nvSpPr>
        <p:spPr>
          <a:xfrm>
            <a:off x="5907024" y="3915347"/>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Actual quantities per line; any difference goes in the log</a:t>
            </a:r>
            <a:endParaRPr lang="en-US" sz="81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DFE"/>
        </a:solidFill>
      </p:bgPr>
    </p:bg>
    <p:spTree>
      <p:nvGrpSpPr>
        <p:cNvPr id="1" name=""/>
        <p:cNvGrpSpPr/>
        <p:nvPr/>
      </p:nvGrpSpPr>
      <p:grpSpPr>
        <a:xfrm>
          <a:off x="0" y="0"/>
          <a:ext cx="0" cy="0"/>
          <a:chOff x="0" y="0"/>
          <a:chExt cx="0" cy="0"/>
        </a:xfrm>
      </p:grpSpPr>
      <p:pic>
        <p:nvPicPr>
          <p:cNvPr id="2" name="Image 0" descr="Slide: Both apps fit in your pocket.">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971196"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On your phone</a:t>
            </a:r>
            <a:endParaRPr lang="en-US" sz="720" dirty="0"/>
          </a:p>
        </p:txBody>
      </p:sp>
      <p:sp>
        <p:nvSpPr>
          <p:cNvPr id="4" name="Text 1"/>
          <p:cNvSpPr txBox="1"/>
          <p:nvPr/>
        </p:nvSpPr>
        <p:spPr>
          <a:xfrm>
            <a:off x="457200" y="1508760"/>
            <a:ext cx="3616452" cy="952997"/>
          </a:xfrm>
          <a:prstGeom prst="rect">
            <a:avLst/>
          </a:prstGeom>
          <a:noFill/>
          <a:ln/>
        </p:spPr>
        <p:txBody>
          <a:bodyPr wrap="square" lIns="0" tIns="0" rIns="0" bIns="0" rtlCol="0" anchor="t"/>
          <a:lstStyle/>
          <a:p>
            <a:pPr algn="l" indent="0" marL="0">
              <a:lnSpc>
                <a:spcPts val="3260"/>
              </a:lnSpc>
              <a:buNone/>
            </a:pPr>
            <a:r>
              <a:rPr lang="en-US" sz="3170" b="1" spc="-158" kern="0" dirty="0">
                <a:solidFill>
                  <a:srgbClr val="071A33"/>
                </a:solidFill>
                <a:latin typeface="Arial" pitchFamily="34" charset="0"/>
                <a:ea typeface="Arial" pitchFamily="34" charset="-122"/>
                <a:cs typeface="Arial" pitchFamily="34" charset="-120"/>
              </a:rPr>
              <a:t>Both apps fit</a:t>
            </a:r>
            <a:endParaRPr lang="en-US" sz="3170" dirty="0"/>
          </a:p>
          <a:p>
            <a:pPr algn="l" indent="0" marL="0">
              <a:lnSpc>
                <a:spcPts val="3260"/>
              </a:lnSpc>
              <a:buNone/>
            </a:pPr>
            <a:r>
              <a:rPr lang="en-US" sz="3170" b="1" spc="-158" kern="0" dirty="0">
                <a:solidFill>
                  <a:srgbClr val="071A33"/>
                </a:solidFill>
                <a:latin typeface="Arial" pitchFamily="34" charset="0"/>
                <a:ea typeface="Arial" pitchFamily="34" charset="-122"/>
                <a:cs typeface="Arial" pitchFamily="34" charset="-120"/>
              </a:rPr>
              <a:t>in your pocket.</a:t>
            </a:r>
            <a:endParaRPr lang="en-US" sz="3170" dirty="0"/>
          </a:p>
        </p:txBody>
      </p:sp>
      <p:sp>
        <p:nvSpPr>
          <p:cNvPr id="5" name="Text 2"/>
          <p:cNvSpPr txBox="1"/>
          <p:nvPr/>
        </p:nvSpPr>
        <p:spPr>
          <a:xfrm>
            <a:off x="457200" y="2502027"/>
            <a:ext cx="3616452" cy="678942"/>
          </a:xfrm>
          <a:prstGeom prst="rect">
            <a:avLst/>
          </a:prstGeom>
          <a:noFill/>
          <a:ln/>
        </p:spPr>
        <p:txBody>
          <a:bodyPr wrap="square" lIns="0" tIns="0" rIns="0" bIns="0" rtlCol="0" anchor="t"/>
          <a:lstStyle/>
          <a:p>
            <a:pPr algn="l" indent="0" marL="0">
              <a:lnSpc>
                <a:spcPts val="1620"/>
              </a:lnSpc>
              <a:buNone/>
            </a:pPr>
            <a:r>
              <a:rPr lang="en-US" sz="1080" dirty="0">
                <a:solidFill>
                  <a:srgbClr val="4D6585"/>
                </a:solidFill>
                <a:latin typeface="Arial" pitchFamily="34" charset="0"/>
                <a:ea typeface="Arial" pitchFamily="34" charset="-122"/>
                <a:cs typeface="Arial" pitchFamily="34" charset="-120"/>
              </a:rPr>
              <a:t>Each app has its own phone layout and installs</a:t>
            </a:r>
            <a:endParaRPr lang="en-US" sz="1080" dirty="0"/>
          </a:p>
          <a:p>
            <a:pPr algn="l" indent="0" marL="0">
              <a:lnSpc>
                <a:spcPts val="1620"/>
              </a:lnSpc>
              <a:buNone/>
            </a:pPr>
            <a:r>
              <a:rPr lang="en-US" sz="1080" dirty="0">
                <a:solidFill>
                  <a:srgbClr val="4D6585"/>
                </a:solidFill>
                <a:latin typeface="Arial" pitchFamily="34" charset="0"/>
                <a:ea typeface="Arial" pitchFamily="34" charset="-122"/>
                <a:cs typeface="Arial" pitchFamily="34" charset="-120"/>
              </a:rPr>
              <a:t>from the browser like a native app. No app</a:t>
            </a:r>
            <a:endParaRPr lang="en-US" sz="1080" dirty="0"/>
          </a:p>
          <a:p>
            <a:pPr algn="l" indent="0" marL="0">
              <a:lnSpc>
                <a:spcPts val="1620"/>
              </a:lnSpc>
              <a:buNone/>
            </a:pPr>
            <a:r>
              <a:rPr lang="en-US" sz="1080" dirty="0">
                <a:solidFill>
                  <a:srgbClr val="4D6585"/>
                </a:solidFill>
                <a:latin typeface="Arial" pitchFamily="34" charset="0"/>
                <a:ea typeface="Arial" pitchFamily="34" charset="-122"/>
                <a:cs typeface="Arial" pitchFamily="34" charset="-120"/>
              </a:rPr>
              <a:t>store needed.</a:t>
            </a:r>
            <a:endParaRPr lang="en-US" sz="1080" dirty="0"/>
          </a:p>
        </p:txBody>
      </p:sp>
      <p:sp>
        <p:nvSpPr>
          <p:cNvPr id="6" name="Text 3"/>
          <p:cNvSpPr txBox="1"/>
          <p:nvPr/>
        </p:nvSpPr>
        <p:spPr>
          <a:xfrm>
            <a:off x="457200" y="3320415"/>
            <a:ext cx="335768" cy="225857"/>
          </a:xfrm>
          <a:prstGeom prst="rect">
            <a:avLst/>
          </a:prstGeom>
          <a:noFill/>
          <a:ln/>
        </p:spPr>
        <p:txBody>
          <a:bodyPr wrap="none" lIns="0" tIns="0" rIns="0" bIns="0" rtlCol="0" anchor="t"/>
          <a:lstStyle/>
          <a:p>
            <a:pPr algn="l" indent="0" marL="0">
              <a:lnSpc>
                <a:spcPts val="1370"/>
              </a:lnSpc>
              <a:buNone/>
            </a:pPr>
            <a:r>
              <a:rPr lang="en-US" sz="1370" b="1" spc="-41" kern="0" dirty="0">
                <a:solidFill>
                  <a:srgbClr val="1A62D6"/>
                </a:solidFill>
                <a:latin typeface="Arial" pitchFamily="34" charset="0"/>
                <a:ea typeface="Arial" pitchFamily="34" charset="-122"/>
                <a:cs typeface="Arial" pitchFamily="34" charset="-120"/>
              </a:rPr>
              <a:t>01</a:t>
            </a:r>
            <a:endParaRPr lang="en-US" sz="1370" dirty="0"/>
          </a:p>
        </p:txBody>
      </p:sp>
      <p:sp>
        <p:nvSpPr>
          <p:cNvPr id="7" name="Text 4"/>
          <p:cNvSpPr txBox="1"/>
          <p:nvPr/>
        </p:nvSpPr>
        <p:spPr>
          <a:xfrm>
            <a:off x="457200" y="3793903"/>
            <a:ext cx="335768" cy="225857"/>
          </a:xfrm>
          <a:prstGeom prst="rect">
            <a:avLst/>
          </a:prstGeom>
          <a:noFill/>
          <a:ln/>
        </p:spPr>
        <p:txBody>
          <a:bodyPr wrap="none" lIns="0" tIns="0" rIns="0" bIns="0" rtlCol="0" anchor="t"/>
          <a:lstStyle/>
          <a:p>
            <a:pPr algn="l" indent="0" marL="0">
              <a:lnSpc>
                <a:spcPts val="1370"/>
              </a:lnSpc>
              <a:buNone/>
            </a:pPr>
            <a:r>
              <a:rPr lang="en-US" sz="1370" b="1" spc="-41" kern="0" dirty="0">
                <a:solidFill>
                  <a:srgbClr val="1A62D6"/>
                </a:solidFill>
                <a:latin typeface="Arial" pitchFamily="34" charset="0"/>
                <a:ea typeface="Arial" pitchFamily="34" charset="-122"/>
                <a:cs typeface="Arial" pitchFamily="34" charset="-120"/>
              </a:rPr>
              <a:t>02</a:t>
            </a:r>
            <a:endParaRPr lang="en-US" sz="1370" dirty="0"/>
          </a:p>
        </p:txBody>
      </p:sp>
      <p:sp>
        <p:nvSpPr>
          <p:cNvPr id="8" name="Text 5"/>
          <p:cNvSpPr txBox="1"/>
          <p:nvPr/>
        </p:nvSpPr>
        <p:spPr>
          <a:xfrm>
            <a:off x="457200" y="4108371"/>
            <a:ext cx="335768" cy="225857"/>
          </a:xfrm>
          <a:prstGeom prst="rect">
            <a:avLst/>
          </a:prstGeom>
          <a:noFill/>
          <a:ln/>
        </p:spPr>
        <p:txBody>
          <a:bodyPr wrap="none" lIns="0" tIns="0" rIns="0" bIns="0" rtlCol="0" anchor="t"/>
          <a:lstStyle/>
          <a:p>
            <a:pPr algn="l" indent="0" marL="0">
              <a:lnSpc>
                <a:spcPts val="1370"/>
              </a:lnSpc>
              <a:buNone/>
            </a:pPr>
            <a:r>
              <a:rPr lang="en-US" sz="1370" b="1" spc="-41" kern="0" dirty="0">
                <a:solidFill>
                  <a:srgbClr val="1A62D6"/>
                </a:solidFill>
                <a:latin typeface="Arial" pitchFamily="34" charset="0"/>
                <a:ea typeface="Arial" pitchFamily="34" charset="-122"/>
                <a:cs typeface="Arial" pitchFamily="34" charset="-120"/>
              </a:rPr>
              <a:t>03</a:t>
            </a:r>
            <a:endParaRPr lang="en-US" sz="1370" dirty="0"/>
          </a:p>
        </p:txBody>
      </p:sp>
      <p:sp>
        <p:nvSpPr>
          <p:cNvPr id="9" name="Text 6"/>
          <p:cNvSpPr txBox="1"/>
          <p:nvPr/>
        </p:nvSpPr>
        <p:spPr>
          <a:xfrm>
            <a:off x="868680" y="3347847"/>
            <a:ext cx="3151480" cy="365771"/>
          </a:xfrm>
          <a:prstGeom prst="rect">
            <a:avLst/>
          </a:prstGeom>
          <a:noFill/>
          <a:ln/>
        </p:spPr>
        <p:txBody>
          <a:bodyPr wrap="square" lIns="0" tIns="0" rIns="0" bIns="0" rtlCol="0" anchor="t"/>
          <a:lstStyle/>
          <a:p>
            <a:pPr algn="l" indent="0" marL="0">
              <a:lnSpc>
                <a:spcPts val="1250"/>
              </a:lnSpc>
              <a:buNone/>
            </a:pPr>
            <a:r>
              <a:rPr lang="en-US" sz="860" b="1" dirty="0">
                <a:solidFill>
                  <a:srgbClr val="071A33"/>
                </a:solidFill>
                <a:latin typeface="Arial" pitchFamily="34" charset="0"/>
                <a:ea typeface="Arial" pitchFamily="34" charset="-122"/>
                <a:cs typeface="Arial" pitchFamily="34" charset="-120"/>
              </a:rPr>
              <a:t>Scan</a:t>
            </a:r>
            <a:pPr algn="l" indent="0" marL="0">
              <a:lnSpc>
                <a:spcPts val="1250"/>
              </a:lnSpc>
              <a:buNone/>
            </a:pPr>
            <a:r>
              <a:rPr lang="en-US" sz="860" dirty="0">
                <a:solidFill>
                  <a:srgbClr val="4D6585"/>
                </a:solidFill>
                <a:latin typeface="Arial" pitchFamily="34" charset="0"/>
                <a:ea typeface="Arial" pitchFamily="34" charset="-122"/>
                <a:cs typeface="Arial" pitchFamily="34" charset="-120"/>
              </a:rPr>
              <a:t> the code and sign in with your @trigo-group.com</a:t>
            </a:r>
            <a:endParaRPr lang="en-US" sz="860" dirty="0"/>
          </a:p>
          <a:p>
            <a:pPr algn="l" indent="0" marL="0">
              <a:lnSpc>
                <a:spcPts val="1250"/>
              </a:lnSpc>
              <a:buNone/>
            </a:pPr>
            <a:r>
              <a:rPr lang="en-US" sz="860" dirty="0">
                <a:solidFill>
                  <a:srgbClr val="4D6585"/>
                </a:solidFill>
                <a:latin typeface="Arial" pitchFamily="34" charset="0"/>
                <a:ea typeface="Arial" pitchFamily="34" charset="-122"/>
                <a:cs typeface="Arial" pitchFamily="34" charset="-120"/>
              </a:rPr>
              <a:t>email.</a:t>
            </a:r>
            <a:endParaRPr lang="en-US" sz="860" dirty="0"/>
          </a:p>
        </p:txBody>
      </p:sp>
      <p:sp>
        <p:nvSpPr>
          <p:cNvPr id="10" name="Text 7"/>
          <p:cNvSpPr txBox="1"/>
          <p:nvPr/>
        </p:nvSpPr>
        <p:spPr>
          <a:xfrm>
            <a:off x="868680" y="3821335"/>
            <a:ext cx="3012034" cy="206752"/>
          </a:xfrm>
          <a:prstGeom prst="rect">
            <a:avLst/>
          </a:prstGeom>
          <a:noFill/>
          <a:ln/>
        </p:spPr>
        <p:txBody>
          <a:bodyPr wrap="none" lIns="0" tIns="0" rIns="0" bIns="0" rtlCol="0" anchor="t"/>
          <a:lstStyle/>
          <a:p>
            <a:pPr algn="l" indent="0" marL="0">
              <a:lnSpc>
                <a:spcPts val="1250"/>
              </a:lnSpc>
              <a:buNone/>
            </a:pPr>
            <a:r>
              <a:rPr lang="en-US" sz="860" b="1" dirty="0">
                <a:solidFill>
                  <a:srgbClr val="071A33"/>
                </a:solidFill>
                <a:latin typeface="Arial" pitchFamily="34" charset="0"/>
                <a:ea typeface="Arial" pitchFamily="34" charset="-122"/>
                <a:cs typeface="Arial" pitchFamily="34" charset="-120"/>
              </a:rPr>
              <a:t>iPhone:</a:t>
            </a:r>
            <a:pPr algn="l" indent="0" marL="0">
              <a:lnSpc>
                <a:spcPts val="1250"/>
              </a:lnSpc>
              <a:buNone/>
            </a:pPr>
            <a:r>
              <a:rPr lang="en-US" sz="860" dirty="0">
                <a:solidFill>
                  <a:srgbClr val="4D6585"/>
                </a:solidFill>
                <a:latin typeface="Arial" pitchFamily="34" charset="0"/>
                <a:ea typeface="Arial" pitchFamily="34" charset="-122"/>
                <a:cs typeface="Arial" pitchFamily="34" charset="-120"/>
              </a:rPr>
              <a:t> in Safari tap Share, then Add to Home Screen.</a:t>
            </a:r>
            <a:endParaRPr lang="en-US" sz="860" dirty="0"/>
          </a:p>
        </p:txBody>
      </p:sp>
      <p:sp>
        <p:nvSpPr>
          <p:cNvPr id="11" name="Text 8"/>
          <p:cNvSpPr txBox="1"/>
          <p:nvPr/>
        </p:nvSpPr>
        <p:spPr>
          <a:xfrm>
            <a:off x="868680" y="4135803"/>
            <a:ext cx="3012034" cy="206752"/>
          </a:xfrm>
          <a:prstGeom prst="rect">
            <a:avLst/>
          </a:prstGeom>
          <a:noFill/>
          <a:ln/>
        </p:spPr>
        <p:txBody>
          <a:bodyPr wrap="none" lIns="0" tIns="0" rIns="0" bIns="0" rtlCol="0" anchor="t"/>
          <a:lstStyle/>
          <a:p>
            <a:pPr algn="l" indent="0" marL="0">
              <a:lnSpc>
                <a:spcPts val="1250"/>
              </a:lnSpc>
              <a:buNone/>
            </a:pPr>
            <a:r>
              <a:rPr lang="en-US" sz="860" b="1" dirty="0">
                <a:solidFill>
                  <a:srgbClr val="071A33"/>
                </a:solidFill>
                <a:latin typeface="Arial" pitchFamily="34" charset="0"/>
                <a:ea typeface="Arial" pitchFamily="34" charset="-122"/>
                <a:cs typeface="Arial" pitchFamily="34" charset="-120"/>
              </a:rPr>
              <a:t>Android:</a:t>
            </a:r>
            <a:pPr algn="l" indent="0" marL="0">
              <a:lnSpc>
                <a:spcPts val="1250"/>
              </a:lnSpc>
              <a:buNone/>
            </a:pPr>
            <a:r>
              <a:rPr lang="en-US" sz="860" dirty="0">
                <a:solidFill>
                  <a:srgbClr val="4D6585"/>
                </a:solidFill>
                <a:latin typeface="Arial" pitchFamily="34" charset="0"/>
                <a:ea typeface="Arial" pitchFamily="34" charset="-122"/>
                <a:cs typeface="Arial" pitchFamily="34" charset="-120"/>
              </a:rPr>
              <a:t> in Chrome tap the menu, then Install app.</a:t>
            </a:r>
            <a:endParaRPr lang="en-US" sz="860" dirty="0"/>
          </a:p>
        </p:txBody>
      </p:sp>
      <p:sp>
        <p:nvSpPr>
          <p:cNvPr id="12" name="Text 9"/>
          <p:cNvSpPr txBox="1"/>
          <p:nvPr/>
        </p:nvSpPr>
        <p:spPr>
          <a:xfrm>
            <a:off x="4542854" y="1865376"/>
            <a:ext cx="1287521" cy="313171"/>
          </a:xfrm>
          <a:prstGeom prst="rect">
            <a:avLst/>
          </a:prstGeom>
          <a:noFill/>
          <a:ln/>
        </p:spPr>
        <p:txBody>
          <a:bodyPr wrap="none" lIns="0" tIns="0" rIns="0" bIns="0" rtlCol="0" anchor="t"/>
          <a:lstStyle/>
          <a:p>
            <a:pPr algn="l" indent="0" marL="0">
              <a:lnSpc>
                <a:spcPts val="1900"/>
              </a:lnSpc>
              <a:buNone/>
            </a:pPr>
            <a:r>
              <a:rPr lang="en-US" sz="1220" b="1" spc="-31" kern="0" dirty="0">
                <a:solidFill>
                  <a:srgbClr val="071A33"/>
                </a:solidFill>
                <a:latin typeface="Arial" pitchFamily="34" charset="0"/>
                <a:ea typeface="Arial" pitchFamily="34" charset="-122"/>
                <a:cs typeface="Arial" pitchFamily="34" charset="-120"/>
              </a:rPr>
              <a:t>Manpower Board</a:t>
            </a:r>
            <a:endParaRPr lang="en-US" sz="1220" dirty="0"/>
          </a:p>
        </p:txBody>
      </p:sp>
      <p:sp>
        <p:nvSpPr>
          <p:cNvPr id="13" name="Text 10"/>
          <p:cNvSpPr txBox="1"/>
          <p:nvPr/>
        </p:nvSpPr>
        <p:spPr>
          <a:xfrm>
            <a:off x="6906435" y="1865376"/>
            <a:ext cx="1435808" cy="313171"/>
          </a:xfrm>
          <a:prstGeom prst="rect">
            <a:avLst/>
          </a:prstGeom>
          <a:noFill/>
          <a:ln/>
        </p:spPr>
        <p:txBody>
          <a:bodyPr wrap="none" lIns="0" tIns="0" rIns="0" bIns="0" rtlCol="0" anchor="t"/>
          <a:lstStyle/>
          <a:p>
            <a:pPr algn="l" indent="0" marL="0">
              <a:lnSpc>
                <a:spcPts val="1900"/>
              </a:lnSpc>
              <a:buNone/>
            </a:pPr>
            <a:r>
              <a:rPr lang="en-US" sz="1220" b="1" spc="-31" kern="0" dirty="0">
                <a:solidFill>
                  <a:srgbClr val="071A33"/>
                </a:solidFill>
                <a:latin typeface="Arial" pitchFamily="34" charset="0"/>
                <a:ea typeface="Arial" pitchFamily="34" charset="-122"/>
                <a:cs typeface="Arial" pitchFamily="34" charset="-120"/>
              </a:rPr>
              <a:t>Inventory &amp; Quality</a:t>
            </a:r>
            <a:endParaRPr lang="en-US" sz="1220" dirty="0"/>
          </a:p>
        </p:txBody>
      </p:sp>
      <p:sp>
        <p:nvSpPr>
          <p:cNvPr id="14" name="Text 11"/>
          <p:cNvSpPr txBox="1"/>
          <p:nvPr/>
        </p:nvSpPr>
        <p:spPr>
          <a:xfrm>
            <a:off x="5401247" y="4389120"/>
            <a:ext cx="1092788" cy="283893"/>
          </a:xfrm>
          <a:prstGeom prst="rect">
            <a:avLst/>
          </a:prstGeom>
          <a:noFill/>
          <a:ln/>
        </p:spPr>
        <p:txBody>
          <a:bodyPr wrap="none" lIns="0" tIns="0" rIns="0" bIns="0" rtlCol="0" anchor="ctr"/>
          <a:lstStyle/>
          <a:p>
            <a:pPr algn="l" indent="0" marL="0">
              <a:lnSpc>
                <a:spcPts val="950"/>
              </a:lnSpc>
              <a:buNone/>
            </a:pPr>
            <a:r>
              <a:rPr lang="en-US" sz="790" dirty="0">
                <a:solidFill>
                  <a:srgbClr val="071A33"/>
                </a:solidFill>
                <a:latin typeface="Arial" pitchFamily="34" charset="0"/>
                <a:ea typeface="Arial" pitchFamily="34" charset="-122"/>
                <a:cs typeface="Arial" pitchFamily="34" charset="-120"/>
              </a:rPr>
              <a:t>Installable app (PWA)</a:t>
            </a:r>
            <a:endParaRPr lang="en-US" sz="790" dirty="0"/>
          </a:p>
        </p:txBody>
      </p:sp>
      <p:sp>
        <p:nvSpPr>
          <p:cNvPr id="15" name="Text 12"/>
          <p:cNvSpPr txBox="1"/>
          <p:nvPr/>
        </p:nvSpPr>
        <p:spPr>
          <a:xfrm>
            <a:off x="6879574" y="4389120"/>
            <a:ext cx="661351" cy="283893"/>
          </a:xfrm>
          <a:prstGeom prst="rect">
            <a:avLst/>
          </a:prstGeom>
          <a:noFill/>
          <a:ln/>
        </p:spPr>
        <p:txBody>
          <a:bodyPr wrap="none" lIns="0" tIns="0" rIns="0" bIns="0" rtlCol="0" anchor="ctr"/>
          <a:lstStyle/>
          <a:p>
            <a:pPr algn="l" indent="0" marL="0">
              <a:lnSpc>
                <a:spcPts val="950"/>
              </a:lnSpc>
              <a:buNone/>
            </a:pPr>
            <a:r>
              <a:rPr lang="en-US" sz="790" dirty="0">
                <a:solidFill>
                  <a:srgbClr val="071A33"/>
                </a:solidFill>
                <a:latin typeface="Arial" pitchFamily="34" charset="0"/>
                <a:ea typeface="Arial" pitchFamily="34" charset="-122"/>
                <a:cs typeface="Arial" pitchFamily="34" charset="-120"/>
              </a:rPr>
              <a:t>Phone layout</a:t>
            </a:r>
            <a:endParaRPr lang="en-US" sz="790" dirty="0"/>
          </a:p>
        </p:txBody>
      </p:sp>
      <p:sp>
        <p:nvSpPr>
          <p:cNvPr id="16" name="Text 13"/>
          <p:cNvSpPr txBox="1"/>
          <p:nvPr/>
        </p:nvSpPr>
        <p:spPr>
          <a:xfrm>
            <a:off x="4214487" y="3761327"/>
            <a:ext cx="1848883" cy="228600"/>
          </a:xfrm>
          <a:prstGeom prst="rect">
            <a:avLst/>
          </a:prstGeom>
          <a:noFill/>
          <a:ln/>
        </p:spPr>
        <p:txBody>
          <a:bodyPr wrap="none" lIns="0" tIns="0" rIns="0" bIns="0" rtlCol="0" anchor="ctr"/>
          <a:lstStyle/>
          <a:p>
            <a:pPr algn="ctr" indent="0" marL="0">
              <a:lnSpc>
                <a:spcPts val="860"/>
              </a:lnSpc>
              <a:buNone/>
            </a:pPr>
            <a:r>
              <a:rPr lang="en-US" sz="720" dirty="0">
                <a:solidFill>
                  <a:srgbClr val="0B4FBF"/>
                </a:solidFill>
                <a:latin typeface="Arial" pitchFamily="34" charset="0"/>
                <a:ea typeface="Arial" pitchFamily="34" charset="-122"/>
                <a:cs typeface="Arial" pitchFamily="34" charset="-120"/>
              </a:rPr>
              <a:t>trigoth-manpowerboard.netlify.app</a:t>
            </a:r>
            <a:endParaRPr lang="en-US" sz="720" dirty="0"/>
          </a:p>
        </p:txBody>
      </p:sp>
      <p:sp>
        <p:nvSpPr>
          <p:cNvPr id="17" name="Text 14"/>
          <p:cNvSpPr txBox="1"/>
          <p:nvPr/>
        </p:nvSpPr>
        <p:spPr>
          <a:xfrm>
            <a:off x="6825173" y="3761327"/>
            <a:ext cx="1491975" cy="228600"/>
          </a:xfrm>
          <a:prstGeom prst="rect">
            <a:avLst/>
          </a:prstGeom>
          <a:noFill/>
          <a:ln/>
        </p:spPr>
        <p:txBody>
          <a:bodyPr wrap="none" lIns="0" tIns="0" rIns="0" bIns="0" rtlCol="0" anchor="ctr"/>
          <a:lstStyle/>
          <a:p>
            <a:pPr algn="ctr" indent="0" marL="0">
              <a:lnSpc>
                <a:spcPts val="860"/>
              </a:lnSpc>
              <a:buNone/>
            </a:pPr>
            <a:r>
              <a:rPr lang="en-US" sz="720" dirty="0">
                <a:solidFill>
                  <a:srgbClr val="0B4FBF"/>
                </a:solidFill>
                <a:latin typeface="Arial" pitchFamily="34" charset="0"/>
                <a:ea typeface="Arial" pitchFamily="34" charset="-122"/>
                <a:cs typeface="Arial" pitchFamily="34" charset="-120"/>
              </a:rPr>
              <a:t>trigoth-inventory.pages.dev</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Non-Rayong overview 2026</dc:title>
  <dc:subject>PptxGenJS Presentation</dc:subject>
  <dc:creator>TRIGO Quality Services Thailand</dc:creator>
  <cp:lastModifiedBy>TRIGO Quality Services Thailand</cp:lastModifiedBy>
  <cp:revision>1</cp:revision>
  <dcterms:created xsi:type="dcterms:W3CDTF">2026-10-21T03:48:22Z</dcterms:created>
  <dcterms:modified xsi:type="dcterms:W3CDTF">2026-10-21T03:48:22Z</dcterms:modified>
</cp:coreProperties>
</file>