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Non-Rayong overview for January to September 2026: LCBTH, BANGN and AMATA.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Performance
Hours fell 19% in April, then climbed 44% to a record 36,653 h in September. Q3 is the strongest quarter at 100.9K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Site mix
Hours per mission = billable hours / distinct mission numbers (base number, ignoring monthly extension suffix). Per-piece units are pieces invoiced per unit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Customers and hosts
Ford MVIP, MMTH Engine and Surtec Kariya together make up 71% of hours. The other 71 hosts share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Section: Cost reduction
Two slides: the supplier change and the 2026 drink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Cost reduction: beverage supplier
Unit cost fell from 22.34 to 15.68 THB, and the monthly average from 80,899.75 to 64,983.03 THB. Cost per headcount trends down from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Cost reduction: drink mix
Moving the mix toward electrolyte drinks, and adding herbal drinks and tea, targets 11.73 THB per unit. The 2025 figures still need a 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Section: Operation excellence
Three slides: handheld OCR, the hybrid workflow and the poka-yoke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Operation excellence: handheld OCR
Source: supplied shopfloor OCR example and mission inspection-time comparisons. Reading a serial drops from 8 to 10 seconds by hand to 1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Operation excellence: hybrid workflow
Data captured on the shopfloor lands in Google Sheets and Drive. An offline Excel record covers gaps, and the administrator reconciles both before the customer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Operation excellence: poka-yoke
Two controls stop bad data at capture, one tells the operator when a box is full, and the administrator reviews before release. Next: the two web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Section: The two apps
The last section moves from the numbers to the tools behind them. Two web apps support the Non-Rayong sites: the Manpower Board for planning people and missions, and the Inventory and Quality System for tools, parts and consumables. Both run in the browser and on a phone. First the Manpower Board, then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two apps
Two internal tools, built for our sites. Same sign-in domain, same look, both installable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Manpower: the daily board
Each card is a person, each column a mission with host, customer, shift and engineer. The tiles on top always add up: assigned plus leave plus standby equals total. The phone shows a forecast day being merged, one clash at a time: keep the carried-over plan or use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Manpower: planning ahead
Capacity compares demand per host with the people available. In the example, Wednesday 21/10 needs 40 against 36, so it shows 4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Manpower: what managers see
Overview answers "is everyone placed?" first, then the numbers. Every chart has the exact figures on hover.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Inventory: the system
Rayong and Amata warehouses, one at a time or both. The dashboard opens on what needs attention: out of stock, calibration overdue, returns late, parts aged over 60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 Inventory: consumables
Each item shows what is on hand against its safety stock, one gauge per warehouse, so the short warehouse is named instead of hidden in a total. Predicted run-out and spike flags come from the last 30 days: a spike means at least 1.5 times the usual rate, and the filter shows items that run out within 14 days. Every row has an Add to cart button, and nothing is submitted until check-out. Deliveries are received and counts recorded from the buttons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 Inventory: the engineer's day
The same flow works for consumables (issue from stock) and customer parts (deliveries in and out). Camera scanning works in Chrome and Edge; a handheld scanner works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 Inventory: customer parts
Parts are tracked by the customer's part number, mission number and responsible engineer. A delivery due today shows on the To-Do list and in the bell until someone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On your phone
New accounts are approved once by an admin. After installing, the app opens full screen from the home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DFE"/>
        </a:solidFill>
      </p:bgPr>
    </p:bg>
    <p:spTree>
      <p:nvGrpSpPr>
        <p:cNvPr id="1" name=""/>
        <p:cNvGrpSpPr/>
        <p:nvPr/>
      </p:nvGrpSpPr>
      <p:grpSpPr>
        <a:xfrm>
          <a:off x="0" y="0"/>
          <a:ext cx="0" cy="0"/>
          <a:chOff x="0" y="0"/>
          <a:chExt cx="0" cy="0"/>
        </a:xfrm>
      </p:grpSpPr>
      <p:pic>
        <p:nvPicPr>
          <p:cNvPr id="2" name="Image 0" descr="Slide: Non-Rayong overview 2026.">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463040"/>
            <a:ext cx="748534"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Jan–Sep 2026</a:t>
            </a:r>
            <a:endParaRPr lang="en-US" sz="720" dirty="0"/>
          </a:p>
        </p:txBody>
      </p:sp>
      <p:sp>
        <p:nvSpPr>
          <p:cNvPr id="4" name="Text 1"/>
          <p:cNvSpPr txBox="1"/>
          <p:nvPr/>
        </p:nvSpPr>
        <p:spPr>
          <a:xfrm>
            <a:off x="457200" y="1828800"/>
            <a:ext cx="4546397" cy="1343041"/>
          </a:xfrm>
          <a:prstGeom prst="rect">
            <a:avLst/>
          </a:prstGeom>
          <a:noFill/>
          <a:ln/>
        </p:spPr>
        <p:txBody>
          <a:bodyPr wrap="square" lIns="0" tIns="0" rIns="0" bIns="0" rtlCol="0" anchor="t"/>
          <a:lstStyle/>
          <a:p>
            <a:pPr algn="l" indent="0" marL="0">
              <a:lnSpc>
                <a:spcPts val="4600"/>
              </a:lnSpc>
              <a:buNone/>
            </a:pPr>
            <a:r>
              <a:rPr lang="en-US" sz="4460" b="1" spc="-223" kern="0" dirty="0">
                <a:solidFill>
                  <a:srgbClr val="FFFFFF"/>
                </a:solidFill>
                <a:latin typeface="Arial" pitchFamily="34" charset="0"/>
                <a:ea typeface="Arial" pitchFamily="34" charset="-122"/>
                <a:cs typeface="Arial" pitchFamily="34" charset="-120"/>
              </a:rPr>
              <a:t>Non-Rayong</a:t>
            </a:r>
            <a:endParaRPr lang="en-US" sz="4460" dirty="0"/>
          </a:p>
          <a:p>
            <a:pPr algn="l" indent="0" marL="0">
              <a:lnSpc>
                <a:spcPts val="4600"/>
              </a:lnSpc>
              <a:buNone/>
            </a:pPr>
            <a:r>
              <a:rPr lang="en-US" sz="4460" b="1" spc="-223" kern="0" dirty="0">
                <a:solidFill>
                  <a:srgbClr val="FFFFFF"/>
                </a:solidFill>
                <a:latin typeface="Arial" pitchFamily="34" charset="0"/>
                <a:ea typeface="Arial" pitchFamily="34" charset="-122"/>
                <a:cs typeface="Arial" pitchFamily="34" charset="-120"/>
              </a:rPr>
              <a:t>overview 2026.</a:t>
            </a:r>
            <a:endParaRPr lang="en-US" sz="4460" dirty="0"/>
          </a:p>
        </p:txBody>
      </p:sp>
      <p:sp>
        <p:nvSpPr>
          <p:cNvPr id="5" name="Text 2"/>
          <p:cNvSpPr txBox="1"/>
          <p:nvPr/>
        </p:nvSpPr>
        <p:spPr>
          <a:xfrm>
            <a:off x="457200" y="3161252"/>
            <a:ext cx="3513125" cy="603504"/>
          </a:xfrm>
          <a:prstGeom prst="rect">
            <a:avLst/>
          </a:prstGeom>
          <a:noFill/>
          <a:ln/>
        </p:spPr>
        <p:txBody>
          <a:bodyPr wrap="square" lIns="0" tIns="0" rIns="0" bIns="0" rtlCol="0" anchor="t"/>
          <a:lstStyle/>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Service hours, site mix and customers, then cost</a:t>
            </a:r>
            <a:endParaRPr lang="en-US" sz="900" dirty="0"/>
          </a:p>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reduction and operation excellence, across our three non-Rayong</a:t>
            </a:r>
            <a:endParaRPr lang="en-US" sz="900" dirty="0"/>
          </a:p>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sites.</a:t>
            </a:r>
            <a:endParaRPr lang="en-US" sz="900" dirty="0"/>
          </a:p>
        </p:txBody>
      </p:sp>
      <p:sp>
        <p:nvSpPr>
          <p:cNvPr id="6" name="Text 3"/>
          <p:cNvSpPr txBox="1"/>
          <p:nvPr/>
        </p:nvSpPr>
        <p:spPr>
          <a:xfrm>
            <a:off x="708660" y="4023360"/>
            <a:ext cx="355673"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LCBTH</a:t>
            </a:r>
            <a:endParaRPr lang="en-US" sz="790" dirty="0"/>
          </a:p>
        </p:txBody>
      </p:sp>
      <p:sp>
        <p:nvSpPr>
          <p:cNvPr id="7" name="Text 4"/>
          <p:cNvSpPr txBox="1"/>
          <p:nvPr/>
        </p:nvSpPr>
        <p:spPr>
          <a:xfrm>
            <a:off x="1467755" y="4023360"/>
            <a:ext cx="388694"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BANGN</a:t>
            </a:r>
            <a:endParaRPr lang="en-US" sz="790" dirty="0"/>
          </a:p>
        </p:txBody>
      </p:sp>
      <p:sp>
        <p:nvSpPr>
          <p:cNvPr id="8" name="Text 5"/>
          <p:cNvSpPr txBox="1"/>
          <p:nvPr/>
        </p:nvSpPr>
        <p:spPr>
          <a:xfrm>
            <a:off x="2257425" y="4023360"/>
            <a:ext cx="381288"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AMATA</a:t>
            </a:r>
            <a:endParaRPr lang="en-US" sz="790" dirty="0"/>
          </a:p>
        </p:txBody>
      </p:sp>
      <p:sp>
        <p:nvSpPr>
          <p:cNvPr id="9" name="Text 6"/>
          <p:cNvSpPr txBox="1"/>
          <p:nvPr/>
        </p:nvSpPr>
        <p:spPr>
          <a:xfrm>
            <a:off x="457200" y="4709732"/>
            <a:ext cx="1507714" cy="165712"/>
          </a:xfrm>
          <a:prstGeom prst="rect">
            <a:avLst/>
          </a:prstGeom>
          <a:noFill/>
          <a:ln/>
        </p:spPr>
        <p:txBody>
          <a:bodyPr wrap="none" lIns="0" tIns="0" rIns="0" bIns="0" rtlCol="0" anchor="t"/>
          <a:lstStyle/>
          <a:p>
            <a:pPr algn="l" indent="0" marL="0">
              <a:lnSpc>
                <a:spcPts val="1000"/>
              </a:lnSpc>
              <a:buNone/>
            </a:pPr>
            <a:r>
              <a:rPr lang="en-US" sz="650" spc="26" kern="0" dirty="0">
                <a:solidFill>
                  <a:srgbClr val="6F8FB5"/>
                </a:solidFill>
                <a:latin typeface="Arial" pitchFamily="34" charset="0"/>
                <a:ea typeface="Arial" pitchFamily="34" charset="-122"/>
                <a:cs typeface="Arial" pitchFamily="34" charset="-120"/>
              </a:rPr>
              <a:t>TRIGO Quality Services (Thailand)</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DFE"/>
        </a:solidFill>
      </p:bgPr>
    </p:bg>
    <p:spTree>
      <p:nvGrpSpPr>
        <p:cNvPr id="1" name=""/>
        <p:cNvGrpSpPr/>
        <p:nvPr/>
      </p:nvGrpSpPr>
      <p:grpSpPr>
        <a:xfrm>
          <a:off x="0" y="0"/>
          <a:ext cx="0" cy="0"/>
          <a:chOff x="0" y="0"/>
          <a:chExt cx="0" cy="0"/>
        </a:xfrm>
      </p:grpSpPr>
      <p:pic>
        <p:nvPicPr>
          <p:cNvPr id="2" name="Image 0" descr="Slide: September set a record after the April dip.">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875064"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Performance</a:t>
            </a:r>
            <a:endParaRPr lang="en-US" sz="720" dirty="0"/>
          </a:p>
        </p:txBody>
      </p:sp>
      <p:sp>
        <p:nvSpPr>
          <p:cNvPr id="4" name="Text 1"/>
          <p:cNvSpPr txBox="1"/>
          <p:nvPr/>
        </p:nvSpPr>
        <p:spPr>
          <a:xfrm>
            <a:off x="457200" y="1252728"/>
            <a:ext cx="5700181"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September set a record after the April dip.</a:t>
            </a:r>
            <a:endParaRPr lang="en-US" sz="2380" dirty="0"/>
          </a:p>
        </p:txBody>
      </p:sp>
      <p:sp>
        <p:nvSpPr>
          <p:cNvPr id="5" name="Text 2"/>
          <p:cNvSpPr txBox="1"/>
          <p:nvPr/>
        </p:nvSpPr>
        <p:spPr>
          <a:xfrm>
            <a:off x="621792" y="1929384"/>
            <a:ext cx="1545519"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Monthly service hours by site</a:t>
            </a:r>
            <a:endParaRPr lang="en-US" sz="830" dirty="0"/>
          </a:p>
        </p:txBody>
      </p:sp>
      <p:sp>
        <p:nvSpPr>
          <p:cNvPr id="6" name="Text 3"/>
          <p:cNvSpPr txBox="1"/>
          <p:nvPr/>
        </p:nvSpPr>
        <p:spPr>
          <a:xfrm>
            <a:off x="3956066" y="1939957"/>
            <a:ext cx="32188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LCBTH</a:t>
            </a:r>
            <a:endParaRPr lang="en-US" sz="720" dirty="0"/>
          </a:p>
        </p:txBody>
      </p:sp>
      <p:sp>
        <p:nvSpPr>
          <p:cNvPr id="7" name="Text 4"/>
          <p:cNvSpPr txBox="1"/>
          <p:nvPr/>
        </p:nvSpPr>
        <p:spPr>
          <a:xfrm>
            <a:off x="4510135" y="1939957"/>
            <a:ext cx="35413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BANGN</a:t>
            </a:r>
            <a:endParaRPr lang="en-US" sz="720" dirty="0"/>
          </a:p>
        </p:txBody>
      </p:sp>
      <p:sp>
        <p:nvSpPr>
          <p:cNvPr id="8" name="Text 5"/>
          <p:cNvSpPr txBox="1"/>
          <p:nvPr/>
        </p:nvSpPr>
        <p:spPr>
          <a:xfrm>
            <a:off x="5094065" y="1939957"/>
            <a:ext cx="344717"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AMATA</a:t>
            </a:r>
            <a:endParaRPr lang="en-US" sz="720" dirty="0"/>
          </a:p>
        </p:txBody>
      </p:sp>
      <p:sp>
        <p:nvSpPr>
          <p:cNvPr id="9" name="Text 6"/>
          <p:cNvSpPr txBox="1"/>
          <p:nvPr/>
        </p:nvSpPr>
        <p:spPr>
          <a:xfrm>
            <a:off x="5925312" y="1874520"/>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1A62D6"/>
                </a:solidFill>
                <a:latin typeface="Arial" pitchFamily="34" charset="0"/>
                <a:ea typeface="Arial" pitchFamily="34" charset="-122"/>
                <a:cs typeface="Arial" pitchFamily="34" charset="-120"/>
              </a:rPr>
              <a:t>−19%</a:t>
            </a:r>
            <a:endParaRPr lang="en-US" sz="2160" dirty="0"/>
          </a:p>
        </p:txBody>
      </p:sp>
      <p:sp>
        <p:nvSpPr>
          <p:cNvPr id="10" name="Text 7"/>
          <p:cNvSpPr txBox="1"/>
          <p:nvPr/>
        </p:nvSpPr>
        <p:spPr>
          <a:xfrm>
            <a:off x="5925312" y="2194560"/>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Apr low vs Mar, 25,440 h; LCBTH −29%</a:t>
            </a:r>
            <a:endParaRPr lang="en-US" sz="720" dirty="0"/>
          </a:p>
        </p:txBody>
      </p:sp>
      <p:sp>
        <p:nvSpPr>
          <p:cNvPr id="11" name="Text 8"/>
          <p:cNvSpPr txBox="1"/>
          <p:nvPr/>
        </p:nvSpPr>
        <p:spPr>
          <a:xfrm>
            <a:off x="5925312" y="2610612"/>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1A62D6"/>
                </a:solidFill>
                <a:latin typeface="Arial" pitchFamily="34" charset="0"/>
                <a:ea typeface="Arial" pitchFamily="34" charset="-122"/>
                <a:cs typeface="Arial" pitchFamily="34" charset="-120"/>
              </a:rPr>
              <a:t>+44%</a:t>
            </a:r>
            <a:endParaRPr lang="en-US" sz="2160" dirty="0"/>
          </a:p>
        </p:txBody>
      </p:sp>
      <p:sp>
        <p:nvSpPr>
          <p:cNvPr id="12" name="Text 9"/>
          <p:cNvSpPr txBox="1"/>
          <p:nvPr/>
        </p:nvSpPr>
        <p:spPr>
          <a:xfrm>
            <a:off x="5925312" y="2930652"/>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Apr to Sep: 25,440 h to a record 36,653 h</a:t>
            </a:r>
            <a:endParaRPr lang="en-US" sz="720" dirty="0"/>
          </a:p>
        </p:txBody>
      </p:sp>
      <p:sp>
        <p:nvSpPr>
          <p:cNvPr id="13" name="Text 10"/>
          <p:cNvSpPr txBox="1"/>
          <p:nvPr/>
        </p:nvSpPr>
        <p:spPr>
          <a:xfrm>
            <a:off x="5925312" y="3346704"/>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9CCBFF"/>
                </a:solidFill>
                <a:latin typeface="Arial" pitchFamily="34" charset="0"/>
                <a:ea typeface="Arial" pitchFamily="34" charset="-122"/>
                <a:cs typeface="Arial" pitchFamily="34" charset="-120"/>
              </a:rPr>
              <a:t>176</a:t>
            </a:r>
            <a:endParaRPr lang="en-US" sz="2160" dirty="0"/>
          </a:p>
        </p:txBody>
      </p:sp>
      <p:sp>
        <p:nvSpPr>
          <p:cNvPr id="14" name="Text 11"/>
          <p:cNvSpPr txBox="1"/>
          <p:nvPr/>
        </p:nvSpPr>
        <p:spPr>
          <a:xfrm>
            <a:off x="5925312" y="3666744"/>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9DB6D4"/>
                </a:solidFill>
                <a:latin typeface="Arial" pitchFamily="34" charset="0"/>
                <a:ea typeface="Arial" pitchFamily="34" charset="-122"/>
                <a:cs typeface="Arial" pitchFamily="34" charset="-120"/>
              </a:rPr>
              <a:t>FTE in Sep vs 141 Jan–Aug avg</a:t>
            </a:r>
            <a:endParaRPr lang="en-US" sz="720" dirty="0"/>
          </a:p>
        </p:txBody>
      </p:sp>
      <p:sp>
        <p:nvSpPr>
          <p:cNvPr id="15" name="Text 12"/>
          <p:cNvSpPr txBox="1"/>
          <p:nvPr/>
        </p:nvSpPr>
        <p:spPr>
          <a:xfrm>
            <a:off x="5925312" y="4073652"/>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Quarterly service hours</a:t>
            </a:r>
            <a:endParaRPr lang="en-US" sz="720" dirty="0"/>
          </a:p>
        </p:txBody>
      </p:sp>
      <p:sp>
        <p:nvSpPr>
          <p:cNvPr id="16" name="Text 13"/>
          <p:cNvSpPr txBox="1"/>
          <p:nvPr/>
        </p:nvSpPr>
        <p:spPr>
          <a:xfrm>
            <a:off x="5925312" y="4288536"/>
            <a:ext cx="237012"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Q1</a:t>
            </a:r>
            <a:endParaRPr lang="en-US" sz="720" dirty="0"/>
          </a:p>
        </p:txBody>
      </p:sp>
      <p:sp>
        <p:nvSpPr>
          <p:cNvPr id="17" name="Text 14"/>
          <p:cNvSpPr txBox="1"/>
          <p:nvPr/>
        </p:nvSpPr>
        <p:spPr>
          <a:xfrm>
            <a:off x="7973568" y="4288536"/>
            <a:ext cx="59253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88.0K h</a:t>
            </a:r>
            <a:endParaRPr lang="en-US" sz="720" dirty="0"/>
          </a:p>
        </p:txBody>
      </p:sp>
      <p:sp>
        <p:nvSpPr>
          <p:cNvPr id="18" name="Text 15"/>
          <p:cNvSpPr txBox="1"/>
          <p:nvPr/>
        </p:nvSpPr>
        <p:spPr>
          <a:xfrm>
            <a:off x="5925312" y="4485132"/>
            <a:ext cx="237012"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Q2</a:t>
            </a:r>
            <a:endParaRPr lang="en-US" sz="720" dirty="0"/>
          </a:p>
        </p:txBody>
      </p:sp>
      <p:sp>
        <p:nvSpPr>
          <p:cNvPr id="19" name="Text 16"/>
          <p:cNvSpPr txBox="1"/>
          <p:nvPr/>
        </p:nvSpPr>
        <p:spPr>
          <a:xfrm>
            <a:off x="7973568" y="4485132"/>
            <a:ext cx="59253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82.7K h</a:t>
            </a:r>
            <a:endParaRPr lang="en-US" sz="720" dirty="0"/>
          </a:p>
        </p:txBody>
      </p:sp>
      <p:sp>
        <p:nvSpPr>
          <p:cNvPr id="20" name="Text 17"/>
          <p:cNvSpPr txBox="1"/>
          <p:nvPr/>
        </p:nvSpPr>
        <p:spPr>
          <a:xfrm>
            <a:off x="5925312" y="4681728"/>
            <a:ext cx="237012" cy="184252"/>
          </a:xfrm>
          <a:prstGeom prst="rect">
            <a:avLst/>
          </a:prstGeom>
          <a:noFill/>
          <a:ln/>
        </p:spPr>
        <p:txBody>
          <a:bodyPr wrap="non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Q3</a:t>
            </a:r>
            <a:endParaRPr lang="en-US" sz="720" dirty="0"/>
          </a:p>
        </p:txBody>
      </p:sp>
      <p:sp>
        <p:nvSpPr>
          <p:cNvPr id="21" name="Text 18"/>
          <p:cNvSpPr txBox="1"/>
          <p:nvPr/>
        </p:nvSpPr>
        <p:spPr>
          <a:xfrm>
            <a:off x="7973568" y="4681728"/>
            <a:ext cx="592531" cy="184252"/>
          </a:xfrm>
          <a:prstGeom prst="rect">
            <a:avLst/>
          </a:prstGeom>
          <a:noFill/>
          <a:ln/>
        </p:spPr>
        <p:txBody>
          <a:bodyPr wrap="non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100.9K h</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DFE"/>
        </a:solidFill>
      </p:bgPr>
    </p:bg>
    <p:spTree>
      <p:nvGrpSpPr>
        <p:cNvPr id="1" name=""/>
        <p:cNvGrpSpPr/>
        <p:nvPr/>
      </p:nvGrpSpPr>
      <p:grpSpPr>
        <a:xfrm>
          <a:off x="0" y="0"/>
          <a:ext cx="0" cy="0"/>
          <a:chOff x="0" y="0"/>
          <a:chExt cx="0" cy="0"/>
        </a:xfrm>
      </p:grpSpPr>
      <p:pic>
        <p:nvPicPr>
          <p:cNvPr id="2" name="Image 0" descr="Slide: LCBTH leads hours; BANGN leads mission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33859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Site mix · Jan–Sep 2026</a:t>
            </a:r>
            <a:endParaRPr lang="en-US" sz="720" dirty="0"/>
          </a:p>
        </p:txBody>
      </p:sp>
      <p:sp>
        <p:nvSpPr>
          <p:cNvPr id="4" name="Text 1"/>
          <p:cNvSpPr txBox="1"/>
          <p:nvPr/>
        </p:nvSpPr>
        <p:spPr>
          <a:xfrm>
            <a:off x="457200" y="1252728"/>
            <a:ext cx="5920220"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LCBTH leads hours; BANGN leads missions.</a:t>
            </a:r>
            <a:endParaRPr lang="en-US" sz="2380" dirty="0"/>
          </a:p>
        </p:txBody>
      </p:sp>
      <p:sp>
        <p:nvSpPr>
          <p:cNvPr id="5" name="Text 2"/>
          <p:cNvSpPr txBox="1"/>
          <p:nvPr/>
        </p:nvSpPr>
        <p:spPr>
          <a:xfrm>
            <a:off x="558150" y="2553462"/>
            <a:ext cx="1718340" cy="309067"/>
          </a:xfrm>
          <a:prstGeom prst="rect">
            <a:avLst/>
          </a:prstGeom>
          <a:noFill/>
          <a:ln/>
        </p:spPr>
        <p:txBody>
          <a:bodyPr wrap="none" lIns="0" tIns="0" rIns="0" bIns="0" rtlCol="0" anchor="t"/>
          <a:lstStyle/>
          <a:p>
            <a:pPr algn="ctr" indent="0" marL="0">
              <a:lnSpc>
                <a:spcPts val="1870"/>
              </a:lnSpc>
              <a:buNone/>
            </a:pPr>
            <a:r>
              <a:rPr lang="en-US" sz="1870" b="1" spc="-75" kern="0" dirty="0">
                <a:solidFill>
                  <a:srgbClr val="071A33"/>
                </a:solidFill>
                <a:latin typeface="Arial" pitchFamily="34" charset="0"/>
                <a:ea typeface="Arial" pitchFamily="34" charset="-122"/>
                <a:cs typeface="Arial" pitchFamily="34" charset="-120"/>
              </a:rPr>
              <a:t>271.7k</a:t>
            </a:r>
            <a:endParaRPr lang="en-US" sz="1870" dirty="0"/>
          </a:p>
        </p:txBody>
      </p:sp>
      <p:sp>
        <p:nvSpPr>
          <p:cNvPr id="6" name="Text 3"/>
          <p:cNvSpPr txBox="1"/>
          <p:nvPr/>
        </p:nvSpPr>
        <p:spPr>
          <a:xfrm>
            <a:off x="558150" y="2791206"/>
            <a:ext cx="1718340" cy="184252"/>
          </a:xfrm>
          <a:prstGeom prst="rect">
            <a:avLst/>
          </a:prstGeom>
          <a:noFill/>
          <a:ln/>
        </p:spPr>
        <p:txBody>
          <a:bodyPr wrap="none" lIns="0" tIns="0" rIns="0" bIns="0" rtlCol="0" anchor="t"/>
          <a:lstStyle/>
          <a:p>
            <a:pPr algn="ctr" indent="0" marL="0">
              <a:lnSpc>
                <a:spcPts val="1120"/>
              </a:lnSpc>
              <a:buNone/>
            </a:pPr>
            <a:r>
              <a:rPr lang="en-US" sz="720" dirty="0">
                <a:solidFill>
                  <a:srgbClr val="4D6585"/>
                </a:solidFill>
                <a:latin typeface="Arial" pitchFamily="34" charset="0"/>
                <a:ea typeface="Arial" pitchFamily="34" charset="-122"/>
                <a:cs typeface="Arial" pitchFamily="34" charset="-120"/>
              </a:rPr>
              <a:t>service hrs</a:t>
            </a:r>
            <a:endParaRPr lang="en-US" sz="720" dirty="0"/>
          </a:p>
        </p:txBody>
      </p:sp>
      <p:sp>
        <p:nvSpPr>
          <p:cNvPr id="7" name="Text 4"/>
          <p:cNvSpPr txBox="1"/>
          <p:nvPr/>
        </p:nvSpPr>
        <p:spPr>
          <a:xfrm>
            <a:off x="777240" y="3666744"/>
            <a:ext cx="1192315"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LCBTH</a:t>
            </a:r>
            <a:endParaRPr lang="en-US" sz="760" dirty="0"/>
          </a:p>
        </p:txBody>
      </p:sp>
      <p:sp>
        <p:nvSpPr>
          <p:cNvPr id="8" name="Text 5"/>
          <p:cNvSpPr txBox="1"/>
          <p:nvPr/>
        </p:nvSpPr>
        <p:spPr>
          <a:xfrm>
            <a:off x="1945243" y="3666744"/>
            <a:ext cx="289013"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69.5%</a:t>
            </a:r>
            <a:endParaRPr lang="en-US" sz="760" dirty="0"/>
          </a:p>
        </p:txBody>
      </p:sp>
      <p:sp>
        <p:nvSpPr>
          <p:cNvPr id="9" name="Text 6"/>
          <p:cNvSpPr txBox="1"/>
          <p:nvPr/>
        </p:nvSpPr>
        <p:spPr>
          <a:xfrm>
            <a:off x="777240" y="3879485"/>
            <a:ext cx="1182748"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BANGN</a:t>
            </a:r>
            <a:endParaRPr lang="en-US" sz="760" dirty="0"/>
          </a:p>
        </p:txBody>
      </p:sp>
      <p:sp>
        <p:nvSpPr>
          <p:cNvPr id="10" name="Text 7"/>
          <p:cNvSpPr txBox="1"/>
          <p:nvPr/>
        </p:nvSpPr>
        <p:spPr>
          <a:xfrm>
            <a:off x="1936385" y="3879485"/>
            <a:ext cx="298580"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20.0%</a:t>
            </a:r>
            <a:endParaRPr lang="en-US" sz="760" dirty="0"/>
          </a:p>
        </p:txBody>
      </p:sp>
      <p:sp>
        <p:nvSpPr>
          <p:cNvPr id="11" name="Text 8"/>
          <p:cNvSpPr txBox="1"/>
          <p:nvPr/>
        </p:nvSpPr>
        <p:spPr>
          <a:xfrm>
            <a:off x="777240" y="4092226"/>
            <a:ext cx="1207128"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AMATA</a:t>
            </a:r>
            <a:endParaRPr lang="en-US" sz="760" dirty="0"/>
          </a:p>
        </p:txBody>
      </p:sp>
      <p:sp>
        <p:nvSpPr>
          <p:cNvPr id="12" name="Text 9"/>
          <p:cNvSpPr txBox="1"/>
          <p:nvPr/>
        </p:nvSpPr>
        <p:spPr>
          <a:xfrm>
            <a:off x="1958959" y="4092226"/>
            <a:ext cx="274200"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10.6%</a:t>
            </a:r>
            <a:endParaRPr lang="en-US" sz="760" dirty="0"/>
          </a:p>
        </p:txBody>
      </p:sp>
      <p:sp>
        <p:nvSpPr>
          <p:cNvPr id="13" name="Text 10"/>
          <p:cNvSpPr txBox="1"/>
          <p:nvPr/>
        </p:nvSpPr>
        <p:spPr>
          <a:xfrm>
            <a:off x="2871216" y="1901952"/>
            <a:ext cx="432208"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LCBTH</a:t>
            </a:r>
            <a:endParaRPr lang="en-US" sz="900" dirty="0"/>
          </a:p>
        </p:txBody>
      </p:sp>
      <p:sp>
        <p:nvSpPr>
          <p:cNvPr id="14" name="Text 11"/>
          <p:cNvSpPr txBox="1"/>
          <p:nvPr/>
        </p:nvSpPr>
        <p:spPr>
          <a:xfrm>
            <a:off x="2734056"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15" name="Text 12"/>
          <p:cNvSpPr txBox="1"/>
          <p:nvPr/>
        </p:nvSpPr>
        <p:spPr>
          <a:xfrm>
            <a:off x="4027075" y="2178701"/>
            <a:ext cx="341631"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188,739</a:t>
            </a:r>
            <a:endParaRPr lang="en-US" sz="710" dirty="0"/>
          </a:p>
        </p:txBody>
      </p:sp>
      <p:sp>
        <p:nvSpPr>
          <p:cNvPr id="16" name="Text 13"/>
          <p:cNvSpPr txBox="1"/>
          <p:nvPr/>
        </p:nvSpPr>
        <p:spPr>
          <a:xfrm>
            <a:off x="2734056"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17" name="Text 14"/>
          <p:cNvSpPr txBox="1"/>
          <p:nvPr/>
        </p:nvSpPr>
        <p:spPr>
          <a:xfrm>
            <a:off x="4093797" y="2393156"/>
            <a:ext cx="26957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69.5%</a:t>
            </a:r>
            <a:endParaRPr lang="en-US" sz="710" dirty="0"/>
          </a:p>
        </p:txBody>
      </p:sp>
      <p:sp>
        <p:nvSpPr>
          <p:cNvPr id="18" name="Text 15"/>
          <p:cNvSpPr txBox="1"/>
          <p:nvPr/>
        </p:nvSpPr>
        <p:spPr>
          <a:xfrm>
            <a:off x="2734056"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19" name="Text 16"/>
          <p:cNvSpPr txBox="1"/>
          <p:nvPr/>
        </p:nvSpPr>
        <p:spPr>
          <a:xfrm>
            <a:off x="4231958" y="2607612"/>
            <a:ext cx="12035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a:t>
            </a:r>
            <a:endParaRPr lang="en-US" sz="710" dirty="0"/>
          </a:p>
        </p:txBody>
      </p:sp>
      <p:sp>
        <p:nvSpPr>
          <p:cNvPr id="20" name="Text 17"/>
          <p:cNvSpPr txBox="1"/>
          <p:nvPr/>
        </p:nvSpPr>
        <p:spPr>
          <a:xfrm>
            <a:off x="2734056"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21" name="Text 18"/>
          <p:cNvSpPr txBox="1"/>
          <p:nvPr/>
        </p:nvSpPr>
        <p:spPr>
          <a:xfrm>
            <a:off x="4238101" y="2822067"/>
            <a:ext cx="113723"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76</a:t>
            </a:r>
            <a:endParaRPr lang="en-US" sz="710" dirty="0"/>
          </a:p>
        </p:txBody>
      </p:sp>
      <p:sp>
        <p:nvSpPr>
          <p:cNvPr id="22" name="Text 19"/>
          <p:cNvSpPr txBox="1"/>
          <p:nvPr/>
        </p:nvSpPr>
        <p:spPr>
          <a:xfrm>
            <a:off x="2734056"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23" name="Text 20"/>
          <p:cNvSpPr txBox="1"/>
          <p:nvPr/>
        </p:nvSpPr>
        <p:spPr>
          <a:xfrm>
            <a:off x="4108228" y="3036522"/>
            <a:ext cx="253986"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2,483</a:t>
            </a:r>
            <a:endParaRPr lang="en-US" sz="710" dirty="0"/>
          </a:p>
        </p:txBody>
      </p:sp>
      <p:sp>
        <p:nvSpPr>
          <p:cNvPr id="24" name="Text 21"/>
          <p:cNvSpPr txBox="1"/>
          <p:nvPr/>
        </p:nvSpPr>
        <p:spPr>
          <a:xfrm>
            <a:off x="2734056"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25" name="Text 22"/>
          <p:cNvSpPr txBox="1"/>
          <p:nvPr/>
        </p:nvSpPr>
        <p:spPr>
          <a:xfrm>
            <a:off x="4094226" y="3250978"/>
            <a:ext cx="26910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2,004</a:t>
            </a:r>
            <a:endParaRPr lang="en-US" sz="710" dirty="0"/>
          </a:p>
        </p:txBody>
      </p:sp>
      <p:sp>
        <p:nvSpPr>
          <p:cNvPr id="26" name="Text 23"/>
          <p:cNvSpPr txBox="1"/>
          <p:nvPr/>
        </p:nvSpPr>
        <p:spPr>
          <a:xfrm>
            <a:off x="2734056"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27" name="Text 24"/>
          <p:cNvSpPr txBox="1"/>
          <p:nvPr/>
        </p:nvSpPr>
        <p:spPr>
          <a:xfrm>
            <a:off x="4109514" y="3465433"/>
            <a:ext cx="252597"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5,985</a:t>
            </a:r>
            <a:endParaRPr lang="en-US" sz="710" dirty="0"/>
          </a:p>
        </p:txBody>
      </p:sp>
      <p:sp>
        <p:nvSpPr>
          <p:cNvPr id="28" name="Text 25"/>
          <p:cNvSpPr txBox="1"/>
          <p:nvPr/>
        </p:nvSpPr>
        <p:spPr>
          <a:xfrm>
            <a:off x="2734056"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29" name="Text 26"/>
          <p:cNvSpPr txBox="1"/>
          <p:nvPr/>
        </p:nvSpPr>
        <p:spPr>
          <a:xfrm>
            <a:off x="4118658" y="3679889"/>
            <a:ext cx="242722"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+30%</a:t>
            </a:r>
            <a:endParaRPr lang="en-US" sz="710" dirty="0"/>
          </a:p>
        </p:txBody>
      </p:sp>
      <p:sp>
        <p:nvSpPr>
          <p:cNvPr id="30" name="Text 27"/>
          <p:cNvSpPr txBox="1"/>
          <p:nvPr/>
        </p:nvSpPr>
        <p:spPr>
          <a:xfrm>
            <a:off x="2688336"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LCBTH = scale</a:t>
            </a:r>
            <a:endParaRPr lang="en-US" sz="730" dirty="0"/>
          </a:p>
        </p:txBody>
      </p:sp>
      <p:sp>
        <p:nvSpPr>
          <p:cNvPr id="31" name="Text 28"/>
          <p:cNvSpPr txBox="1"/>
          <p:nvPr/>
        </p:nvSpPr>
        <p:spPr>
          <a:xfrm>
            <a:off x="2688336" y="4190810"/>
            <a:ext cx="1921886" cy="388519"/>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Ford + AutoAlliance + Mitsubishi port/plant</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inspection. ~2,500 hrs per mission; only 10</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hosts.</a:t>
            </a:r>
            <a:endParaRPr lang="en-US" sz="660" dirty="0"/>
          </a:p>
        </p:txBody>
      </p:sp>
      <p:sp>
        <p:nvSpPr>
          <p:cNvPr id="32" name="Text 29"/>
          <p:cNvSpPr txBox="1"/>
          <p:nvPr/>
        </p:nvSpPr>
        <p:spPr>
          <a:xfrm>
            <a:off x="4956048" y="1901952"/>
            <a:ext cx="464612"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BANGN</a:t>
            </a:r>
            <a:endParaRPr lang="en-US" sz="900" dirty="0"/>
          </a:p>
        </p:txBody>
      </p:sp>
      <p:sp>
        <p:nvSpPr>
          <p:cNvPr id="33" name="Text 30"/>
          <p:cNvSpPr txBox="1"/>
          <p:nvPr/>
        </p:nvSpPr>
        <p:spPr>
          <a:xfrm>
            <a:off x="4818888"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34" name="Text 31"/>
          <p:cNvSpPr txBox="1"/>
          <p:nvPr/>
        </p:nvSpPr>
        <p:spPr>
          <a:xfrm>
            <a:off x="6143482" y="2178701"/>
            <a:ext cx="30753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54,235</a:t>
            </a:r>
            <a:endParaRPr lang="en-US" sz="710" dirty="0"/>
          </a:p>
        </p:txBody>
      </p:sp>
      <p:sp>
        <p:nvSpPr>
          <p:cNvPr id="35" name="Text 32"/>
          <p:cNvSpPr txBox="1"/>
          <p:nvPr/>
        </p:nvSpPr>
        <p:spPr>
          <a:xfrm>
            <a:off x="4818888"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36" name="Text 33"/>
          <p:cNvSpPr txBox="1"/>
          <p:nvPr/>
        </p:nvSpPr>
        <p:spPr>
          <a:xfrm>
            <a:off x="6170200" y="2393156"/>
            <a:ext cx="278675"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20.0%</a:t>
            </a:r>
            <a:endParaRPr lang="en-US" sz="710" dirty="0"/>
          </a:p>
        </p:txBody>
      </p:sp>
      <p:sp>
        <p:nvSpPr>
          <p:cNvPr id="37" name="Text 34"/>
          <p:cNvSpPr txBox="1"/>
          <p:nvPr/>
        </p:nvSpPr>
        <p:spPr>
          <a:xfrm>
            <a:off x="4818888"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38" name="Text 35"/>
          <p:cNvSpPr txBox="1"/>
          <p:nvPr/>
        </p:nvSpPr>
        <p:spPr>
          <a:xfrm>
            <a:off x="6323648" y="2607612"/>
            <a:ext cx="11295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53</a:t>
            </a:r>
            <a:endParaRPr lang="en-US" sz="710" dirty="0"/>
          </a:p>
        </p:txBody>
      </p:sp>
      <p:sp>
        <p:nvSpPr>
          <p:cNvPr id="39" name="Text 36"/>
          <p:cNvSpPr txBox="1"/>
          <p:nvPr/>
        </p:nvSpPr>
        <p:spPr>
          <a:xfrm>
            <a:off x="4818888"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40" name="Text 37"/>
          <p:cNvSpPr txBox="1"/>
          <p:nvPr/>
        </p:nvSpPr>
        <p:spPr>
          <a:xfrm>
            <a:off x="6277070" y="2822067"/>
            <a:ext cx="163255"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140</a:t>
            </a:r>
            <a:endParaRPr lang="en-US" sz="710" dirty="0"/>
          </a:p>
        </p:txBody>
      </p:sp>
      <p:sp>
        <p:nvSpPr>
          <p:cNvPr id="41" name="Text 38"/>
          <p:cNvSpPr txBox="1"/>
          <p:nvPr/>
        </p:nvSpPr>
        <p:spPr>
          <a:xfrm>
            <a:off x="4818888"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42" name="Text 39"/>
          <p:cNvSpPr txBox="1"/>
          <p:nvPr/>
        </p:nvSpPr>
        <p:spPr>
          <a:xfrm>
            <a:off x="6271355" y="3036522"/>
            <a:ext cx="169427"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387</a:t>
            </a:r>
            <a:endParaRPr lang="en-US" sz="710" dirty="0"/>
          </a:p>
        </p:txBody>
      </p:sp>
      <p:sp>
        <p:nvSpPr>
          <p:cNvPr id="43" name="Text 40"/>
          <p:cNvSpPr txBox="1"/>
          <p:nvPr/>
        </p:nvSpPr>
        <p:spPr>
          <a:xfrm>
            <a:off x="4818888"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44" name="Text 41"/>
          <p:cNvSpPr txBox="1"/>
          <p:nvPr/>
        </p:nvSpPr>
        <p:spPr>
          <a:xfrm>
            <a:off x="6198918" y="3250978"/>
            <a:ext cx="24766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1,200</a:t>
            </a:r>
            <a:endParaRPr lang="en-US" sz="710" dirty="0"/>
          </a:p>
        </p:txBody>
      </p:sp>
      <p:sp>
        <p:nvSpPr>
          <p:cNvPr id="45" name="Text 42"/>
          <p:cNvSpPr txBox="1"/>
          <p:nvPr/>
        </p:nvSpPr>
        <p:spPr>
          <a:xfrm>
            <a:off x="4818888"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46" name="Text 43"/>
          <p:cNvSpPr txBox="1"/>
          <p:nvPr/>
        </p:nvSpPr>
        <p:spPr>
          <a:xfrm>
            <a:off x="6147911" y="3465433"/>
            <a:ext cx="302746"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23,533</a:t>
            </a:r>
            <a:endParaRPr lang="en-US" sz="710" dirty="0"/>
          </a:p>
        </p:txBody>
      </p:sp>
      <p:sp>
        <p:nvSpPr>
          <p:cNvPr id="47" name="Text 44"/>
          <p:cNvSpPr txBox="1"/>
          <p:nvPr/>
        </p:nvSpPr>
        <p:spPr>
          <a:xfrm>
            <a:off x="4818888"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48" name="Text 45"/>
          <p:cNvSpPr txBox="1"/>
          <p:nvPr/>
        </p:nvSpPr>
        <p:spPr>
          <a:xfrm>
            <a:off x="6199489" y="3679889"/>
            <a:ext cx="247042"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+96%</a:t>
            </a:r>
            <a:endParaRPr lang="en-US" sz="710" dirty="0"/>
          </a:p>
        </p:txBody>
      </p:sp>
      <p:sp>
        <p:nvSpPr>
          <p:cNvPr id="49" name="Text 46"/>
          <p:cNvSpPr txBox="1"/>
          <p:nvPr/>
        </p:nvSpPr>
        <p:spPr>
          <a:xfrm>
            <a:off x="4773168"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BANGN = breadth</a:t>
            </a:r>
            <a:endParaRPr lang="en-US" sz="730" dirty="0"/>
          </a:p>
        </p:txBody>
      </p:sp>
      <p:sp>
        <p:nvSpPr>
          <p:cNvPr id="50" name="Text 47"/>
          <p:cNvSpPr txBox="1"/>
          <p:nvPr/>
        </p:nvSpPr>
        <p:spPr>
          <a:xfrm>
            <a:off x="4773168" y="4190810"/>
            <a:ext cx="1921886" cy="388519"/>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140 missions, 53 customers, 70% of per-piece</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units. Many short sorting jobs (~390</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hrs/mission).</a:t>
            </a:r>
            <a:endParaRPr lang="en-US" sz="660" dirty="0"/>
          </a:p>
        </p:txBody>
      </p:sp>
      <p:sp>
        <p:nvSpPr>
          <p:cNvPr id="51" name="Text 48"/>
          <p:cNvSpPr txBox="1"/>
          <p:nvPr/>
        </p:nvSpPr>
        <p:spPr>
          <a:xfrm>
            <a:off x="7040880" y="1901952"/>
            <a:ext cx="462298"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AMATA</a:t>
            </a:r>
            <a:endParaRPr lang="en-US" sz="900" dirty="0"/>
          </a:p>
        </p:txBody>
      </p:sp>
      <p:sp>
        <p:nvSpPr>
          <p:cNvPr id="52" name="Text 49"/>
          <p:cNvSpPr txBox="1"/>
          <p:nvPr/>
        </p:nvSpPr>
        <p:spPr>
          <a:xfrm>
            <a:off x="6903720"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53" name="Text 50"/>
          <p:cNvSpPr txBox="1"/>
          <p:nvPr/>
        </p:nvSpPr>
        <p:spPr>
          <a:xfrm>
            <a:off x="8229314" y="2178701"/>
            <a:ext cx="30645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28,687</a:t>
            </a:r>
            <a:endParaRPr lang="en-US" sz="710" dirty="0"/>
          </a:p>
        </p:txBody>
      </p:sp>
      <p:sp>
        <p:nvSpPr>
          <p:cNvPr id="54" name="Text 51"/>
          <p:cNvSpPr txBox="1"/>
          <p:nvPr/>
        </p:nvSpPr>
        <p:spPr>
          <a:xfrm>
            <a:off x="6903720"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55" name="Text 52"/>
          <p:cNvSpPr txBox="1"/>
          <p:nvPr/>
        </p:nvSpPr>
        <p:spPr>
          <a:xfrm>
            <a:off x="8276177" y="2393156"/>
            <a:ext cx="25583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10.6%</a:t>
            </a:r>
            <a:endParaRPr lang="en-US" sz="710" dirty="0"/>
          </a:p>
        </p:txBody>
      </p:sp>
      <p:sp>
        <p:nvSpPr>
          <p:cNvPr id="56" name="Text 53"/>
          <p:cNvSpPr txBox="1"/>
          <p:nvPr/>
        </p:nvSpPr>
        <p:spPr>
          <a:xfrm>
            <a:off x="6903720"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57" name="Text 54"/>
          <p:cNvSpPr txBox="1"/>
          <p:nvPr/>
        </p:nvSpPr>
        <p:spPr>
          <a:xfrm>
            <a:off x="8426339" y="2607612"/>
            <a:ext cx="93663"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31</a:t>
            </a:r>
            <a:endParaRPr lang="en-US" sz="710" dirty="0"/>
          </a:p>
        </p:txBody>
      </p:sp>
      <p:sp>
        <p:nvSpPr>
          <p:cNvPr id="58" name="Text 55"/>
          <p:cNvSpPr txBox="1"/>
          <p:nvPr/>
        </p:nvSpPr>
        <p:spPr>
          <a:xfrm>
            <a:off x="6903720"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59" name="Text 56"/>
          <p:cNvSpPr txBox="1"/>
          <p:nvPr/>
        </p:nvSpPr>
        <p:spPr>
          <a:xfrm>
            <a:off x="8404908" y="2822067"/>
            <a:ext cx="116809"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45</a:t>
            </a:r>
            <a:endParaRPr lang="en-US" sz="710" dirty="0"/>
          </a:p>
        </p:txBody>
      </p:sp>
      <p:sp>
        <p:nvSpPr>
          <p:cNvPr id="60" name="Text 57"/>
          <p:cNvSpPr txBox="1"/>
          <p:nvPr/>
        </p:nvSpPr>
        <p:spPr>
          <a:xfrm>
            <a:off x="6903720"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61" name="Text 58"/>
          <p:cNvSpPr txBox="1"/>
          <p:nvPr/>
        </p:nvSpPr>
        <p:spPr>
          <a:xfrm>
            <a:off x="8354044" y="3036522"/>
            <a:ext cx="17174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637</a:t>
            </a:r>
            <a:endParaRPr lang="en-US" sz="710" dirty="0"/>
          </a:p>
        </p:txBody>
      </p:sp>
      <p:sp>
        <p:nvSpPr>
          <p:cNvPr id="62" name="Text 59"/>
          <p:cNvSpPr txBox="1"/>
          <p:nvPr/>
        </p:nvSpPr>
        <p:spPr>
          <a:xfrm>
            <a:off x="6903720"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63" name="Text 60"/>
          <p:cNvSpPr txBox="1"/>
          <p:nvPr/>
        </p:nvSpPr>
        <p:spPr>
          <a:xfrm>
            <a:off x="8347901" y="3250978"/>
            <a:ext cx="178377"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663</a:t>
            </a:r>
            <a:endParaRPr lang="en-US" sz="710" dirty="0"/>
          </a:p>
        </p:txBody>
      </p:sp>
      <p:sp>
        <p:nvSpPr>
          <p:cNvPr id="64" name="Text 61"/>
          <p:cNvSpPr txBox="1"/>
          <p:nvPr/>
        </p:nvSpPr>
        <p:spPr>
          <a:xfrm>
            <a:off x="6903720"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65" name="Text 62"/>
          <p:cNvSpPr txBox="1"/>
          <p:nvPr/>
        </p:nvSpPr>
        <p:spPr>
          <a:xfrm>
            <a:off x="8292036" y="3465433"/>
            <a:ext cx="23871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4,160</a:t>
            </a:r>
            <a:endParaRPr lang="en-US" sz="710" dirty="0"/>
          </a:p>
        </p:txBody>
      </p:sp>
      <p:sp>
        <p:nvSpPr>
          <p:cNvPr id="66" name="Text 63"/>
          <p:cNvSpPr txBox="1"/>
          <p:nvPr/>
        </p:nvSpPr>
        <p:spPr>
          <a:xfrm>
            <a:off x="6903720"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67" name="Text 64"/>
          <p:cNvSpPr txBox="1"/>
          <p:nvPr/>
        </p:nvSpPr>
        <p:spPr>
          <a:xfrm>
            <a:off x="8298752" y="3679889"/>
            <a:ext cx="23145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+35%</a:t>
            </a:r>
            <a:endParaRPr lang="en-US" sz="710" dirty="0"/>
          </a:p>
        </p:txBody>
      </p:sp>
      <p:sp>
        <p:nvSpPr>
          <p:cNvPr id="68" name="Text 65"/>
          <p:cNvSpPr txBox="1"/>
          <p:nvPr/>
        </p:nvSpPr>
        <p:spPr>
          <a:xfrm>
            <a:off x="6858000"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BANGN = growth</a:t>
            </a:r>
            <a:endParaRPr lang="en-US" sz="730" dirty="0"/>
          </a:p>
        </p:txBody>
      </p:sp>
      <p:sp>
        <p:nvSpPr>
          <p:cNvPr id="69" name="Text 66"/>
          <p:cNvSpPr txBox="1"/>
          <p:nvPr/>
        </p:nvSpPr>
        <p:spPr>
          <a:xfrm>
            <a:off x="6858000" y="4190810"/>
            <a:ext cx="1921886" cy="270790"/>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Hours up 96% from Jan to Sep, the fastest</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growth of the three sites.</a:t>
            </a:r>
            <a:endParaRPr lang="en-US" sz="6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DFE"/>
        </a:solidFill>
      </p:bgPr>
    </p:bg>
    <p:spTree>
      <p:nvGrpSpPr>
        <p:cNvPr id="1" name=""/>
        <p:cNvGrpSpPr/>
        <p:nvPr/>
      </p:nvGrpSpPr>
      <p:grpSpPr>
        <a:xfrm>
          <a:off x="0" y="0"/>
          <a:ext cx="0" cy="0"/>
          <a:chOff x="0" y="0"/>
          <a:chExt cx="0" cy="0"/>
        </a:xfrm>
      </p:grpSpPr>
      <p:pic>
        <p:nvPicPr>
          <p:cNvPr id="2" name="Image 0" descr="Slide: Three major hosts account for 71% of service hour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1498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Customers &amp; hosts</a:t>
            </a:r>
            <a:endParaRPr lang="en-US" sz="720" dirty="0"/>
          </a:p>
        </p:txBody>
      </p:sp>
      <p:sp>
        <p:nvSpPr>
          <p:cNvPr id="4" name="Text 1"/>
          <p:cNvSpPr txBox="1"/>
          <p:nvPr/>
        </p:nvSpPr>
        <p:spPr>
          <a:xfrm>
            <a:off x="457200" y="1252728"/>
            <a:ext cx="6948354"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Three major hosts account for 71% of service hours.</a:t>
            </a:r>
            <a:endParaRPr lang="en-US" sz="2380" dirty="0"/>
          </a:p>
        </p:txBody>
      </p:sp>
      <p:sp>
        <p:nvSpPr>
          <p:cNvPr id="5" name="Text 2"/>
          <p:cNvSpPr txBox="1"/>
          <p:nvPr/>
        </p:nvSpPr>
        <p:spPr>
          <a:xfrm>
            <a:off x="621792" y="1929384"/>
            <a:ext cx="2076482"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Service hours by host and site, Jan–Sep</a:t>
            </a:r>
            <a:endParaRPr lang="en-US" sz="830" dirty="0"/>
          </a:p>
        </p:txBody>
      </p:sp>
      <p:sp>
        <p:nvSpPr>
          <p:cNvPr id="6" name="Text 3"/>
          <p:cNvSpPr txBox="1"/>
          <p:nvPr/>
        </p:nvSpPr>
        <p:spPr>
          <a:xfrm>
            <a:off x="4413266" y="1939957"/>
            <a:ext cx="32188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LCBTH</a:t>
            </a:r>
            <a:endParaRPr lang="en-US" sz="720" dirty="0"/>
          </a:p>
        </p:txBody>
      </p:sp>
      <p:sp>
        <p:nvSpPr>
          <p:cNvPr id="7" name="Text 4"/>
          <p:cNvSpPr txBox="1"/>
          <p:nvPr/>
        </p:nvSpPr>
        <p:spPr>
          <a:xfrm>
            <a:off x="4967335" y="1939957"/>
            <a:ext cx="35413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BANGN</a:t>
            </a:r>
            <a:endParaRPr lang="en-US" sz="720" dirty="0"/>
          </a:p>
        </p:txBody>
      </p:sp>
      <p:sp>
        <p:nvSpPr>
          <p:cNvPr id="8" name="Text 5"/>
          <p:cNvSpPr txBox="1"/>
          <p:nvPr/>
        </p:nvSpPr>
        <p:spPr>
          <a:xfrm>
            <a:off x="5551265" y="1939957"/>
            <a:ext cx="344717"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AMATA</a:t>
            </a:r>
            <a:endParaRPr lang="en-US" sz="720" dirty="0"/>
          </a:p>
        </p:txBody>
      </p:sp>
      <p:sp>
        <p:nvSpPr>
          <p:cNvPr id="9" name="Text 6"/>
          <p:cNvSpPr txBox="1"/>
          <p:nvPr/>
        </p:nvSpPr>
        <p:spPr>
          <a:xfrm>
            <a:off x="6428232" y="1892808"/>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1A62D6"/>
                </a:solidFill>
                <a:latin typeface="Arial" pitchFamily="34" charset="0"/>
                <a:ea typeface="Arial" pitchFamily="34" charset="-122"/>
                <a:cs typeface="Arial" pitchFamily="34" charset="-120"/>
              </a:rPr>
              <a:t>51%</a:t>
            </a:r>
            <a:endParaRPr lang="en-US" sz="2590" dirty="0"/>
          </a:p>
        </p:txBody>
      </p:sp>
      <p:sp>
        <p:nvSpPr>
          <p:cNvPr id="10" name="Text 7"/>
          <p:cNvSpPr txBox="1"/>
          <p:nvPr/>
        </p:nvSpPr>
        <p:spPr>
          <a:xfrm>
            <a:off x="6428232" y="2267712"/>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Ford MVIP activity: 138.4K h across the Ford and</a:t>
            </a:r>
            <a:endParaRPr lang="en-US" sz="720" dirty="0"/>
          </a:p>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Auto Alliance plants</a:t>
            </a:r>
            <a:endParaRPr lang="en-US" sz="720" dirty="0"/>
          </a:p>
        </p:txBody>
      </p:sp>
      <p:sp>
        <p:nvSpPr>
          <p:cNvPr id="11" name="Text 8"/>
          <p:cNvSpPr txBox="1"/>
          <p:nvPr/>
        </p:nvSpPr>
        <p:spPr>
          <a:xfrm>
            <a:off x="6428232" y="2843784"/>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1A62D6"/>
                </a:solidFill>
                <a:latin typeface="Arial" pitchFamily="34" charset="0"/>
                <a:ea typeface="Arial" pitchFamily="34" charset="-122"/>
                <a:cs typeface="Arial" pitchFamily="34" charset="-120"/>
              </a:rPr>
              <a:t>14</a:t>
            </a:r>
            <a:endParaRPr lang="en-US" sz="2590" dirty="0"/>
          </a:p>
        </p:txBody>
      </p:sp>
      <p:sp>
        <p:nvSpPr>
          <p:cNvPr id="12" name="Text 9"/>
          <p:cNvSpPr txBox="1"/>
          <p:nvPr/>
        </p:nvSpPr>
        <p:spPr>
          <a:xfrm>
            <a:off x="6428232" y="3218688"/>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Customers at MMTH Engine: largest host, 38.1K h;</a:t>
            </a:r>
            <a:endParaRPr lang="en-US" sz="720" dirty="0"/>
          </a:p>
          <a:p>
            <a:pPr algn="l" indent="0" marL="0">
              <a:lnSpc>
                <a:spcPts val="970"/>
              </a:lnSpc>
              <a:buNone/>
            </a:pPr>
            <a:r>
              <a:rPr lang="en-US" sz="720" dirty="0">
                <a:solidFill>
                  <a:srgbClr val="4D6585"/>
                </a:solidFill>
                <a:latin typeface="Arial" pitchFamily="34" charset="0"/>
                <a:ea typeface="Arial" pitchFamily="34" charset="-122"/>
                <a:cs typeface="Arial" pitchFamily="34" charset="-120"/>
              </a:rPr>
              <a:t>TMBP serves 11</a:t>
            </a:r>
            <a:endParaRPr lang="en-US" sz="720" dirty="0"/>
          </a:p>
        </p:txBody>
      </p:sp>
      <p:sp>
        <p:nvSpPr>
          <p:cNvPr id="13" name="Text 10"/>
          <p:cNvSpPr txBox="1"/>
          <p:nvPr/>
        </p:nvSpPr>
        <p:spPr>
          <a:xfrm>
            <a:off x="6428232" y="3794760"/>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9CCBFF"/>
                </a:solidFill>
                <a:latin typeface="Arial" pitchFamily="34" charset="0"/>
                <a:ea typeface="Arial" pitchFamily="34" charset="-122"/>
                <a:cs typeface="Arial" pitchFamily="34" charset="-120"/>
              </a:rPr>
              <a:t>4.5×</a:t>
            </a:r>
            <a:endParaRPr lang="en-US" sz="2590" dirty="0"/>
          </a:p>
        </p:txBody>
      </p:sp>
      <p:sp>
        <p:nvSpPr>
          <p:cNvPr id="14" name="Text 11"/>
          <p:cNvSpPr txBox="1"/>
          <p:nvPr/>
        </p:nvSpPr>
        <p:spPr>
          <a:xfrm>
            <a:off x="6428232" y="4169664"/>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9DB6D4"/>
                </a:solidFill>
                <a:latin typeface="Arial" pitchFamily="34" charset="0"/>
                <a:ea typeface="Arial" pitchFamily="34" charset="-122"/>
                <a:cs typeface="Arial" pitchFamily="34" charset="-120"/>
              </a:rPr>
              <a:t>Yusen Logistic growth: 331 h in Jan → 1,488 h in</a:t>
            </a:r>
            <a:endParaRPr lang="en-US" sz="720" dirty="0"/>
          </a:p>
          <a:p>
            <a:pPr algn="l" indent="0" marL="0">
              <a:lnSpc>
                <a:spcPts val="970"/>
              </a:lnSpc>
              <a:buNone/>
            </a:pPr>
            <a:r>
              <a:rPr lang="en-US" sz="720" dirty="0">
                <a:solidFill>
                  <a:srgbClr val="9DB6D4"/>
                </a:solidFill>
                <a:latin typeface="Arial" pitchFamily="34" charset="0"/>
                <a:ea typeface="Arial" pitchFamily="34" charset="-122"/>
                <a:cs typeface="Arial" pitchFamily="34" charset="-120"/>
              </a:rPr>
              <a:t>Sep</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DFE"/>
        </a:solidFill>
      </p:bgPr>
    </p:bg>
    <p:spTree>
      <p:nvGrpSpPr>
        <p:cNvPr id="1" name=""/>
        <p:cNvGrpSpPr/>
        <p:nvPr/>
      </p:nvGrpSpPr>
      <p:grpSpPr>
        <a:xfrm>
          <a:off x="0" y="0"/>
          <a:ext cx="0" cy="0"/>
          <a:chOff x="0" y="0"/>
          <a:chExt cx="0" cy="0"/>
        </a:xfrm>
      </p:grpSpPr>
      <p:pic>
        <p:nvPicPr>
          <p:cNvPr id="2" name="Image 0" descr="Slide: Cost reduction.">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435287"/>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746183"/>
            <a:ext cx="3357677" cy="538659"/>
          </a:xfrm>
          <a:prstGeom prst="rect">
            <a:avLst/>
          </a:prstGeom>
          <a:noFill/>
          <a:ln/>
        </p:spPr>
        <p:txBody>
          <a:bodyPr wrap="non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Cost reduction.</a:t>
            </a:r>
            <a:endParaRPr lang="en-US" sz="3170" dirty="0"/>
          </a:p>
        </p:txBody>
      </p:sp>
      <p:sp>
        <p:nvSpPr>
          <p:cNvPr id="5" name="Text 2"/>
          <p:cNvSpPr txBox="1"/>
          <p:nvPr/>
        </p:nvSpPr>
        <p:spPr>
          <a:xfrm>
            <a:off x="457200" y="4270248"/>
            <a:ext cx="3099816" cy="378562"/>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 new beverage supplier, and a 2026 drink mix that</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lowers the cost per unit.</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DFE"/>
        </a:solidFill>
      </p:bgPr>
    </p:bg>
    <p:spTree>
      <p:nvGrpSpPr>
        <p:cNvPr id="1" name=""/>
        <p:cNvGrpSpPr/>
        <p:nvPr/>
      </p:nvGrpSpPr>
      <p:grpSpPr>
        <a:xfrm>
          <a:off x="0" y="0"/>
          <a:ext cx="0" cy="0"/>
          <a:chOff x="0" y="0"/>
          <a:chExt cx="0" cy="0"/>
        </a:xfrm>
      </p:grpSpPr>
      <p:pic>
        <p:nvPicPr>
          <p:cNvPr id="2" name="Image 0" descr="Slide: Supplier change reduced unit cost by 30%.">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11423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02 · Beverage supplier</a:t>
            </a:r>
            <a:endParaRPr lang="en-US" sz="720" dirty="0"/>
          </a:p>
        </p:txBody>
      </p:sp>
      <p:sp>
        <p:nvSpPr>
          <p:cNvPr id="4" name="Text 1"/>
          <p:cNvSpPr txBox="1"/>
          <p:nvPr/>
        </p:nvSpPr>
        <p:spPr>
          <a:xfrm>
            <a:off x="457200" y="1252728"/>
            <a:ext cx="5816836"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Supplier change reduced unit cost by 30%.</a:t>
            </a:r>
            <a:endParaRPr lang="en-US" sz="2380" dirty="0"/>
          </a:p>
        </p:txBody>
      </p:sp>
      <p:sp>
        <p:nvSpPr>
          <p:cNvPr id="5" name="Text 2"/>
          <p:cNvSpPr txBox="1"/>
          <p:nvPr/>
        </p:nvSpPr>
        <p:spPr>
          <a:xfrm>
            <a:off x="457200" y="1636633"/>
            <a:ext cx="3946042"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Lower purchase cost, with the monthly operating trend kept in view.</a:t>
            </a:r>
            <a:endParaRPr lang="en-US" sz="940" dirty="0"/>
          </a:p>
        </p:txBody>
      </p:sp>
      <p:sp>
        <p:nvSpPr>
          <p:cNvPr id="6" name="Text 3"/>
          <p:cNvSpPr txBox="1"/>
          <p:nvPr/>
        </p:nvSpPr>
        <p:spPr>
          <a:xfrm>
            <a:off x="603504" y="2313432"/>
            <a:ext cx="2646639"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PREVIOUS SUPPLIER</a:t>
            </a:r>
            <a:endParaRPr lang="en-US" sz="650" dirty="0"/>
          </a:p>
        </p:txBody>
      </p:sp>
      <p:sp>
        <p:nvSpPr>
          <p:cNvPr id="7" name="Text 4"/>
          <p:cNvSpPr txBox="1"/>
          <p:nvPr/>
        </p:nvSpPr>
        <p:spPr>
          <a:xfrm>
            <a:off x="603504" y="2477453"/>
            <a:ext cx="2646639"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5F7691"/>
                </a:solidFill>
                <a:latin typeface="Arial" pitchFamily="34" charset="0"/>
                <a:ea typeface="Arial" pitchFamily="34" charset="-122"/>
                <a:cs typeface="Arial" pitchFamily="34" charset="-120"/>
              </a:rPr>
              <a:t>22.34 THB / unit</a:t>
            </a:r>
            <a:endParaRPr lang="en-US" sz="1580" dirty="0"/>
          </a:p>
        </p:txBody>
      </p:sp>
      <p:sp>
        <p:nvSpPr>
          <p:cNvPr id="8" name="Text 5"/>
          <p:cNvSpPr txBox="1"/>
          <p:nvPr/>
        </p:nvSpPr>
        <p:spPr>
          <a:xfrm>
            <a:off x="603504" y="2825782"/>
            <a:ext cx="2646639"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Monthly avg. 80,899.75 THB</a:t>
            </a:r>
            <a:endParaRPr lang="en-US" sz="720" dirty="0"/>
          </a:p>
        </p:txBody>
      </p:sp>
      <p:sp>
        <p:nvSpPr>
          <p:cNvPr id="9" name="Text 6"/>
          <p:cNvSpPr txBox="1"/>
          <p:nvPr/>
        </p:nvSpPr>
        <p:spPr>
          <a:xfrm>
            <a:off x="603504" y="3333274"/>
            <a:ext cx="2646639"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1A62D6"/>
                </a:solidFill>
                <a:latin typeface="Arial" pitchFamily="34" charset="0"/>
                <a:ea typeface="Arial" pitchFamily="34" charset="-122"/>
                <a:cs typeface="Arial" pitchFamily="34" charset="-120"/>
              </a:rPr>
              <a:t>CURRENT SUPPLIER</a:t>
            </a:r>
            <a:endParaRPr lang="en-US" sz="650" dirty="0"/>
          </a:p>
        </p:txBody>
      </p:sp>
      <p:sp>
        <p:nvSpPr>
          <p:cNvPr id="10" name="Text 7"/>
          <p:cNvSpPr txBox="1"/>
          <p:nvPr/>
        </p:nvSpPr>
        <p:spPr>
          <a:xfrm>
            <a:off x="603504" y="3497294"/>
            <a:ext cx="2646639"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1A62D6"/>
                </a:solidFill>
                <a:latin typeface="Arial" pitchFamily="34" charset="0"/>
                <a:ea typeface="Arial" pitchFamily="34" charset="-122"/>
                <a:cs typeface="Arial" pitchFamily="34" charset="-120"/>
              </a:rPr>
              <a:t>15.68 THB / unit</a:t>
            </a:r>
            <a:endParaRPr lang="en-US" sz="1580" dirty="0"/>
          </a:p>
        </p:txBody>
      </p:sp>
      <p:sp>
        <p:nvSpPr>
          <p:cNvPr id="11" name="Text 8"/>
          <p:cNvSpPr txBox="1"/>
          <p:nvPr/>
        </p:nvSpPr>
        <p:spPr>
          <a:xfrm>
            <a:off x="603504" y="3845624"/>
            <a:ext cx="2646639"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Monthly avg. 64,983.03 THB</a:t>
            </a:r>
            <a:endParaRPr lang="en-US" sz="720" dirty="0"/>
          </a:p>
        </p:txBody>
      </p:sp>
      <p:sp>
        <p:nvSpPr>
          <p:cNvPr id="12" name="Text 9"/>
          <p:cNvSpPr txBox="1"/>
          <p:nvPr/>
        </p:nvSpPr>
        <p:spPr>
          <a:xfrm>
            <a:off x="3685032" y="2340864"/>
            <a:ext cx="1262832"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Total cost and cost / HC</a:t>
            </a:r>
            <a:endParaRPr lang="en-US" sz="830" dirty="0"/>
          </a:p>
        </p:txBody>
      </p:sp>
      <p:sp>
        <p:nvSpPr>
          <p:cNvPr id="13" name="Text 10"/>
          <p:cNvSpPr txBox="1"/>
          <p:nvPr/>
        </p:nvSpPr>
        <p:spPr>
          <a:xfrm>
            <a:off x="5962460" y="2351437"/>
            <a:ext cx="776463"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Previous supplier</a:t>
            </a:r>
            <a:endParaRPr lang="en-US" sz="720" dirty="0"/>
          </a:p>
        </p:txBody>
      </p:sp>
      <p:sp>
        <p:nvSpPr>
          <p:cNvPr id="14" name="Text 11"/>
          <p:cNvSpPr txBox="1"/>
          <p:nvPr/>
        </p:nvSpPr>
        <p:spPr>
          <a:xfrm>
            <a:off x="6937439" y="2351437"/>
            <a:ext cx="738195"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Current supplier</a:t>
            </a:r>
            <a:endParaRPr lang="en-US" sz="720" dirty="0"/>
          </a:p>
        </p:txBody>
      </p:sp>
      <p:sp>
        <p:nvSpPr>
          <p:cNvPr id="15" name="Text 12"/>
          <p:cNvSpPr txBox="1"/>
          <p:nvPr/>
        </p:nvSpPr>
        <p:spPr>
          <a:xfrm>
            <a:off x="7876985" y="2351437"/>
            <a:ext cx="69684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Cost / HC, right</a:t>
            </a:r>
            <a:endParaRPr lang="en-US" sz="720" dirty="0"/>
          </a:p>
        </p:txBody>
      </p:sp>
      <p:sp>
        <p:nvSpPr>
          <p:cNvPr id="16" name="Text 13"/>
          <p:cNvSpPr txBox="1"/>
          <p:nvPr/>
        </p:nvSpPr>
        <p:spPr>
          <a:xfrm>
            <a:off x="3685032" y="4515993"/>
            <a:ext cx="5224150" cy="165712"/>
          </a:xfrm>
          <a:prstGeom prst="rect">
            <a:avLst/>
          </a:prstGeom>
          <a:noFill/>
          <a:ln/>
        </p:spPr>
        <p:txBody>
          <a:bodyPr wrap="none" lIns="0" tIns="0" rIns="0" bIns="0" rtlCol="0" anchor="t"/>
          <a:lstStyle/>
          <a:p>
            <a:pPr algn="l" indent="0" marL="0">
              <a:lnSpc>
                <a:spcPts val="1000"/>
              </a:lnSpc>
              <a:buNone/>
            </a:pPr>
            <a:r>
              <a:rPr lang="en-US" sz="650" dirty="0">
                <a:solidFill>
                  <a:srgbClr val="5F7691"/>
                </a:solidFill>
                <a:latin typeface="Arial" pitchFamily="34" charset="0"/>
                <a:ea typeface="Arial" pitchFamily="34" charset="-122"/>
                <a:cs typeface="Arial" pitchFamily="34" charset="-120"/>
              </a:rPr>
              <a:t>Monthly sequence as supplied · Supplier change from Aug onward</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DFE"/>
        </a:solidFill>
      </p:bgPr>
    </p:bg>
    <p:spTree>
      <p:nvGrpSpPr>
        <p:cNvPr id="1" name=""/>
        <p:cNvGrpSpPr/>
        <p:nvPr/>
      </p:nvGrpSpPr>
      <p:grpSpPr>
        <a:xfrm>
          <a:off x="0" y="0"/>
          <a:ext cx="0" cy="0"/>
          <a:chOff x="0" y="0"/>
          <a:chExt cx="0" cy="0"/>
        </a:xfrm>
      </p:grpSpPr>
      <p:pic>
        <p:nvPicPr>
          <p:cNvPr id="2" name="Image 0" descr="Slide: 2026 drink mix targets 47.5% lower unit cos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728628"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02 · Drink mix</a:t>
            </a:r>
            <a:endParaRPr lang="en-US" sz="720" dirty="0"/>
          </a:p>
        </p:txBody>
      </p:sp>
      <p:sp>
        <p:nvSpPr>
          <p:cNvPr id="4" name="Text 1"/>
          <p:cNvSpPr txBox="1"/>
          <p:nvPr/>
        </p:nvSpPr>
        <p:spPr>
          <a:xfrm>
            <a:off x="457200" y="1252728"/>
            <a:ext cx="6017123"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2026 drink mix targets 47.5% lower unit cost.</a:t>
            </a:r>
            <a:endParaRPr lang="en-US" sz="2380" dirty="0"/>
          </a:p>
        </p:txBody>
      </p:sp>
      <p:sp>
        <p:nvSpPr>
          <p:cNvPr id="5" name="Text 2"/>
          <p:cNvSpPr txBox="1"/>
          <p:nvPr/>
        </p:nvSpPr>
        <p:spPr>
          <a:xfrm>
            <a:off x="457200" y="1636633"/>
            <a:ext cx="3886480"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Redistribute the beverage mix and introduce herbal drinks and tea.</a:t>
            </a:r>
            <a:endParaRPr lang="en-US" sz="940" dirty="0"/>
          </a:p>
        </p:txBody>
      </p:sp>
      <p:sp>
        <p:nvSpPr>
          <p:cNvPr id="6" name="Text 3"/>
          <p:cNvSpPr txBox="1"/>
          <p:nvPr/>
        </p:nvSpPr>
        <p:spPr>
          <a:xfrm>
            <a:off x="621792" y="2372868"/>
            <a:ext cx="1481328"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BEVERAGE ALLOCATION</a:t>
            </a:r>
            <a:endParaRPr lang="en-US" sz="650" dirty="0"/>
          </a:p>
        </p:txBody>
      </p:sp>
      <p:sp>
        <p:nvSpPr>
          <p:cNvPr id="7" name="Text 4"/>
          <p:cNvSpPr txBox="1"/>
          <p:nvPr/>
        </p:nvSpPr>
        <p:spPr>
          <a:xfrm>
            <a:off x="2139696" y="2372868"/>
            <a:ext cx="168871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Y2025</a:t>
            </a:r>
            <a:endParaRPr lang="en-US" sz="650" dirty="0"/>
          </a:p>
        </p:txBody>
      </p:sp>
      <p:sp>
        <p:nvSpPr>
          <p:cNvPr id="8" name="Text 5"/>
          <p:cNvSpPr txBox="1"/>
          <p:nvPr/>
        </p:nvSpPr>
        <p:spPr>
          <a:xfrm>
            <a:off x="3849624" y="2372868"/>
            <a:ext cx="168871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Y2026</a:t>
            </a:r>
            <a:endParaRPr lang="en-US" sz="650" dirty="0"/>
          </a:p>
        </p:txBody>
      </p:sp>
      <p:sp>
        <p:nvSpPr>
          <p:cNvPr id="9" name="Text 6"/>
          <p:cNvSpPr txBox="1"/>
          <p:nvPr/>
        </p:nvSpPr>
        <p:spPr>
          <a:xfrm>
            <a:off x="621792" y="2628329"/>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Electrolyte drink</a:t>
            </a:r>
            <a:endParaRPr lang="en-US" sz="790" dirty="0"/>
          </a:p>
        </p:txBody>
      </p:sp>
      <p:sp>
        <p:nvSpPr>
          <p:cNvPr id="10" name="Text 7"/>
          <p:cNvSpPr txBox="1"/>
          <p:nvPr/>
        </p:nvSpPr>
        <p:spPr>
          <a:xfrm>
            <a:off x="3537585" y="2631900"/>
            <a:ext cx="178994"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21%</a:t>
            </a:r>
            <a:endParaRPr lang="en-US" sz="760" dirty="0"/>
          </a:p>
        </p:txBody>
      </p:sp>
      <p:sp>
        <p:nvSpPr>
          <p:cNvPr id="11" name="Text 8"/>
          <p:cNvSpPr txBox="1"/>
          <p:nvPr/>
        </p:nvSpPr>
        <p:spPr>
          <a:xfrm>
            <a:off x="5218224" y="2631900"/>
            <a:ext cx="210626"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50%</a:t>
            </a:r>
            <a:endParaRPr lang="en-US" sz="760" dirty="0"/>
          </a:p>
        </p:txBody>
      </p:sp>
      <p:sp>
        <p:nvSpPr>
          <p:cNvPr id="12" name="Text 9"/>
          <p:cNvSpPr txBox="1"/>
          <p:nvPr/>
        </p:nvSpPr>
        <p:spPr>
          <a:xfrm>
            <a:off x="621792" y="2912221"/>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Soft drink</a:t>
            </a:r>
            <a:endParaRPr lang="en-US" sz="790" dirty="0"/>
          </a:p>
        </p:txBody>
      </p:sp>
      <p:sp>
        <p:nvSpPr>
          <p:cNvPr id="13" name="Text 10"/>
          <p:cNvSpPr txBox="1"/>
          <p:nvPr/>
        </p:nvSpPr>
        <p:spPr>
          <a:xfrm>
            <a:off x="3517583" y="2915793"/>
            <a:ext cx="200597"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53%</a:t>
            </a:r>
            <a:endParaRPr lang="en-US" sz="760" dirty="0"/>
          </a:p>
        </p:txBody>
      </p:sp>
      <p:sp>
        <p:nvSpPr>
          <p:cNvPr id="14" name="Text 11"/>
          <p:cNvSpPr txBox="1"/>
          <p:nvPr/>
        </p:nvSpPr>
        <p:spPr>
          <a:xfrm>
            <a:off x="5245227" y="2915793"/>
            <a:ext cx="181463"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14%</a:t>
            </a:r>
            <a:endParaRPr lang="en-US" sz="760" dirty="0"/>
          </a:p>
        </p:txBody>
      </p:sp>
      <p:sp>
        <p:nvSpPr>
          <p:cNvPr id="15" name="Text 12"/>
          <p:cNvSpPr txBox="1"/>
          <p:nvPr/>
        </p:nvSpPr>
        <p:spPr>
          <a:xfrm>
            <a:off x="621792" y="3196114"/>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Energy drink</a:t>
            </a:r>
            <a:endParaRPr lang="en-US" sz="790" dirty="0"/>
          </a:p>
        </p:txBody>
      </p:sp>
      <p:sp>
        <p:nvSpPr>
          <p:cNvPr id="16" name="Text 13"/>
          <p:cNvSpPr txBox="1"/>
          <p:nvPr/>
        </p:nvSpPr>
        <p:spPr>
          <a:xfrm>
            <a:off x="3537585" y="3199686"/>
            <a:ext cx="178994"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21%</a:t>
            </a:r>
            <a:endParaRPr lang="en-US" sz="760" dirty="0"/>
          </a:p>
        </p:txBody>
      </p:sp>
      <p:sp>
        <p:nvSpPr>
          <p:cNvPr id="17" name="Text 14"/>
          <p:cNvSpPr txBox="1"/>
          <p:nvPr/>
        </p:nvSpPr>
        <p:spPr>
          <a:xfrm>
            <a:off x="5248513" y="3199686"/>
            <a:ext cx="177914"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15%</a:t>
            </a:r>
            <a:endParaRPr lang="en-US" sz="760" dirty="0"/>
          </a:p>
        </p:txBody>
      </p:sp>
      <p:sp>
        <p:nvSpPr>
          <p:cNvPr id="18" name="Text 15"/>
          <p:cNvSpPr txBox="1"/>
          <p:nvPr/>
        </p:nvSpPr>
        <p:spPr>
          <a:xfrm>
            <a:off x="621792" y="3480006"/>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Ready to drink coffee</a:t>
            </a:r>
            <a:endParaRPr lang="en-US" sz="790" dirty="0"/>
          </a:p>
        </p:txBody>
      </p:sp>
      <p:sp>
        <p:nvSpPr>
          <p:cNvPr id="19" name="Text 16"/>
          <p:cNvSpPr txBox="1"/>
          <p:nvPr/>
        </p:nvSpPr>
        <p:spPr>
          <a:xfrm>
            <a:off x="3571875" y="3483578"/>
            <a:ext cx="141961"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8%</a:t>
            </a:r>
            <a:endParaRPr lang="en-US" sz="760" dirty="0"/>
          </a:p>
        </p:txBody>
      </p:sp>
      <p:sp>
        <p:nvSpPr>
          <p:cNvPr id="20" name="Text 17"/>
          <p:cNvSpPr txBox="1"/>
          <p:nvPr/>
        </p:nvSpPr>
        <p:spPr>
          <a:xfrm>
            <a:off x="5284518" y="3483578"/>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1" name="Text 18"/>
          <p:cNvSpPr txBox="1"/>
          <p:nvPr/>
        </p:nvSpPr>
        <p:spPr>
          <a:xfrm>
            <a:off x="621792" y="3763899"/>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Herbal drink</a:t>
            </a:r>
            <a:pPr algn="l" indent="0" marL="0">
              <a:lnSpc>
                <a:spcPts val="1230"/>
              </a:lnSpc>
              <a:buNone/>
            </a:pPr>
            <a:r>
              <a:rPr lang="en-US" sz="790" b="1" dirty="0">
                <a:solidFill>
                  <a:srgbClr val="0B4FBF"/>
                </a:solidFill>
                <a:latin typeface="Arial" pitchFamily="34" charset="0"/>
                <a:ea typeface="Arial" pitchFamily="34" charset="-122"/>
                <a:cs typeface="Arial" pitchFamily="34" charset="-120"/>
              </a:rPr>
              <a:t> New</a:t>
            </a:r>
            <a:endParaRPr lang="en-US" sz="790" dirty="0"/>
          </a:p>
        </p:txBody>
      </p:sp>
      <p:sp>
        <p:nvSpPr>
          <p:cNvPr id="22" name="Text 19"/>
          <p:cNvSpPr txBox="1"/>
          <p:nvPr/>
        </p:nvSpPr>
        <p:spPr>
          <a:xfrm>
            <a:off x="3654600" y="3767471"/>
            <a:ext cx="52618"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a:t>
            </a:r>
            <a:endParaRPr lang="en-US" sz="760" dirty="0"/>
          </a:p>
        </p:txBody>
      </p:sp>
      <p:sp>
        <p:nvSpPr>
          <p:cNvPr id="23" name="Text 20"/>
          <p:cNvSpPr txBox="1"/>
          <p:nvPr/>
        </p:nvSpPr>
        <p:spPr>
          <a:xfrm>
            <a:off x="5284518" y="3767471"/>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4" name="Text 21"/>
          <p:cNvSpPr txBox="1"/>
          <p:nvPr/>
        </p:nvSpPr>
        <p:spPr>
          <a:xfrm>
            <a:off x="621792" y="4047792"/>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Tea</a:t>
            </a:r>
            <a:pPr algn="l" indent="0" marL="0">
              <a:lnSpc>
                <a:spcPts val="1230"/>
              </a:lnSpc>
              <a:buNone/>
            </a:pPr>
            <a:r>
              <a:rPr lang="en-US" sz="790" b="1" dirty="0">
                <a:solidFill>
                  <a:srgbClr val="0B4FBF"/>
                </a:solidFill>
                <a:latin typeface="Arial" pitchFamily="34" charset="0"/>
                <a:ea typeface="Arial" pitchFamily="34" charset="-122"/>
                <a:cs typeface="Arial" pitchFamily="34" charset="-120"/>
              </a:rPr>
              <a:t> New</a:t>
            </a:r>
            <a:endParaRPr lang="en-US" sz="790" dirty="0"/>
          </a:p>
        </p:txBody>
      </p:sp>
      <p:sp>
        <p:nvSpPr>
          <p:cNvPr id="25" name="Text 22"/>
          <p:cNvSpPr txBox="1"/>
          <p:nvPr/>
        </p:nvSpPr>
        <p:spPr>
          <a:xfrm>
            <a:off x="3654600" y="4051364"/>
            <a:ext cx="52618"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a:t>
            </a:r>
            <a:endParaRPr lang="en-US" sz="760" dirty="0"/>
          </a:p>
        </p:txBody>
      </p:sp>
      <p:sp>
        <p:nvSpPr>
          <p:cNvPr id="26" name="Text 23"/>
          <p:cNvSpPr txBox="1"/>
          <p:nvPr/>
        </p:nvSpPr>
        <p:spPr>
          <a:xfrm>
            <a:off x="5284518" y="4051364"/>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7" name="Text 24"/>
          <p:cNvSpPr txBox="1"/>
          <p:nvPr/>
        </p:nvSpPr>
        <p:spPr>
          <a:xfrm>
            <a:off x="6016752" y="2340864"/>
            <a:ext cx="2705892"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EXPECTED COST / UNIT</a:t>
            </a:r>
            <a:endParaRPr lang="en-US" sz="650" dirty="0"/>
          </a:p>
        </p:txBody>
      </p:sp>
      <p:sp>
        <p:nvSpPr>
          <p:cNvPr id="28" name="Text 25"/>
          <p:cNvSpPr txBox="1"/>
          <p:nvPr/>
        </p:nvSpPr>
        <p:spPr>
          <a:xfrm>
            <a:off x="6016752" y="2578037"/>
            <a:ext cx="2705892" cy="546811"/>
          </a:xfrm>
          <a:prstGeom prst="rect">
            <a:avLst/>
          </a:prstGeom>
          <a:noFill/>
          <a:ln/>
        </p:spPr>
        <p:txBody>
          <a:bodyPr wrap="none" lIns="0" tIns="0" rIns="0" bIns="0" rtlCol="0" anchor="t"/>
          <a:lstStyle/>
          <a:p>
            <a:pPr algn="l" indent="0" marL="0">
              <a:lnSpc>
                <a:spcPts val="3310"/>
              </a:lnSpc>
              <a:buNone/>
            </a:pPr>
            <a:r>
              <a:rPr lang="en-US" sz="3310" b="1" spc="-166" kern="0" dirty="0">
                <a:solidFill>
                  <a:srgbClr val="071A33"/>
                </a:solidFill>
                <a:latin typeface="Arial" pitchFamily="34" charset="0"/>
                <a:ea typeface="Arial" pitchFamily="34" charset="-122"/>
                <a:cs typeface="Arial" pitchFamily="34" charset="-120"/>
              </a:rPr>
              <a:t>11.73</a:t>
            </a:r>
            <a:endParaRPr lang="en-US" sz="3310" dirty="0"/>
          </a:p>
        </p:txBody>
      </p:sp>
      <p:sp>
        <p:nvSpPr>
          <p:cNvPr id="29" name="Text 26"/>
          <p:cNvSpPr txBox="1"/>
          <p:nvPr/>
        </p:nvSpPr>
        <p:spPr>
          <a:xfrm>
            <a:off x="6016752" y="3026093"/>
            <a:ext cx="2705892" cy="202648"/>
          </a:xfrm>
          <a:prstGeom prst="rect">
            <a:avLst/>
          </a:prstGeom>
          <a:noFill/>
          <a:ln/>
        </p:spPr>
        <p:txBody>
          <a:bodyPr wrap="none" lIns="0" tIns="0" rIns="0" bIns="0" rtlCol="0" anchor="t"/>
          <a:lstStyle/>
          <a:p>
            <a:pPr algn="l" indent="0" marL="0">
              <a:lnSpc>
                <a:spcPts val="1230"/>
              </a:lnSpc>
              <a:buNone/>
            </a:pPr>
            <a:r>
              <a:rPr lang="en-US" sz="790" dirty="0">
                <a:solidFill>
                  <a:srgbClr val="4D6585"/>
                </a:solidFill>
                <a:latin typeface="Arial" pitchFamily="34" charset="0"/>
                <a:ea typeface="Arial" pitchFamily="34" charset="-122"/>
                <a:cs typeface="Arial" pitchFamily="34" charset="-120"/>
              </a:rPr>
              <a:t>THB / unit</a:t>
            </a:r>
            <a:endParaRPr lang="en-US" sz="790" dirty="0"/>
          </a:p>
        </p:txBody>
      </p:sp>
      <p:sp>
        <p:nvSpPr>
          <p:cNvPr id="30" name="Text 27"/>
          <p:cNvSpPr txBox="1"/>
          <p:nvPr/>
        </p:nvSpPr>
        <p:spPr>
          <a:xfrm>
            <a:off x="6016752" y="3401425"/>
            <a:ext cx="691286" cy="442090"/>
          </a:xfrm>
          <a:prstGeom prst="rect">
            <a:avLst/>
          </a:prstGeom>
          <a:noFill/>
          <a:ln/>
        </p:spPr>
        <p:txBody>
          <a:bodyPr wrap="none" lIns="0" tIns="0" rIns="0" bIns="0" rtlCol="0" anchor="t"/>
          <a:lstStyle/>
          <a:p>
            <a:pPr algn="l" indent="0" marL="0">
              <a:lnSpc>
                <a:spcPts val="2680"/>
              </a:lnSpc>
              <a:buNone/>
            </a:pPr>
            <a:r>
              <a:rPr lang="en-US" sz="1730" b="1" spc="-69" kern="0" dirty="0">
                <a:solidFill>
                  <a:srgbClr val="1A62D6"/>
                </a:solidFill>
                <a:latin typeface="Arial" pitchFamily="34" charset="0"/>
                <a:ea typeface="Arial" pitchFamily="34" charset="-122"/>
                <a:cs typeface="Arial" pitchFamily="34" charset="-120"/>
              </a:rPr>
              <a:t>10.61</a:t>
            </a:r>
            <a:endParaRPr lang="en-US" sz="1730" dirty="0"/>
          </a:p>
        </p:txBody>
      </p:sp>
      <p:sp>
        <p:nvSpPr>
          <p:cNvPr id="31" name="Text 28"/>
          <p:cNvSpPr txBox="1"/>
          <p:nvPr/>
        </p:nvSpPr>
        <p:spPr>
          <a:xfrm>
            <a:off x="6748272" y="3500580"/>
            <a:ext cx="191585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THB saved per unit</a:t>
            </a:r>
            <a:endParaRPr lang="en-US" sz="720" dirty="0"/>
          </a:p>
        </p:txBody>
      </p:sp>
      <p:sp>
        <p:nvSpPr>
          <p:cNvPr id="32" name="Text 29"/>
          <p:cNvSpPr txBox="1"/>
          <p:nvPr/>
        </p:nvSpPr>
        <p:spPr>
          <a:xfrm>
            <a:off x="6016752" y="3960924"/>
            <a:ext cx="691286" cy="442090"/>
          </a:xfrm>
          <a:prstGeom prst="rect">
            <a:avLst/>
          </a:prstGeom>
          <a:noFill/>
          <a:ln/>
        </p:spPr>
        <p:txBody>
          <a:bodyPr wrap="none" lIns="0" tIns="0" rIns="0" bIns="0" rtlCol="0" anchor="t"/>
          <a:lstStyle/>
          <a:p>
            <a:pPr algn="l" indent="0" marL="0">
              <a:lnSpc>
                <a:spcPts val="2680"/>
              </a:lnSpc>
              <a:buNone/>
            </a:pPr>
            <a:r>
              <a:rPr lang="en-US" sz="1730" b="1" spc="-69" kern="0" dirty="0">
                <a:solidFill>
                  <a:srgbClr val="1A62D6"/>
                </a:solidFill>
                <a:latin typeface="Arial" pitchFamily="34" charset="0"/>
                <a:ea typeface="Arial" pitchFamily="34" charset="-122"/>
                <a:cs typeface="Arial" pitchFamily="34" charset="-120"/>
              </a:rPr>
              <a:t>47.5%</a:t>
            </a:r>
            <a:endParaRPr lang="en-US" sz="1730" dirty="0"/>
          </a:p>
        </p:txBody>
      </p:sp>
      <p:sp>
        <p:nvSpPr>
          <p:cNvPr id="33" name="Text 30"/>
          <p:cNvSpPr txBox="1"/>
          <p:nvPr/>
        </p:nvSpPr>
        <p:spPr>
          <a:xfrm>
            <a:off x="6748272" y="4060079"/>
            <a:ext cx="191585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below 2025</a:t>
            </a:r>
            <a:endParaRPr lang="en-US" sz="720" dirty="0"/>
          </a:p>
        </p:txBody>
      </p:sp>
      <p:sp>
        <p:nvSpPr>
          <p:cNvPr id="34" name="Text 31"/>
          <p:cNvSpPr txBox="1"/>
          <p:nvPr/>
        </p:nvSpPr>
        <p:spPr>
          <a:xfrm>
            <a:off x="457200" y="4681728"/>
            <a:ext cx="8887968"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check required: 2025 electrolyte allocation is 21% in the table but 18% in the source pie. 2025 table totals 103%; all supplied allocations are retained pending confirmation.</a:t>
            </a:r>
            <a:endParaRPr lang="en-US" sz="61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DFE"/>
        </a:solidFill>
      </p:bgPr>
    </p:bg>
    <p:spTree>
      <p:nvGrpSpPr>
        <p:cNvPr id="1" name=""/>
        <p:cNvGrpSpPr/>
        <p:nvPr/>
      </p:nvGrpSpPr>
      <p:grpSpPr>
        <a:xfrm>
          <a:off x="0" y="0"/>
          <a:ext cx="0" cy="0"/>
          <a:chOff x="0" y="0"/>
          <a:chExt cx="0" cy="0"/>
        </a:xfrm>
      </p:grpSpPr>
      <p:pic>
        <p:nvPicPr>
          <p:cNvPr id="2" name="Image 0" descr="Slide: Operation excellenc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020949"/>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331845"/>
            <a:ext cx="3513125" cy="952997"/>
          </a:xfrm>
          <a:prstGeom prst="rect">
            <a:avLst/>
          </a:prstGeom>
          <a:noFill/>
          <a:ln/>
        </p:spPr>
        <p:txBody>
          <a:bodyPr wrap="squar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Operation</a:t>
            </a:r>
            <a:endParaRPr lang="en-US" sz="3170" dirty="0"/>
          </a:p>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excellence.</a:t>
            </a:r>
            <a:endParaRPr lang="en-US" sz="3170" dirty="0"/>
          </a:p>
        </p:txBody>
      </p:sp>
      <p:sp>
        <p:nvSpPr>
          <p:cNvPr id="5" name="Text 2"/>
          <p:cNvSpPr txBox="1"/>
          <p:nvPr/>
        </p:nvSpPr>
        <p:spPr>
          <a:xfrm>
            <a:off x="457200" y="4270248"/>
            <a:ext cx="3099816" cy="378562"/>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Handheld OCR, a hybrid online and offline workflow,</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and four poka-yoke controls.</a:t>
            </a:r>
            <a:endParaRPr lang="en-US"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DFE"/>
        </a:solidFill>
      </p:bgPr>
    </p:bg>
    <p:spTree>
      <p:nvGrpSpPr>
        <p:cNvPr id="1" name=""/>
        <p:cNvGrpSpPr/>
        <p:nvPr/>
      </p:nvGrpSpPr>
      <p:grpSpPr>
        <a:xfrm>
          <a:off x="0" y="0"/>
          <a:ext cx="0" cy="0"/>
          <a:chOff x="0" y="0"/>
          <a:chExt cx="0" cy="0"/>
        </a:xfrm>
      </p:grpSpPr>
      <p:pic>
        <p:nvPicPr>
          <p:cNvPr id="2" name="Image 0" descr="Slide: Handheld OCR replaces manual serial-number recordi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973819"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Handheld OCR</a:t>
            </a:r>
            <a:endParaRPr lang="en-US" sz="720" dirty="0"/>
          </a:p>
        </p:txBody>
      </p:sp>
      <p:sp>
        <p:nvSpPr>
          <p:cNvPr id="4" name="Text 1"/>
          <p:cNvSpPr txBox="1"/>
          <p:nvPr/>
        </p:nvSpPr>
        <p:spPr>
          <a:xfrm>
            <a:off x="457200" y="1252728"/>
            <a:ext cx="5992978" cy="714748"/>
          </a:xfrm>
          <a:prstGeom prst="rect">
            <a:avLst/>
          </a:prstGeom>
          <a:noFill/>
          <a:ln/>
        </p:spPr>
        <p:txBody>
          <a:bodyPr wrap="squar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Handheld OCR replaces manual</a:t>
            </a:r>
            <a:endParaRPr lang="en-US" sz="2380" dirty="0"/>
          </a:p>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serial-number recording.</a:t>
            </a:r>
            <a:endParaRPr lang="en-US" sz="2380" dirty="0"/>
          </a:p>
        </p:txBody>
      </p:sp>
      <p:sp>
        <p:nvSpPr>
          <p:cNvPr id="5" name="Text 2"/>
          <p:cNvSpPr txBox="1"/>
          <p:nvPr/>
        </p:nvSpPr>
        <p:spPr>
          <a:xfrm>
            <a:off x="457200" y="1947386"/>
            <a:ext cx="5382621" cy="222885"/>
          </a:xfrm>
          <a:prstGeom prst="rect">
            <a:avLst/>
          </a:prstGeom>
          <a:noFill/>
          <a:ln/>
        </p:spPr>
        <p:txBody>
          <a:bodyPr wrap="none" lIns="0" tIns="0" rIns="0" bIns="0" rtlCol="0" anchor="t"/>
          <a:lstStyle/>
          <a:p>
            <a:pPr algn="l" indent="0" marL="0">
              <a:lnSpc>
                <a:spcPts val="1350"/>
              </a:lnSpc>
              <a:buNone/>
            </a:pPr>
            <a:r>
              <a:rPr lang="en-US" sz="900" dirty="0">
                <a:solidFill>
                  <a:srgbClr val="4D6585"/>
                </a:solidFill>
                <a:latin typeface="Arial" pitchFamily="34" charset="0"/>
                <a:ea typeface="Arial" pitchFamily="34" charset="-122"/>
                <a:cs typeface="Arial" pitchFamily="34" charset="-120"/>
              </a:rPr>
              <a:t>Read part serials with handheld OCR and automatically record inspection data in Google Sheets.</a:t>
            </a:r>
            <a:endParaRPr lang="en-US" sz="900" dirty="0"/>
          </a:p>
        </p:txBody>
      </p:sp>
      <p:sp>
        <p:nvSpPr>
          <p:cNvPr id="6" name="Text 3"/>
          <p:cNvSpPr txBox="1"/>
          <p:nvPr/>
        </p:nvSpPr>
        <p:spPr>
          <a:xfrm>
            <a:off x="457200" y="2670048"/>
            <a:ext cx="1235674"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5F7691"/>
                </a:solidFill>
                <a:latin typeface="Arial" pitchFamily="34" charset="0"/>
                <a:ea typeface="Arial" pitchFamily="34" charset="-122"/>
                <a:cs typeface="Arial" pitchFamily="34" charset="-120"/>
              </a:rPr>
              <a:t>8–10 sec</a:t>
            </a:r>
            <a:endParaRPr lang="en-US" sz="2450" dirty="0"/>
          </a:p>
        </p:txBody>
      </p:sp>
      <p:sp>
        <p:nvSpPr>
          <p:cNvPr id="7" name="Text 4"/>
          <p:cNvSpPr txBox="1"/>
          <p:nvPr/>
        </p:nvSpPr>
        <p:spPr>
          <a:xfrm>
            <a:off x="457200" y="3026664"/>
            <a:ext cx="123567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MANUAL</a:t>
            </a:r>
            <a:endParaRPr lang="en-US" sz="650" dirty="0"/>
          </a:p>
        </p:txBody>
      </p:sp>
      <p:sp>
        <p:nvSpPr>
          <p:cNvPr id="8" name="Text 5"/>
          <p:cNvSpPr txBox="1"/>
          <p:nvPr/>
        </p:nvSpPr>
        <p:spPr>
          <a:xfrm>
            <a:off x="2277999" y="2670048"/>
            <a:ext cx="1044182"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1A62D6"/>
                </a:solidFill>
                <a:latin typeface="Arial" pitchFamily="34" charset="0"/>
                <a:ea typeface="Arial" pitchFamily="34" charset="-122"/>
                <a:cs typeface="Arial" pitchFamily="34" charset="-120"/>
              </a:rPr>
              <a:t>1 sec</a:t>
            </a:r>
            <a:endParaRPr lang="en-US" sz="2450" dirty="0"/>
          </a:p>
        </p:txBody>
      </p:sp>
      <p:sp>
        <p:nvSpPr>
          <p:cNvPr id="9" name="Text 6"/>
          <p:cNvSpPr txBox="1"/>
          <p:nvPr/>
        </p:nvSpPr>
        <p:spPr>
          <a:xfrm>
            <a:off x="2277999" y="3026664"/>
            <a:ext cx="1044182"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OCR + AUTO RECORD</a:t>
            </a:r>
            <a:endParaRPr lang="en-US" sz="650" dirty="0"/>
          </a:p>
        </p:txBody>
      </p:sp>
      <p:sp>
        <p:nvSpPr>
          <p:cNvPr id="10" name="Text 7"/>
          <p:cNvSpPr txBox="1"/>
          <p:nvPr/>
        </p:nvSpPr>
        <p:spPr>
          <a:xfrm>
            <a:off x="3665458" y="2688336"/>
            <a:ext cx="844820" cy="356616"/>
          </a:xfrm>
          <a:prstGeom prst="rect">
            <a:avLst/>
          </a:prstGeom>
          <a:noFill/>
          <a:ln/>
        </p:spPr>
        <p:txBody>
          <a:bodyPr wrap="none" lIns="0" tIns="0" rIns="0" bIns="0" rtlCol="0" anchor="t"/>
          <a:lstStyle/>
          <a:p>
            <a:pPr algn="l" indent="0" marL="0">
              <a:lnSpc>
                <a:spcPts val="2160"/>
              </a:lnSpc>
              <a:buNone/>
            </a:pPr>
            <a:r>
              <a:rPr lang="en-US" sz="2160" b="1" spc="-86" kern="0" dirty="0">
                <a:solidFill>
                  <a:srgbClr val="FFFFFF"/>
                </a:solidFill>
                <a:latin typeface="Arial" pitchFamily="34" charset="0"/>
                <a:ea typeface="Arial" pitchFamily="34" charset="-122"/>
                <a:cs typeface="Arial" pitchFamily="34" charset="-120"/>
              </a:rPr>
              <a:t>−90%</a:t>
            </a:r>
            <a:endParaRPr lang="en-US" sz="2160" dirty="0"/>
          </a:p>
        </p:txBody>
      </p:sp>
      <p:sp>
        <p:nvSpPr>
          <p:cNvPr id="11" name="Text 8"/>
          <p:cNvSpPr txBox="1"/>
          <p:nvPr/>
        </p:nvSpPr>
        <p:spPr>
          <a:xfrm>
            <a:off x="3665458" y="3008376"/>
            <a:ext cx="844820"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FFFFFF"/>
                </a:solidFill>
                <a:latin typeface="Arial" pitchFamily="34" charset="0"/>
                <a:ea typeface="Arial" pitchFamily="34" charset="-122"/>
                <a:cs typeface="Arial" pitchFamily="34" charset="-120"/>
              </a:rPr>
              <a:t>TIME PER SERIAL</a:t>
            </a:r>
            <a:endParaRPr lang="en-US" sz="650" dirty="0"/>
          </a:p>
        </p:txBody>
      </p:sp>
      <p:sp>
        <p:nvSpPr>
          <p:cNvPr id="12" name="Text 9"/>
          <p:cNvSpPr txBox="1"/>
          <p:nvPr/>
        </p:nvSpPr>
        <p:spPr>
          <a:xfrm>
            <a:off x="603504" y="3490865"/>
            <a:ext cx="1283818"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MISSION</a:t>
            </a:r>
            <a:endParaRPr lang="en-US" sz="610" dirty="0"/>
          </a:p>
        </p:txBody>
      </p:sp>
      <p:sp>
        <p:nvSpPr>
          <p:cNvPr id="13" name="Text 10"/>
          <p:cNvSpPr txBox="1"/>
          <p:nvPr/>
        </p:nvSpPr>
        <p:spPr>
          <a:xfrm>
            <a:off x="1883664" y="3490865"/>
            <a:ext cx="1264067"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MARKING</a:t>
            </a:r>
            <a:endParaRPr lang="en-US" sz="610" dirty="0"/>
          </a:p>
        </p:txBody>
      </p:sp>
      <p:sp>
        <p:nvSpPr>
          <p:cNvPr id="14" name="Text 11"/>
          <p:cNvSpPr txBox="1"/>
          <p:nvPr/>
        </p:nvSpPr>
        <p:spPr>
          <a:xfrm>
            <a:off x="3145536" y="3490865"/>
            <a:ext cx="641909"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MANUAL</a:t>
            </a:r>
            <a:endParaRPr lang="en-US" sz="610" dirty="0"/>
          </a:p>
        </p:txBody>
      </p:sp>
      <p:sp>
        <p:nvSpPr>
          <p:cNvPr id="15" name="Text 12"/>
          <p:cNvSpPr txBox="1"/>
          <p:nvPr/>
        </p:nvSpPr>
        <p:spPr>
          <a:xfrm>
            <a:off x="3831336" y="3430715"/>
            <a:ext cx="929945" cy="277029"/>
          </a:xfrm>
          <a:prstGeom prst="rect">
            <a:avLst/>
          </a:prstGeom>
          <a:noFill/>
          <a:ln/>
        </p:spPr>
        <p:txBody>
          <a:bodyPr wrap="squar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OCR + AUTO</a:t>
            </a:r>
            <a:endParaRPr lang="en-US" sz="610" dirty="0"/>
          </a:p>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RECORD</a:t>
            </a:r>
            <a:endParaRPr lang="en-US" sz="610" dirty="0"/>
          </a:p>
        </p:txBody>
      </p:sp>
      <p:sp>
        <p:nvSpPr>
          <p:cNvPr id="16" name="Text 13"/>
          <p:cNvSpPr txBox="1"/>
          <p:nvPr/>
        </p:nvSpPr>
        <p:spPr>
          <a:xfrm>
            <a:off x="4745736" y="3490865"/>
            <a:ext cx="740664"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TIME SAVED</a:t>
            </a:r>
            <a:endParaRPr lang="en-US" sz="610" dirty="0"/>
          </a:p>
        </p:txBody>
      </p:sp>
      <p:sp>
        <p:nvSpPr>
          <p:cNvPr id="17" name="Text 14"/>
          <p:cNvSpPr txBox="1"/>
          <p:nvPr/>
        </p:nvSpPr>
        <p:spPr>
          <a:xfrm>
            <a:off x="603504" y="3766471"/>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LCBTH.26.0005</a:t>
            </a:r>
            <a:endParaRPr lang="en-US" sz="730" dirty="0"/>
          </a:p>
        </p:txBody>
      </p:sp>
      <p:sp>
        <p:nvSpPr>
          <p:cNvPr id="18" name="Text 15"/>
          <p:cNvSpPr txBox="1"/>
          <p:nvPr/>
        </p:nvSpPr>
        <p:spPr>
          <a:xfrm>
            <a:off x="1883664" y="3766471"/>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Dot peen</a:t>
            </a:r>
            <a:endParaRPr lang="en-US" sz="730" dirty="0"/>
          </a:p>
        </p:txBody>
      </p:sp>
      <p:sp>
        <p:nvSpPr>
          <p:cNvPr id="19" name="Text 16"/>
          <p:cNvSpPr txBox="1"/>
          <p:nvPr/>
        </p:nvSpPr>
        <p:spPr>
          <a:xfrm>
            <a:off x="3145536" y="3766471"/>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8 sec</a:t>
            </a:r>
            <a:endParaRPr lang="en-US" sz="730" dirty="0"/>
          </a:p>
        </p:txBody>
      </p:sp>
      <p:sp>
        <p:nvSpPr>
          <p:cNvPr id="20" name="Text 17"/>
          <p:cNvSpPr txBox="1"/>
          <p:nvPr/>
        </p:nvSpPr>
        <p:spPr>
          <a:xfrm>
            <a:off x="3831336" y="3766471"/>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21" name="Text 18"/>
          <p:cNvSpPr txBox="1"/>
          <p:nvPr/>
        </p:nvSpPr>
        <p:spPr>
          <a:xfrm>
            <a:off x="4718304" y="3757327"/>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22" name="Text 19"/>
          <p:cNvSpPr txBox="1"/>
          <p:nvPr/>
        </p:nvSpPr>
        <p:spPr>
          <a:xfrm>
            <a:off x="603504" y="4015073"/>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LCBTH.26.0002</a:t>
            </a:r>
            <a:endParaRPr lang="en-US" sz="730" dirty="0"/>
          </a:p>
        </p:txBody>
      </p:sp>
      <p:sp>
        <p:nvSpPr>
          <p:cNvPr id="23" name="Text 20"/>
          <p:cNvSpPr txBox="1"/>
          <p:nvPr/>
        </p:nvSpPr>
        <p:spPr>
          <a:xfrm>
            <a:off x="1883664" y="4015073"/>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Dot peen</a:t>
            </a:r>
            <a:endParaRPr lang="en-US" sz="730" dirty="0"/>
          </a:p>
        </p:txBody>
      </p:sp>
      <p:sp>
        <p:nvSpPr>
          <p:cNvPr id="24" name="Text 21"/>
          <p:cNvSpPr txBox="1"/>
          <p:nvPr/>
        </p:nvSpPr>
        <p:spPr>
          <a:xfrm>
            <a:off x="3145536" y="4015073"/>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8 sec</a:t>
            </a:r>
            <a:endParaRPr lang="en-US" sz="730" dirty="0"/>
          </a:p>
        </p:txBody>
      </p:sp>
      <p:sp>
        <p:nvSpPr>
          <p:cNvPr id="25" name="Text 22"/>
          <p:cNvSpPr txBox="1"/>
          <p:nvPr/>
        </p:nvSpPr>
        <p:spPr>
          <a:xfrm>
            <a:off x="3831336" y="4015073"/>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26" name="Text 23"/>
          <p:cNvSpPr txBox="1"/>
          <p:nvPr/>
        </p:nvSpPr>
        <p:spPr>
          <a:xfrm>
            <a:off x="4718304" y="4005929"/>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27" name="Text 24"/>
          <p:cNvSpPr txBox="1"/>
          <p:nvPr/>
        </p:nvSpPr>
        <p:spPr>
          <a:xfrm>
            <a:off x="603504" y="4263676"/>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LCBTH.26.0027</a:t>
            </a:r>
            <a:endParaRPr lang="en-US" sz="730" dirty="0"/>
          </a:p>
        </p:txBody>
      </p:sp>
      <p:sp>
        <p:nvSpPr>
          <p:cNvPr id="28" name="Text 25"/>
          <p:cNvSpPr txBox="1"/>
          <p:nvPr/>
        </p:nvSpPr>
        <p:spPr>
          <a:xfrm>
            <a:off x="1883664" y="4263676"/>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Stamped</a:t>
            </a:r>
            <a:endParaRPr lang="en-US" sz="730" dirty="0"/>
          </a:p>
        </p:txBody>
      </p:sp>
      <p:sp>
        <p:nvSpPr>
          <p:cNvPr id="29" name="Text 26"/>
          <p:cNvSpPr txBox="1"/>
          <p:nvPr/>
        </p:nvSpPr>
        <p:spPr>
          <a:xfrm>
            <a:off x="3145536" y="4263676"/>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10 sec</a:t>
            </a:r>
            <a:endParaRPr lang="en-US" sz="730" dirty="0"/>
          </a:p>
        </p:txBody>
      </p:sp>
      <p:sp>
        <p:nvSpPr>
          <p:cNvPr id="30" name="Text 27"/>
          <p:cNvSpPr txBox="1"/>
          <p:nvPr/>
        </p:nvSpPr>
        <p:spPr>
          <a:xfrm>
            <a:off x="3831336" y="4263676"/>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31" name="Text 28"/>
          <p:cNvSpPr txBox="1"/>
          <p:nvPr/>
        </p:nvSpPr>
        <p:spPr>
          <a:xfrm>
            <a:off x="4718304" y="4254532"/>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−90%</a:t>
            </a:r>
            <a:endParaRPr lang="en-US" sz="730" dirty="0"/>
          </a:p>
        </p:txBody>
      </p:sp>
      <p:sp>
        <p:nvSpPr>
          <p:cNvPr id="32" name="Text 29"/>
          <p:cNvSpPr txBox="1"/>
          <p:nvPr/>
        </p:nvSpPr>
        <p:spPr>
          <a:xfrm>
            <a:off x="603504" y="4512278"/>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LCBTH.26.0007</a:t>
            </a:r>
            <a:endParaRPr lang="en-US" sz="730" dirty="0"/>
          </a:p>
        </p:txBody>
      </p:sp>
      <p:sp>
        <p:nvSpPr>
          <p:cNvPr id="33" name="Text 30"/>
          <p:cNvSpPr txBox="1"/>
          <p:nvPr/>
        </p:nvSpPr>
        <p:spPr>
          <a:xfrm>
            <a:off x="1883664" y="4512278"/>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Embossed</a:t>
            </a:r>
            <a:endParaRPr lang="en-US" sz="730" dirty="0"/>
          </a:p>
        </p:txBody>
      </p:sp>
      <p:sp>
        <p:nvSpPr>
          <p:cNvPr id="34" name="Text 31"/>
          <p:cNvSpPr txBox="1"/>
          <p:nvPr/>
        </p:nvSpPr>
        <p:spPr>
          <a:xfrm>
            <a:off x="3145536" y="4512278"/>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9 sec</a:t>
            </a:r>
            <a:endParaRPr lang="en-US" sz="730" dirty="0"/>
          </a:p>
        </p:txBody>
      </p:sp>
      <p:sp>
        <p:nvSpPr>
          <p:cNvPr id="35" name="Text 32"/>
          <p:cNvSpPr txBox="1"/>
          <p:nvPr/>
        </p:nvSpPr>
        <p:spPr>
          <a:xfrm>
            <a:off x="3831336" y="4512278"/>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36" name="Text 33"/>
          <p:cNvSpPr txBox="1"/>
          <p:nvPr/>
        </p:nvSpPr>
        <p:spPr>
          <a:xfrm>
            <a:off x="4718304" y="4503134"/>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−88.9%</a:t>
            </a:r>
            <a:endParaRPr lang="en-US" sz="730" dirty="0"/>
          </a:p>
        </p:txBody>
      </p:sp>
      <p:sp>
        <p:nvSpPr>
          <p:cNvPr id="37" name="Text 34"/>
          <p:cNvSpPr txBox="1"/>
          <p:nvPr/>
        </p:nvSpPr>
        <p:spPr>
          <a:xfrm>
            <a:off x="603504" y="4777454"/>
            <a:ext cx="5214275" cy="165712"/>
          </a:xfrm>
          <a:prstGeom prst="rect">
            <a:avLst/>
          </a:prstGeom>
          <a:noFill/>
          <a:ln/>
        </p:spPr>
        <p:txBody>
          <a:bodyPr wrap="none" lIns="0" tIns="0" rIns="0" bIns="0" rtlCol="0" anchor="t"/>
          <a:lstStyle/>
          <a:p>
            <a:pPr algn="l" indent="0" marL="0">
              <a:lnSpc>
                <a:spcPts val="1000"/>
              </a:lnSpc>
              <a:buNone/>
            </a:pPr>
            <a:r>
              <a:rPr lang="en-US" sz="650" dirty="0">
                <a:solidFill>
                  <a:srgbClr val="5F7691"/>
                </a:solidFill>
                <a:latin typeface="Arial" pitchFamily="34" charset="0"/>
                <a:ea typeface="Arial" pitchFamily="34" charset="-122"/>
                <a:cs typeface="Arial" pitchFamily="34" charset="-120"/>
              </a:rPr>
              <a:t>Dot peen / stamped / embossed · Barcode / Data Matrix · Internal configuration; supplied mission comparisons.</a:t>
            </a:r>
            <a:endParaRPr lang="en-US" sz="650" dirty="0"/>
          </a:p>
        </p:txBody>
      </p:sp>
      <p:sp>
        <p:nvSpPr>
          <p:cNvPr id="38" name="Text 35"/>
          <p:cNvSpPr txBox="1"/>
          <p:nvPr/>
        </p:nvSpPr>
        <p:spPr>
          <a:xfrm>
            <a:off x="7863840" y="3968496"/>
            <a:ext cx="981608" cy="325984"/>
          </a:xfrm>
          <a:prstGeom prst="rect">
            <a:avLst/>
          </a:prstGeom>
          <a:noFill/>
          <a:ln/>
        </p:spPr>
        <p:txBody>
          <a:bodyPr wrap="squar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Shopfloor OCR in</a:t>
            </a:r>
            <a:endParaRPr lang="en-US" sz="720" dirty="0"/>
          </a:p>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use</a:t>
            </a:r>
            <a:endParaRPr lang="en-US" sz="720" dirty="0"/>
          </a:p>
        </p:txBody>
      </p:sp>
      <p:sp>
        <p:nvSpPr>
          <p:cNvPr id="39" name="Text 36"/>
          <p:cNvSpPr txBox="1"/>
          <p:nvPr/>
        </p:nvSpPr>
        <p:spPr>
          <a:xfrm>
            <a:off x="7863840" y="4279392"/>
            <a:ext cx="981608" cy="250100"/>
          </a:xfrm>
          <a:prstGeom prst="rect">
            <a:avLst/>
          </a:prstGeom>
          <a:noFill/>
          <a:ln/>
        </p:spPr>
        <p:txBody>
          <a:bodyPr wrap="square" lIns="0" tIns="0" rIns="0" bIns="0" rtlCol="0" anchor="t"/>
          <a:lstStyle/>
          <a:p>
            <a:pPr algn="l" indent="0" marL="0">
              <a:lnSpc>
                <a:spcPts val="860"/>
              </a:lnSpc>
              <a:buNone/>
            </a:pPr>
            <a:r>
              <a:rPr lang="en-US" sz="610" dirty="0">
                <a:solidFill>
                  <a:srgbClr val="4D6585"/>
                </a:solidFill>
                <a:latin typeface="Arial" pitchFamily="34" charset="0"/>
                <a:ea typeface="Arial" pitchFamily="34" charset="-122"/>
                <a:cs typeface="Arial" pitchFamily="34" charset="-120"/>
              </a:rPr>
              <a:t>KEYENCE BT-A1000 ·</a:t>
            </a:r>
            <a:endParaRPr lang="en-US" sz="610" dirty="0"/>
          </a:p>
          <a:p>
            <a:pPr algn="l" indent="0" marL="0">
              <a:lnSpc>
                <a:spcPts val="860"/>
              </a:lnSpc>
              <a:buNone/>
            </a:pPr>
            <a:r>
              <a:rPr lang="en-US" sz="610" dirty="0">
                <a:solidFill>
                  <a:srgbClr val="4D6585"/>
                </a:solidFill>
                <a:latin typeface="Arial" pitchFamily="34" charset="0"/>
                <a:ea typeface="Arial" pitchFamily="34" charset="-122"/>
                <a:cs typeface="Arial" pitchFamily="34" charset="-120"/>
              </a:rPr>
              <a:t>LCBTH.26.0005</a:t>
            </a:r>
            <a:endParaRPr lang="en-US" sz="6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DFE"/>
        </a:solidFill>
      </p:bgPr>
    </p:bg>
    <p:spTree>
      <p:nvGrpSpPr>
        <p:cNvPr id="1" name=""/>
        <p:cNvGrpSpPr/>
        <p:nvPr/>
      </p:nvGrpSpPr>
      <p:grpSpPr>
        <a:xfrm>
          <a:off x="0" y="0"/>
          <a:ext cx="0" cy="0"/>
          <a:chOff x="0" y="0"/>
          <a:chExt cx="0" cy="0"/>
        </a:xfrm>
      </p:grpSpPr>
      <p:pic>
        <p:nvPicPr>
          <p:cNvPr id="2" name="Image 0" descr="Slide: A hybrid workflow connects shopfloor capture to customer report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042793"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Hybrid workflow</a:t>
            </a:r>
            <a:endParaRPr lang="en-US" sz="720" dirty="0"/>
          </a:p>
        </p:txBody>
      </p:sp>
      <p:sp>
        <p:nvSpPr>
          <p:cNvPr id="4" name="Text 1"/>
          <p:cNvSpPr txBox="1"/>
          <p:nvPr/>
        </p:nvSpPr>
        <p:spPr>
          <a:xfrm>
            <a:off x="457200" y="1252728"/>
            <a:ext cx="9299448" cy="714748"/>
          </a:xfrm>
          <a:prstGeom prst="rect">
            <a:avLst/>
          </a:prstGeom>
          <a:noFill/>
          <a:ln/>
        </p:spPr>
        <p:txBody>
          <a:bodyPr wrap="squar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A hybrid workflow connects shopfloor</a:t>
            </a:r>
            <a:endParaRPr lang="en-US" sz="2380" dirty="0"/>
          </a:p>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capture to customer reports.</a:t>
            </a:r>
            <a:endParaRPr lang="en-US" sz="2380" dirty="0"/>
          </a:p>
        </p:txBody>
      </p:sp>
      <p:sp>
        <p:nvSpPr>
          <p:cNvPr id="5" name="Text 2"/>
          <p:cNvSpPr txBox="1"/>
          <p:nvPr/>
        </p:nvSpPr>
        <p:spPr>
          <a:xfrm>
            <a:off x="457200" y="1947386"/>
            <a:ext cx="5081418"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Online cloud records + offline Excel support → administrator review → customer report.</a:t>
            </a:r>
            <a:endParaRPr lang="en-US" sz="940" dirty="0"/>
          </a:p>
        </p:txBody>
      </p:sp>
      <p:sp>
        <p:nvSpPr>
          <p:cNvPr id="6" name="Text 3"/>
          <p:cNvSpPr txBox="1"/>
          <p:nvPr/>
        </p:nvSpPr>
        <p:spPr>
          <a:xfrm>
            <a:off x="57607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Shopfloor</a:t>
            </a:r>
            <a:endParaRPr lang="en-US" sz="940" dirty="0"/>
          </a:p>
        </p:txBody>
      </p:sp>
      <p:sp>
        <p:nvSpPr>
          <p:cNvPr id="7" name="Text 4"/>
          <p:cNvSpPr txBox="1"/>
          <p:nvPr/>
        </p:nvSpPr>
        <p:spPr>
          <a:xfrm>
            <a:off x="57607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Handheld OCR / QR</a:t>
            </a:r>
            <a:endParaRPr lang="en-US" sz="720" dirty="0"/>
          </a:p>
        </p:txBody>
      </p:sp>
      <p:sp>
        <p:nvSpPr>
          <p:cNvPr id="8" name="Text 5"/>
          <p:cNvSpPr txBox="1"/>
          <p:nvPr/>
        </p:nvSpPr>
        <p:spPr>
          <a:xfrm>
            <a:off x="57607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Serial + Good / NG</a:t>
            </a:r>
            <a:endParaRPr lang="en-US" sz="720" dirty="0"/>
          </a:p>
        </p:txBody>
      </p:sp>
      <p:sp>
        <p:nvSpPr>
          <p:cNvPr id="9" name="Text 6"/>
          <p:cNvSpPr txBox="1"/>
          <p:nvPr/>
        </p:nvSpPr>
        <p:spPr>
          <a:xfrm>
            <a:off x="226771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Google Sheets</a:t>
            </a:r>
            <a:endParaRPr lang="en-US" sz="940" dirty="0"/>
          </a:p>
        </p:txBody>
      </p:sp>
      <p:sp>
        <p:nvSpPr>
          <p:cNvPr id="10" name="Text 7"/>
          <p:cNvSpPr txBox="1"/>
          <p:nvPr/>
        </p:nvSpPr>
        <p:spPr>
          <a:xfrm>
            <a:off x="226771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Auto-record data</a:t>
            </a:r>
            <a:endParaRPr lang="en-US" sz="720" dirty="0"/>
          </a:p>
        </p:txBody>
      </p:sp>
      <p:sp>
        <p:nvSpPr>
          <p:cNvPr id="11" name="Text 8"/>
          <p:cNvSpPr txBox="1"/>
          <p:nvPr/>
        </p:nvSpPr>
        <p:spPr>
          <a:xfrm>
            <a:off x="226771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Real-time access</a:t>
            </a:r>
            <a:endParaRPr lang="en-US" sz="720" dirty="0"/>
          </a:p>
        </p:txBody>
      </p:sp>
      <p:sp>
        <p:nvSpPr>
          <p:cNvPr id="12" name="Text 9"/>
          <p:cNvSpPr txBox="1"/>
          <p:nvPr/>
        </p:nvSpPr>
        <p:spPr>
          <a:xfrm>
            <a:off x="395935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Google Drive</a:t>
            </a:r>
            <a:endParaRPr lang="en-US" sz="940" dirty="0"/>
          </a:p>
        </p:txBody>
      </p:sp>
      <p:sp>
        <p:nvSpPr>
          <p:cNvPr id="13" name="Text 10"/>
          <p:cNvSpPr txBox="1"/>
          <p:nvPr/>
        </p:nvSpPr>
        <p:spPr>
          <a:xfrm>
            <a:off x="395935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Shared online files</a:t>
            </a:r>
            <a:endParaRPr lang="en-US" sz="720" dirty="0"/>
          </a:p>
        </p:txBody>
      </p:sp>
      <p:sp>
        <p:nvSpPr>
          <p:cNvPr id="14" name="Text 11"/>
          <p:cNvSpPr txBox="1"/>
          <p:nvPr/>
        </p:nvSpPr>
        <p:spPr>
          <a:xfrm>
            <a:off x="395935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Supervisor access</a:t>
            </a:r>
            <a:endParaRPr lang="en-US" sz="720" dirty="0"/>
          </a:p>
        </p:txBody>
      </p:sp>
      <p:sp>
        <p:nvSpPr>
          <p:cNvPr id="15" name="Text 12"/>
          <p:cNvSpPr txBox="1"/>
          <p:nvPr/>
        </p:nvSpPr>
        <p:spPr>
          <a:xfrm>
            <a:off x="565099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Administrator</a:t>
            </a:r>
            <a:endParaRPr lang="en-US" sz="940" dirty="0"/>
          </a:p>
        </p:txBody>
      </p:sp>
      <p:sp>
        <p:nvSpPr>
          <p:cNvPr id="16" name="Text 13"/>
          <p:cNvSpPr txBox="1"/>
          <p:nvPr/>
        </p:nvSpPr>
        <p:spPr>
          <a:xfrm>
            <a:off x="565099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Review online data</a:t>
            </a:r>
            <a:endParaRPr lang="en-US" sz="720" dirty="0"/>
          </a:p>
        </p:txBody>
      </p:sp>
      <p:sp>
        <p:nvSpPr>
          <p:cNvPr id="17" name="Text 14"/>
          <p:cNvSpPr txBox="1"/>
          <p:nvPr/>
        </p:nvSpPr>
        <p:spPr>
          <a:xfrm>
            <a:off x="565099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Reconcile Excel</a:t>
            </a:r>
            <a:endParaRPr lang="en-US" sz="720" dirty="0"/>
          </a:p>
        </p:txBody>
      </p:sp>
      <p:sp>
        <p:nvSpPr>
          <p:cNvPr id="18" name="Text 15"/>
          <p:cNvSpPr txBox="1"/>
          <p:nvPr/>
        </p:nvSpPr>
        <p:spPr>
          <a:xfrm>
            <a:off x="734263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Customer report</a:t>
            </a:r>
            <a:endParaRPr lang="en-US" sz="940" dirty="0"/>
          </a:p>
        </p:txBody>
      </p:sp>
      <p:sp>
        <p:nvSpPr>
          <p:cNvPr id="19" name="Text 16"/>
          <p:cNvSpPr txBox="1"/>
          <p:nvPr/>
        </p:nvSpPr>
        <p:spPr>
          <a:xfrm>
            <a:off x="734263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Reviewed results</a:t>
            </a:r>
            <a:endParaRPr lang="en-US" sz="720" dirty="0"/>
          </a:p>
        </p:txBody>
      </p:sp>
      <p:sp>
        <p:nvSpPr>
          <p:cNvPr id="20" name="Text 17"/>
          <p:cNvSpPr txBox="1"/>
          <p:nvPr/>
        </p:nvSpPr>
        <p:spPr>
          <a:xfrm>
            <a:off x="734263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Submit final report</a:t>
            </a:r>
            <a:endParaRPr lang="en-US" sz="720" dirty="0"/>
          </a:p>
        </p:txBody>
      </p:sp>
      <p:sp>
        <p:nvSpPr>
          <p:cNvPr id="21" name="Text 18"/>
          <p:cNvSpPr txBox="1"/>
          <p:nvPr/>
        </p:nvSpPr>
        <p:spPr>
          <a:xfrm>
            <a:off x="3703320" y="4291679"/>
            <a:ext cx="1125038" cy="221045"/>
          </a:xfrm>
          <a:prstGeom prst="rect">
            <a:avLst/>
          </a:prstGeom>
          <a:noFill/>
          <a:ln/>
        </p:spPr>
        <p:txBody>
          <a:bodyPr wrap="none" lIns="0" tIns="0" rIns="0" bIns="0" rtlCol="0" anchor="t"/>
          <a:lstStyle/>
          <a:p>
            <a:pPr algn="l" indent="0" marL="0">
              <a:lnSpc>
                <a:spcPts val="1340"/>
              </a:lnSpc>
              <a:buNone/>
            </a:pPr>
            <a:r>
              <a:rPr lang="en-US" sz="860" b="1" dirty="0">
                <a:solidFill>
                  <a:srgbClr val="071A33"/>
                </a:solidFill>
                <a:latin typeface="Arial" pitchFamily="34" charset="0"/>
                <a:ea typeface="Arial" pitchFamily="34" charset="-122"/>
                <a:cs typeface="Arial" pitchFamily="34" charset="-120"/>
              </a:rPr>
              <a:t>Excel offline</a:t>
            </a:r>
            <a:endParaRPr lang="en-US" sz="860" dirty="0"/>
          </a:p>
        </p:txBody>
      </p:sp>
      <p:sp>
        <p:nvSpPr>
          <p:cNvPr id="22" name="Text 19"/>
          <p:cNvSpPr txBox="1"/>
          <p:nvPr/>
        </p:nvSpPr>
        <p:spPr>
          <a:xfrm>
            <a:off x="3703320" y="4461701"/>
            <a:ext cx="1125038" cy="174982"/>
          </a:xfrm>
          <a:prstGeom prst="rect">
            <a:avLst/>
          </a:prstGeom>
          <a:noFill/>
          <a:ln/>
        </p:spPr>
        <p:txBody>
          <a:bodyPr wrap="none" lIns="0" tIns="0" rIns="0" bIns="0" rtlCol="0" anchor="t"/>
          <a:lstStyle/>
          <a:p>
            <a:pPr algn="l" indent="0" marL="0">
              <a:lnSpc>
                <a:spcPts val="1060"/>
              </a:lnSpc>
              <a:buNone/>
            </a:pPr>
            <a:r>
              <a:rPr lang="en-US" sz="680" dirty="0">
                <a:solidFill>
                  <a:srgbClr val="4D6585"/>
                </a:solidFill>
                <a:latin typeface="Arial" pitchFamily="34" charset="0"/>
                <a:ea typeface="Arial" pitchFamily="34" charset="-122"/>
                <a:cs typeface="Arial" pitchFamily="34" charset="-120"/>
              </a:rPr>
              <a:t>Local serial + status record</a:t>
            </a:r>
            <a:endParaRPr lang="en-US" sz="680" dirty="0"/>
          </a:p>
        </p:txBody>
      </p:sp>
      <p:sp>
        <p:nvSpPr>
          <p:cNvPr id="23" name="Text 20"/>
          <p:cNvSpPr txBox="1"/>
          <p:nvPr/>
        </p:nvSpPr>
        <p:spPr>
          <a:xfrm>
            <a:off x="6400800" y="4224528"/>
            <a:ext cx="1580083" cy="152339"/>
          </a:xfrm>
          <a:prstGeom prst="rect">
            <a:avLst/>
          </a:prstGeom>
          <a:noFill/>
          <a:ln/>
        </p:spPr>
        <p:txBody>
          <a:bodyPr wrap="none" lIns="0" tIns="0" rIns="0" bIns="0" rtlCol="0" anchor="t"/>
          <a:lstStyle/>
          <a:p>
            <a:pPr algn="l" indent="0" marL="0">
              <a:lnSpc>
                <a:spcPts val="920"/>
              </a:lnSpc>
              <a:buNone/>
            </a:pPr>
            <a:r>
              <a:rPr lang="en-US" sz="680" dirty="0">
                <a:solidFill>
                  <a:srgbClr val="4D6585"/>
                </a:solidFill>
                <a:latin typeface="Arial" pitchFamily="34" charset="0"/>
                <a:ea typeface="Arial" pitchFamily="34" charset="-122"/>
                <a:cs typeface="Arial" pitchFamily="34" charset="-120"/>
              </a:rPr>
              <a:t>Reconcile offline and online records</a:t>
            </a:r>
            <a:endParaRPr lang="en-US" sz="680" dirty="0"/>
          </a:p>
        </p:txBody>
      </p:sp>
      <p:sp>
        <p:nvSpPr>
          <p:cNvPr id="24" name="Text 21"/>
          <p:cNvSpPr txBox="1"/>
          <p:nvPr/>
        </p:nvSpPr>
        <p:spPr>
          <a:xfrm>
            <a:off x="457200" y="4789884"/>
            <a:ext cx="4196479"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supplied OCR capture and MMTH hybrid workflow. Generic icons denote functions, not product logos.</a:t>
            </a:r>
            <a:endParaRPr lang="en-US" sz="61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DFE"/>
        </a:solidFill>
      </p:bgPr>
    </p:bg>
    <p:spTree>
      <p:nvGrpSpPr>
        <p:cNvPr id="1" name=""/>
        <p:cNvGrpSpPr/>
        <p:nvPr/>
      </p:nvGrpSpPr>
      <p:grpSpPr>
        <a:xfrm>
          <a:off x="0" y="0"/>
          <a:ext cx="0" cy="0"/>
          <a:chOff x="0" y="0"/>
          <a:chExt cx="0" cy="0"/>
        </a:xfrm>
      </p:grpSpPr>
      <p:pic>
        <p:nvPicPr>
          <p:cNvPr id="2" name="Image 0" descr="Slide: Four controls protect every inspection record.">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771525"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Poka-yoke</a:t>
            </a:r>
            <a:endParaRPr lang="en-US" sz="720" dirty="0"/>
          </a:p>
        </p:txBody>
      </p:sp>
      <p:sp>
        <p:nvSpPr>
          <p:cNvPr id="4" name="Text 1"/>
          <p:cNvSpPr txBox="1"/>
          <p:nvPr/>
        </p:nvSpPr>
        <p:spPr>
          <a:xfrm>
            <a:off x="457200" y="1252728"/>
            <a:ext cx="6248118"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Four controls protect every inspection record.</a:t>
            </a:r>
            <a:endParaRPr lang="en-US" sz="2380" dirty="0"/>
          </a:p>
        </p:txBody>
      </p:sp>
      <p:sp>
        <p:nvSpPr>
          <p:cNvPr id="5" name="Text 2"/>
          <p:cNvSpPr txBox="1"/>
          <p:nvPr/>
        </p:nvSpPr>
        <p:spPr>
          <a:xfrm>
            <a:off x="457200" y="1636633"/>
            <a:ext cx="4876964"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Visual + voice guidance at capture. Administrator review before customer reporting.</a:t>
            </a:r>
            <a:endParaRPr lang="en-US" sz="940" dirty="0"/>
          </a:p>
        </p:txBody>
      </p:sp>
      <p:sp>
        <p:nvSpPr>
          <p:cNvPr id="6" name="Text 3"/>
          <p:cNvSpPr txBox="1"/>
          <p:nvPr/>
        </p:nvSpPr>
        <p:spPr>
          <a:xfrm>
            <a:off x="1152144" y="2471595"/>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Wrong part / serial</a:t>
            </a:r>
            <a:endParaRPr lang="en-US" sz="1040" dirty="0"/>
          </a:p>
        </p:txBody>
      </p:sp>
      <p:sp>
        <p:nvSpPr>
          <p:cNvPr id="7" name="Text 4"/>
          <p:cNvSpPr txBox="1"/>
          <p:nvPr/>
        </p:nvSpPr>
        <p:spPr>
          <a:xfrm>
            <a:off x="1152144" y="2704481"/>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Validate against customer list / production plan. Warn on mismatch.</a:t>
            </a:r>
            <a:endParaRPr lang="en-US" sz="790" dirty="0"/>
          </a:p>
        </p:txBody>
      </p:sp>
      <p:sp>
        <p:nvSpPr>
          <p:cNvPr id="8" name="Text 5"/>
          <p:cNvSpPr txBox="1"/>
          <p:nvPr/>
        </p:nvSpPr>
        <p:spPr>
          <a:xfrm>
            <a:off x="5358384" y="2471595"/>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Duplicate scan</a:t>
            </a:r>
            <a:endParaRPr lang="en-US" sz="1040" dirty="0"/>
          </a:p>
        </p:txBody>
      </p:sp>
      <p:sp>
        <p:nvSpPr>
          <p:cNvPr id="9" name="Text 6"/>
          <p:cNvSpPr txBox="1"/>
          <p:nvPr/>
        </p:nvSpPr>
        <p:spPr>
          <a:xfrm>
            <a:off x="5358384" y="2704481"/>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Lock out repeated scans. Prevent duplicate counting.</a:t>
            </a:r>
            <a:endParaRPr lang="en-US" sz="790" dirty="0"/>
          </a:p>
        </p:txBody>
      </p:sp>
      <p:sp>
        <p:nvSpPr>
          <p:cNvPr id="10" name="Text 7"/>
          <p:cNvSpPr txBox="1"/>
          <p:nvPr/>
        </p:nvSpPr>
        <p:spPr>
          <a:xfrm>
            <a:off x="1152144" y="3355562"/>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Full box</a:t>
            </a:r>
            <a:endParaRPr lang="en-US" sz="1040" dirty="0"/>
          </a:p>
        </p:txBody>
      </p:sp>
      <p:sp>
        <p:nvSpPr>
          <p:cNvPr id="11" name="Text 8"/>
          <p:cNvSpPr txBox="1"/>
          <p:nvPr/>
        </p:nvSpPr>
        <p:spPr>
          <a:xfrm>
            <a:off x="1152144" y="3588449"/>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Voice + popup notification when target quantity is reached.</a:t>
            </a:r>
            <a:endParaRPr lang="en-US" sz="790" dirty="0"/>
          </a:p>
        </p:txBody>
      </p:sp>
      <p:sp>
        <p:nvSpPr>
          <p:cNvPr id="12" name="Text 9"/>
          <p:cNvSpPr txBox="1"/>
          <p:nvPr/>
        </p:nvSpPr>
        <p:spPr>
          <a:xfrm>
            <a:off x="5358384" y="3282696"/>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Review &amp; release</a:t>
            </a:r>
            <a:endParaRPr lang="en-US" sz="1040" dirty="0"/>
          </a:p>
        </p:txBody>
      </p:sp>
      <p:sp>
        <p:nvSpPr>
          <p:cNvPr id="13" name="Text 10"/>
          <p:cNvSpPr txBox="1"/>
          <p:nvPr/>
        </p:nvSpPr>
        <p:spPr>
          <a:xfrm>
            <a:off x="5358384" y="3515582"/>
            <a:ext cx="3575121" cy="335219"/>
          </a:xfrm>
          <a:prstGeom prst="rect">
            <a:avLst/>
          </a:prstGeom>
          <a:noFill/>
          <a:ln/>
        </p:spPr>
        <p:txBody>
          <a:bodyPr wrap="squar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Administrator checks offline + online records before submitting the</a:t>
            </a:r>
            <a:endParaRPr lang="en-US" sz="790" dirty="0"/>
          </a:p>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customer report.</a:t>
            </a:r>
            <a:endParaRPr lang="en-US" sz="790" dirty="0"/>
          </a:p>
        </p:txBody>
      </p:sp>
      <p:sp>
        <p:nvSpPr>
          <p:cNvPr id="14" name="Text 11"/>
          <p:cNvSpPr txBox="1"/>
          <p:nvPr/>
        </p:nvSpPr>
        <p:spPr>
          <a:xfrm>
            <a:off x="603504" y="4407408"/>
            <a:ext cx="8571951" cy="187959"/>
          </a:xfrm>
          <a:prstGeom prst="rect">
            <a:avLst/>
          </a:prstGeom>
          <a:noFill/>
          <a:ln/>
        </p:spPr>
        <p:txBody>
          <a:bodyPr wrap="none" lIns="0" tIns="0" rIns="0" bIns="0" rtlCol="0" anchor="t"/>
          <a:lstStyle/>
          <a:p>
            <a:pPr algn="l" indent="0" marL="0">
              <a:lnSpc>
                <a:spcPts val="1140"/>
              </a:lnSpc>
              <a:buNone/>
            </a:pPr>
            <a:r>
              <a:rPr lang="en-US" sz="730" dirty="0">
                <a:solidFill>
                  <a:srgbClr val="0B4FBF"/>
                </a:solidFill>
                <a:latin typeface="Arial" pitchFamily="34" charset="0"/>
                <a:ea typeface="Arial" pitchFamily="34" charset="-122"/>
                <a:cs typeface="Arial" pitchFamily="34" charset="-120"/>
              </a:rPr>
              <a:t>Linked data: Customer • Material • Batch • Order | Missions 04, 29, 31 · Internal configuration + Text-to-Speech support shopfloor use.</a:t>
            </a:r>
            <a:endParaRPr lang="en-US" sz="730" dirty="0"/>
          </a:p>
        </p:txBody>
      </p:sp>
      <p:sp>
        <p:nvSpPr>
          <p:cNvPr id="15" name="Text 12"/>
          <p:cNvSpPr txBox="1"/>
          <p:nvPr/>
        </p:nvSpPr>
        <p:spPr>
          <a:xfrm>
            <a:off x="457200" y="4789884"/>
            <a:ext cx="3838491"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supplied error-prevention workflow. Next: two web apps supporting Non-Rayong operations.</a:t>
            </a:r>
            <a:endParaRPr lang="en-US" sz="6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DFE"/>
        </a:solidFill>
      </p:bgPr>
    </p:bg>
    <p:spTree>
      <p:nvGrpSpPr>
        <p:cNvPr id="1" name=""/>
        <p:cNvGrpSpPr/>
        <p:nvPr/>
      </p:nvGrpSpPr>
      <p:grpSpPr>
        <a:xfrm>
          <a:off x="0" y="0"/>
          <a:ext cx="0" cy="0"/>
          <a:chOff x="0" y="0"/>
          <a:chExt cx="0" cy="0"/>
        </a:xfrm>
      </p:grpSpPr>
      <p:pic>
        <p:nvPicPr>
          <p:cNvPr id="2" name="Image 0" descr="Slide: The two app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270695"/>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581591"/>
            <a:ext cx="3357677" cy="538659"/>
          </a:xfrm>
          <a:prstGeom prst="rect">
            <a:avLst/>
          </a:prstGeom>
          <a:noFill/>
          <a:ln/>
        </p:spPr>
        <p:txBody>
          <a:bodyPr wrap="non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The two apps.</a:t>
            </a:r>
            <a:endParaRPr lang="en-US" sz="3170" dirty="0"/>
          </a:p>
        </p:txBody>
      </p:sp>
      <p:sp>
        <p:nvSpPr>
          <p:cNvPr id="5" name="Text 2"/>
          <p:cNvSpPr txBox="1"/>
          <p:nvPr/>
        </p:nvSpPr>
        <p:spPr>
          <a:xfrm>
            <a:off x="457200" y="4105656"/>
            <a:ext cx="3099816" cy="543154"/>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The Manpower Board plans who goes where. The</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Inventory &amp; Quality System tracks tools, parts</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and consumables.</a:t>
            </a:r>
            <a:endParaRPr lang="en-US" sz="8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DFE"/>
        </a:solidFill>
      </p:bgPr>
    </p:bg>
    <p:spTree>
      <p:nvGrpSpPr>
        <p:cNvPr id="1" name=""/>
        <p:cNvGrpSpPr/>
        <p:nvPr/>
      </p:nvGrpSpPr>
      <p:grpSpPr>
        <a:xfrm>
          <a:off x="0" y="0"/>
          <a:ext cx="0" cy="0"/>
          <a:chOff x="0" y="0"/>
          <a:chExt cx="0" cy="0"/>
        </a:xfrm>
      </p:grpSpPr>
      <p:pic>
        <p:nvPicPr>
          <p:cNvPr id="2" name="Image 0" descr="Slide: Two apps for the work we do every day.">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88720"/>
            <a:ext cx="90098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04 · The two apps</a:t>
            </a:r>
            <a:endParaRPr lang="en-US" sz="720" dirty="0"/>
          </a:p>
        </p:txBody>
      </p:sp>
      <p:sp>
        <p:nvSpPr>
          <p:cNvPr id="4" name="Text 1"/>
          <p:cNvSpPr txBox="1"/>
          <p:nvPr/>
        </p:nvSpPr>
        <p:spPr>
          <a:xfrm>
            <a:off x="457200" y="1572768"/>
            <a:ext cx="4339742" cy="1615824"/>
          </a:xfrm>
          <a:prstGeom prst="rect">
            <a:avLst/>
          </a:prstGeom>
          <a:noFill/>
          <a:ln/>
        </p:spPr>
        <p:txBody>
          <a:bodyPr wrap="square" lIns="0" tIns="0" rIns="0" bIns="0" rtlCol="0" anchor="t"/>
          <a:lstStyle/>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Two apps for</a:t>
            </a:r>
            <a:endParaRPr lang="en-US" sz="3740" dirty="0"/>
          </a:p>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the work we</a:t>
            </a:r>
            <a:endParaRPr lang="en-US" sz="3740" dirty="0"/>
          </a:p>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do every day.</a:t>
            </a:r>
            <a:endParaRPr lang="en-US" sz="3740" dirty="0"/>
          </a:p>
        </p:txBody>
      </p:sp>
      <p:sp>
        <p:nvSpPr>
          <p:cNvPr id="5" name="Text 2"/>
          <p:cNvSpPr txBox="1"/>
          <p:nvPr/>
        </p:nvSpPr>
        <p:spPr>
          <a:xfrm>
            <a:off x="457200" y="3224546"/>
            <a:ext cx="3926434" cy="884682"/>
          </a:xfrm>
          <a:prstGeom prst="rect">
            <a:avLst/>
          </a:prstGeom>
          <a:noFill/>
          <a:ln/>
        </p:spPr>
        <p:txBody>
          <a:bodyPr wrap="square" lIns="0" tIns="0" rIns="0" bIns="0" rtlCol="0" anchor="t"/>
          <a:lstStyle/>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The Manpower Board plans who goes where. The</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Inventory &amp; Quality System tracks tools, parts</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and consumables. Both run in the browser and on</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your phone.</a:t>
            </a:r>
            <a:endParaRPr lang="en-US" sz="1080" dirty="0"/>
          </a:p>
        </p:txBody>
      </p:sp>
      <p:sp>
        <p:nvSpPr>
          <p:cNvPr id="6" name="Text 3"/>
          <p:cNvSpPr txBox="1"/>
          <p:nvPr/>
        </p:nvSpPr>
        <p:spPr>
          <a:xfrm>
            <a:off x="745379" y="4230386"/>
            <a:ext cx="861176"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Manpower Board</a:t>
            </a:r>
            <a:endParaRPr lang="en-US" sz="790" dirty="0"/>
          </a:p>
        </p:txBody>
      </p:sp>
      <p:sp>
        <p:nvSpPr>
          <p:cNvPr id="7" name="Text 4"/>
          <p:cNvSpPr txBox="1"/>
          <p:nvPr/>
        </p:nvSpPr>
        <p:spPr>
          <a:xfrm>
            <a:off x="2009251" y="4230386"/>
            <a:ext cx="968881"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Inventory &amp; Quality</a:t>
            </a:r>
            <a:endParaRPr lang="en-US" sz="790" dirty="0"/>
          </a:p>
        </p:txBody>
      </p:sp>
      <p:sp>
        <p:nvSpPr>
          <p:cNvPr id="8" name="Text 5"/>
          <p:cNvSpPr txBox="1"/>
          <p:nvPr/>
        </p:nvSpPr>
        <p:spPr>
          <a:xfrm>
            <a:off x="3372850" y="4230386"/>
            <a:ext cx="745139"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On your phone</a:t>
            </a:r>
            <a:endParaRPr lang="en-US" sz="79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DFE"/>
        </a:solidFill>
      </p:bgPr>
    </p:bg>
    <p:spTree>
      <p:nvGrpSpPr>
        <p:cNvPr id="1" name=""/>
        <p:cNvGrpSpPr/>
        <p:nvPr/>
      </p:nvGrpSpPr>
      <p:grpSpPr>
        <a:xfrm>
          <a:off x="0" y="0"/>
          <a:ext cx="0" cy="0"/>
          <a:chOff x="0" y="0"/>
          <a:chExt cx="0" cy="0"/>
        </a:xfrm>
      </p:grpSpPr>
      <p:pic>
        <p:nvPicPr>
          <p:cNvPr id="2" name="Image 0" descr="Slide: Tomorrow's crew, planned on one board.">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457200" y="1618488"/>
            <a:ext cx="3203143" cy="1149960"/>
          </a:xfrm>
          <a:prstGeom prst="rect">
            <a:avLst/>
          </a:prstGeom>
          <a:noFill/>
          <a:ln/>
        </p:spPr>
        <p:txBody>
          <a:bodyPr wrap="square" lIns="0" tIns="0" rIns="0" bIns="0" rtlCol="0" anchor="t"/>
          <a:lstStyle/>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Tomorrow's</a:t>
            </a:r>
            <a:endParaRPr lang="en-US" sz="2660" dirty="0"/>
          </a:p>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crew, planned</a:t>
            </a:r>
            <a:endParaRPr lang="en-US" sz="2660" dirty="0"/>
          </a:p>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on one board.</a:t>
            </a:r>
            <a:endParaRPr lang="en-US" sz="2660" dirty="0"/>
          </a:p>
        </p:txBody>
      </p:sp>
      <p:sp>
        <p:nvSpPr>
          <p:cNvPr id="4" name="Text 1"/>
          <p:cNvSpPr txBox="1"/>
          <p:nvPr/>
        </p:nvSpPr>
        <p:spPr>
          <a:xfrm>
            <a:off x="457200" y="2810208"/>
            <a:ext cx="3203143" cy="588416"/>
          </a:xfrm>
          <a:prstGeom prst="rect">
            <a:avLst/>
          </a:prstGeom>
          <a:noFill/>
          <a:ln/>
        </p:spPr>
        <p:txBody>
          <a:bodyPr wrap="squar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The magnet board, made digital. Drag people onto</a:t>
            </a:r>
            <a:endParaRPr lang="en-US" sz="940" dirty="0"/>
          </a:p>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missions, leave or standby, and everyone sees the</a:t>
            </a:r>
            <a:endParaRPr lang="en-US" sz="940" dirty="0"/>
          </a:p>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same plan, live.</a:t>
            </a:r>
            <a:endParaRPr lang="en-US" sz="940" dirty="0"/>
          </a:p>
        </p:txBody>
      </p:sp>
      <p:sp>
        <p:nvSpPr>
          <p:cNvPr id="5" name="Text 2"/>
          <p:cNvSpPr txBox="1"/>
          <p:nvPr/>
        </p:nvSpPr>
        <p:spPr>
          <a:xfrm>
            <a:off x="877824" y="3529155"/>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Drag and drop planning</a:t>
            </a:r>
            <a:endParaRPr lang="en-US" sz="990" dirty="0"/>
          </a:p>
        </p:txBody>
      </p:sp>
      <p:sp>
        <p:nvSpPr>
          <p:cNvPr id="6" name="Text 3"/>
          <p:cNvSpPr txBox="1"/>
          <p:nvPr/>
        </p:nvSpPr>
        <p:spPr>
          <a:xfrm>
            <a:off x="877824" y="3953208"/>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Where to go, what to wear</a:t>
            </a:r>
            <a:endParaRPr lang="en-US" sz="990" dirty="0"/>
          </a:p>
        </p:txBody>
      </p:sp>
      <p:sp>
        <p:nvSpPr>
          <p:cNvPr id="7" name="Text 4"/>
          <p:cNvSpPr txBox="1"/>
          <p:nvPr/>
        </p:nvSpPr>
        <p:spPr>
          <a:xfrm>
            <a:off x="877824" y="4521708"/>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Lock a finished plan</a:t>
            </a:r>
            <a:endParaRPr lang="en-US" sz="990" dirty="0"/>
          </a:p>
        </p:txBody>
      </p:sp>
      <p:sp>
        <p:nvSpPr>
          <p:cNvPr id="8" name="Text 5"/>
          <p:cNvSpPr txBox="1"/>
          <p:nvPr/>
        </p:nvSpPr>
        <p:spPr>
          <a:xfrm>
            <a:off x="877824" y="3693033"/>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One board per site, one card per person</a:t>
            </a:r>
            <a:endParaRPr lang="en-US" sz="810" dirty="0"/>
          </a:p>
        </p:txBody>
      </p:sp>
      <p:sp>
        <p:nvSpPr>
          <p:cNvPr id="9" name="Text 6"/>
          <p:cNvSpPr txBox="1"/>
          <p:nvPr/>
        </p:nvSpPr>
        <p:spPr>
          <a:xfrm>
            <a:off x="877824" y="4117086"/>
            <a:ext cx="2727838" cy="332576"/>
          </a:xfrm>
          <a:prstGeom prst="rect">
            <a:avLst/>
          </a:prstGeom>
          <a:noFill/>
          <a:ln/>
        </p:spPr>
        <p:txBody>
          <a:bodyPr wrap="squar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The host name opens Google Maps; PPE is on the</a:t>
            </a:r>
            <a:endParaRPr lang="en-US" sz="810" dirty="0"/>
          </a:p>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card</a:t>
            </a:r>
            <a:endParaRPr lang="en-US" sz="810" dirty="0"/>
          </a:p>
        </p:txBody>
      </p:sp>
      <p:sp>
        <p:nvSpPr>
          <p:cNvPr id="10" name="Text 7"/>
          <p:cNvSpPr txBox="1"/>
          <p:nvPr/>
        </p:nvSpPr>
        <p:spPr>
          <a:xfrm>
            <a:off x="877824" y="4685586"/>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Nobody bumps it by accident</a:t>
            </a:r>
            <a:endParaRPr lang="en-US" sz="8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DFE"/>
        </a:solidFill>
      </p:bgPr>
    </p:bg>
    <p:spTree>
      <p:nvGrpSpPr>
        <p:cNvPr id="1" name=""/>
        <p:cNvGrpSpPr/>
        <p:nvPr/>
      </p:nvGrpSpPr>
      <p:grpSpPr>
        <a:xfrm>
          <a:off x="0" y="0"/>
          <a:ext cx="0" cy="0"/>
          <a:chOff x="0" y="0"/>
          <a:chExt cx="0" cy="0"/>
        </a:xfrm>
      </p:grpSpPr>
      <p:pic>
        <p:nvPicPr>
          <p:cNvPr id="2" name="Image 0" descr="Slide: Plan weeks ahead, not just tomorrow.">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823106"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Plan weeks ahead,</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not just tomorrow.</a:t>
            </a:r>
            <a:endParaRPr lang="en-US" sz="2590" dirty="0"/>
          </a:p>
        </p:txBody>
      </p:sp>
      <p:sp>
        <p:nvSpPr>
          <p:cNvPr id="5" name="Text 2"/>
          <p:cNvSpPr txBox="1"/>
          <p:nvPr/>
        </p:nvSpPr>
        <p:spPr>
          <a:xfrm>
            <a:off x="877824" y="2352580"/>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Carry over the last working day</a:t>
            </a:r>
            <a:endParaRPr lang="en-US" sz="990" dirty="0"/>
          </a:p>
        </p:txBody>
      </p:sp>
      <p:sp>
        <p:nvSpPr>
          <p:cNvPr id="6" name="Text 3"/>
          <p:cNvSpPr txBox="1"/>
          <p:nvPr/>
        </p:nvSpPr>
        <p:spPr>
          <a:xfrm>
            <a:off x="877824" y="2777776"/>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Forecast days</a:t>
            </a:r>
            <a:endParaRPr lang="en-US" sz="990" dirty="0"/>
          </a:p>
        </p:txBody>
      </p:sp>
      <p:sp>
        <p:nvSpPr>
          <p:cNvPr id="7" name="Text 4"/>
          <p:cNvSpPr txBox="1"/>
          <p:nvPr/>
        </p:nvSpPr>
        <p:spPr>
          <a:xfrm>
            <a:off x="877824" y="3202972"/>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Holds</a:t>
            </a:r>
            <a:endParaRPr lang="en-US" sz="990" dirty="0"/>
          </a:p>
        </p:txBody>
      </p:sp>
      <p:sp>
        <p:nvSpPr>
          <p:cNvPr id="8" name="Text 5"/>
          <p:cNvSpPr txBox="1"/>
          <p:nvPr/>
        </p:nvSpPr>
        <p:spPr>
          <a:xfrm>
            <a:off x="877824" y="3628168"/>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Export</a:t>
            </a:r>
            <a:endParaRPr lang="en-US" sz="990" dirty="0"/>
          </a:p>
        </p:txBody>
      </p:sp>
      <p:sp>
        <p:nvSpPr>
          <p:cNvPr id="9" name="Text 6"/>
          <p:cNvSpPr txBox="1"/>
          <p:nvPr/>
        </p:nvSpPr>
        <p:spPr>
          <a:xfrm>
            <a:off x="877824" y="2516457"/>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One click, then change only what moved</a:t>
            </a:r>
            <a:endParaRPr lang="en-US" sz="810" dirty="0"/>
          </a:p>
        </p:txBody>
      </p:sp>
      <p:sp>
        <p:nvSpPr>
          <p:cNvPr id="10" name="Text 7"/>
          <p:cNvSpPr txBox="1"/>
          <p:nvPr/>
        </p:nvSpPr>
        <p:spPr>
          <a:xfrm>
            <a:off x="877824" y="2941653"/>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Tentative plans kept apart, merged with a side-by-side review</a:t>
            </a:r>
            <a:endParaRPr lang="en-US" sz="810" dirty="0"/>
          </a:p>
        </p:txBody>
      </p:sp>
      <p:sp>
        <p:nvSpPr>
          <p:cNvPr id="11" name="Text 8"/>
          <p:cNvSpPr txBox="1"/>
          <p:nvPr/>
        </p:nvSpPr>
        <p:spPr>
          <a:xfrm>
            <a:off x="877824" y="3366849"/>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Take someone another engineer planned and they are told</a:t>
            </a:r>
            <a:endParaRPr lang="en-US" sz="810" dirty="0"/>
          </a:p>
        </p:txBody>
      </p:sp>
      <p:sp>
        <p:nvSpPr>
          <p:cNvPr id="12" name="Text 9"/>
          <p:cNvSpPr txBox="1"/>
          <p:nvPr/>
        </p:nvSpPr>
        <p:spPr>
          <a:xfrm>
            <a:off x="877824" y="3792045"/>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JPG, PDF and Excel, plus the org chart as PowerPoint</a:t>
            </a:r>
            <a:endParaRPr lang="en-US" sz="810" dirty="0"/>
          </a:p>
        </p:txBody>
      </p:sp>
      <p:sp>
        <p:nvSpPr>
          <p:cNvPr id="13" name="Text 10"/>
          <p:cNvSpPr txBox="1"/>
          <p:nvPr/>
        </p:nvSpPr>
        <p:spPr>
          <a:xfrm>
            <a:off x="4389120" y="4215384"/>
            <a:ext cx="2212116" cy="174982"/>
          </a:xfrm>
          <a:prstGeom prst="rect">
            <a:avLst/>
          </a:prstGeom>
          <a:noFill/>
          <a:ln/>
        </p:spPr>
        <p:txBody>
          <a:bodyPr wrap="none" lIns="0" tIns="0" rIns="0" bIns="0" rtlCol="0" anchor="t"/>
          <a:lstStyle/>
          <a:p>
            <a:pPr algn="l" indent="0" marL="0">
              <a:lnSpc>
                <a:spcPts val="1060"/>
              </a:lnSpc>
              <a:buNone/>
            </a:pPr>
            <a:r>
              <a:rPr lang="en-US" sz="680" b="1" spc="55" kern="0" dirty="0">
                <a:solidFill>
                  <a:srgbClr val="0B4FBF"/>
                </a:solidFill>
                <a:latin typeface="Arial" pitchFamily="34" charset="0"/>
                <a:ea typeface="Arial" pitchFamily="34" charset="-122"/>
                <a:cs typeface="Arial" pitchFamily="34" charset="-120"/>
              </a:rPr>
              <a:t>FOR ENGINEERS</a:t>
            </a:r>
            <a:endParaRPr lang="en-US" sz="680" dirty="0"/>
          </a:p>
        </p:txBody>
      </p:sp>
      <p:sp>
        <p:nvSpPr>
          <p:cNvPr id="14" name="Text 11"/>
          <p:cNvSpPr txBox="1"/>
          <p:nvPr/>
        </p:nvSpPr>
        <p:spPr>
          <a:xfrm>
            <a:off x="6638544" y="4215384"/>
            <a:ext cx="2212116" cy="174982"/>
          </a:xfrm>
          <a:prstGeom prst="rect">
            <a:avLst/>
          </a:prstGeom>
          <a:noFill/>
          <a:ln/>
        </p:spPr>
        <p:txBody>
          <a:bodyPr wrap="none" lIns="0" tIns="0" rIns="0" bIns="0" rtlCol="0" anchor="t"/>
          <a:lstStyle/>
          <a:p>
            <a:pPr algn="l" indent="0" marL="0">
              <a:lnSpc>
                <a:spcPts val="1060"/>
              </a:lnSpc>
              <a:buNone/>
            </a:pPr>
            <a:r>
              <a:rPr lang="en-US" sz="680" b="1" spc="55" kern="0" dirty="0">
                <a:solidFill>
                  <a:srgbClr val="0B4FBF"/>
                </a:solidFill>
                <a:latin typeface="Arial" pitchFamily="34" charset="0"/>
                <a:ea typeface="Arial" pitchFamily="34" charset="-122"/>
                <a:cs typeface="Arial" pitchFamily="34" charset="-120"/>
              </a:rPr>
              <a:t>FOR MANAGEMENT</a:t>
            </a:r>
            <a:endParaRPr lang="en-US" sz="680" dirty="0"/>
          </a:p>
        </p:txBody>
      </p:sp>
      <p:sp>
        <p:nvSpPr>
          <p:cNvPr id="15" name="Text 12"/>
          <p:cNvSpPr txBox="1"/>
          <p:nvPr/>
        </p:nvSpPr>
        <p:spPr>
          <a:xfrm>
            <a:off x="4389120" y="4404836"/>
            <a:ext cx="2314529" cy="520522"/>
          </a:xfrm>
          <a:prstGeom prst="rect">
            <a:avLst/>
          </a:prstGeom>
          <a:noFill/>
          <a:ln/>
        </p:spPr>
        <p:txBody>
          <a:bodyPr wrap="square" lIns="0" tIns="0" rIns="0" bIns="0" rtlCol="0" anchor="t"/>
          <a:lstStyle/>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Enter the people each host needs per day.</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The grid shows every short day as you</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type.</a:t>
            </a:r>
            <a:endParaRPr lang="en-US" sz="830" dirty="0"/>
          </a:p>
        </p:txBody>
      </p:sp>
      <p:sp>
        <p:nvSpPr>
          <p:cNvPr id="16" name="Text 13"/>
          <p:cNvSpPr txBox="1"/>
          <p:nvPr/>
        </p:nvSpPr>
        <p:spPr>
          <a:xfrm>
            <a:off x="6638544" y="4404836"/>
            <a:ext cx="2314529" cy="520522"/>
          </a:xfrm>
          <a:prstGeom prst="rect">
            <a:avLst/>
          </a:prstGeom>
          <a:noFill/>
          <a:ln/>
        </p:spPr>
        <p:txBody>
          <a:bodyPr wrap="square" lIns="0" tIns="0" rIns="0" bIns="0" rtlCol="0" anchor="t"/>
          <a:lstStyle/>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Short days show in red weeks before they</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happen, with the worst day and peak</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demand on top.</a:t>
            </a:r>
            <a:endParaRPr lang="en-US" sz="8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DFE"/>
        </a:solidFill>
      </p:bgPr>
    </p:bg>
    <p:spTree>
      <p:nvGrpSpPr>
        <p:cNvPr id="1" name=""/>
        <p:cNvGrpSpPr/>
        <p:nvPr/>
      </p:nvGrpSpPr>
      <p:grpSpPr>
        <a:xfrm>
          <a:off x="0" y="0"/>
          <a:ext cx="0" cy="0"/>
          <a:chOff x="0" y="0"/>
          <a:chExt cx="0" cy="0"/>
        </a:xfrm>
      </p:grpSpPr>
      <p:pic>
        <p:nvPicPr>
          <p:cNvPr id="2" name="Image 0" descr="Slide: The whole crew in one view.">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409798"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The whole crew</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in one view.</a:t>
            </a:r>
            <a:endParaRPr lang="en-US" sz="2590" dirty="0"/>
          </a:p>
        </p:txBody>
      </p:sp>
      <p:sp>
        <p:nvSpPr>
          <p:cNvPr id="5" name="Text 2"/>
          <p:cNvSpPr txBox="1"/>
          <p:nvPr/>
        </p:nvSpPr>
        <p:spPr>
          <a:xfrm>
            <a:off x="877824" y="2352580"/>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Utilization you can trust</a:t>
            </a:r>
            <a:endParaRPr lang="en-US" sz="990" dirty="0"/>
          </a:p>
        </p:txBody>
      </p:sp>
      <p:sp>
        <p:nvSpPr>
          <p:cNvPr id="6" name="Text 3"/>
          <p:cNvSpPr txBox="1"/>
          <p:nvPr/>
        </p:nvSpPr>
        <p:spPr>
          <a:xfrm>
            <a:off x="877824" y="2777776"/>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Idle staff named</a:t>
            </a:r>
            <a:endParaRPr lang="en-US" sz="990" dirty="0"/>
          </a:p>
        </p:txBody>
      </p:sp>
      <p:sp>
        <p:nvSpPr>
          <p:cNvPr id="7" name="Text 4"/>
          <p:cNvSpPr txBox="1"/>
          <p:nvPr/>
        </p:nvSpPr>
        <p:spPr>
          <a:xfrm>
            <a:off x="877824" y="3202972"/>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By board</a:t>
            </a:r>
            <a:endParaRPr lang="en-US" sz="990" dirty="0"/>
          </a:p>
        </p:txBody>
      </p:sp>
      <p:sp>
        <p:nvSpPr>
          <p:cNvPr id="8" name="Text 5"/>
          <p:cNvSpPr txBox="1"/>
          <p:nvPr/>
        </p:nvSpPr>
        <p:spPr>
          <a:xfrm>
            <a:off x="877824" y="3628168"/>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History and workload</a:t>
            </a:r>
            <a:endParaRPr lang="en-US" sz="990" dirty="0"/>
          </a:p>
        </p:txBody>
      </p:sp>
      <p:sp>
        <p:nvSpPr>
          <p:cNvPr id="9" name="Text 6"/>
          <p:cNvSpPr txBox="1"/>
          <p:nvPr/>
        </p:nvSpPr>
        <p:spPr>
          <a:xfrm>
            <a:off x="877824" y="2516457"/>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On-call staff who were not called stay out of the figure</a:t>
            </a:r>
            <a:endParaRPr lang="en-US" sz="810" dirty="0"/>
          </a:p>
        </p:txBody>
      </p:sp>
      <p:sp>
        <p:nvSpPr>
          <p:cNvPr id="10" name="Text 7"/>
          <p:cNvSpPr txBox="1"/>
          <p:nvPr/>
        </p:nvSpPr>
        <p:spPr>
          <a:xfrm>
            <a:off x="877824" y="2941653"/>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Permanent staff with no mission, listed by board</a:t>
            </a:r>
            <a:endParaRPr lang="en-US" sz="810" dirty="0"/>
          </a:p>
        </p:txBody>
      </p:sp>
      <p:sp>
        <p:nvSpPr>
          <p:cNvPr id="11" name="Text 8"/>
          <p:cNvSpPr txBox="1"/>
          <p:nvPr/>
        </p:nvSpPr>
        <p:spPr>
          <a:xfrm>
            <a:off x="877824" y="3366849"/>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Missions, headcount, leave and idle side by side</a:t>
            </a:r>
            <a:endParaRPr lang="en-US" sz="810" dirty="0"/>
          </a:p>
        </p:txBody>
      </p:sp>
      <p:sp>
        <p:nvSpPr>
          <p:cNvPr id="12" name="Text 9"/>
          <p:cNvSpPr txBox="1"/>
          <p:nvPr/>
        </p:nvSpPr>
        <p:spPr>
          <a:xfrm>
            <a:off x="877824" y="3792045"/>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Utilization over time and missions per engineer</a:t>
            </a:r>
            <a:endParaRPr lang="en-US" sz="81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DFE"/>
        </a:solidFill>
      </p:bgPr>
    </p:bg>
    <p:spTree>
      <p:nvGrpSpPr>
        <p:cNvPr id="1" name=""/>
        <p:cNvGrpSpPr/>
        <p:nvPr/>
      </p:nvGrpSpPr>
      <p:grpSpPr>
        <a:xfrm>
          <a:off x="0" y="0"/>
          <a:ext cx="0" cy="0"/>
          <a:chOff x="0" y="0"/>
          <a:chExt cx="0" cy="0"/>
        </a:xfrm>
      </p:grpSpPr>
      <p:pic>
        <p:nvPicPr>
          <p:cNvPr id="2" name="Image 0" descr="Slide: Every tool, part and consumable, accounted for.">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486400" y="1618488"/>
            <a:ext cx="3616452" cy="1087730"/>
          </a:xfrm>
          <a:prstGeom prst="rect">
            <a:avLst/>
          </a:prstGeom>
          <a:noFill/>
          <a:ln/>
        </p:spPr>
        <p:txBody>
          <a:bodyPr wrap="square" lIns="0" tIns="0" rIns="0" bIns="0" rtlCol="0" anchor="t"/>
          <a:lstStyle/>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Every tool, part</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and consumable,</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accounted for.</a:t>
            </a:r>
            <a:endParaRPr lang="en-US" sz="2520" dirty="0"/>
          </a:p>
        </p:txBody>
      </p:sp>
      <p:sp>
        <p:nvSpPr>
          <p:cNvPr id="4" name="Text 1"/>
          <p:cNvSpPr txBox="1"/>
          <p:nvPr/>
        </p:nvSpPr>
        <p:spPr>
          <a:xfrm>
            <a:off x="5907024" y="279134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Consumables</a:t>
            </a:r>
            <a:endParaRPr lang="en-US" sz="990" dirty="0"/>
          </a:p>
        </p:txBody>
      </p:sp>
      <p:sp>
        <p:nvSpPr>
          <p:cNvPr id="5" name="Text 2"/>
          <p:cNvSpPr txBox="1"/>
          <p:nvPr/>
        </p:nvSpPr>
        <p:spPr>
          <a:xfrm>
            <a:off x="5907024" y="3216545"/>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Tools &amp; Calibration</a:t>
            </a:r>
            <a:endParaRPr lang="en-US" sz="990" dirty="0"/>
          </a:p>
        </p:txBody>
      </p:sp>
      <p:sp>
        <p:nvSpPr>
          <p:cNvPr id="6" name="Text 3"/>
          <p:cNvSpPr txBox="1"/>
          <p:nvPr/>
        </p:nvSpPr>
        <p:spPr>
          <a:xfrm>
            <a:off x="5907024" y="3641741"/>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Customer Parts</a:t>
            </a:r>
            <a:endParaRPr lang="en-US" sz="990" dirty="0"/>
          </a:p>
        </p:txBody>
      </p:sp>
      <p:sp>
        <p:nvSpPr>
          <p:cNvPr id="7" name="Text 4"/>
          <p:cNvSpPr txBox="1"/>
          <p:nvPr/>
        </p:nvSpPr>
        <p:spPr>
          <a:xfrm>
            <a:off x="5907024" y="4066937"/>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To-Do and Audit Trail</a:t>
            </a:r>
            <a:endParaRPr lang="en-US" sz="990" dirty="0"/>
          </a:p>
        </p:txBody>
      </p:sp>
      <p:sp>
        <p:nvSpPr>
          <p:cNvPr id="8" name="Text 5"/>
          <p:cNvSpPr txBox="1"/>
          <p:nvPr/>
        </p:nvSpPr>
        <p:spPr>
          <a:xfrm>
            <a:off x="5907024" y="2955227"/>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Stock per warehouse against its safety level</a:t>
            </a:r>
            <a:endParaRPr lang="en-US" sz="810" dirty="0"/>
          </a:p>
        </p:txBody>
      </p:sp>
      <p:sp>
        <p:nvSpPr>
          <p:cNvPr id="9" name="Text 6"/>
          <p:cNvSpPr txBox="1"/>
          <p:nvPr/>
        </p:nvSpPr>
        <p:spPr>
          <a:xfrm>
            <a:off x="5907024" y="3380423"/>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Borrow, return and calibration due dates</a:t>
            </a:r>
            <a:endParaRPr lang="en-US" sz="810" dirty="0"/>
          </a:p>
        </p:txBody>
      </p:sp>
      <p:sp>
        <p:nvSpPr>
          <p:cNvPr id="10" name="Text 7"/>
          <p:cNvSpPr txBox="1"/>
          <p:nvPr/>
        </p:nvSpPr>
        <p:spPr>
          <a:xfrm>
            <a:off x="5907024" y="3805619"/>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OK, NG, Sorting and Hold per lot</a:t>
            </a:r>
            <a:endParaRPr lang="en-US" sz="810" dirty="0"/>
          </a:p>
        </p:txBody>
      </p:sp>
      <p:sp>
        <p:nvSpPr>
          <p:cNvPr id="11" name="Text 8"/>
          <p:cNvSpPr txBox="1"/>
          <p:nvPr/>
        </p:nvSpPr>
        <p:spPr>
          <a:xfrm>
            <a:off x="5907024" y="4230815"/>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Approvals in one queue, every change on record</a:t>
            </a:r>
            <a:endParaRPr lang="en-US" sz="81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DFE"/>
        </a:solidFill>
      </p:bgPr>
    </p:bg>
    <p:spTree>
      <p:nvGrpSpPr>
        <p:cNvPr id="1" name=""/>
        <p:cNvGrpSpPr/>
        <p:nvPr/>
      </p:nvGrpSpPr>
      <p:grpSpPr>
        <a:xfrm>
          <a:off x="0" y="0"/>
          <a:ext cx="0" cy="0"/>
          <a:chOff x="0" y="0"/>
          <a:chExt cx="0" cy="0"/>
        </a:xfrm>
      </p:grpSpPr>
      <p:pic>
        <p:nvPicPr>
          <p:cNvPr id="2" name="Image 0" descr="Slide: Stay above safety stock in every warehous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929225"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Consumables</a:t>
            </a:r>
            <a:endParaRPr lang="en-US" sz="720" dirty="0"/>
          </a:p>
        </p:txBody>
      </p:sp>
      <p:sp>
        <p:nvSpPr>
          <p:cNvPr id="4" name="Text 1"/>
          <p:cNvSpPr txBox="1"/>
          <p:nvPr/>
        </p:nvSpPr>
        <p:spPr>
          <a:xfrm>
            <a:off x="457200" y="1490472"/>
            <a:ext cx="3203143" cy="1056615"/>
          </a:xfrm>
          <a:prstGeom prst="rect">
            <a:avLst/>
          </a:prstGeom>
          <a:noFill/>
          <a:ln/>
        </p:spPr>
        <p:txBody>
          <a:bodyPr wrap="square" lIns="0" tIns="0" rIns="0" bIns="0" rtlCol="0" anchor="t"/>
          <a:lstStyle/>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Stay above</a:t>
            </a:r>
            <a:endParaRPr lang="en-US" sz="2450" dirty="0"/>
          </a:p>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safety stock in</a:t>
            </a:r>
            <a:endParaRPr lang="en-US" sz="2450" dirty="0"/>
          </a:p>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every warehouse.</a:t>
            </a:r>
            <a:endParaRPr lang="en-US" sz="2450" dirty="0"/>
          </a:p>
        </p:txBody>
      </p:sp>
      <p:sp>
        <p:nvSpPr>
          <p:cNvPr id="5" name="Text 2"/>
          <p:cNvSpPr txBox="1"/>
          <p:nvPr/>
        </p:nvSpPr>
        <p:spPr>
          <a:xfrm>
            <a:off x="877824" y="2635044"/>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Safety stock per warehouse</a:t>
            </a:r>
            <a:endParaRPr lang="en-US" sz="990" dirty="0"/>
          </a:p>
        </p:txBody>
      </p:sp>
      <p:sp>
        <p:nvSpPr>
          <p:cNvPr id="6" name="Text 3"/>
          <p:cNvSpPr txBox="1"/>
          <p:nvPr/>
        </p:nvSpPr>
        <p:spPr>
          <a:xfrm>
            <a:off x="877824" y="3060240"/>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Clear stock status</a:t>
            </a:r>
            <a:endParaRPr lang="en-US" sz="990" dirty="0"/>
          </a:p>
        </p:txBody>
      </p:sp>
      <p:sp>
        <p:nvSpPr>
          <p:cNvPr id="7" name="Text 4"/>
          <p:cNvSpPr txBox="1"/>
          <p:nvPr/>
        </p:nvSpPr>
        <p:spPr>
          <a:xfrm>
            <a:off x="877824" y="3485436"/>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Predicted run-out and spikes</a:t>
            </a:r>
            <a:endParaRPr lang="en-US" sz="990" dirty="0"/>
          </a:p>
        </p:txBody>
      </p:sp>
      <p:sp>
        <p:nvSpPr>
          <p:cNvPr id="8" name="Text 5"/>
          <p:cNvSpPr txBox="1"/>
          <p:nvPr/>
        </p:nvSpPr>
        <p:spPr>
          <a:xfrm>
            <a:off x="877824" y="3910632"/>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Cart for every issue</a:t>
            </a:r>
            <a:endParaRPr lang="en-US" sz="990" dirty="0"/>
          </a:p>
        </p:txBody>
      </p:sp>
      <p:sp>
        <p:nvSpPr>
          <p:cNvPr id="9" name="Text 6"/>
          <p:cNvSpPr txBox="1"/>
          <p:nvPr/>
        </p:nvSpPr>
        <p:spPr>
          <a:xfrm>
            <a:off x="877824" y="2798921"/>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 hand against the safety level, with a gauge</a:t>
            </a:r>
            <a:endParaRPr lang="en-US" sz="810" dirty="0"/>
          </a:p>
        </p:txBody>
      </p:sp>
      <p:sp>
        <p:nvSpPr>
          <p:cNvPr id="10" name="Text 7"/>
          <p:cNvSpPr txBox="1"/>
          <p:nvPr/>
        </p:nvSpPr>
        <p:spPr>
          <a:xfrm>
            <a:off x="877824" y="3224117"/>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Out of stock, Low or In stock, warehouse named</a:t>
            </a:r>
            <a:endParaRPr lang="en-US" sz="810" dirty="0"/>
          </a:p>
        </p:txBody>
      </p:sp>
      <p:sp>
        <p:nvSpPr>
          <p:cNvPr id="11" name="Text 8"/>
          <p:cNvSpPr txBox="1"/>
          <p:nvPr/>
        </p:nvSpPr>
        <p:spPr>
          <a:xfrm>
            <a:off x="877824" y="3649313"/>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Days left and demand spikes, before it hurts</a:t>
            </a:r>
            <a:endParaRPr lang="en-US" sz="810" dirty="0"/>
          </a:p>
        </p:txBody>
      </p:sp>
      <p:sp>
        <p:nvSpPr>
          <p:cNvPr id="12" name="Text 9"/>
          <p:cNvSpPr txBox="1"/>
          <p:nvPr/>
        </p:nvSpPr>
        <p:spPr>
          <a:xfrm>
            <a:off x="877824" y="4074509"/>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Add items; nothing is sent until you check out</a:t>
            </a:r>
            <a:endParaRPr lang="en-US" sz="810" dirty="0"/>
          </a:p>
        </p:txBody>
      </p:sp>
      <p:sp>
        <p:nvSpPr>
          <p:cNvPr id="13" name="Text 10"/>
          <p:cNvSpPr txBox="1"/>
          <p:nvPr/>
        </p:nvSpPr>
        <p:spPr>
          <a:xfrm>
            <a:off x="731663" y="4526280"/>
            <a:ext cx="741127"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Receive delivery</a:t>
            </a:r>
            <a:endParaRPr lang="en-US" sz="720" dirty="0"/>
          </a:p>
        </p:txBody>
      </p:sp>
      <p:sp>
        <p:nvSpPr>
          <p:cNvPr id="14" name="Text 11"/>
          <p:cNvSpPr txBox="1"/>
          <p:nvPr/>
        </p:nvSpPr>
        <p:spPr>
          <a:xfrm>
            <a:off x="1847802" y="4526280"/>
            <a:ext cx="557813"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Count stock</a:t>
            </a:r>
            <a:endParaRPr lang="en-US" sz="720" dirty="0"/>
          </a:p>
        </p:txBody>
      </p:sp>
      <p:sp>
        <p:nvSpPr>
          <p:cNvPr id="15" name="Text 12"/>
          <p:cNvSpPr txBox="1"/>
          <p:nvPr/>
        </p:nvSpPr>
        <p:spPr>
          <a:xfrm>
            <a:off x="2794206" y="4526280"/>
            <a:ext cx="546085"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Stock filters</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DFE"/>
        </a:solidFill>
      </p:bgPr>
    </p:bg>
    <p:spTree>
      <p:nvGrpSpPr>
        <p:cNvPr id="1" name=""/>
        <p:cNvGrpSpPr/>
        <p:nvPr/>
      </p:nvGrpSpPr>
      <p:grpSpPr>
        <a:xfrm>
          <a:off x="0" y="0"/>
          <a:ext cx="0" cy="0"/>
          <a:chOff x="0" y="0"/>
          <a:chExt cx="0" cy="0"/>
        </a:xfrm>
      </p:grpSpPr>
      <p:pic>
        <p:nvPicPr>
          <p:cNvPr id="2" name="Image 0" descr="Slide: Borrow a tool in a minut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457200" y="1490472"/>
            <a:ext cx="3513125"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Borrow a tool</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in a minute.</a:t>
            </a:r>
            <a:endParaRPr lang="en-US" sz="2590" dirty="0"/>
          </a:p>
        </p:txBody>
      </p:sp>
      <p:sp>
        <p:nvSpPr>
          <p:cNvPr id="5" name="Text 2"/>
          <p:cNvSpPr txBox="1"/>
          <p:nvPr/>
        </p:nvSpPr>
        <p:spPr>
          <a:xfrm>
            <a:off x="877824" y="2352580"/>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Find it</a:t>
            </a:r>
            <a:endParaRPr lang="en-US" sz="990" dirty="0"/>
          </a:p>
        </p:txBody>
      </p:sp>
      <p:sp>
        <p:nvSpPr>
          <p:cNvPr id="6" name="Text 3"/>
          <p:cNvSpPr txBox="1"/>
          <p:nvPr/>
        </p:nvSpPr>
        <p:spPr>
          <a:xfrm>
            <a:off x="877824" y="2777776"/>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Check it</a:t>
            </a:r>
            <a:endParaRPr lang="en-US" sz="990" dirty="0"/>
          </a:p>
        </p:txBody>
      </p:sp>
      <p:sp>
        <p:nvSpPr>
          <p:cNvPr id="7" name="Text 4"/>
          <p:cNvSpPr txBox="1"/>
          <p:nvPr/>
        </p:nvSpPr>
        <p:spPr>
          <a:xfrm>
            <a:off x="877824" y="3202972"/>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Request it</a:t>
            </a:r>
            <a:endParaRPr lang="en-US" sz="990" dirty="0"/>
          </a:p>
        </p:txBody>
      </p:sp>
      <p:sp>
        <p:nvSpPr>
          <p:cNvPr id="8" name="Text 5"/>
          <p:cNvSpPr txBox="1"/>
          <p:nvPr/>
        </p:nvSpPr>
        <p:spPr>
          <a:xfrm>
            <a:off x="877824" y="3628168"/>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Return it</a:t>
            </a:r>
            <a:endParaRPr lang="en-US" sz="990" dirty="0"/>
          </a:p>
        </p:txBody>
      </p:sp>
      <p:sp>
        <p:nvSpPr>
          <p:cNvPr id="9" name="Text 6"/>
          <p:cNvSpPr txBox="1"/>
          <p:nvPr/>
        </p:nvSpPr>
        <p:spPr>
          <a:xfrm>
            <a:off x="877824" y="2516457"/>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Search, or scan the barcode with your phone camera</a:t>
            </a:r>
            <a:endParaRPr lang="en-US" sz="810" dirty="0"/>
          </a:p>
        </p:txBody>
      </p:sp>
      <p:sp>
        <p:nvSpPr>
          <p:cNvPr id="10" name="Text 7"/>
          <p:cNvSpPr txBox="1"/>
          <p:nvPr/>
        </p:nvSpPr>
        <p:spPr>
          <a:xfrm>
            <a:off x="877824" y="2941653"/>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Calibration valid-to date and usable range on every tool</a:t>
            </a:r>
            <a:endParaRPr lang="en-US" sz="810" dirty="0"/>
          </a:p>
        </p:txBody>
      </p:sp>
      <p:sp>
        <p:nvSpPr>
          <p:cNvPr id="11" name="Text 8"/>
          <p:cNvSpPr txBox="1"/>
          <p:nvPr/>
        </p:nvSpPr>
        <p:spPr>
          <a:xfrm>
            <a:off x="877824" y="3366849"/>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Add to the cart and send one request</a:t>
            </a:r>
            <a:endParaRPr lang="en-US" sz="810" dirty="0"/>
          </a:p>
        </p:txBody>
      </p:sp>
      <p:sp>
        <p:nvSpPr>
          <p:cNvPr id="12" name="Text 9"/>
          <p:cNvSpPr txBox="1"/>
          <p:nvPr/>
        </p:nvSpPr>
        <p:spPr>
          <a:xfrm>
            <a:off x="877824" y="3792045"/>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Overdue returns are flagged, so nothing goes missing</a:t>
            </a:r>
            <a:endParaRPr lang="en-US" sz="81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DFE"/>
        </a:solidFill>
      </p:bgPr>
    </p:bg>
    <p:spTree>
      <p:nvGrpSpPr>
        <p:cNvPr id="1" name=""/>
        <p:cNvGrpSpPr/>
        <p:nvPr/>
      </p:nvGrpSpPr>
      <p:grpSpPr>
        <a:xfrm>
          <a:off x="0" y="0"/>
          <a:ext cx="0" cy="0"/>
          <a:chOff x="0" y="0"/>
          <a:chExt cx="0" cy="0"/>
        </a:xfrm>
      </p:grpSpPr>
      <p:pic>
        <p:nvPicPr>
          <p:cNvPr id="2" name="Image 0" descr="Slide: Customer parts, lot by lo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869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5486400" y="1490472"/>
            <a:ext cx="3616452" cy="758118"/>
          </a:xfrm>
          <a:prstGeom prst="rect">
            <a:avLst/>
          </a:prstGeom>
          <a:noFill/>
          <a:ln/>
        </p:spPr>
        <p:txBody>
          <a:bodyPr wrap="square" lIns="0" tIns="0" rIns="0" bIns="0" rtlCol="0" anchor="t"/>
          <a:lstStyle/>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Customer</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parts, lot by lot.</a:t>
            </a:r>
            <a:endParaRPr lang="en-US" sz="2520" dirty="0"/>
          </a:p>
        </p:txBody>
      </p:sp>
      <p:sp>
        <p:nvSpPr>
          <p:cNvPr id="5" name="Text 2"/>
          <p:cNvSpPr txBox="1"/>
          <p:nvPr/>
        </p:nvSpPr>
        <p:spPr>
          <a:xfrm>
            <a:off x="5907024" y="2333720"/>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Inspection status per lot</a:t>
            </a:r>
            <a:endParaRPr lang="en-US" sz="990" dirty="0"/>
          </a:p>
        </p:txBody>
      </p:sp>
      <p:sp>
        <p:nvSpPr>
          <p:cNvPr id="6" name="Text 3"/>
          <p:cNvSpPr txBox="1"/>
          <p:nvPr/>
        </p:nvSpPr>
        <p:spPr>
          <a:xfrm>
            <a:off x="5907024" y="2758916"/>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Aged parts flagged</a:t>
            </a:r>
            <a:endParaRPr lang="en-US" sz="990" dirty="0"/>
          </a:p>
        </p:txBody>
      </p:sp>
      <p:sp>
        <p:nvSpPr>
          <p:cNvPr id="7" name="Text 4"/>
          <p:cNvSpPr txBox="1"/>
          <p:nvPr/>
        </p:nvSpPr>
        <p:spPr>
          <a:xfrm>
            <a:off x="5907024" y="318296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Deliveries in and out</a:t>
            </a:r>
            <a:endParaRPr lang="en-US" sz="990" dirty="0"/>
          </a:p>
        </p:txBody>
      </p:sp>
      <p:sp>
        <p:nvSpPr>
          <p:cNvPr id="8" name="Text 5"/>
          <p:cNvSpPr txBox="1"/>
          <p:nvPr/>
        </p:nvSpPr>
        <p:spPr>
          <a:xfrm>
            <a:off x="5907024" y="375146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Confirm what really arrived</a:t>
            </a:r>
            <a:endParaRPr lang="en-US" sz="990" dirty="0"/>
          </a:p>
        </p:txBody>
      </p:sp>
      <p:sp>
        <p:nvSpPr>
          <p:cNvPr id="9" name="Text 6"/>
          <p:cNvSpPr txBox="1"/>
          <p:nvPr/>
        </p:nvSpPr>
        <p:spPr>
          <a:xfrm>
            <a:off x="5907024" y="2497598"/>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OK, NG, Sorting and Hold, with the total and the lots</a:t>
            </a:r>
            <a:endParaRPr lang="en-US" sz="810" dirty="0"/>
          </a:p>
        </p:txBody>
      </p:sp>
      <p:sp>
        <p:nvSpPr>
          <p:cNvPr id="10" name="Text 7"/>
          <p:cNvSpPr txBox="1"/>
          <p:nvPr/>
        </p:nvSpPr>
        <p:spPr>
          <a:xfrm>
            <a:off x="5907024" y="2922794"/>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Amber past the aged threshold, red past twice it</a:t>
            </a:r>
            <a:endParaRPr lang="en-US" sz="810" dirty="0"/>
          </a:p>
        </p:txBody>
      </p:sp>
      <p:sp>
        <p:nvSpPr>
          <p:cNvPr id="11" name="Text 8"/>
          <p:cNvSpPr txBox="1"/>
          <p:nvPr/>
        </p:nvSpPr>
        <p:spPr>
          <a:xfrm>
            <a:off x="5907024" y="3346847"/>
            <a:ext cx="3141147" cy="332576"/>
          </a:xfrm>
          <a:prstGeom prst="rect">
            <a:avLst/>
          </a:prstGeom>
          <a:noFill/>
          <a:ln/>
        </p:spPr>
        <p:txBody>
          <a:bodyPr wrap="squar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Several parts on one Asset In-Out Form; booked stock is</a:t>
            </a:r>
            <a:endParaRPr lang="en-US" sz="810" dirty="0"/>
          </a:p>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reserved</a:t>
            </a:r>
            <a:endParaRPr lang="en-US" sz="810" dirty="0"/>
          </a:p>
        </p:txBody>
      </p:sp>
      <p:sp>
        <p:nvSpPr>
          <p:cNvPr id="12" name="Text 9"/>
          <p:cNvSpPr txBox="1"/>
          <p:nvPr/>
        </p:nvSpPr>
        <p:spPr>
          <a:xfrm>
            <a:off x="5907024" y="3915347"/>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Actual quantities per line; any difference goes in the log</a:t>
            </a:r>
            <a:endParaRPr lang="en-US" sz="81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DFE"/>
        </a:solidFill>
      </p:bgPr>
    </p:bg>
    <p:spTree>
      <p:nvGrpSpPr>
        <p:cNvPr id="1" name=""/>
        <p:cNvGrpSpPr/>
        <p:nvPr/>
      </p:nvGrpSpPr>
      <p:grpSpPr>
        <a:xfrm>
          <a:off x="0" y="0"/>
          <a:ext cx="0" cy="0"/>
          <a:chOff x="0" y="0"/>
          <a:chExt cx="0" cy="0"/>
        </a:xfrm>
      </p:grpSpPr>
      <p:pic>
        <p:nvPicPr>
          <p:cNvPr id="2" name="Image 0" descr="Slide: Both apps fit in your pocke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97119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On your phone</a:t>
            </a:r>
            <a:endParaRPr lang="en-US" sz="720" dirty="0"/>
          </a:p>
        </p:txBody>
      </p:sp>
      <p:sp>
        <p:nvSpPr>
          <p:cNvPr id="4" name="Text 1"/>
          <p:cNvSpPr txBox="1"/>
          <p:nvPr/>
        </p:nvSpPr>
        <p:spPr>
          <a:xfrm>
            <a:off x="457200" y="1508760"/>
            <a:ext cx="3616452" cy="952997"/>
          </a:xfrm>
          <a:prstGeom prst="rect">
            <a:avLst/>
          </a:prstGeom>
          <a:noFill/>
          <a:ln/>
        </p:spPr>
        <p:txBody>
          <a:bodyPr wrap="square" lIns="0" tIns="0" rIns="0" bIns="0" rtlCol="0" anchor="t"/>
          <a:lstStyle/>
          <a:p>
            <a:pPr algn="l" indent="0" marL="0">
              <a:lnSpc>
                <a:spcPts val="3260"/>
              </a:lnSpc>
              <a:buNone/>
            </a:pPr>
            <a:r>
              <a:rPr lang="en-US" sz="3170" b="1" spc="-158" kern="0" dirty="0">
                <a:solidFill>
                  <a:srgbClr val="071A33"/>
                </a:solidFill>
                <a:latin typeface="Arial" pitchFamily="34" charset="0"/>
                <a:ea typeface="Arial" pitchFamily="34" charset="-122"/>
                <a:cs typeface="Arial" pitchFamily="34" charset="-120"/>
              </a:rPr>
              <a:t>Both apps fit</a:t>
            </a:r>
            <a:endParaRPr lang="en-US" sz="3170" dirty="0"/>
          </a:p>
          <a:p>
            <a:pPr algn="l" indent="0" marL="0">
              <a:lnSpc>
                <a:spcPts val="3260"/>
              </a:lnSpc>
              <a:buNone/>
            </a:pPr>
            <a:r>
              <a:rPr lang="en-US" sz="3170" b="1" spc="-158" kern="0" dirty="0">
                <a:solidFill>
                  <a:srgbClr val="071A33"/>
                </a:solidFill>
                <a:latin typeface="Arial" pitchFamily="34" charset="0"/>
                <a:ea typeface="Arial" pitchFamily="34" charset="-122"/>
                <a:cs typeface="Arial" pitchFamily="34" charset="-120"/>
              </a:rPr>
              <a:t>in your pocket.</a:t>
            </a:r>
            <a:endParaRPr lang="en-US" sz="3170" dirty="0"/>
          </a:p>
        </p:txBody>
      </p:sp>
      <p:sp>
        <p:nvSpPr>
          <p:cNvPr id="5" name="Text 2"/>
          <p:cNvSpPr txBox="1"/>
          <p:nvPr/>
        </p:nvSpPr>
        <p:spPr>
          <a:xfrm>
            <a:off x="457200" y="2502027"/>
            <a:ext cx="3616452" cy="678942"/>
          </a:xfrm>
          <a:prstGeom prst="rect">
            <a:avLst/>
          </a:prstGeom>
          <a:noFill/>
          <a:ln/>
        </p:spPr>
        <p:txBody>
          <a:bodyPr wrap="square" lIns="0" tIns="0" rIns="0" bIns="0" rtlCol="0" anchor="t"/>
          <a:lstStyle/>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Each app has its own phone layout and installs</a:t>
            </a:r>
            <a:endParaRPr lang="en-US" sz="1080" dirty="0"/>
          </a:p>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from the browser like a native app. No app</a:t>
            </a:r>
            <a:endParaRPr lang="en-US" sz="1080" dirty="0"/>
          </a:p>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store needed.</a:t>
            </a:r>
            <a:endParaRPr lang="en-US" sz="1080" dirty="0"/>
          </a:p>
        </p:txBody>
      </p:sp>
      <p:sp>
        <p:nvSpPr>
          <p:cNvPr id="6" name="Text 3"/>
          <p:cNvSpPr txBox="1"/>
          <p:nvPr/>
        </p:nvSpPr>
        <p:spPr>
          <a:xfrm>
            <a:off x="457200" y="3320415"/>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01</a:t>
            </a:r>
            <a:endParaRPr lang="en-US" sz="1370" dirty="0"/>
          </a:p>
        </p:txBody>
      </p:sp>
      <p:sp>
        <p:nvSpPr>
          <p:cNvPr id="7" name="Text 4"/>
          <p:cNvSpPr txBox="1"/>
          <p:nvPr/>
        </p:nvSpPr>
        <p:spPr>
          <a:xfrm>
            <a:off x="457200" y="3793903"/>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02</a:t>
            </a:r>
            <a:endParaRPr lang="en-US" sz="1370" dirty="0"/>
          </a:p>
        </p:txBody>
      </p:sp>
      <p:sp>
        <p:nvSpPr>
          <p:cNvPr id="8" name="Text 5"/>
          <p:cNvSpPr txBox="1"/>
          <p:nvPr/>
        </p:nvSpPr>
        <p:spPr>
          <a:xfrm>
            <a:off x="457200" y="4108371"/>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03</a:t>
            </a:r>
            <a:endParaRPr lang="en-US" sz="1370" dirty="0"/>
          </a:p>
        </p:txBody>
      </p:sp>
      <p:sp>
        <p:nvSpPr>
          <p:cNvPr id="9" name="Text 6"/>
          <p:cNvSpPr txBox="1"/>
          <p:nvPr/>
        </p:nvSpPr>
        <p:spPr>
          <a:xfrm>
            <a:off x="868680" y="3347847"/>
            <a:ext cx="3151480" cy="365771"/>
          </a:xfrm>
          <a:prstGeom prst="rect">
            <a:avLst/>
          </a:prstGeom>
          <a:noFill/>
          <a:ln/>
        </p:spPr>
        <p:txBody>
          <a:bodyPr wrap="squar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Scan</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the code and sign in with your @trigo-group.com</a:t>
            </a:r>
            <a:endParaRPr lang="en-US" sz="860" dirty="0"/>
          </a:p>
          <a:p>
            <a:pPr algn="l" indent="0" marL="0">
              <a:lnSpc>
                <a:spcPts val="1250"/>
              </a:lnSpc>
              <a:buNone/>
            </a:pPr>
            <a:r>
              <a:rPr lang="en-US" sz="860" dirty="0">
                <a:solidFill>
                  <a:srgbClr val="4D6585"/>
                </a:solidFill>
                <a:latin typeface="Arial" pitchFamily="34" charset="0"/>
                <a:ea typeface="Arial" pitchFamily="34" charset="-122"/>
                <a:cs typeface="Arial" pitchFamily="34" charset="-120"/>
              </a:rPr>
              <a:t>email.</a:t>
            </a:r>
            <a:endParaRPr lang="en-US" sz="860" dirty="0"/>
          </a:p>
        </p:txBody>
      </p:sp>
      <p:sp>
        <p:nvSpPr>
          <p:cNvPr id="10" name="Text 7"/>
          <p:cNvSpPr txBox="1"/>
          <p:nvPr/>
        </p:nvSpPr>
        <p:spPr>
          <a:xfrm>
            <a:off x="868680" y="3821335"/>
            <a:ext cx="3012034" cy="206752"/>
          </a:xfrm>
          <a:prstGeom prst="rect">
            <a:avLst/>
          </a:prstGeom>
          <a:noFill/>
          <a:ln/>
        </p:spPr>
        <p:txBody>
          <a:bodyPr wrap="non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iPhone:</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in Safari tap Share, then Add to Home Screen.</a:t>
            </a:r>
            <a:endParaRPr lang="en-US" sz="860" dirty="0"/>
          </a:p>
        </p:txBody>
      </p:sp>
      <p:sp>
        <p:nvSpPr>
          <p:cNvPr id="11" name="Text 8"/>
          <p:cNvSpPr txBox="1"/>
          <p:nvPr/>
        </p:nvSpPr>
        <p:spPr>
          <a:xfrm>
            <a:off x="868680" y="4135803"/>
            <a:ext cx="3012034" cy="206752"/>
          </a:xfrm>
          <a:prstGeom prst="rect">
            <a:avLst/>
          </a:prstGeom>
          <a:noFill/>
          <a:ln/>
        </p:spPr>
        <p:txBody>
          <a:bodyPr wrap="non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Android:</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in Chrome tap the menu, then Install app.</a:t>
            </a:r>
            <a:endParaRPr lang="en-US" sz="860" dirty="0"/>
          </a:p>
        </p:txBody>
      </p:sp>
      <p:sp>
        <p:nvSpPr>
          <p:cNvPr id="12" name="Text 9"/>
          <p:cNvSpPr txBox="1"/>
          <p:nvPr/>
        </p:nvSpPr>
        <p:spPr>
          <a:xfrm>
            <a:off x="4542854" y="1865376"/>
            <a:ext cx="1287521"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71A33"/>
                </a:solidFill>
                <a:latin typeface="Arial" pitchFamily="34" charset="0"/>
                <a:ea typeface="Arial" pitchFamily="34" charset="-122"/>
                <a:cs typeface="Arial" pitchFamily="34" charset="-120"/>
              </a:rPr>
              <a:t>Manpower Board</a:t>
            </a:r>
            <a:endParaRPr lang="en-US" sz="1220" dirty="0"/>
          </a:p>
        </p:txBody>
      </p:sp>
      <p:sp>
        <p:nvSpPr>
          <p:cNvPr id="13" name="Text 10"/>
          <p:cNvSpPr txBox="1"/>
          <p:nvPr/>
        </p:nvSpPr>
        <p:spPr>
          <a:xfrm>
            <a:off x="6906435" y="1865376"/>
            <a:ext cx="1435808"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71A33"/>
                </a:solidFill>
                <a:latin typeface="Arial" pitchFamily="34" charset="0"/>
                <a:ea typeface="Arial" pitchFamily="34" charset="-122"/>
                <a:cs typeface="Arial" pitchFamily="34" charset="-120"/>
              </a:rPr>
              <a:t>Inventory &amp; Quality</a:t>
            </a:r>
            <a:endParaRPr lang="en-US" sz="1220" dirty="0"/>
          </a:p>
        </p:txBody>
      </p:sp>
      <p:sp>
        <p:nvSpPr>
          <p:cNvPr id="14" name="Text 11"/>
          <p:cNvSpPr txBox="1"/>
          <p:nvPr/>
        </p:nvSpPr>
        <p:spPr>
          <a:xfrm>
            <a:off x="5401247" y="4389120"/>
            <a:ext cx="1092788" cy="283893"/>
          </a:xfrm>
          <a:prstGeom prst="rect">
            <a:avLst/>
          </a:prstGeom>
          <a:noFill/>
          <a:ln/>
        </p:spPr>
        <p:txBody>
          <a:bodyPr wrap="none" lIns="0" tIns="0" rIns="0" bIns="0" rtlCol="0" anchor="ctr"/>
          <a:lstStyle/>
          <a:p>
            <a:pPr algn="l" indent="0" marL="0">
              <a:lnSpc>
                <a:spcPts val="950"/>
              </a:lnSpc>
              <a:buNone/>
            </a:pPr>
            <a:r>
              <a:rPr lang="en-US" sz="790" dirty="0">
                <a:solidFill>
                  <a:srgbClr val="071A33"/>
                </a:solidFill>
                <a:latin typeface="Arial" pitchFamily="34" charset="0"/>
                <a:ea typeface="Arial" pitchFamily="34" charset="-122"/>
                <a:cs typeface="Arial" pitchFamily="34" charset="-120"/>
              </a:rPr>
              <a:t>Installable app (PWA)</a:t>
            </a:r>
            <a:endParaRPr lang="en-US" sz="790" dirty="0"/>
          </a:p>
        </p:txBody>
      </p:sp>
      <p:sp>
        <p:nvSpPr>
          <p:cNvPr id="15" name="Text 12"/>
          <p:cNvSpPr txBox="1"/>
          <p:nvPr/>
        </p:nvSpPr>
        <p:spPr>
          <a:xfrm>
            <a:off x="6879574" y="4389120"/>
            <a:ext cx="661351" cy="283893"/>
          </a:xfrm>
          <a:prstGeom prst="rect">
            <a:avLst/>
          </a:prstGeom>
          <a:noFill/>
          <a:ln/>
        </p:spPr>
        <p:txBody>
          <a:bodyPr wrap="none" lIns="0" tIns="0" rIns="0" bIns="0" rtlCol="0" anchor="ctr"/>
          <a:lstStyle/>
          <a:p>
            <a:pPr algn="l" indent="0" marL="0">
              <a:lnSpc>
                <a:spcPts val="950"/>
              </a:lnSpc>
              <a:buNone/>
            </a:pPr>
            <a:r>
              <a:rPr lang="en-US" sz="790" dirty="0">
                <a:solidFill>
                  <a:srgbClr val="071A33"/>
                </a:solidFill>
                <a:latin typeface="Arial" pitchFamily="34" charset="0"/>
                <a:ea typeface="Arial" pitchFamily="34" charset="-122"/>
                <a:cs typeface="Arial" pitchFamily="34" charset="-120"/>
              </a:rPr>
              <a:t>Phone layout</a:t>
            </a:r>
            <a:endParaRPr lang="en-US" sz="790" dirty="0"/>
          </a:p>
        </p:txBody>
      </p:sp>
      <p:sp>
        <p:nvSpPr>
          <p:cNvPr id="16" name="Text 13"/>
          <p:cNvSpPr txBox="1"/>
          <p:nvPr/>
        </p:nvSpPr>
        <p:spPr>
          <a:xfrm>
            <a:off x="4214487" y="3761327"/>
            <a:ext cx="1848883" cy="228600"/>
          </a:xfrm>
          <a:prstGeom prst="rect">
            <a:avLst/>
          </a:prstGeom>
          <a:noFill/>
          <a:ln/>
        </p:spPr>
        <p:txBody>
          <a:bodyPr wrap="none" lIns="0" tIns="0" rIns="0" bIns="0" rtlCol="0" anchor="ctr"/>
          <a:lstStyle/>
          <a:p>
            <a:pPr algn="ctr" indent="0" marL="0">
              <a:lnSpc>
                <a:spcPts val="860"/>
              </a:lnSpc>
              <a:buNone/>
            </a:pPr>
            <a:r>
              <a:rPr lang="en-US" sz="720" dirty="0">
                <a:solidFill>
                  <a:srgbClr val="0B4FBF"/>
                </a:solidFill>
                <a:latin typeface="Arial" pitchFamily="34" charset="0"/>
                <a:ea typeface="Arial" pitchFamily="34" charset="-122"/>
                <a:cs typeface="Arial" pitchFamily="34" charset="-120"/>
              </a:rPr>
              <a:t>trigoth-manpowerboard.netlify.app</a:t>
            </a:r>
            <a:endParaRPr lang="en-US" sz="720" dirty="0"/>
          </a:p>
        </p:txBody>
      </p:sp>
      <p:sp>
        <p:nvSpPr>
          <p:cNvPr id="17" name="Text 14"/>
          <p:cNvSpPr txBox="1"/>
          <p:nvPr/>
        </p:nvSpPr>
        <p:spPr>
          <a:xfrm>
            <a:off x="6825173" y="3761327"/>
            <a:ext cx="1491975" cy="228600"/>
          </a:xfrm>
          <a:prstGeom prst="rect">
            <a:avLst/>
          </a:prstGeom>
          <a:noFill/>
          <a:ln/>
        </p:spPr>
        <p:txBody>
          <a:bodyPr wrap="none" lIns="0" tIns="0" rIns="0" bIns="0" rtlCol="0" anchor="ctr"/>
          <a:lstStyle/>
          <a:p>
            <a:pPr algn="ctr" indent="0" marL="0">
              <a:lnSpc>
                <a:spcPts val="860"/>
              </a:lnSpc>
              <a:buNone/>
            </a:pPr>
            <a:r>
              <a:rPr lang="en-US" sz="720" dirty="0">
                <a:solidFill>
                  <a:srgbClr val="0B4FBF"/>
                </a:solidFill>
                <a:latin typeface="Arial" pitchFamily="34" charset="0"/>
                <a:ea typeface="Arial" pitchFamily="34" charset="-122"/>
                <a:cs typeface="Arial" pitchFamily="34" charset="-120"/>
              </a:rPr>
              <a:t>trigoth-inventory.pages.dev</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Non-Rayong overview 2026</dc:title>
  <dc:subject>PptxGenJS Presentation</dc:subject>
  <dc:creator>TRIGO Quality Services Thailand</dc:creator>
  <cp:lastModifiedBy>TRIGO Quality Services Thailand</cp:lastModifiedBy>
  <cp:revision>1</cp:revision>
  <dcterms:created xsi:type="dcterms:W3CDTF">2026-10-21T03:45:59Z</dcterms:created>
  <dcterms:modified xsi:type="dcterms:W3CDTF">2026-10-21T03:45:59Z</dcterms:modified>
</cp:coreProperties>
</file>