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Opening
Non-Rayong overview for January to September 2026: LCBTH, BANGN and AMATA.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Performance
Hours fell 19% in April, then climbed 44% to a record 36,653 h in September. Q3 is the strongest quarter at 100.9K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Site mix
Hours per mission = billable hours / distinct mission numbers (base number, ignoring monthly extension suffix). Per-piece units are pieces invoiced per unit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Customers and hosts
Ford MVIP, MMTH Engine and Surtec Kariya together make up 71% of hours. The other 71 hosts share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 Section: Cost reduction
Two slides: the supplier change and the 2026 drink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Cost reduction: beverage supplier
Unit cost fell from 22.34 to 15.68 THB, and the monthly average from 80,899.75 to 64,983.03 THB. Cost per headcount trends down from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Cost reduction: drink mix
Moving the mix toward electrolyte drinks, and adding herbal drinks and tea, targets 11.73 THB per unit. Against the current supplier's 15.68 THB, that saves 3.95 THB per unit, 25.2%. Together with the supplier change (22.34 to 15.68 THB), the unit cost falls from 22.34 to 11.73 THB, which is 10.61 THB or 47.5% below 2025. The 2025 figures still need a source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Section: Operation excellence
Three slides: handheld OCR, the hybrid workflow and the poka-yoke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Operation excellence: handheld OCR
Source: supplied shopfloor OCR example and mission inspection-time comparisons. Reading a serial drops from 8 to 10 seconds by hand to 1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Operation excellence: hybrid workflow
Data captured on the shopfloor lands in Google Sheets and Drive. An offline Excel record covers gaps, and the administrator reconciles both before the customer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Operation excellence: poka-yoke
Two controls stop bad data at capture, one tells the operator when a box is full, and the administrator reviews before release. Next: the two web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Section: The two apps
The last section moves from the numbers to the tools behind them. Two web apps support the Non-Rayong sites: the Manpower Board for planning people and missions, and the Inventory and Quality System for tools, parts and consumables. Both run in the browser and on a phone. First the Manpower Board, then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The two apps
Two internal tools, built for our sites. Same sign-in domain, same look, both installable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Manpower: the daily board
Each card is a person, each column a mission with host, customer, shift and engineer. The tiles on top always add up: assigned plus leave plus standby equals total. The phone shows a forecast day being merged, one clash at a time: keep the carried-over plan or use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Manpower: planning ahead
Capacity compares demand per host with the people available. In the example, Wednesday 21/10 needs 40 against 36, so it shows 4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Manpower: what managers see
Overview answers "is everyone placed?" first, then the numbers. Every chart has the exact figures on hover.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Inventory: the system
Rayong and Amata warehouses, one at a time or both. The dashboard opens on what needs attention: out of stock, calibration overdue, returns late, parts aged over 60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 Inventory: consumables
Each item shows what is on hand against its safety stock, one gauge per warehouse, so the short warehouse is named instead of hidden in a total. Predicted run-out and spike flags come from the last 30 days: a spike means at least 1.5 times the usual rate, and the filter shows items that run out within 14 days. Every row has an Add to cart button, and nothing is submitted until check-out. Deliveries are received and counts recorded from the buttons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 Inventory: the engineer's day
The same flow works for consumables (issue from stock) and customer parts (deliveries in and out). Camera scanning works in Chrome and Edge; a handheld scanner works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 Inventory: customer parts
Parts are tracked by the customer's part number, mission number and responsible engineer. A delivery due today shows on the To-Do list and in the bell until someone confirms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On your phone
New accounts are approved once by an admin. After installing, the app opens full screen from the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jp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jpg"/><Relationship Id="rId8" Type="http://schemas.openxmlformats.org/officeDocument/2006/relationships/image" Target="../media/image-14-8.jp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jp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jp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1.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jpg"/><Relationship Id="rId7" Type="http://schemas.openxmlformats.org/officeDocument/2006/relationships/image" Target="../media/image-18-7.jp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463040"/>
            <a:ext cx="793671" cy="201168"/>
          </a:xfrm>
          <a:prstGeom prst="roundRect">
            <a:avLst>
              <a:gd name="adj" fmla="val 50000"/>
            </a:avLst>
          </a:prstGeom>
          <a:solidFill>
            <a:srgbClr val="FFFFFF">
              <a:alpha val="12000"/>
            </a:srgbClr>
          </a:solidFill>
          <a:ln/>
        </p:spPr>
      </p:sp>
      <p:sp>
        <p:nvSpPr>
          <p:cNvPr id="4" name="Text 1"/>
          <p:cNvSpPr txBox="1"/>
          <p:nvPr/>
        </p:nvSpPr>
        <p:spPr>
          <a:xfrm>
            <a:off x="557784" y="1508760"/>
            <a:ext cx="670041" cy="109728"/>
          </a:xfrm>
          <a:prstGeom prst="rect">
            <a:avLst/>
          </a:prstGeom>
          <a:noFill/>
          <a:ln/>
        </p:spPr>
        <p:txBody>
          <a:bodyPr wrap="none" lIns="0" tIns="0" rIns="0" bIns="0" rtlCol="0" anchor="ctr"/>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Jan–Sep 2026</a:t>
            </a:r>
            <a:endParaRPr lang="en-US" sz="720" dirty="0"/>
          </a:p>
        </p:txBody>
      </p:sp>
      <p:sp>
        <p:nvSpPr>
          <p:cNvPr id="5" name="Text 2"/>
          <p:cNvSpPr txBox="1"/>
          <p:nvPr/>
        </p:nvSpPr>
        <p:spPr>
          <a:xfrm>
            <a:off x="457200" y="1828800"/>
            <a:ext cx="4128665" cy="1343041"/>
          </a:xfrm>
          <a:prstGeom prst="rect">
            <a:avLst/>
          </a:prstGeom>
          <a:noFill/>
          <a:ln/>
        </p:spPr>
        <p:txBody>
          <a:bodyPr wrap="square" lIns="0" tIns="0" rIns="0" bIns="0" rtlCol="0" anchor="t"/>
          <a:lstStyle/>
          <a:p>
            <a:pPr algn="l" indent="0" marL="0">
              <a:lnSpc>
                <a:spcPts val="4600"/>
              </a:lnSpc>
              <a:buNone/>
            </a:pPr>
            <a:r>
              <a:rPr lang="en-US" sz="4460" b="1" spc="-223" kern="0" dirty="0">
                <a:solidFill>
                  <a:srgbClr val="FFFFFF"/>
                </a:solidFill>
                <a:latin typeface="Arial" pitchFamily="34" charset="0"/>
                <a:ea typeface="Arial" pitchFamily="34" charset="-122"/>
                <a:cs typeface="Arial" pitchFamily="34" charset="-120"/>
              </a:rPr>
              <a:t>Non-Rayong</a:t>
            </a:r>
            <a:endParaRPr lang="en-US" sz="4460" dirty="0"/>
          </a:p>
          <a:p>
            <a:pPr algn="l" indent="0" marL="0">
              <a:lnSpc>
                <a:spcPts val="4600"/>
              </a:lnSpc>
              <a:buNone/>
            </a:pPr>
            <a:r>
              <a:rPr lang="en-US" sz="4460" b="1" spc="-223" kern="0" dirty="0">
                <a:solidFill>
                  <a:srgbClr val="FFFFFF"/>
                </a:solidFill>
                <a:latin typeface="Arial" pitchFamily="34" charset="0"/>
                <a:ea typeface="Arial" pitchFamily="34" charset="-122"/>
                <a:cs typeface="Arial" pitchFamily="34" charset="-120"/>
              </a:rPr>
              <a:t>overview 2026.</a:t>
            </a:r>
            <a:endParaRPr lang="en-US" sz="4460" dirty="0"/>
          </a:p>
        </p:txBody>
      </p:sp>
      <p:sp>
        <p:nvSpPr>
          <p:cNvPr id="6" name="Text 3"/>
          <p:cNvSpPr txBox="1"/>
          <p:nvPr/>
        </p:nvSpPr>
        <p:spPr>
          <a:xfrm>
            <a:off x="457200" y="3161252"/>
            <a:ext cx="3449954" cy="603504"/>
          </a:xfrm>
          <a:prstGeom prst="rect">
            <a:avLst/>
          </a:prstGeom>
          <a:noFill/>
          <a:ln/>
        </p:spPr>
        <p:txBody>
          <a:bodyPr wrap="square" lIns="0" tIns="0" rIns="0" bIns="0" rtlCol="0" anchor="t"/>
          <a:lstStyle/>
          <a:p>
            <a:pPr algn="l" indent="0" marL="0">
              <a:lnSpc>
                <a:spcPts val="1440"/>
              </a:lnSpc>
              <a:buNone/>
            </a:pPr>
            <a:r>
              <a:rPr lang="en-US" sz="900" dirty="0">
                <a:solidFill>
                  <a:srgbClr val="9DB6D4"/>
                </a:solidFill>
                <a:latin typeface="Arial" pitchFamily="34" charset="0"/>
                <a:ea typeface="Arial" pitchFamily="34" charset="-122"/>
                <a:cs typeface="Arial" pitchFamily="34" charset="-120"/>
              </a:rPr>
              <a:t>Service hours, site mix and customers, then cost</a:t>
            </a:r>
            <a:endParaRPr lang="en-US" sz="900" dirty="0"/>
          </a:p>
          <a:p>
            <a:pPr algn="l" indent="0" marL="0">
              <a:lnSpc>
                <a:spcPts val="1440"/>
              </a:lnSpc>
              <a:buNone/>
            </a:pPr>
            <a:r>
              <a:rPr lang="en-US" sz="900" dirty="0">
                <a:solidFill>
                  <a:srgbClr val="9DB6D4"/>
                </a:solidFill>
                <a:latin typeface="Arial" pitchFamily="34" charset="0"/>
                <a:ea typeface="Arial" pitchFamily="34" charset="-122"/>
                <a:cs typeface="Arial" pitchFamily="34" charset="-120"/>
              </a:rPr>
              <a:t>reduction and operation excellence, across our three non-Rayong</a:t>
            </a:r>
            <a:endParaRPr lang="en-US" sz="900" dirty="0"/>
          </a:p>
          <a:p>
            <a:pPr algn="l" indent="0" marL="0">
              <a:lnSpc>
                <a:spcPts val="1440"/>
              </a:lnSpc>
              <a:buNone/>
            </a:pPr>
            <a:r>
              <a:rPr lang="en-US" sz="900" dirty="0">
                <a:solidFill>
                  <a:srgbClr val="9DB6D4"/>
                </a:solidFill>
                <a:latin typeface="Arial" pitchFamily="34" charset="0"/>
                <a:ea typeface="Arial" pitchFamily="34" charset="-122"/>
                <a:cs typeface="Arial" pitchFamily="34" charset="-120"/>
              </a:rPr>
              <a:t>sites.</a:t>
            </a:r>
            <a:endParaRPr lang="en-US" sz="900" dirty="0"/>
          </a:p>
        </p:txBody>
      </p:sp>
      <p:sp>
        <p:nvSpPr>
          <p:cNvPr id="7" name="Shape 4"/>
          <p:cNvSpPr/>
          <p:nvPr/>
        </p:nvSpPr>
        <p:spPr>
          <a:xfrm>
            <a:off x="457200" y="4023360"/>
            <a:ext cx="685943" cy="283893"/>
          </a:xfrm>
          <a:prstGeom prst="roundRect">
            <a:avLst>
              <a:gd name="adj" fmla="val 50000"/>
            </a:avLst>
          </a:prstGeom>
          <a:solidFill>
            <a:srgbClr val="FFFFFF">
              <a:alpha val="10000"/>
            </a:srgbClr>
          </a:solidFill>
          <a:ln/>
        </p:spPr>
      </p:sp>
      <p:sp>
        <p:nvSpPr>
          <p:cNvPr id="8" name="Text 5"/>
          <p:cNvSpPr txBox="1"/>
          <p:nvPr/>
        </p:nvSpPr>
        <p:spPr>
          <a:xfrm>
            <a:off x="708660" y="4087368"/>
            <a:ext cx="380548" cy="155877"/>
          </a:xfrm>
          <a:prstGeom prst="rect">
            <a:avLst/>
          </a:prstGeom>
          <a:noFill/>
          <a:ln/>
        </p:spPr>
        <p:txBody>
          <a:bodyPr wrap="none" lIns="0" tIns="0" rIns="0" bIns="0" rtlCol="0" anchor="ctr"/>
          <a:lstStyle/>
          <a:p>
            <a:pPr algn="l" indent="0" marL="0">
              <a:lnSpc>
                <a:spcPts val="1230"/>
              </a:lnSpc>
              <a:buNone/>
            </a:pPr>
            <a:r>
              <a:rPr lang="en-US" sz="790" dirty="0">
                <a:solidFill>
                  <a:srgbClr val="FFFFFF"/>
                </a:solidFill>
                <a:latin typeface="Arial" pitchFamily="34" charset="0"/>
                <a:ea typeface="Arial" pitchFamily="34" charset="-122"/>
                <a:cs typeface="Arial" pitchFamily="34" charset="-120"/>
              </a:rPr>
              <a:t>LCBTH</a:t>
            </a:r>
            <a:endParaRPr lang="en-US" sz="790" dirty="0"/>
          </a:p>
        </p:txBody>
      </p:sp>
      <p:sp>
        <p:nvSpPr>
          <p:cNvPr id="9" name="Shape 6"/>
          <p:cNvSpPr/>
          <p:nvPr/>
        </p:nvSpPr>
        <p:spPr>
          <a:xfrm>
            <a:off x="562356" y="4119515"/>
            <a:ext cx="91440" cy="91440"/>
          </a:xfrm>
          <a:prstGeom prst="ellipse">
            <a:avLst/>
          </a:prstGeom>
          <a:solidFill>
            <a:srgbClr val="0B3A8F"/>
          </a:solidFill>
          <a:ln w="9144">
            <a:solidFill>
              <a:srgbClr val="FFFFFF">
                <a:alpha val="55000"/>
              </a:srgbClr>
            </a:solidFill>
            <a:prstDash val="solid"/>
          </a:ln>
        </p:spPr>
      </p:sp>
      <p:sp>
        <p:nvSpPr>
          <p:cNvPr id="10" name="Shape 7"/>
          <p:cNvSpPr/>
          <p:nvPr/>
        </p:nvSpPr>
        <p:spPr>
          <a:xfrm>
            <a:off x="1216295" y="4023360"/>
            <a:ext cx="716518" cy="283893"/>
          </a:xfrm>
          <a:prstGeom prst="roundRect">
            <a:avLst>
              <a:gd name="adj" fmla="val 50000"/>
            </a:avLst>
          </a:prstGeom>
          <a:solidFill>
            <a:srgbClr val="FFFFFF">
              <a:alpha val="10000"/>
            </a:srgbClr>
          </a:solidFill>
          <a:ln/>
        </p:spPr>
      </p:sp>
      <p:sp>
        <p:nvSpPr>
          <p:cNvPr id="11" name="Text 8"/>
          <p:cNvSpPr txBox="1"/>
          <p:nvPr/>
        </p:nvSpPr>
        <p:spPr>
          <a:xfrm>
            <a:off x="1467755" y="4087368"/>
            <a:ext cx="414180" cy="155877"/>
          </a:xfrm>
          <a:prstGeom prst="rect">
            <a:avLst/>
          </a:prstGeom>
          <a:noFill/>
          <a:ln/>
        </p:spPr>
        <p:txBody>
          <a:bodyPr wrap="none" lIns="0" tIns="0" rIns="0" bIns="0" rtlCol="0" anchor="ctr"/>
          <a:lstStyle/>
          <a:p>
            <a:pPr algn="l" indent="0" marL="0">
              <a:lnSpc>
                <a:spcPts val="1230"/>
              </a:lnSpc>
              <a:buNone/>
            </a:pPr>
            <a:r>
              <a:rPr lang="en-US" sz="790" dirty="0">
                <a:solidFill>
                  <a:srgbClr val="FFFFFF"/>
                </a:solidFill>
                <a:latin typeface="Arial" pitchFamily="34" charset="0"/>
                <a:ea typeface="Arial" pitchFamily="34" charset="-122"/>
                <a:cs typeface="Arial" pitchFamily="34" charset="-120"/>
              </a:rPr>
              <a:t>BANGN</a:t>
            </a:r>
            <a:endParaRPr lang="en-US" sz="790" dirty="0"/>
          </a:p>
        </p:txBody>
      </p:sp>
      <p:sp>
        <p:nvSpPr>
          <p:cNvPr id="12" name="Shape 9"/>
          <p:cNvSpPr/>
          <p:nvPr/>
        </p:nvSpPr>
        <p:spPr>
          <a:xfrm>
            <a:off x="1321451" y="4119515"/>
            <a:ext cx="91440" cy="91440"/>
          </a:xfrm>
          <a:prstGeom prst="ellipse">
            <a:avLst/>
          </a:prstGeom>
          <a:solidFill>
            <a:srgbClr val="2F86F5"/>
          </a:solidFill>
          <a:ln w="9144">
            <a:solidFill>
              <a:srgbClr val="FFFFFF">
                <a:alpha val="55000"/>
              </a:srgbClr>
            </a:solidFill>
            <a:prstDash val="solid"/>
          </a:ln>
        </p:spPr>
      </p:sp>
      <p:sp>
        <p:nvSpPr>
          <p:cNvPr id="13" name="Shape 10"/>
          <p:cNvSpPr/>
          <p:nvPr/>
        </p:nvSpPr>
        <p:spPr>
          <a:xfrm>
            <a:off x="2005965" y="4023360"/>
            <a:ext cx="709660" cy="283893"/>
          </a:xfrm>
          <a:prstGeom prst="roundRect">
            <a:avLst>
              <a:gd name="adj" fmla="val 50000"/>
            </a:avLst>
          </a:prstGeom>
          <a:solidFill>
            <a:srgbClr val="FFFFFF">
              <a:alpha val="10000"/>
            </a:srgbClr>
          </a:solidFill>
          <a:ln/>
        </p:spPr>
      </p:sp>
      <p:sp>
        <p:nvSpPr>
          <p:cNvPr id="14" name="Text 11"/>
          <p:cNvSpPr txBox="1"/>
          <p:nvPr/>
        </p:nvSpPr>
        <p:spPr>
          <a:xfrm>
            <a:off x="2257425" y="4087368"/>
            <a:ext cx="406637" cy="155877"/>
          </a:xfrm>
          <a:prstGeom prst="rect">
            <a:avLst/>
          </a:prstGeom>
          <a:noFill/>
          <a:ln/>
        </p:spPr>
        <p:txBody>
          <a:bodyPr wrap="none" lIns="0" tIns="0" rIns="0" bIns="0" rtlCol="0" anchor="ctr"/>
          <a:lstStyle/>
          <a:p>
            <a:pPr algn="l" indent="0" marL="0">
              <a:lnSpc>
                <a:spcPts val="1230"/>
              </a:lnSpc>
              <a:buNone/>
            </a:pPr>
            <a:r>
              <a:rPr lang="en-US" sz="790" dirty="0">
                <a:solidFill>
                  <a:srgbClr val="FFFFFF"/>
                </a:solidFill>
                <a:latin typeface="Arial" pitchFamily="34" charset="0"/>
                <a:ea typeface="Arial" pitchFamily="34" charset="-122"/>
                <a:cs typeface="Arial" pitchFamily="34" charset="-120"/>
              </a:rPr>
              <a:t>AMATA</a:t>
            </a:r>
            <a:endParaRPr lang="en-US" sz="790" dirty="0"/>
          </a:p>
        </p:txBody>
      </p:sp>
      <p:sp>
        <p:nvSpPr>
          <p:cNvPr id="15" name="Shape 12"/>
          <p:cNvSpPr/>
          <p:nvPr/>
        </p:nvSpPr>
        <p:spPr>
          <a:xfrm>
            <a:off x="2111121" y="4119515"/>
            <a:ext cx="91440" cy="91440"/>
          </a:xfrm>
          <a:prstGeom prst="ellipse">
            <a:avLst/>
          </a:prstGeom>
          <a:solidFill>
            <a:srgbClr val="8CC4FF"/>
          </a:solidFill>
          <a:ln w="9144">
            <a:solidFill>
              <a:srgbClr val="FFFFFF">
                <a:alpha val="55000"/>
              </a:srgbClr>
            </a:solidFill>
            <a:prstDash val="solid"/>
          </a:ln>
        </p:spPr>
      </p:sp>
      <p:sp>
        <p:nvSpPr>
          <p:cNvPr id="16" name="Text 13"/>
          <p:cNvSpPr txBox="1"/>
          <p:nvPr/>
        </p:nvSpPr>
        <p:spPr>
          <a:xfrm>
            <a:off x="457200" y="4709732"/>
            <a:ext cx="1553923" cy="165712"/>
          </a:xfrm>
          <a:prstGeom prst="rect">
            <a:avLst/>
          </a:prstGeom>
          <a:noFill/>
          <a:ln/>
        </p:spPr>
        <p:txBody>
          <a:bodyPr wrap="none" lIns="0" tIns="0" rIns="0" bIns="0" rtlCol="0" anchor="t"/>
          <a:lstStyle/>
          <a:p>
            <a:pPr algn="l" indent="0" marL="0">
              <a:lnSpc>
                <a:spcPts val="1000"/>
              </a:lnSpc>
              <a:buNone/>
            </a:pPr>
            <a:r>
              <a:rPr lang="en-US" sz="650" spc="26" kern="0" dirty="0">
                <a:solidFill>
                  <a:srgbClr val="6F8FB5"/>
                </a:solidFill>
                <a:latin typeface="Arial" pitchFamily="34" charset="0"/>
                <a:ea typeface="Arial" pitchFamily="34" charset="-122"/>
                <a:cs typeface="Arial" pitchFamily="34" charset="-120"/>
              </a:rPr>
              <a:t>TRIGO Quality Services (Thailand)</a:t>
            </a:r>
            <a:endParaRPr lang="en-US" sz="650" dirty="0"/>
          </a:p>
        </p:txBody>
      </p:sp>
    </p:spTree>
  </p:cSld>
  <p:clrMapOvr>
    <a:masterClrMapping/>
  </p:clrMapOvr>
  <p:transition spd="med">
    <p:push dir="r"/>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910828" cy="201168"/>
          </a:xfrm>
          <a:prstGeom prst="roundRect">
            <a:avLst>
              <a:gd name="adj" fmla="val 50000"/>
            </a:avLst>
          </a:prstGeom>
          <a:solidFill>
            <a:srgbClr val="E1EEFF"/>
          </a:solidFill>
          <a:ln/>
        </p:spPr>
      </p:sp>
      <p:sp>
        <p:nvSpPr>
          <p:cNvPr id="4" name="Text 1"/>
          <p:cNvSpPr txBox="1"/>
          <p:nvPr/>
        </p:nvSpPr>
        <p:spPr>
          <a:xfrm>
            <a:off x="557784" y="1005840"/>
            <a:ext cx="798914"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01 · Performance</a:t>
            </a:r>
            <a:endParaRPr lang="en-US" sz="720" dirty="0"/>
          </a:p>
        </p:txBody>
      </p:sp>
      <p:sp>
        <p:nvSpPr>
          <p:cNvPr id="5" name="Text 2"/>
          <p:cNvSpPr txBox="1"/>
          <p:nvPr/>
        </p:nvSpPr>
        <p:spPr>
          <a:xfrm>
            <a:off x="457200" y="1252728"/>
            <a:ext cx="5824028"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September set a record after the April dip.</a:t>
            </a:r>
            <a:endParaRPr lang="en-US" sz="2380" dirty="0"/>
          </a:p>
        </p:txBody>
      </p:sp>
      <p:sp>
        <p:nvSpPr>
          <p:cNvPr id="6" name="Shape 3"/>
          <p:cNvSpPr/>
          <p:nvPr/>
        </p:nvSpPr>
        <p:spPr>
          <a:xfrm>
            <a:off x="457200" y="1783080"/>
            <a:ext cx="5120640" cy="3006947"/>
          </a:xfrm>
          <a:prstGeom prst="roundRect">
            <a:avLst>
              <a:gd name="adj" fmla="val 5474"/>
            </a:avLst>
          </a:prstGeom>
          <a:solidFill>
            <a:srgbClr val="F0F6FF"/>
          </a:solidFill>
          <a:ln w="9144">
            <a:solidFill>
              <a:srgbClr val="D6E6FA"/>
            </a:solidFill>
            <a:prstDash val="solid"/>
          </a:ln>
        </p:spPr>
      </p:sp>
      <p:sp>
        <p:nvSpPr>
          <p:cNvPr id="7" name="Text 4"/>
          <p:cNvSpPr txBox="1"/>
          <p:nvPr/>
        </p:nvSpPr>
        <p:spPr>
          <a:xfrm>
            <a:off x="621792" y="1929384"/>
            <a:ext cx="1592428" cy="211775"/>
          </a:xfrm>
          <a:prstGeom prst="rect">
            <a:avLst/>
          </a:prstGeom>
          <a:noFill/>
          <a:ln/>
        </p:spPr>
        <p:txBody>
          <a:bodyPr wrap="none" lIns="0" tIns="0" rIns="0" bIns="0" rtlCol="0" anchor="t"/>
          <a:lstStyle/>
          <a:p>
            <a:pPr algn="l" indent="0" marL="0">
              <a:lnSpc>
                <a:spcPts val="1280"/>
              </a:lnSpc>
              <a:buNone/>
            </a:pPr>
            <a:r>
              <a:rPr lang="en-US" sz="830" b="1" dirty="0">
                <a:solidFill>
                  <a:srgbClr val="071A33"/>
                </a:solidFill>
                <a:latin typeface="Arial" pitchFamily="34" charset="0"/>
                <a:ea typeface="Arial" pitchFamily="34" charset="-122"/>
                <a:cs typeface="Arial" pitchFamily="34" charset="-120"/>
              </a:rPr>
              <a:t>Monthly service hours by site</a:t>
            </a:r>
            <a:endParaRPr lang="en-US" sz="830" dirty="0"/>
          </a:p>
        </p:txBody>
      </p:sp>
      <p:sp>
        <p:nvSpPr>
          <p:cNvPr id="8" name="Text 5"/>
          <p:cNvSpPr txBox="1"/>
          <p:nvPr/>
        </p:nvSpPr>
        <p:spPr>
          <a:xfrm>
            <a:off x="3956066" y="1939957"/>
            <a:ext cx="346129"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LCBTH</a:t>
            </a:r>
            <a:endParaRPr lang="en-US" sz="720" dirty="0"/>
          </a:p>
        </p:txBody>
      </p:sp>
      <p:sp>
        <p:nvSpPr>
          <p:cNvPr id="9" name="Shape 6"/>
          <p:cNvSpPr/>
          <p:nvPr/>
        </p:nvSpPr>
        <p:spPr>
          <a:xfrm>
            <a:off x="3818906" y="1965103"/>
            <a:ext cx="91440" cy="91440"/>
          </a:xfrm>
          <a:prstGeom prst="roundRect">
            <a:avLst>
              <a:gd name="adj" fmla="val 30000"/>
            </a:avLst>
          </a:prstGeom>
          <a:solidFill>
            <a:srgbClr val="0B3A8F"/>
          </a:solidFill>
          <a:ln/>
        </p:spPr>
      </p:sp>
      <p:sp>
        <p:nvSpPr>
          <p:cNvPr id="10" name="Text 7"/>
          <p:cNvSpPr txBox="1"/>
          <p:nvPr/>
        </p:nvSpPr>
        <p:spPr>
          <a:xfrm>
            <a:off x="4510135" y="1939957"/>
            <a:ext cx="378976"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BANGN</a:t>
            </a:r>
            <a:endParaRPr lang="en-US" sz="720" dirty="0"/>
          </a:p>
        </p:txBody>
      </p:sp>
      <p:sp>
        <p:nvSpPr>
          <p:cNvPr id="11" name="Shape 8"/>
          <p:cNvSpPr/>
          <p:nvPr/>
        </p:nvSpPr>
        <p:spPr>
          <a:xfrm>
            <a:off x="4372975" y="1965103"/>
            <a:ext cx="91440" cy="91440"/>
          </a:xfrm>
          <a:prstGeom prst="roundRect">
            <a:avLst>
              <a:gd name="adj" fmla="val 30000"/>
            </a:avLst>
          </a:prstGeom>
          <a:solidFill>
            <a:srgbClr val="2F86F5"/>
          </a:solidFill>
          <a:ln/>
        </p:spPr>
      </p:sp>
      <p:sp>
        <p:nvSpPr>
          <p:cNvPr id="12" name="Text 9"/>
          <p:cNvSpPr txBox="1"/>
          <p:nvPr/>
        </p:nvSpPr>
        <p:spPr>
          <a:xfrm>
            <a:off x="5094065" y="1939957"/>
            <a:ext cx="369389"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AMATA</a:t>
            </a:r>
            <a:endParaRPr lang="en-US" sz="720" dirty="0"/>
          </a:p>
        </p:txBody>
      </p:sp>
      <p:sp>
        <p:nvSpPr>
          <p:cNvPr id="13" name="Shape 10"/>
          <p:cNvSpPr/>
          <p:nvPr/>
        </p:nvSpPr>
        <p:spPr>
          <a:xfrm>
            <a:off x="4956905" y="1965103"/>
            <a:ext cx="91440" cy="91440"/>
          </a:xfrm>
          <a:prstGeom prst="roundRect">
            <a:avLst>
              <a:gd name="adj" fmla="val 30000"/>
            </a:avLst>
          </a:prstGeom>
          <a:solidFill>
            <a:srgbClr val="8CC4FF"/>
          </a:solidFill>
          <a:ln/>
        </p:spPr>
      </p:sp>
      <p:sp>
        <p:nvSpPr>
          <p:cNvPr id="14" name="Shape 11"/>
          <p:cNvSpPr/>
          <p:nvPr/>
        </p:nvSpPr>
        <p:spPr>
          <a:xfrm>
            <a:off x="985306" y="4329804"/>
            <a:ext cx="4361825" cy="0"/>
          </a:xfrm>
          <a:prstGeom prst="line">
            <a:avLst/>
          </a:prstGeom>
          <a:noFill/>
          <a:ln w="8261">
            <a:solidFill>
              <a:srgbClr val="071A33">
                <a:alpha val="18000"/>
              </a:srgbClr>
            </a:solidFill>
            <a:prstDash val="solid"/>
          </a:ln>
        </p:spPr>
      </p:sp>
      <p:sp>
        <p:nvSpPr>
          <p:cNvPr id="15" name="Text 12"/>
          <p:cNvSpPr txBox="1"/>
          <p:nvPr/>
        </p:nvSpPr>
        <p:spPr>
          <a:xfrm>
            <a:off x="786515" y="4276422"/>
            <a:ext cx="132702" cy="100584"/>
          </a:xfrm>
          <a:prstGeom prst="rect">
            <a:avLst/>
          </a:prstGeom>
          <a:noFill/>
          <a:ln/>
        </p:spPr>
        <p:txBody>
          <a:bodyPr wrap="none" lIns="0" tIns="0" rIns="0" bIns="0" rtlCol="0" anchor="ctr"/>
          <a:lstStyle/>
          <a:p>
            <a:pPr algn="r" indent="0" marL="0">
              <a:lnSpc>
                <a:spcPts val="790"/>
              </a:lnSpc>
              <a:buNone/>
            </a:pPr>
            <a:r>
              <a:rPr lang="en-US" sz="680" dirty="0">
                <a:solidFill>
                  <a:srgbClr val="5F7691"/>
                </a:solidFill>
                <a:latin typeface="Arial" pitchFamily="34" charset="0"/>
                <a:ea typeface="Arial" pitchFamily="34" charset="-122"/>
                <a:cs typeface="Arial" pitchFamily="34" charset="-120"/>
              </a:rPr>
              <a:t>0k</a:t>
            </a:r>
            <a:endParaRPr lang="en-US" sz="680" dirty="0"/>
          </a:p>
        </p:txBody>
      </p:sp>
      <p:sp>
        <p:nvSpPr>
          <p:cNvPr id="16" name="Shape 13"/>
          <p:cNvSpPr/>
          <p:nvPr/>
        </p:nvSpPr>
        <p:spPr>
          <a:xfrm>
            <a:off x="985306" y="3842403"/>
            <a:ext cx="4361825" cy="0"/>
          </a:xfrm>
          <a:prstGeom prst="line">
            <a:avLst/>
          </a:prstGeom>
          <a:noFill/>
          <a:ln w="8261">
            <a:solidFill>
              <a:srgbClr val="071A33">
                <a:alpha val="7000"/>
              </a:srgbClr>
            </a:solidFill>
            <a:prstDash val="solid"/>
          </a:ln>
        </p:spPr>
      </p:sp>
      <p:sp>
        <p:nvSpPr>
          <p:cNvPr id="17" name="Text 14"/>
          <p:cNvSpPr txBox="1"/>
          <p:nvPr/>
        </p:nvSpPr>
        <p:spPr>
          <a:xfrm>
            <a:off x="749268" y="3789020"/>
            <a:ext cx="169950" cy="100584"/>
          </a:xfrm>
          <a:prstGeom prst="rect">
            <a:avLst/>
          </a:prstGeom>
          <a:noFill/>
          <a:ln/>
        </p:spPr>
        <p:txBody>
          <a:bodyPr wrap="none" lIns="0" tIns="0" rIns="0" bIns="0" rtlCol="0" anchor="ctr"/>
          <a:lstStyle/>
          <a:p>
            <a:pPr algn="r" indent="0" marL="0">
              <a:lnSpc>
                <a:spcPts val="790"/>
              </a:lnSpc>
              <a:buNone/>
            </a:pPr>
            <a:r>
              <a:rPr lang="en-US" sz="680" dirty="0">
                <a:solidFill>
                  <a:srgbClr val="5F7691"/>
                </a:solidFill>
                <a:latin typeface="Arial" pitchFamily="34" charset="0"/>
                <a:ea typeface="Arial" pitchFamily="34" charset="-122"/>
                <a:cs typeface="Arial" pitchFamily="34" charset="-120"/>
              </a:rPr>
              <a:t>10k</a:t>
            </a:r>
            <a:endParaRPr lang="en-US" sz="680" dirty="0"/>
          </a:p>
        </p:txBody>
      </p:sp>
      <p:sp>
        <p:nvSpPr>
          <p:cNvPr id="18" name="Shape 15"/>
          <p:cNvSpPr/>
          <p:nvPr/>
        </p:nvSpPr>
        <p:spPr>
          <a:xfrm>
            <a:off x="985306" y="3355002"/>
            <a:ext cx="4361825" cy="0"/>
          </a:xfrm>
          <a:prstGeom prst="line">
            <a:avLst/>
          </a:prstGeom>
          <a:noFill/>
          <a:ln w="8261">
            <a:solidFill>
              <a:srgbClr val="071A33">
                <a:alpha val="7000"/>
              </a:srgbClr>
            </a:solidFill>
            <a:prstDash val="solid"/>
          </a:ln>
        </p:spPr>
      </p:sp>
      <p:sp>
        <p:nvSpPr>
          <p:cNvPr id="19" name="Text 16"/>
          <p:cNvSpPr txBox="1"/>
          <p:nvPr/>
        </p:nvSpPr>
        <p:spPr>
          <a:xfrm>
            <a:off x="733237" y="3301620"/>
            <a:ext cx="185980" cy="100584"/>
          </a:xfrm>
          <a:prstGeom prst="rect">
            <a:avLst/>
          </a:prstGeom>
          <a:noFill/>
          <a:ln/>
        </p:spPr>
        <p:txBody>
          <a:bodyPr wrap="none" lIns="0" tIns="0" rIns="0" bIns="0" rtlCol="0" anchor="ctr"/>
          <a:lstStyle/>
          <a:p>
            <a:pPr algn="r" indent="0" marL="0">
              <a:lnSpc>
                <a:spcPts val="790"/>
              </a:lnSpc>
              <a:buNone/>
            </a:pPr>
            <a:r>
              <a:rPr lang="en-US" sz="680" dirty="0">
                <a:solidFill>
                  <a:srgbClr val="5F7691"/>
                </a:solidFill>
                <a:latin typeface="Arial" pitchFamily="34" charset="0"/>
                <a:ea typeface="Arial" pitchFamily="34" charset="-122"/>
                <a:cs typeface="Arial" pitchFamily="34" charset="-120"/>
              </a:rPr>
              <a:t>20k</a:t>
            </a:r>
            <a:endParaRPr lang="en-US" sz="680" dirty="0"/>
          </a:p>
        </p:txBody>
      </p:sp>
      <p:sp>
        <p:nvSpPr>
          <p:cNvPr id="20" name="Shape 17"/>
          <p:cNvSpPr/>
          <p:nvPr/>
        </p:nvSpPr>
        <p:spPr>
          <a:xfrm>
            <a:off x="985306" y="2867601"/>
            <a:ext cx="4361825" cy="0"/>
          </a:xfrm>
          <a:prstGeom prst="line">
            <a:avLst/>
          </a:prstGeom>
          <a:noFill/>
          <a:ln w="8261">
            <a:solidFill>
              <a:srgbClr val="071A33">
                <a:alpha val="7000"/>
              </a:srgbClr>
            </a:solidFill>
            <a:prstDash val="solid"/>
          </a:ln>
        </p:spPr>
      </p:sp>
      <p:sp>
        <p:nvSpPr>
          <p:cNvPr id="21" name="Text 18"/>
          <p:cNvSpPr txBox="1"/>
          <p:nvPr/>
        </p:nvSpPr>
        <p:spPr>
          <a:xfrm>
            <a:off x="730094" y="2814219"/>
            <a:ext cx="189124" cy="100584"/>
          </a:xfrm>
          <a:prstGeom prst="rect">
            <a:avLst/>
          </a:prstGeom>
          <a:noFill/>
          <a:ln/>
        </p:spPr>
        <p:txBody>
          <a:bodyPr wrap="none" lIns="0" tIns="0" rIns="0" bIns="0" rtlCol="0" anchor="ctr"/>
          <a:lstStyle/>
          <a:p>
            <a:pPr algn="r" indent="0" marL="0">
              <a:lnSpc>
                <a:spcPts val="790"/>
              </a:lnSpc>
              <a:buNone/>
            </a:pPr>
            <a:r>
              <a:rPr lang="en-US" sz="680" dirty="0">
                <a:solidFill>
                  <a:srgbClr val="5F7691"/>
                </a:solidFill>
                <a:latin typeface="Arial" pitchFamily="34" charset="0"/>
                <a:ea typeface="Arial" pitchFamily="34" charset="-122"/>
                <a:cs typeface="Arial" pitchFamily="34" charset="-120"/>
              </a:rPr>
              <a:t>30k</a:t>
            </a:r>
            <a:endParaRPr lang="en-US" sz="680" dirty="0"/>
          </a:p>
        </p:txBody>
      </p:sp>
      <p:sp>
        <p:nvSpPr>
          <p:cNvPr id="22" name="Shape 19"/>
          <p:cNvSpPr/>
          <p:nvPr/>
        </p:nvSpPr>
        <p:spPr>
          <a:xfrm>
            <a:off x="985306" y="2380200"/>
            <a:ext cx="4361825" cy="0"/>
          </a:xfrm>
          <a:prstGeom prst="line">
            <a:avLst/>
          </a:prstGeom>
          <a:noFill/>
          <a:ln w="8261">
            <a:solidFill>
              <a:srgbClr val="071A33">
                <a:alpha val="7000"/>
              </a:srgbClr>
            </a:solidFill>
            <a:prstDash val="solid"/>
          </a:ln>
        </p:spPr>
      </p:sp>
      <p:sp>
        <p:nvSpPr>
          <p:cNvPr id="23" name="Text 20"/>
          <p:cNvSpPr txBox="1"/>
          <p:nvPr/>
        </p:nvSpPr>
        <p:spPr>
          <a:xfrm>
            <a:off x="729308" y="2326818"/>
            <a:ext cx="189909" cy="100584"/>
          </a:xfrm>
          <a:prstGeom prst="rect">
            <a:avLst/>
          </a:prstGeom>
          <a:noFill/>
          <a:ln/>
        </p:spPr>
        <p:txBody>
          <a:bodyPr wrap="none" lIns="0" tIns="0" rIns="0" bIns="0" rtlCol="0" anchor="ctr"/>
          <a:lstStyle/>
          <a:p>
            <a:pPr algn="r" indent="0" marL="0">
              <a:lnSpc>
                <a:spcPts val="790"/>
              </a:lnSpc>
              <a:buNone/>
            </a:pPr>
            <a:r>
              <a:rPr lang="en-US" sz="680" dirty="0">
                <a:solidFill>
                  <a:srgbClr val="5F7691"/>
                </a:solidFill>
                <a:latin typeface="Arial" pitchFamily="34" charset="0"/>
                <a:ea typeface="Arial" pitchFamily="34" charset="-122"/>
                <a:cs typeface="Arial" pitchFamily="34" charset="-120"/>
              </a:rPr>
              <a:t>40k</a:t>
            </a:r>
            <a:endParaRPr lang="en-US" sz="680" dirty="0"/>
          </a:p>
        </p:txBody>
      </p:sp>
      <p:sp>
        <p:nvSpPr>
          <p:cNvPr id="24" name="Shape 21"/>
          <p:cNvSpPr/>
          <p:nvPr/>
        </p:nvSpPr>
        <p:spPr>
          <a:xfrm>
            <a:off x="1078656" y="3388046"/>
            <a:ext cx="297397" cy="933497"/>
          </a:xfrm>
          <a:prstGeom prst="rect">
            <a:avLst/>
          </a:prstGeom>
          <a:solidFill>
            <a:srgbClr val="0B3A8F"/>
          </a:solidFill>
          <a:ln/>
        </p:spPr>
      </p:sp>
      <p:sp>
        <p:nvSpPr>
          <p:cNvPr id="25" name="Shape 22"/>
          <p:cNvSpPr/>
          <p:nvPr/>
        </p:nvSpPr>
        <p:spPr>
          <a:xfrm>
            <a:off x="1078656" y="3203825"/>
            <a:ext cx="297397" cy="175960"/>
          </a:xfrm>
          <a:prstGeom prst="rect">
            <a:avLst/>
          </a:prstGeom>
          <a:solidFill>
            <a:srgbClr val="2F86F5"/>
          </a:solidFill>
          <a:ln/>
        </p:spPr>
      </p:sp>
      <p:sp>
        <p:nvSpPr>
          <p:cNvPr id="26" name="Shape 23"/>
          <p:cNvSpPr/>
          <p:nvPr/>
        </p:nvSpPr>
        <p:spPr>
          <a:xfrm>
            <a:off x="1078656" y="3052648"/>
            <a:ext cx="297397" cy="142916"/>
          </a:xfrm>
          <a:prstGeom prst="rect">
            <a:avLst/>
          </a:prstGeom>
          <a:solidFill>
            <a:srgbClr val="8CC4FF"/>
          </a:solidFill>
          <a:ln/>
        </p:spPr>
      </p:sp>
      <p:sp>
        <p:nvSpPr>
          <p:cNvPr id="27" name="Text 24"/>
          <p:cNvSpPr txBox="1"/>
          <p:nvPr/>
        </p:nvSpPr>
        <p:spPr>
          <a:xfrm>
            <a:off x="1071971" y="2920786"/>
            <a:ext cx="310767"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26,207</a:t>
            </a:r>
            <a:endParaRPr lang="en-US" sz="680" dirty="0"/>
          </a:p>
        </p:txBody>
      </p:sp>
      <p:sp>
        <p:nvSpPr>
          <p:cNvPr id="28" name="Text 25"/>
          <p:cNvSpPr txBox="1"/>
          <p:nvPr/>
        </p:nvSpPr>
        <p:spPr>
          <a:xfrm>
            <a:off x="1143008" y="4379685"/>
            <a:ext cx="168693"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Jan</a:t>
            </a:r>
            <a:endParaRPr lang="en-US" sz="680" dirty="0"/>
          </a:p>
        </p:txBody>
      </p:sp>
      <p:sp>
        <p:nvSpPr>
          <p:cNvPr id="29" name="Shape 26"/>
          <p:cNvSpPr/>
          <p:nvPr/>
        </p:nvSpPr>
        <p:spPr>
          <a:xfrm>
            <a:off x="1563578" y="3176564"/>
            <a:ext cx="297397" cy="1144979"/>
          </a:xfrm>
          <a:prstGeom prst="rect">
            <a:avLst/>
          </a:prstGeom>
          <a:solidFill>
            <a:srgbClr val="0B3A8F"/>
          </a:solidFill>
          <a:ln/>
        </p:spPr>
      </p:sp>
      <p:sp>
        <p:nvSpPr>
          <p:cNvPr id="30" name="Shape 27"/>
          <p:cNvSpPr/>
          <p:nvPr/>
        </p:nvSpPr>
        <p:spPr>
          <a:xfrm>
            <a:off x="1563578" y="3022083"/>
            <a:ext cx="297397" cy="145394"/>
          </a:xfrm>
          <a:prstGeom prst="rect">
            <a:avLst/>
          </a:prstGeom>
          <a:solidFill>
            <a:srgbClr val="2F86F5"/>
          </a:solidFill>
          <a:ln/>
        </p:spPr>
      </p:sp>
      <p:sp>
        <p:nvSpPr>
          <p:cNvPr id="31" name="Shape 28"/>
          <p:cNvSpPr/>
          <p:nvPr/>
        </p:nvSpPr>
        <p:spPr>
          <a:xfrm>
            <a:off x="1563578" y="2851079"/>
            <a:ext cx="297397" cy="162742"/>
          </a:xfrm>
          <a:prstGeom prst="rect">
            <a:avLst/>
          </a:prstGeom>
          <a:solidFill>
            <a:srgbClr val="8CC4FF"/>
          </a:solidFill>
          <a:ln/>
        </p:spPr>
      </p:sp>
      <p:sp>
        <p:nvSpPr>
          <p:cNvPr id="32" name="Text 29"/>
          <p:cNvSpPr txBox="1"/>
          <p:nvPr/>
        </p:nvSpPr>
        <p:spPr>
          <a:xfrm>
            <a:off x="1554284" y="2719217"/>
            <a:ext cx="321016"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30,333</a:t>
            </a:r>
            <a:endParaRPr lang="en-US" sz="680" dirty="0"/>
          </a:p>
        </p:txBody>
      </p:sp>
      <p:sp>
        <p:nvSpPr>
          <p:cNvPr id="33" name="Text 30"/>
          <p:cNvSpPr txBox="1"/>
          <p:nvPr/>
        </p:nvSpPr>
        <p:spPr>
          <a:xfrm>
            <a:off x="1620194" y="4379685"/>
            <a:ext cx="186447"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Feb</a:t>
            </a:r>
            <a:endParaRPr lang="en-US" sz="680" dirty="0"/>
          </a:p>
        </p:txBody>
      </p:sp>
      <p:sp>
        <p:nvSpPr>
          <p:cNvPr id="34" name="Shape 31"/>
          <p:cNvSpPr/>
          <p:nvPr/>
        </p:nvSpPr>
        <p:spPr>
          <a:xfrm>
            <a:off x="2048501" y="3235217"/>
            <a:ext cx="297397" cy="1086326"/>
          </a:xfrm>
          <a:prstGeom prst="rect">
            <a:avLst/>
          </a:prstGeom>
          <a:solidFill>
            <a:srgbClr val="0B3A8F"/>
          </a:solidFill>
          <a:ln/>
        </p:spPr>
      </p:sp>
      <p:sp>
        <p:nvSpPr>
          <p:cNvPr id="35" name="Shape 32"/>
          <p:cNvSpPr/>
          <p:nvPr/>
        </p:nvSpPr>
        <p:spPr>
          <a:xfrm>
            <a:off x="2048501" y="2917994"/>
            <a:ext cx="297397" cy="308963"/>
          </a:xfrm>
          <a:prstGeom prst="rect">
            <a:avLst/>
          </a:prstGeom>
          <a:solidFill>
            <a:srgbClr val="2F86F5"/>
          </a:solidFill>
          <a:ln/>
        </p:spPr>
      </p:sp>
      <p:sp>
        <p:nvSpPr>
          <p:cNvPr id="36" name="Shape 33"/>
          <p:cNvSpPr/>
          <p:nvPr/>
        </p:nvSpPr>
        <p:spPr>
          <a:xfrm>
            <a:off x="2048501" y="2796556"/>
            <a:ext cx="297397" cy="113176"/>
          </a:xfrm>
          <a:prstGeom prst="rect">
            <a:avLst/>
          </a:prstGeom>
          <a:solidFill>
            <a:srgbClr val="8CC4FF"/>
          </a:solidFill>
          <a:ln/>
        </p:spPr>
      </p:sp>
      <p:sp>
        <p:nvSpPr>
          <p:cNvPr id="37" name="Text 34"/>
          <p:cNvSpPr txBox="1"/>
          <p:nvPr/>
        </p:nvSpPr>
        <p:spPr>
          <a:xfrm>
            <a:off x="2050832" y="2664695"/>
            <a:ext cx="297870"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31,463</a:t>
            </a:r>
            <a:endParaRPr lang="en-US" sz="680" dirty="0"/>
          </a:p>
        </p:txBody>
      </p:sp>
      <p:sp>
        <p:nvSpPr>
          <p:cNvPr id="38" name="Text 35"/>
          <p:cNvSpPr txBox="1"/>
          <p:nvPr/>
        </p:nvSpPr>
        <p:spPr>
          <a:xfrm>
            <a:off x="2101416" y="4379685"/>
            <a:ext cx="195573"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Mar</a:t>
            </a:r>
            <a:endParaRPr lang="en-US" sz="680" dirty="0"/>
          </a:p>
        </p:txBody>
      </p:sp>
      <p:sp>
        <p:nvSpPr>
          <p:cNvPr id="39" name="Shape 36"/>
          <p:cNvSpPr/>
          <p:nvPr/>
        </p:nvSpPr>
        <p:spPr>
          <a:xfrm>
            <a:off x="2532597" y="3548310"/>
            <a:ext cx="297397" cy="773233"/>
          </a:xfrm>
          <a:prstGeom prst="rect">
            <a:avLst/>
          </a:prstGeom>
          <a:solidFill>
            <a:srgbClr val="0B3A8F"/>
          </a:solidFill>
          <a:ln/>
        </p:spPr>
      </p:sp>
      <p:sp>
        <p:nvSpPr>
          <p:cNvPr id="40" name="Shape 37"/>
          <p:cNvSpPr/>
          <p:nvPr/>
        </p:nvSpPr>
        <p:spPr>
          <a:xfrm>
            <a:off x="2532597" y="3222000"/>
            <a:ext cx="297397" cy="318050"/>
          </a:xfrm>
          <a:prstGeom prst="rect">
            <a:avLst/>
          </a:prstGeom>
          <a:solidFill>
            <a:srgbClr val="2F86F5"/>
          </a:solidFill>
          <a:ln/>
        </p:spPr>
      </p:sp>
      <p:sp>
        <p:nvSpPr>
          <p:cNvPr id="41" name="Shape 38"/>
          <p:cNvSpPr/>
          <p:nvPr/>
        </p:nvSpPr>
        <p:spPr>
          <a:xfrm>
            <a:off x="2532597" y="3089823"/>
            <a:ext cx="297397" cy="123915"/>
          </a:xfrm>
          <a:prstGeom prst="rect">
            <a:avLst/>
          </a:prstGeom>
          <a:solidFill>
            <a:srgbClr val="8CC4FF"/>
          </a:solidFill>
          <a:ln/>
        </p:spPr>
      </p:sp>
      <p:sp>
        <p:nvSpPr>
          <p:cNvPr id="42" name="Text 39"/>
          <p:cNvSpPr txBox="1"/>
          <p:nvPr/>
        </p:nvSpPr>
        <p:spPr>
          <a:xfrm>
            <a:off x="2517550" y="2957961"/>
            <a:ext cx="332854" cy="100584"/>
          </a:xfrm>
          <a:prstGeom prst="rect">
            <a:avLst/>
          </a:prstGeom>
          <a:noFill/>
          <a:ln/>
        </p:spPr>
        <p:txBody>
          <a:bodyPr wrap="none" lIns="0" tIns="0" rIns="0" bIns="0" rtlCol="0" anchor="ctr"/>
          <a:lstStyle/>
          <a:p>
            <a:pPr algn="ctr" indent="0" marL="0">
              <a:lnSpc>
                <a:spcPts val="790"/>
              </a:lnSpc>
              <a:buNone/>
            </a:pPr>
            <a:r>
              <a:rPr lang="en-US" sz="680" b="1" dirty="0">
                <a:solidFill>
                  <a:srgbClr val="071A33"/>
                </a:solidFill>
                <a:latin typeface="Arial" pitchFamily="34" charset="0"/>
                <a:ea typeface="Arial" pitchFamily="34" charset="-122"/>
                <a:cs typeface="Arial" pitchFamily="34" charset="-120"/>
              </a:rPr>
              <a:t>25,440</a:t>
            </a:r>
            <a:endParaRPr lang="en-US" sz="680" dirty="0"/>
          </a:p>
        </p:txBody>
      </p:sp>
      <p:sp>
        <p:nvSpPr>
          <p:cNvPr id="43" name="Text 40"/>
          <p:cNvSpPr txBox="1"/>
          <p:nvPr/>
        </p:nvSpPr>
        <p:spPr>
          <a:xfrm>
            <a:off x="2590539" y="4379685"/>
            <a:ext cx="185573"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Apr</a:t>
            </a:r>
            <a:endParaRPr lang="en-US" sz="680" dirty="0"/>
          </a:p>
        </p:txBody>
      </p:sp>
      <p:sp>
        <p:nvSpPr>
          <p:cNvPr id="44" name="Shape 41"/>
          <p:cNvSpPr/>
          <p:nvPr/>
        </p:nvSpPr>
        <p:spPr>
          <a:xfrm>
            <a:off x="3017520" y="3401264"/>
            <a:ext cx="297397" cy="920279"/>
          </a:xfrm>
          <a:prstGeom prst="rect">
            <a:avLst/>
          </a:prstGeom>
          <a:solidFill>
            <a:srgbClr val="0B3A8F"/>
          </a:solidFill>
          <a:ln/>
        </p:spPr>
      </p:sp>
      <p:sp>
        <p:nvSpPr>
          <p:cNvPr id="45" name="Shape 42"/>
          <p:cNvSpPr/>
          <p:nvPr/>
        </p:nvSpPr>
        <p:spPr>
          <a:xfrm>
            <a:off x="3017520" y="3112954"/>
            <a:ext cx="297397" cy="280049"/>
          </a:xfrm>
          <a:prstGeom prst="rect">
            <a:avLst/>
          </a:prstGeom>
          <a:solidFill>
            <a:srgbClr val="2F86F5"/>
          </a:solidFill>
          <a:ln/>
        </p:spPr>
      </p:sp>
      <p:sp>
        <p:nvSpPr>
          <p:cNvPr id="46" name="Shape 43"/>
          <p:cNvSpPr/>
          <p:nvPr/>
        </p:nvSpPr>
        <p:spPr>
          <a:xfrm>
            <a:off x="3017520" y="2979951"/>
            <a:ext cx="297397" cy="124742"/>
          </a:xfrm>
          <a:prstGeom prst="rect">
            <a:avLst/>
          </a:prstGeom>
          <a:solidFill>
            <a:srgbClr val="8CC4FF"/>
          </a:solidFill>
          <a:ln/>
        </p:spPr>
      </p:sp>
      <p:sp>
        <p:nvSpPr>
          <p:cNvPr id="47" name="Text 44"/>
          <p:cNvSpPr txBox="1"/>
          <p:nvPr/>
        </p:nvSpPr>
        <p:spPr>
          <a:xfrm>
            <a:off x="3016119" y="2848089"/>
            <a:ext cx="304534"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27,688</a:t>
            </a:r>
            <a:endParaRPr lang="en-US" sz="680" dirty="0"/>
          </a:p>
        </p:txBody>
      </p:sp>
      <p:sp>
        <p:nvSpPr>
          <p:cNvPr id="48" name="Text 45"/>
          <p:cNvSpPr txBox="1"/>
          <p:nvPr/>
        </p:nvSpPr>
        <p:spPr>
          <a:xfrm>
            <a:off x="3064644" y="4379685"/>
            <a:ext cx="203534"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May</a:t>
            </a:r>
            <a:endParaRPr lang="en-US" sz="680" dirty="0"/>
          </a:p>
        </p:txBody>
      </p:sp>
      <p:sp>
        <p:nvSpPr>
          <p:cNvPr id="49" name="Shape 46"/>
          <p:cNvSpPr/>
          <p:nvPr/>
        </p:nvSpPr>
        <p:spPr>
          <a:xfrm>
            <a:off x="3502443" y="3297175"/>
            <a:ext cx="297397" cy="1024368"/>
          </a:xfrm>
          <a:prstGeom prst="rect">
            <a:avLst/>
          </a:prstGeom>
          <a:solidFill>
            <a:srgbClr val="0B3A8F"/>
          </a:solidFill>
          <a:ln/>
        </p:spPr>
      </p:sp>
      <p:sp>
        <p:nvSpPr>
          <p:cNvPr id="50" name="Shape 47"/>
          <p:cNvSpPr/>
          <p:nvPr/>
        </p:nvSpPr>
        <p:spPr>
          <a:xfrm>
            <a:off x="3502443" y="3004734"/>
            <a:ext cx="297397" cy="284180"/>
          </a:xfrm>
          <a:prstGeom prst="rect">
            <a:avLst/>
          </a:prstGeom>
          <a:solidFill>
            <a:srgbClr val="2F86F5"/>
          </a:solidFill>
          <a:ln/>
        </p:spPr>
      </p:sp>
      <p:sp>
        <p:nvSpPr>
          <p:cNvPr id="51" name="Shape 48"/>
          <p:cNvSpPr/>
          <p:nvPr/>
        </p:nvSpPr>
        <p:spPr>
          <a:xfrm>
            <a:off x="3502443" y="2886602"/>
            <a:ext cx="297397" cy="109872"/>
          </a:xfrm>
          <a:prstGeom prst="rect">
            <a:avLst/>
          </a:prstGeom>
          <a:solidFill>
            <a:srgbClr val="8CC4FF"/>
          </a:solidFill>
          <a:ln/>
        </p:spPr>
      </p:sp>
      <p:sp>
        <p:nvSpPr>
          <p:cNvPr id="52" name="Text 49"/>
          <p:cNvSpPr txBox="1"/>
          <p:nvPr/>
        </p:nvSpPr>
        <p:spPr>
          <a:xfrm>
            <a:off x="3489406" y="2754739"/>
            <a:ext cx="326351"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29,606</a:t>
            </a:r>
            <a:endParaRPr lang="en-US" sz="680" dirty="0"/>
          </a:p>
        </p:txBody>
      </p:sp>
      <p:sp>
        <p:nvSpPr>
          <p:cNvPr id="53" name="Text 50"/>
          <p:cNvSpPr txBox="1"/>
          <p:nvPr/>
        </p:nvSpPr>
        <p:spPr>
          <a:xfrm>
            <a:off x="3563887" y="4379685"/>
            <a:ext cx="174508"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Jun</a:t>
            </a:r>
            <a:endParaRPr lang="en-US" sz="680" dirty="0"/>
          </a:p>
        </p:txBody>
      </p:sp>
      <p:sp>
        <p:nvSpPr>
          <p:cNvPr id="54" name="Shape 51"/>
          <p:cNvSpPr/>
          <p:nvPr/>
        </p:nvSpPr>
        <p:spPr>
          <a:xfrm>
            <a:off x="3986539" y="3345089"/>
            <a:ext cx="297397" cy="976454"/>
          </a:xfrm>
          <a:prstGeom prst="rect">
            <a:avLst/>
          </a:prstGeom>
          <a:solidFill>
            <a:srgbClr val="0B3A8F"/>
          </a:solidFill>
          <a:ln/>
        </p:spPr>
      </p:sp>
      <p:sp>
        <p:nvSpPr>
          <p:cNvPr id="55" name="Shape 52"/>
          <p:cNvSpPr/>
          <p:nvPr/>
        </p:nvSpPr>
        <p:spPr>
          <a:xfrm>
            <a:off x="3986539" y="3003082"/>
            <a:ext cx="297397" cy="333746"/>
          </a:xfrm>
          <a:prstGeom prst="rect">
            <a:avLst/>
          </a:prstGeom>
          <a:solidFill>
            <a:srgbClr val="2F86F5"/>
          </a:solidFill>
          <a:ln/>
        </p:spPr>
      </p:sp>
      <p:sp>
        <p:nvSpPr>
          <p:cNvPr id="56" name="Shape 53"/>
          <p:cNvSpPr/>
          <p:nvPr/>
        </p:nvSpPr>
        <p:spPr>
          <a:xfrm>
            <a:off x="3986539" y="2809774"/>
            <a:ext cx="297397" cy="185047"/>
          </a:xfrm>
          <a:prstGeom prst="rect">
            <a:avLst/>
          </a:prstGeom>
          <a:solidFill>
            <a:srgbClr val="8CC4FF"/>
          </a:solidFill>
          <a:ln/>
        </p:spPr>
      </p:sp>
      <p:sp>
        <p:nvSpPr>
          <p:cNvPr id="57" name="Text 54"/>
          <p:cNvSpPr txBox="1"/>
          <p:nvPr/>
        </p:nvSpPr>
        <p:spPr>
          <a:xfrm>
            <a:off x="4001599" y="2677912"/>
            <a:ext cx="272436"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31,185</a:t>
            </a:r>
            <a:endParaRPr lang="en-US" sz="680" dirty="0"/>
          </a:p>
        </p:txBody>
      </p:sp>
      <p:sp>
        <p:nvSpPr>
          <p:cNvPr id="58" name="Text 55"/>
          <p:cNvSpPr txBox="1"/>
          <p:nvPr/>
        </p:nvSpPr>
        <p:spPr>
          <a:xfrm>
            <a:off x="4065114" y="4379685"/>
            <a:ext cx="140246"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Jul</a:t>
            </a:r>
            <a:endParaRPr lang="en-US" sz="680" dirty="0"/>
          </a:p>
        </p:txBody>
      </p:sp>
      <p:sp>
        <p:nvSpPr>
          <p:cNvPr id="59" name="Shape 56"/>
          <p:cNvSpPr/>
          <p:nvPr/>
        </p:nvSpPr>
        <p:spPr>
          <a:xfrm>
            <a:off x="4471462" y="3269914"/>
            <a:ext cx="297397" cy="1051629"/>
          </a:xfrm>
          <a:prstGeom prst="rect">
            <a:avLst/>
          </a:prstGeom>
          <a:solidFill>
            <a:srgbClr val="0B3A8F"/>
          </a:solidFill>
          <a:ln/>
        </p:spPr>
      </p:sp>
      <p:sp>
        <p:nvSpPr>
          <p:cNvPr id="60" name="Shape 57"/>
          <p:cNvSpPr/>
          <p:nvPr/>
        </p:nvSpPr>
        <p:spPr>
          <a:xfrm>
            <a:off x="4471462" y="2891558"/>
            <a:ext cx="297397" cy="370094"/>
          </a:xfrm>
          <a:prstGeom prst="rect">
            <a:avLst/>
          </a:prstGeom>
          <a:solidFill>
            <a:srgbClr val="2F86F5"/>
          </a:solidFill>
          <a:ln/>
        </p:spPr>
      </p:sp>
      <p:sp>
        <p:nvSpPr>
          <p:cNvPr id="61" name="Shape 58"/>
          <p:cNvSpPr/>
          <p:nvPr/>
        </p:nvSpPr>
        <p:spPr>
          <a:xfrm>
            <a:off x="4471462" y="2717250"/>
            <a:ext cx="297397" cy="166047"/>
          </a:xfrm>
          <a:prstGeom prst="rect">
            <a:avLst/>
          </a:prstGeom>
          <a:solidFill>
            <a:srgbClr val="8CC4FF"/>
          </a:solidFill>
          <a:ln/>
        </p:spPr>
      </p:sp>
      <p:sp>
        <p:nvSpPr>
          <p:cNvPr id="62" name="Text 59"/>
          <p:cNvSpPr txBox="1"/>
          <p:nvPr/>
        </p:nvSpPr>
        <p:spPr>
          <a:xfrm>
            <a:off x="4460156" y="2585388"/>
            <a:ext cx="322826" cy="100584"/>
          </a:xfrm>
          <a:prstGeom prst="rect">
            <a:avLst/>
          </a:prstGeom>
          <a:noFill/>
          <a:ln/>
        </p:spPr>
        <p:txBody>
          <a:bodyPr wrap="none" lIns="0" tIns="0" rIns="0" bIns="0" rtlCol="0" anchor="ctr"/>
          <a:lstStyle/>
          <a:p>
            <a:pPr algn="ctr" indent="0" marL="0">
              <a:lnSpc>
                <a:spcPts val="790"/>
              </a:lnSpc>
              <a:buNone/>
            </a:pPr>
            <a:r>
              <a:rPr lang="en-US" sz="680" dirty="0">
                <a:solidFill>
                  <a:srgbClr val="26405F"/>
                </a:solidFill>
                <a:latin typeface="Arial" pitchFamily="34" charset="0"/>
                <a:ea typeface="Arial" pitchFamily="34" charset="-122"/>
                <a:cs typeface="Arial" pitchFamily="34" charset="-120"/>
              </a:rPr>
              <a:t>33,084</a:t>
            </a:r>
            <a:endParaRPr lang="en-US" sz="680" dirty="0"/>
          </a:p>
        </p:txBody>
      </p:sp>
      <p:sp>
        <p:nvSpPr>
          <p:cNvPr id="63" name="Text 60"/>
          <p:cNvSpPr txBox="1"/>
          <p:nvPr/>
        </p:nvSpPr>
        <p:spPr>
          <a:xfrm>
            <a:off x="4520962" y="4379685"/>
            <a:ext cx="198396" cy="109728"/>
          </a:xfrm>
          <a:prstGeom prst="rect">
            <a:avLst/>
          </a:prstGeom>
          <a:noFill/>
          <a:ln/>
        </p:spPr>
        <p:txBody>
          <a:bodyPr wrap="none" lIns="0" tIns="0" rIns="0" bIns="0" rtlCol="0" anchor="ctr"/>
          <a:lstStyle/>
          <a:p>
            <a:pPr algn="ctr" indent="0" marL="0">
              <a:lnSpc>
                <a:spcPts val="860"/>
              </a:lnSpc>
              <a:buNone/>
            </a:pPr>
            <a:r>
              <a:rPr lang="en-US" sz="680" dirty="0">
                <a:solidFill>
                  <a:srgbClr val="5F7691"/>
                </a:solidFill>
                <a:latin typeface="Arial" pitchFamily="34" charset="0"/>
                <a:ea typeface="Arial" pitchFamily="34" charset="-122"/>
                <a:cs typeface="Arial" pitchFamily="34" charset="-120"/>
              </a:rPr>
              <a:t>Aug</a:t>
            </a:r>
            <a:endParaRPr lang="en-US" sz="680" dirty="0"/>
          </a:p>
        </p:txBody>
      </p:sp>
      <p:sp>
        <p:nvSpPr>
          <p:cNvPr id="64" name="Shape 61"/>
          <p:cNvSpPr/>
          <p:nvPr/>
        </p:nvSpPr>
        <p:spPr>
          <a:xfrm>
            <a:off x="4956384" y="3108823"/>
            <a:ext cx="297397" cy="1212720"/>
          </a:xfrm>
          <a:prstGeom prst="rect">
            <a:avLst/>
          </a:prstGeom>
          <a:solidFill>
            <a:srgbClr val="0B3A8F"/>
          </a:solidFill>
          <a:ln/>
        </p:spPr>
      </p:sp>
      <p:sp>
        <p:nvSpPr>
          <p:cNvPr id="65" name="Shape 62"/>
          <p:cNvSpPr/>
          <p:nvPr/>
        </p:nvSpPr>
        <p:spPr>
          <a:xfrm>
            <a:off x="4956384" y="2747816"/>
            <a:ext cx="297397" cy="352746"/>
          </a:xfrm>
          <a:prstGeom prst="rect">
            <a:avLst/>
          </a:prstGeom>
          <a:solidFill>
            <a:srgbClr val="2F86F5"/>
          </a:solidFill>
          <a:ln/>
        </p:spPr>
      </p:sp>
      <p:sp>
        <p:nvSpPr>
          <p:cNvPr id="66" name="Shape 63"/>
          <p:cNvSpPr/>
          <p:nvPr/>
        </p:nvSpPr>
        <p:spPr>
          <a:xfrm>
            <a:off x="4956384" y="2542943"/>
            <a:ext cx="297397" cy="195786"/>
          </a:xfrm>
          <a:prstGeom prst="rect">
            <a:avLst/>
          </a:prstGeom>
          <a:solidFill>
            <a:srgbClr val="8CC4FF"/>
          </a:solidFill>
          <a:ln/>
        </p:spPr>
      </p:sp>
      <p:sp>
        <p:nvSpPr>
          <p:cNvPr id="67" name="Text 64"/>
          <p:cNvSpPr txBox="1"/>
          <p:nvPr/>
        </p:nvSpPr>
        <p:spPr>
          <a:xfrm>
            <a:off x="4945143" y="2411080"/>
            <a:ext cx="324572" cy="100584"/>
          </a:xfrm>
          <a:prstGeom prst="rect">
            <a:avLst/>
          </a:prstGeom>
          <a:noFill/>
          <a:ln/>
        </p:spPr>
        <p:txBody>
          <a:bodyPr wrap="none" lIns="0" tIns="0" rIns="0" bIns="0" rtlCol="0" anchor="ctr"/>
          <a:lstStyle/>
          <a:p>
            <a:pPr algn="ctr" indent="0" marL="0">
              <a:lnSpc>
                <a:spcPts val="790"/>
              </a:lnSpc>
              <a:buNone/>
            </a:pPr>
            <a:r>
              <a:rPr lang="en-US" sz="680" b="1" dirty="0">
                <a:solidFill>
                  <a:srgbClr val="071A33"/>
                </a:solidFill>
                <a:latin typeface="Arial" pitchFamily="34" charset="0"/>
                <a:ea typeface="Arial" pitchFamily="34" charset="-122"/>
                <a:cs typeface="Arial" pitchFamily="34" charset="-120"/>
              </a:rPr>
              <a:t>36,653</a:t>
            </a:r>
            <a:endParaRPr lang="en-US" sz="680" dirty="0"/>
          </a:p>
        </p:txBody>
      </p:sp>
      <p:sp>
        <p:nvSpPr>
          <p:cNvPr id="68" name="Text 65"/>
          <p:cNvSpPr txBox="1"/>
          <p:nvPr/>
        </p:nvSpPr>
        <p:spPr>
          <a:xfrm>
            <a:off x="5011192" y="4379685"/>
            <a:ext cx="190070" cy="100584"/>
          </a:xfrm>
          <a:prstGeom prst="rect">
            <a:avLst/>
          </a:prstGeom>
          <a:noFill/>
          <a:ln/>
        </p:spPr>
        <p:txBody>
          <a:bodyPr wrap="none" lIns="0" tIns="0" rIns="0" bIns="0" rtlCol="0" anchor="ctr"/>
          <a:lstStyle/>
          <a:p>
            <a:pPr algn="ctr" indent="0" marL="0">
              <a:lnSpc>
                <a:spcPts val="790"/>
              </a:lnSpc>
              <a:buNone/>
            </a:pPr>
            <a:r>
              <a:rPr lang="en-US" sz="680" dirty="0">
                <a:solidFill>
                  <a:srgbClr val="5F7691"/>
                </a:solidFill>
                <a:latin typeface="Arial" pitchFamily="34" charset="0"/>
                <a:ea typeface="Arial" pitchFamily="34" charset="-122"/>
                <a:cs typeface="Arial" pitchFamily="34" charset="-120"/>
              </a:rPr>
              <a:t>Sep</a:t>
            </a:r>
            <a:endParaRPr lang="en-US" sz="680" dirty="0"/>
          </a:p>
        </p:txBody>
      </p:sp>
      <p:sp>
        <p:nvSpPr>
          <p:cNvPr id="69" name="Shape 66"/>
          <p:cNvSpPr/>
          <p:nvPr/>
        </p:nvSpPr>
        <p:spPr>
          <a:xfrm>
            <a:off x="2720123" y="2416549"/>
            <a:ext cx="2058649" cy="450226"/>
          </a:xfrm>
          <a:custGeom>
            <a:avLst/>
            <a:gdLst/>
            <a:ahLst/>
            <a:cxnLst/>
            <a:rect l="l" t="t" r="r" b="b"/>
            <a:pathLst>
              <a:path w="2058649" h="450226">
                <a:moveTo>
                  <a:pt x="0" y="450226"/>
                </a:moveTo>
                <a:lnTo>
                  <a:pt x="12039" y="447593"/>
                </a:lnTo>
                <a:lnTo>
                  <a:pt x="24078" y="444960"/>
                </a:lnTo>
                <a:lnTo>
                  <a:pt x="36117" y="442328"/>
                </a:lnTo>
                <a:lnTo>
                  <a:pt x="48155" y="439695"/>
                </a:lnTo>
                <a:lnTo>
                  <a:pt x="60195" y="437062"/>
                </a:lnTo>
                <a:lnTo>
                  <a:pt x="72233" y="434429"/>
                </a:lnTo>
                <a:lnTo>
                  <a:pt x="84272" y="431796"/>
                </a:lnTo>
                <a:lnTo>
                  <a:pt x="96311" y="429163"/>
                </a:lnTo>
                <a:lnTo>
                  <a:pt x="108350" y="426530"/>
                </a:lnTo>
                <a:lnTo>
                  <a:pt x="120389" y="423897"/>
                </a:lnTo>
                <a:lnTo>
                  <a:pt x="132428" y="421264"/>
                </a:lnTo>
                <a:lnTo>
                  <a:pt x="144467" y="418631"/>
                </a:lnTo>
                <a:lnTo>
                  <a:pt x="156506" y="415999"/>
                </a:lnTo>
                <a:lnTo>
                  <a:pt x="168544" y="413366"/>
                </a:lnTo>
                <a:lnTo>
                  <a:pt x="180583" y="410733"/>
                </a:lnTo>
                <a:lnTo>
                  <a:pt x="192622" y="408100"/>
                </a:lnTo>
                <a:lnTo>
                  <a:pt x="204661" y="405467"/>
                </a:lnTo>
                <a:lnTo>
                  <a:pt x="216700" y="402834"/>
                </a:lnTo>
                <a:lnTo>
                  <a:pt x="228739" y="400201"/>
                </a:lnTo>
                <a:lnTo>
                  <a:pt x="240778" y="397568"/>
                </a:lnTo>
                <a:lnTo>
                  <a:pt x="252817" y="394935"/>
                </a:lnTo>
                <a:lnTo>
                  <a:pt x="264855" y="392302"/>
                </a:lnTo>
                <a:lnTo>
                  <a:pt x="276894" y="389670"/>
                </a:lnTo>
                <a:lnTo>
                  <a:pt x="288933" y="387037"/>
                </a:lnTo>
                <a:lnTo>
                  <a:pt x="300972" y="384404"/>
                </a:lnTo>
                <a:lnTo>
                  <a:pt x="313011" y="381771"/>
                </a:lnTo>
                <a:lnTo>
                  <a:pt x="325050" y="379138"/>
                </a:lnTo>
                <a:lnTo>
                  <a:pt x="337089" y="376505"/>
                </a:lnTo>
                <a:lnTo>
                  <a:pt x="349128" y="373872"/>
                </a:lnTo>
                <a:lnTo>
                  <a:pt x="361167" y="371239"/>
                </a:lnTo>
                <a:lnTo>
                  <a:pt x="373205" y="368606"/>
                </a:lnTo>
                <a:lnTo>
                  <a:pt x="385244" y="365973"/>
                </a:lnTo>
                <a:lnTo>
                  <a:pt x="397283" y="363340"/>
                </a:lnTo>
                <a:lnTo>
                  <a:pt x="409322" y="360708"/>
                </a:lnTo>
                <a:lnTo>
                  <a:pt x="421361" y="358075"/>
                </a:lnTo>
                <a:lnTo>
                  <a:pt x="433400" y="355442"/>
                </a:lnTo>
                <a:lnTo>
                  <a:pt x="445439" y="352809"/>
                </a:lnTo>
                <a:lnTo>
                  <a:pt x="457478" y="350176"/>
                </a:lnTo>
                <a:lnTo>
                  <a:pt x="469516" y="347543"/>
                </a:lnTo>
                <a:lnTo>
                  <a:pt x="481555" y="344910"/>
                </a:lnTo>
                <a:lnTo>
                  <a:pt x="493594" y="342277"/>
                </a:lnTo>
                <a:lnTo>
                  <a:pt x="505633" y="339644"/>
                </a:lnTo>
                <a:lnTo>
                  <a:pt x="517672" y="337011"/>
                </a:lnTo>
                <a:lnTo>
                  <a:pt x="529711" y="334379"/>
                </a:lnTo>
                <a:lnTo>
                  <a:pt x="541750" y="331746"/>
                </a:lnTo>
                <a:lnTo>
                  <a:pt x="553789" y="329113"/>
                </a:lnTo>
                <a:lnTo>
                  <a:pt x="565828" y="326480"/>
                </a:lnTo>
                <a:lnTo>
                  <a:pt x="577866" y="323847"/>
                </a:lnTo>
                <a:lnTo>
                  <a:pt x="589905" y="321214"/>
                </a:lnTo>
                <a:lnTo>
                  <a:pt x="601944" y="318581"/>
                </a:lnTo>
                <a:lnTo>
                  <a:pt x="613983" y="315948"/>
                </a:lnTo>
                <a:lnTo>
                  <a:pt x="626022" y="313315"/>
                </a:lnTo>
                <a:lnTo>
                  <a:pt x="638061" y="310682"/>
                </a:lnTo>
                <a:lnTo>
                  <a:pt x="650100" y="308050"/>
                </a:lnTo>
                <a:lnTo>
                  <a:pt x="662139" y="305417"/>
                </a:lnTo>
                <a:lnTo>
                  <a:pt x="674178" y="302784"/>
                </a:lnTo>
                <a:lnTo>
                  <a:pt x="686216" y="300151"/>
                </a:lnTo>
                <a:lnTo>
                  <a:pt x="698255" y="297518"/>
                </a:lnTo>
                <a:lnTo>
                  <a:pt x="710294" y="294885"/>
                </a:lnTo>
                <a:lnTo>
                  <a:pt x="722333" y="292252"/>
                </a:lnTo>
                <a:lnTo>
                  <a:pt x="734372" y="289619"/>
                </a:lnTo>
                <a:lnTo>
                  <a:pt x="746411" y="286986"/>
                </a:lnTo>
                <a:lnTo>
                  <a:pt x="758450" y="284353"/>
                </a:lnTo>
                <a:lnTo>
                  <a:pt x="770489" y="281720"/>
                </a:lnTo>
                <a:lnTo>
                  <a:pt x="782528" y="279088"/>
                </a:lnTo>
                <a:lnTo>
                  <a:pt x="794566" y="276455"/>
                </a:lnTo>
                <a:lnTo>
                  <a:pt x="806605" y="273822"/>
                </a:lnTo>
                <a:lnTo>
                  <a:pt x="818644" y="271189"/>
                </a:lnTo>
                <a:lnTo>
                  <a:pt x="830683" y="268556"/>
                </a:lnTo>
                <a:lnTo>
                  <a:pt x="842722" y="265923"/>
                </a:lnTo>
                <a:lnTo>
                  <a:pt x="854761" y="263290"/>
                </a:lnTo>
                <a:lnTo>
                  <a:pt x="866800" y="260657"/>
                </a:lnTo>
                <a:lnTo>
                  <a:pt x="878838" y="258024"/>
                </a:lnTo>
                <a:lnTo>
                  <a:pt x="890878" y="255391"/>
                </a:lnTo>
                <a:lnTo>
                  <a:pt x="902917" y="252759"/>
                </a:lnTo>
                <a:lnTo>
                  <a:pt x="914955" y="250126"/>
                </a:lnTo>
                <a:lnTo>
                  <a:pt x="926994" y="247493"/>
                </a:lnTo>
                <a:lnTo>
                  <a:pt x="939033" y="244860"/>
                </a:lnTo>
                <a:lnTo>
                  <a:pt x="951072" y="242227"/>
                </a:lnTo>
                <a:lnTo>
                  <a:pt x="963111" y="239594"/>
                </a:lnTo>
                <a:lnTo>
                  <a:pt x="975150" y="236961"/>
                </a:lnTo>
                <a:lnTo>
                  <a:pt x="987189" y="234328"/>
                </a:lnTo>
                <a:lnTo>
                  <a:pt x="999227" y="231695"/>
                </a:lnTo>
                <a:lnTo>
                  <a:pt x="1011266" y="229062"/>
                </a:lnTo>
                <a:lnTo>
                  <a:pt x="1023305" y="226430"/>
                </a:lnTo>
                <a:lnTo>
                  <a:pt x="1035344" y="223797"/>
                </a:lnTo>
                <a:lnTo>
                  <a:pt x="1047383" y="221164"/>
                </a:lnTo>
                <a:lnTo>
                  <a:pt x="1059422" y="218531"/>
                </a:lnTo>
                <a:lnTo>
                  <a:pt x="1071461" y="215898"/>
                </a:lnTo>
                <a:lnTo>
                  <a:pt x="1083500" y="213265"/>
                </a:lnTo>
                <a:lnTo>
                  <a:pt x="1095539" y="210632"/>
                </a:lnTo>
                <a:lnTo>
                  <a:pt x="1107577" y="207999"/>
                </a:lnTo>
                <a:lnTo>
                  <a:pt x="1119616" y="205366"/>
                </a:lnTo>
                <a:lnTo>
                  <a:pt x="1131655" y="202733"/>
                </a:lnTo>
                <a:lnTo>
                  <a:pt x="1143694" y="200101"/>
                </a:lnTo>
                <a:lnTo>
                  <a:pt x="1155733" y="197468"/>
                </a:lnTo>
                <a:lnTo>
                  <a:pt x="1167772" y="194835"/>
                </a:lnTo>
                <a:lnTo>
                  <a:pt x="1179811" y="192202"/>
                </a:lnTo>
                <a:lnTo>
                  <a:pt x="1191850" y="189569"/>
                </a:lnTo>
                <a:lnTo>
                  <a:pt x="1203889" y="186936"/>
                </a:lnTo>
                <a:lnTo>
                  <a:pt x="1215927" y="184303"/>
                </a:lnTo>
                <a:lnTo>
                  <a:pt x="1227966" y="181670"/>
                </a:lnTo>
                <a:lnTo>
                  <a:pt x="1240005" y="179037"/>
                </a:lnTo>
                <a:lnTo>
                  <a:pt x="1252044" y="176404"/>
                </a:lnTo>
                <a:lnTo>
                  <a:pt x="1264083" y="173772"/>
                </a:lnTo>
                <a:lnTo>
                  <a:pt x="1276122" y="171139"/>
                </a:lnTo>
                <a:lnTo>
                  <a:pt x="1288161" y="168506"/>
                </a:lnTo>
                <a:lnTo>
                  <a:pt x="1300200" y="165873"/>
                </a:lnTo>
                <a:lnTo>
                  <a:pt x="1312239" y="163240"/>
                </a:lnTo>
                <a:lnTo>
                  <a:pt x="1324277" y="160607"/>
                </a:lnTo>
                <a:lnTo>
                  <a:pt x="1336316" y="157974"/>
                </a:lnTo>
                <a:lnTo>
                  <a:pt x="1348355" y="155341"/>
                </a:lnTo>
                <a:lnTo>
                  <a:pt x="1360394" y="152708"/>
                </a:lnTo>
                <a:lnTo>
                  <a:pt x="1372433" y="150075"/>
                </a:lnTo>
                <a:lnTo>
                  <a:pt x="1384472" y="147443"/>
                </a:lnTo>
                <a:lnTo>
                  <a:pt x="1396511" y="144810"/>
                </a:lnTo>
                <a:lnTo>
                  <a:pt x="1408550" y="142177"/>
                </a:lnTo>
                <a:lnTo>
                  <a:pt x="1420589" y="139544"/>
                </a:lnTo>
                <a:lnTo>
                  <a:pt x="1432627" y="136911"/>
                </a:lnTo>
                <a:lnTo>
                  <a:pt x="1444666" y="134278"/>
                </a:lnTo>
                <a:lnTo>
                  <a:pt x="1456705" y="131645"/>
                </a:lnTo>
                <a:lnTo>
                  <a:pt x="1468744" y="129012"/>
                </a:lnTo>
                <a:lnTo>
                  <a:pt x="1480783" y="126379"/>
                </a:lnTo>
                <a:lnTo>
                  <a:pt x="1492822" y="123746"/>
                </a:lnTo>
                <a:lnTo>
                  <a:pt x="1504861" y="121113"/>
                </a:lnTo>
                <a:lnTo>
                  <a:pt x="1516900" y="118481"/>
                </a:lnTo>
                <a:lnTo>
                  <a:pt x="1528938" y="115848"/>
                </a:lnTo>
                <a:lnTo>
                  <a:pt x="1540977" y="113215"/>
                </a:lnTo>
                <a:lnTo>
                  <a:pt x="1553016" y="110582"/>
                </a:lnTo>
                <a:lnTo>
                  <a:pt x="1565055" y="107949"/>
                </a:lnTo>
                <a:lnTo>
                  <a:pt x="1577094" y="105316"/>
                </a:lnTo>
                <a:lnTo>
                  <a:pt x="1589133" y="102683"/>
                </a:lnTo>
                <a:lnTo>
                  <a:pt x="1601172" y="100050"/>
                </a:lnTo>
                <a:lnTo>
                  <a:pt x="1613211" y="97417"/>
                </a:lnTo>
                <a:lnTo>
                  <a:pt x="1625249" y="94784"/>
                </a:lnTo>
                <a:lnTo>
                  <a:pt x="1637288" y="92152"/>
                </a:lnTo>
                <a:lnTo>
                  <a:pt x="1649327" y="89519"/>
                </a:lnTo>
                <a:lnTo>
                  <a:pt x="1661366" y="86886"/>
                </a:lnTo>
                <a:lnTo>
                  <a:pt x="1673405" y="84253"/>
                </a:lnTo>
                <a:lnTo>
                  <a:pt x="1685444" y="81620"/>
                </a:lnTo>
                <a:lnTo>
                  <a:pt x="1697483" y="78987"/>
                </a:lnTo>
                <a:lnTo>
                  <a:pt x="1709522" y="76354"/>
                </a:lnTo>
                <a:lnTo>
                  <a:pt x="1721561" y="73721"/>
                </a:lnTo>
                <a:lnTo>
                  <a:pt x="1733600" y="71088"/>
                </a:lnTo>
                <a:lnTo>
                  <a:pt x="1745638" y="68455"/>
                </a:lnTo>
                <a:lnTo>
                  <a:pt x="1757677" y="65823"/>
                </a:lnTo>
                <a:lnTo>
                  <a:pt x="1769716" y="63190"/>
                </a:lnTo>
                <a:lnTo>
                  <a:pt x="1781755" y="60557"/>
                </a:lnTo>
                <a:lnTo>
                  <a:pt x="1793794" y="57924"/>
                </a:lnTo>
                <a:lnTo>
                  <a:pt x="1805833" y="55291"/>
                </a:lnTo>
                <a:lnTo>
                  <a:pt x="1817872" y="52658"/>
                </a:lnTo>
                <a:lnTo>
                  <a:pt x="1829910" y="50025"/>
                </a:lnTo>
                <a:lnTo>
                  <a:pt x="1841950" y="47392"/>
                </a:lnTo>
                <a:lnTo>
                  <a:pt x="1853988" y="44759"/>
                </a:lnTo>
                <a:lnTo>
                  <a:pt x="1866027" y="42126"/>
                </a:lnTo>
                <a:lnTo>
                  <a:pt x="1878066" y="39494"/>
                </a:lnTo>
                <a:lnTo>
                  <a:pt x="1890105" y="36861"/>
                </a:lnTo>
                <a:lnTo>
                  <a:pt x="1902144" y="34228"/>
                </a:lnTo>
                <a:lnTo>
                  <a:pt x="1914183" y="31595"/>
                </a:lnTo>
                <a:lnTo>
                  <a:pt x="1926222" y="28962"/>
                </a:lnTo>
                <a:lnTo>
                  <a:pt x="1938261" y="26329"/>
                </a:lnTo>
                <a:lnTo>
                  <a:pt x="1950299" y="23696"/>
                </a:lnTo>
                <a:lnTo>
                  <a:pt x="1962338" y="21063"/>
                </a:lnTo>
                <a:lnTo>
                  <a:pt x="1974377" y="18430"/>
                </a:lnTo>
                <a:lnTo>
                  <a:pt x="1986416" y="15797"/>
                </a:lnTo>
                <a:lnTo>
                  <a:pt x="1998455" y="13165"/>
                </a:lnTo>
                <a:lnTo>
                  <a:pt x="2010494" y="10532"/>
                </a:lnTo>
                <a:lnTo>
                  <a:pt x="2022533" y="7899"/>
                </a:lnTo>
                <a:lnTo>
                  <a:pt x="2034572" y="5266"/>
                </a:lnTo>
                <a:lnTo>
                  <a:pt x="2046611" y="2633"/>
                </a:lnTo>
                <a:lnTo>
                  <a:pt x="2058649" y="0"/>
                </a:lnTo>
              </a:path>
            </a:pathLst>
          </a:custGeom>
          <a:ln w="33044">
            <a:solidFill>
              <a:srgbClr val="071A33"/>
            </a:solidFill>
            <a:prstDash val="solid"/>
          </a:ln>
        </p:spPr>
      </p:sp>
      <p:sp>
        <p:nvSpPr>
          <p:cNvPr id="70" name="Shape 67"/>
          <p:cNvSpPr/>
          <p:nvPr/>
        </p:nvSpPr>
        <p:spPr>
          <a:xfrm>
            <a:off x="4768859" y="2371939"/>
            <a:ext cx="99132" cy="89219"/>
          </a:xfrm>
          <a:custGeom>
            <a:avLst/>
            <a:gdLst/>
            <a:ahLst/>
            <a:cxnLst/>
            <a:rect l="l" t="t" r="r" b="b"/>
            <a:pathLst>
              <a:path w="99132" h="89219">
                <a:moveTo>
                  <a:pt x="99132" y="24783"/>
                </a:moveTo>
                <a:lnTo>
                  <a:pt x="19826" y="89219"/>
                </a:lnTo>
                <a:lnTo>
                  <a:pt x="0" y="0"/>
                </a:lnTo>
                <a:close/>
              </a:path>
            </a:pathLst>
          </a:custGeom>
          <a:solidFill>
            <a:srgbClr val="071A33"/>
          </a:solidFill>
          <a:ln/>
        </p:spPr>
      </p:sp>
      <p:sp>
        <p:nvSpPr>
          <p:cNvPr id="71" name="Shape 68"/>
          <p:cNvSpPr/>
          <p:nvPr/>
        </p:nvSpPr>
        <p:spPr>
          <a:xfrm>
            <a:off x="2687079" y="2833731"/>
            <a:ext cx="66088" cy="66088"/>
          </a:xfrm>
          <a:prstGeom prst="ellipse">
            <a:avLst/>
          </a:prstGeom>
          <a:solidFill>
            <a:srgbClr val="FFFFFF"/>
          </a:solidFill>
          <a:ln w="16522">
            <a:solidFill>
              <a:srgbClr val="52AEFF"/>
            </a:solidFill>
            <a:prstDash val="solid"/>
          </a:ln>
        </p:spPr>
      </p:sp>
      <p:sp>
        <p:nvSpPr>
          <p:cNvPr id="72" name="Shape 69"/>
          <p:cNvSpPr/>
          <p:nvPr/>
        </p:nvSpPr>
        <p:spPr>
          <a:xfrm>
            <a:off x="2885343" y="2396722"/>
            <a:ext cx="925236" cy="198265"/>
          </a:xfrm>
          <a:prstGeom prst="roundRect">
            <a:avLst>
              <a:gd name="adj" fmla="val 50000"/>
            </a:avLst>
          </a:prstGeom>
          <a:solidFill>
            <a:srgbClr val="1F6FEB"/>
          </a:solidFill>
          <a:ln/>
        </p:spPr>
      </p:sp>
      <p:sp>
        <p:nvSpPr>
          <p:cNvPr id="73" name="Text 70"/>
          <p:cNvSpPr txBox="1"/>
          <p:nvPr/>
        </p:nvSpPr>
        <p:spPr>
          <a:xfrm>
            <a:off x="2905599" y="2432446"/>
            <a:ext cx="884725" cy="128016"/>
          </a:xfrm>
          <a:prstGeom prst="rect">
            <a:avLst/>
          </a:prstGeom>
          <a:noFill/>
          <a:ln/>
        </p:spPr>
        <p:txBody>
          <a:bodyPr wrap="none" lIns="0" tIns="0" rIns="0" bIns="0" rtlCol="0" anchor="ctr"/>
          <a:lstStyle/>
          <a:p>
            <a:pPr algn="ctr" indent="0" marL="0">
              <a:lnSpc>
                <a:spcPts val="1010"/>
              </a:lnSpc>
              <a:buNone/>
            </a:pPr>
            <a:r>
              <a:rPr lang="en-US" sz="810" b="1" dirty="0">
                <a:solidFill>
                  <a:srgbClr val="FFFFFF"/>
                </a:solidFill>
                <a:latin typeface="Arial" pitchFamily="34" charset="0"/>
                <a:ea typeface="Arial" pitchFamily="34" charset="-122"/>
                <a:cs typeface="Arial" pitchFamily="34" charset="-120"/>
              </a:rPr>
              <a:t>+44% Apr → Sep</a:t>
            </a:r>
            <a:endParaRPr lang="en-US" sz="810" dirty="0"/>
          </a:p>
        </p:txBody>
      </p:sp>
      <p:sp>
        <p:nvSpPr>
          <p:cNvPr id="74" name="Shape 71"/>
          <p:cNvSpPr/>
          <p:nvPr/>
        </p:nvSpPr>
        <p:spPr>
          <a:xfrm>
            <a:off x="5760720" y="1783080"/>
            <a:ext cx="2926080" cy="626364"/>
          </a:xfrm>
          <a:prstGeom prst="roundRect">
            <a:avLst>
              <a:gd name="adj" fmla="val 23358"/>
            </a:avLst>
          </a:prstGeom>
          <a:solidFill>
            <a:srgbClr val="E8F2FF"/>
          </a:solidFill>
          <a:ln w="9144">
            <a:solidFill>
              <a:srgbClr val="D6E6FA"/>
            </a:solidFill>
            <a:prstDash val="solid"/>
          </a:ln>
        </p:spPr>
      </p:sp>
      <p:sp>
        <p:nvSpPr>
          <p:cNvPr id="75" name="Text 72"/>
          <p:cNvSpPr txBox="1"/>
          <p:nvPr/>
        </p:nvSpPr>
        <p:spPr>
          <a:xfrm>
            <a:off x="5925312" y="1874520"/>
            <a:ext cx="654796" cy="356616"/>
          </a:xfrm>
          <a:prstGeom prst="rect">
            <a:avLst/>
          </a:prstGeom>
          <a:noFill/>
          <a:ln/>
        </p:spPr>
        <p:txBody>
          <a:bodyPr wrap="none" lIns="0" tIns="0" rIns="0" bIns="0" rtlCol="0" anchor="t"/>
          <a:lstStyle/>
          <a:p>
            <a:pPr algn="l" indent="0" marL="0">
              <a:lnSpc>
                <a:spcPts val="2160"/>
              </a:lnSpc>
              <a:buNone/>
            </a:pPr>
            <a:r>
              <a:rPr lang="en-US" sz="2160" b="1" spc="-108" kern="0" dirty="0">
                <a:solidFill>
                  <a:srgbClr val="1A62D6"/>
                </a:solidFill>
                <a:latin typeface="Arial" pitchFamily="34" charset="0"/>
                <a:ea typeface="Arial" pitchFamily="34" charset="-122"/>
                <a:cs typeface="Arial" pitchFamily="34" charset="-120"/>
              </a:rPr>
              <a:t>−19%</a:t>
            </a:r>
            <a:endParaRPr lang="en-US" sz="2160" dirty="0"/>
          </a:p>
        </p:txBody>
      </p:sp>
      <p:sp>
        <p:nvSpPr>
          <p:cNvPr id="76" name="Text 73"/>
          <p:cNvSpPr txBox="1"/>
          <p:nvPr/>
        </p:nvSpPr>
        <p:spPr>
          <a:xfrm>
            <a:off x="5925312" y="2194560"/>
            <a:ext cx="175493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Apr low vs Mar, 25,440 h; LCBTH −29%</a:t>
            </a:r>
            <a:endParaRPr lang="en-US" sz="720" dirty="0"/>
          </a:p>
        </p:txBody>
      </p:sp>
      <p:sp>
        <p:nvSpPr>
          <p:cNvPr id="77" name="Shape 74"/>
          <p:cNvSpPr/>
          <p:nvPr/>
        </p:nvSpPr>
        <p:spPr>
          <a:xfrm>
            <a:off x="5760720" y="2519172"/>
            <a:ext cx="2926080" cy="626364"/>
          </a:xfrm>
          <a:prstGeom prst="roundRect">
            <a:avLst>
              <a:gd name="adj" fmla="val 23358"/>
            </a:avLst>
          </a:prstGeom>
          <a:solidFill>
            <a:srgbClr val="E8F2FF"/>
          </a:solidFill>
          <a:ln w="9144">
            <a:solidFill>
              <a:srgbClr val="D6E6FA"/>
            </a:solidFill>
            <a:prstDash val="solid"/>
          </a:ln>
        </p:spPr>
      </p:sp>
      <p:sp>
        <p:nvSpPr>
          <p:cNvPr id="78" name="Text 75"/>
          <p:cNvSpPr txBox="1"/>
          <p:nvPr/>
        </p:nvSpPr>
        <p:spPr>
          <a:xfrm>
            <a:off x="5925312" y="2610612"/>
            <a:ext cx="714518" cy="356616"/>
          </a:xfrm>
          <a:prstGeom prst="rect">
            <a:avLst/>
          </a:prstGeom>
          <a:noFill/>
          <a:ln/>
        </p:spPr>
        <p:txBody>
          <a:bodyPr wrap="none" lIns="0" tIns="0" rIns="0" bIns="0" rtlCol="0" anchor="t"/>
          <a:lstStyle/>
          <a:p>
            <a:pPr algn="l" indent="0" marL="0">
              <a:lnSpc>
                <a:spcPts val="2160"/>
              </a:lnSpc>
              <a:buNone/>
            </a:pPr>
            <a:r>
              <a:rPr lang="en-US" sz="2160" b="1" spc="-108" kern="0" dirty="0">
                <a:solidFill>
                  <a:srgbClr val="1A62D6"/>
                </a:solidFill>
                <a:latin typeface="Arial" pitchFamily="34" charset="0"/>
                <a:ea typeface="Arial" pitchFamily="34" charset="-122"/>
                <a:cs typeface="Arial" pitchFamily="34" charset="-120"/>
              </a:rPr>
              <a:t>+44%</a:t>
            </a:r>
            <a:endParaRPr lang="en-US" sz="2160" dirty="0"/>
          </a:p>
        </p:txBody>
      </p:sp>
      <p:sp>
        <p:nvSpPr>
          <p:cNvPr id="79" name="Text 76"/>
          <p:cNvSpPr txBox="1"/>
          <p:nvPr/>
        </p:nvSpPr>
        <p:spPr>
          <a:xfrm>
            <a:off x="5925312" y="2930652"/>
            <a:ext cx="1864790"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Apr to Sep: 25,440 h to a record 36,653 h</a:t>
            </a:r>
            <a:endParaRPr lang="en-US" sz="720" dirty="0"/>
          </a:p>
        </p:txBody>
      </p:sp>
      <p:sp>
        <p:nvSpPr>
          <p:cNvPr id="80" name="Shape 77"/>
          <p:cNvSpPr/>
          <p:nvPr/>
        </p:nvSpPr>
        <p:spPr>
          <a:xfrm>
            <a:off x="5760720" y="3255264"/>
            <a:ext cx="2926080" cy="626364"/>
          </a:xfrm>
          <a:prstGeom prst="roundRect">
            <a:avLst>
              <a:gd name="adj" fmla="val 23358"/>
            </a:avLst>
          </a:prstGeom>
          <a:solidFill>
            <a:srgbClr val="071A33"/>
          </a:solidFill>
          <a:ln/>
        </p:spPr>
      </p:sp>
      <p:sp>
        <p:nvSpPr>
          <p:cNvPr id="81" name="Text 78"/>
          <p:cNvSpPr txBox="1"/>
          <p:nvPr/>
        </p:nvSpPr>
        <p:spPr>
          <a:xfrm>
            <a:off x="5925312" y="3346704"/>
            <a:ext cx="442941" cy="356616"/>
          </a:xfrm>
          <a:prstGeom prst="rect">
            <a:avLst/>
          </a:prstGeom>
          <a:noFill/>
          <a:ln/>
        </p:spPr>
        <p:txBody>
          <a:bodyPr wrap="none" lIns="0" tIns="0" rIns="0" bIns="0" rtlCol="0" anchor="t"/>
          <a:lstStyle/>
          <a:p>
            <a:pPr algn="l" indent="0" marL="0">
              <a:lnSpc>
                <a:spcPts val="2160"/>
              </a:lnSpc>
              <a:buNone/>
            </a:pPr>
            <a:r>
              <a:rPr lang="en-US" sz="2160" b="1" spc="-108" kern="0" dirty="0">
                <a:solidFill>
                  <a:srgbClr val="9CCBFF"/>
                </a:solidFill>
                <a:latin typeface="Arial" pitchFamily="34" charset="0"/>
                <a:ea typeface="Arial" pitchFamily="34" charset="-122"/>
                <a:cs typeface="Arial" pitchFamily="34" charset="-120"/>
              </a:rPr>
              <a:t>176</a:t>
            </a:r>
            <a:endParaRPr lang="en-US" sz="2160" dirty="0"/>
          </a:p>
        </p:txBody>
      </p:sp>
      <p:sp>
        <p:nvSpPr>
          <p:cNvPr id="82" name="Text 79"/>
          <p:cNvSpPr txBox="1"/>
          <p:nvPr/>
        </p:nvSpPr>
        <p:spPr>
          <a:xfrm>
            <a:off x="5925312" y="3666744"/>
            <a:ext cx="1384344" cy="160477"/>
          </a:xfrm>
          <a:prstGeom prst="rect">
            <a:avLst/>
          </a:prstGeom>
          <a:noFill/>
          <a:ln/>
        </p:spPr>
        <p:txBody>
          <a:bodyPr wrap="none" lIns="0" tIns="0" rIns="0" bIns="0" rtlCol="0" anchor="t"/>
          <a:lstStyle/>
          <a:p>
            <a:pPr algn="l" indent="0" marL="0">
              <a:lnSpc>
                <a:spcPts val="970"/>
              </a:lnSpc>
              <a:buNone/>
            </a:pPr>
            <a:r>
              <a:rPr lang="en-US" sz="720" dirty="0">
                <a:solidFill>
                  <a:srgbClr val="9DB6D4"/>
                </a:solidFill>
                <a:latin typeface="Arial" pitchFamily="34" charset="0"/>
                <a:ea typeface="Arial" pitchFamily="34" charset="-122"/>
                <a:cs typeface="Arial" pitchFamily="34" charset="-120"/>
              </a:rPr>
              <a:t>FTE in Sep vs 141 Jan–Aug avg</a:t>
            </a:r>
            <a:endParaRPr lang="en-US" sz="720" dirty="0"/>
          </a:p>
        </p:txBody>
      </p:sp>
      <p:sp>
        <p:nvSpPr>
          <p:cNvPr id="83" name="Shape 80"/>
          <p:cNvSpPr/>
          <p:nvPr/>
        </p:nvSpPr>
        <p:spPr>
          <a:xfrm>
            <a:off x="5760720" y="3991356"/>
            <a:ext cx="2926080" cy="914400"/>
          </a:xfrm>
          <a:prstGeom prst="roundRect">
            <a:avLst>
              <a:gd name="adj" fmla="val 16000"/>
            </a:avLst>
          </a:prstGeom>
          <a:solidFill>
            <a:srgbClr val="E8F2FF"/>
          </a:solidFill>
          <a:ln w="9144">
            <a:solidFill>
              <a:srgbClr val="D6E6FA"/>
            </a:solidFill>
            <a:prstDash val="solid"/>
          </a:ln>
        </p:spPr>
      </p:sp>
      <p:sp>
        <p:nvSpPr>
          <p:cNvPr id="84" name="Text 81"/>
          <p:cNvSpPr txBox="1"/>
          <p:nvPr/>
        </p:nvSpPr>
        <p:spPr>
          <a:xfrm>
            <a:off x="5925312" y="4073652"/>
            <a:ext cx="1090293"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Quarterly service hours</a:t>
            </a:r>
            <a:endParaRPr lang="en-US" sz="720" dirty="0"/>
          </a:p>
        </p:txBody>
      </p:sp>
      <p:sp>
        <p:nvSpPr>
          <p:cNvPr id="85" name="Text 82"/>
          <p:cNvSpPr txBox="1"/>
          <p:nvPr/>
        </p:nvSpPr>
        <p:spPr>
          <a:xfrm>
            <a:off x="5925312" y="4288536"/>
            <a:ext cx="135846"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Q1</a:t>
            </a:r>
            <a:endParaRPr lang="en-US" sz="720" dirty="0"/>
          </a:p>
        </p:txBody>
      </p:sp>
      <p:sp>
        <p:nvSpPr>
          <p:cNvPr id="86" name="Shape 83"/>
          <p:cNvSpPr/>
          <p:nvPr/>
        </p:nvSpPr>
        <p:spPr>
          <a:xfrm>
            <a:off x="6217920" y="4299966"/>
            <a:ext cx="1467041" cy="118872"/>
          </a:xfrm>
          <a:prstGeom prst="roundRect">
            <a:avLst>
              <a:gd name="adj" fmla="val 23077"/>
            </a:avLst>
          </a:prstGeom>
          <a:solidFill>
            <a:srgbClr val="BCD8F7"/>
          </a:solidFill>
          <a:ln/>
        </p:spPr>
      </p:sp>
      <p:sp>
        <p:nvSpPr>
          <p:cNvPr id="87" name="Text 84"/>
          <p:cNvSpPr txBox="1"/>
          <p:nvPr/>
        </p:nvSpPr>
        <p:spPr>
          <a:xfrm>
            <a:off x="7973568" y="4288536"/>
            <a:ext cx="36986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88.0K h</a:t>
            </a:r>
            <a:endParaRPr lang="en-US" sz="720" dirty="0"/>
          </a:p>
        </p:txBody>
      </p:sp>
      <p:sp>
        <p:nvSpPr>
          <p:cNvPr id="88" name="Text 85"/>
          <p:cNvSpPr txBox="1"/>
          <p:nvPr/>
        </p:nvSpPr>
        <p:spPr>
          <a:xfrm>
            <a:off x="5925312" y="4485132"/>
            <a:ext cx="152348"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Q2</a:t>
            </a:r>
            <a:endParaRPr lang="en-US" sz="720" dirty="0"/>
          </a:p>
        </p:txBody>
      </p:sp>
      <p:sp>
        <p:nvSpPr>
          <p:cNvPr id="89" name="Shape 86"/>
          <p:cNvSpPr/>
          <p:nvPr/>
        </p:nvSpPr>
        <p:spPr>
          <a:xfrm>
            <a:off x="6217920" y="4496562"/>
            <a:ext cx="1379601" cy="118872"/>
          </a:xfrm>
          <a:prstGeom prst="roundRect">
            <a:avLst>
              <a:gd name="adj" fmla="val 23077"/>
            </a:avLst>
          </a:prstGeom>
          <a:solidFill>
            <a:srgbClr val="BCD8F7"/>
          </a:solidFill>
          <a:ln/>
        </p:spPr>
      </p:sp>
      <p:sp>
        <p:nvSpPr>
          <p:cNvPr id="90" name="Text 87"/>
          <p:cNvSpPr txBox="1"/>
          <p:nvPr/>
        </p:nvSpPr>
        <p:spPr>
          <a:xfrm>
            <a:off x="7973568" y="4485132"/>
            <a:ext cx="351315"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82.7K h</a:t>
            </a:r>
            <a:endParaRPr lang="en-US" sz="720" dirty="0"/>
          </a:p>
        </p:txBody>
      </p:sp>
      <p:sp>
        <p:nvSpPr>
          <p:cNvPr id="91" name="Text 88"/>
          <p:cNvSpPr txBox="1"/>
          <p:nvPr/>
        </p:nvSpPr>
        <p:spPr>
          <a:xfrm>
            <a:off x="5925312" y="4681728"/>
            <a:ext cx="157691" cy="184252"/>
          </a:xfrm>
          <a:prstGeom prst="rect">
            <a:avLst/>
          </a:prstGeom>
          <a:noFill/>
          <a:ln/>
        </p:spPr>
        <p:txBody>
          <a:bodyPr wrap="none" lIns="0" tIns="0" rIns="0" bIns="0" rtlCol="0" anchor="t"/>
          <a:lstStyle/>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Q3</a:t>
            </a:r>
            <a:endParaRPr lang="en-US" sz="720" dirty="0"/>
          </a:p>
        </p:txBody>
      </p:sp>
      <p:sp>
        <p:nvSpPr>
          <p:cNvPr id="92" name="Shape 89"/>
          <p:cNvSpPr/>
          <p:nvPr/>
        </p:nvSpPr>
        <p:spPr>
          <a:xfrm>
            <a:off x="6217920" y="4693158"/>
            <a:ext cx="1682496" cy="118872"/>
          </a:xfrm>
          <a:prstGeom prst="roundRect">
            <a:avLst>
              <a:gd name="adj" fmla="val 23077"/>
            </a:avLst>
          </a:prstGeom>
          <a:solidFill>
            <a:srgbClr val="1F6FEB"/>
          </a:solidFill>
          <a:ln/>
        </p:spPr>
      </p:sp>
      <p:sp>
        <p:nvSpPr>
          <p:cNvPr id="93" name="Text 90"/>
          <p:cNvSpPr txBox="1"/>
          <p:nvPr/>
        </p:nvSpPr>
        <p:spPr>
          <a:xfrm>
            <a:off x="7973568" y="4681728"/>
            <a:ext cx="427068" cy="184252"/>
          </a:xfrm>
          <a:prstGeom prst="rect">
            <a:avLst/>
          </a:prstGeom>
          <a:noFill/>
          <a:ln/>
        </p:spPr>
        <p:txBody>
          <a:bodyPr wrap="none" lIns="0" tIns="0" rIns="0" bIns="0" rtlCol="0" anchor="t"/>
          <a:lstStyle/>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100.9K h</a:t>
            </a:r>
            <a:endParaRPr lang="en-US" sz="720" dirty="0"/>
          </a:p>
        </p:txBody>
      </p:sp>
    </p:spTree>
  </p:cSld>
  <p:clrMapOvr>
    <a:masterClrMapping/>
  </p:clrMapOvr>
  <p:transition spd="med">
    <p:push dir="r"/>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1340025" cy="201168"/>
          </a:xfrm>
          <a:prstGeom prst="roundRect">
            <a:avLst>
              <a:gd name="adj" fmla="val 50000"/>
            </a:avLst>
          </a:prstGeom>
          <a:solidFill>
            <a:srgbClr val="E1EEFF"/>
          </a:solidFill>
          <a:ln/>
        </p:spPr>
      </p:sp>
      <p:sp>
        <p:nvSpPr>
          <p:cNvPr id="4" name="Text 1"/>
          <p:cNvSpPr txBox="1"/>
          <p:nvPr/>
        </p:nvSpPr>
        <p:spPr>
          <a:xfrm>
            <a:off x="557784" y="1005840"/>
            <a:ext cx="1271030"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01 · Site mix · Jan–Sep 2026</a:t>
            </a:r>
            <a:endParaRPr lang="en-US" sz="720" dirty="0"/>
          </a:p>
        </p:txBody>
      </p:sp>
      <p:sp>
        <p:nvSpPr>
          <p:cNvPr id="5" name="Text 2"/>
          <p:cNvSpPr txBox="1"/>
          <p:nvPr/>
        </p:nvSpPr>
        <p:spPr>
          <a:xfrm>
            <a:off x="457200" y="1252728"/>
            <a:ext cx="6048142"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LCBTH leads hours; BANGN leads missions.</a:t>
            </a:r>
            <a:endParaRPr lang="en-US" sz="2380" dirty="0"/>
          </a:p>
        </p:txBody>
      </p:sp>
      <p:sp>
        <p:nvSpPr>
          <p:cNvPr id="6" name="Shape 3"/>
          <p:cNvSpPr/>
          <p:nvPr/>
        </p:nvSpPr>
        <p:spPr>
          <a:xfrm>
            <a:off x="457200" y="1783080"/>
            <a:ext cx="1920240" cy="3108960"/>
          </a:xfrm>
          <a:prstGeom prst="roundRect">
            <a:avLst>
              <a:gd name="adj" fmla="val 8571"/>
            </a:avLst>
          </a:prstGeom>
          <a:solidFill>
            <a:srgbClr val="F0F6FF"/>
          </a:solidFill>
          <a:ln w="9144">
            <a:solidFill>
              <a:srgbClr val="D6E6FA"/>
            </a:solidFill>
            <a:prstDash val="solid"/>
          </a:ln>
        </p:spPr>
      </p:sp>
      <p:sp>
        <p:nvSpPr>
          <p:cNvPr id="7" name="Shape 4"/>
          <p:cNvSpPr/>
          <p:nvPr/>
        </p:nvSpPr>
        <p:spPr>
          <a:xfrm>
            <a:off x="759018" y="2035180"/>
            <a:ext cx="1366144" cy="1415937"/>
          </a:xfrm>
          <a:custGeom>
            <a:avLst/>
            <a:gdLst/>
            <a:ahLst/>
            <a:cxnLst/>
            <a:rect l="l" t="t" r="r" b="b"/>
            <a:pathLst>
              <a:path w="1366144" h="1415937">
                <a:moveTo>
                  <a:pt x="658302" y="0"/>
                </a:moveTo>
                <a:lnTo>
                  <a:pt x="702125" y="1358"/>
                </a:lnTo>
                <a:lnTo>
                  <a:pt x="745780" y="5425"/>
                </a:lnTo>
                <a:lnTo>
                  <a:pt x="789099" y="12186"/>
                </a:lnTo>
                <a:lnTo>
                  <a:pt x="831917" y="21616"/>
                </a:lnTo>
                <a:lnTo>
                  <a:pt x="874069" y="33678"/>
                </a:lnTo>
                <a:lnTo>
                  <a:pt x="915393" y="48326"/>
                </a:lnTo>
                <a:lnTo>
                  <a:pt x="955732" y="65503"/>
                </a:lnTo>
                <a:lnTo>
                  <a:pt x="994930" y="85144"/>
                </a:lnTo>
                <a:lnTo>
                  <a:pt x="1032837" y="107174"/>
                </a:lnTo>
                <a:lnTo>
                  <a:pt x="1069308" y="131508"/>
                </a:lnTo>
                <a:lnTo>
                  <a:pt x="1104203" y="158052"/>
                </a:lnTo>
                <a:lnTo>
                  <a:pt x="1137389" y="186706"/>
                </a:lnTo>
                <a:lnTo>
                  <a:pt x="1168737" y="217358"/>
                </a:lnTo>
                <a:lnTo>
                  <a:pt x="1198127" y="249892"/>
                </a:lnTo>
                <a:lnTo>
                  <a:pt x="1225448" y="284183"/>
                </a:lnTo>
                <a:lnTo>
                  <a:pt x="1250594" y="320099"/>
                </a:lnTo>
                <a:lnTo>
                  <a:pt x="1273469" y="357502"/>
                </a:lnTo>
                <a:lnTo>
                  <a:pt x="1293984" y="396250"/>
                </a:lnTo>
                <a:lnTo>
                  <a:pt x="1312063" y="436193"/>
                </a:lnTo>
                <a:lnTo>
                  <a:pt x="1327634" y="477179"/>
                </a:lnTo>
                <a:lnTo>
                  <a:pt x="1340638" y="519050"/>
                </a:lnTo>
                <a:lnTo>
                  <a:pt x="1351026" y="561645"/>
                </a:lnTo>
                <a:lnTo>
                  <a:pt x="1358758" y="604802"/>
                </a:lnTo>
                <a:lnTo>
                  <a:pt x="1363804" y="648354"/>
                </a:lnTo>
                <a:lnTo>
                  <a:pt x="1366144" y="692135"/>
                </a:lnTo>
                <a:lnTo>
                  <a:pt x="1365770" y="735977"/>
                </a:lnTo>
                <a:lnTo>
                  <a:pt x="1362683" y="779712"/>
                </a:lnTo>
                <a:lnTo>
                  <a:pt x="1356895" y="823172"/>
                </a:lnTo>
                <a:lnTo>
                  <a:pt x="1348428" y="866191"/>
                </a:lnTo>
                <a:lnTo>
                  <a:pt x="1337315" y="908603"/>
                </a:lnTo>
                <a:lnTo>
                  <a:pt x="1323598" y="950246"/>
                </a:lnTo>
                <a:lnTo>
                  <a:pt x="1307330" y="990960"/>
                </a:lnTo>
                <a:lnTo>
                  <a:pt x="1288573" y="1030588"/>
                </a:lnTo>
                <a:lnTo>
                  <a:pt x="1267400" y="1068980"/>
                </a:lnTo>
                <a:lnTo>
                  <a:pt x="1243890" y="1105988"/>
                </a:lnTo>
                <a:lnTo>
                  <a:pt x="1218135" y="1141470"/>
                </a:lnTo>
                <a:lnTo>
                  <a:pt x="1190234" y="1175290"/>
                </a:lnTo>
                <a:lnTo>
                  <a:pt x="1160292" y="1207318"/>
                </a:lnTo>
                <a:lnTo>
                  <a:pt x="1128426" y="1237431"/>
                </a:lnTo>
                <a:lnTo>
                  <a:pt x="1094757" y="1265514"/>
                </a:lnTo>
                <a:lnTo>
                  <a:pt x="1059414" y="1291459"/>
                </a:lnTo>
                <a:lnTo>
                  <a:pt x="1022533" y="1315168"/>
                </a:lnTo>
                <a:lnTo>
                  <a:pt x="984255" y="1336547"/>
                </a:lnTo>
                <a:lnTo>
                  <a:pt x="944728" y="1355517"/>
                </a:lnTo>
                <a:lnTo>
                  <a:pt x="904102" y="1372004"/>
                </a:lnTo>
                <a:lnTo>
                  <a:pt x="862534" y="1385945"/>
                </a:lnTo>
                <a:lnTo>
                  <a:pt x="820182" y="1397286"/>
                </a:lnTo>
                <a:lnTo>
                  <a:pt x="777210" y="1405984"/>
                </a:lnTo>
                <a:lnTo>
                  <a:pt x="733781" y="1412005"/>
                </a:lnTo>
                <a:lnTo>
                  <a:pt x="690064" y="1415327"/>
                </a:lnTo>
                <a:lnTo>
                  <a:pt x="646224" y="1415937"/>
                </a:lnTo>
                <a:lnTo>
                  <a:pt x="602431" y="1413832"/>
                </a:lnTo>
                <a:lnTo>
                  <a:pt x="558852" y="1409021"/>
                </a:lnTo>
                <a:lnTo>
                  <a:pt x="515654" y="1401521"/>
                </a:lnTo>
                <a:lnTo>
                  <a:pt x="473004" y="1391362"/>
                </a:lnTo>
                <a:lnTo>
                  <a:pt x="431064" y="1378583"/>
                </a:lnTo>
                <a:lnTo>
                  <a:pt x="389995" y="1363232"/>
                </a:lnTo>
                <a:lnTo>
                  <a:pt x="349955" y="1345369"/>
                </a:lnTo>
                <a:lnTo>
                  <a:pt x="311098" y="1325062"/>
                </a:lnTo>
                <a:lnTo>
                  <a:pt x="273572" y="1302389"/>
                </a:lnTo>
                <a:lnTo>
                  <a:pt x="237521" y="1277437"/>
                </a:lnTo>
                <a:lnTo>
                  <a:pt x="203084" y="1250301"/>
                </a:lnTo>
                <a:lnTo>
                  <a:pt x="170392" y="1221085"/>
                </a:lnTo>
                <a:lnTo>
                  <a:pt x="139572" y="1189903"/>
                </a:lnTo>
                <a:lnTo>
                  <a:pt x="110740" y="1156872"/>
                </a:lnTo>
                <a:lnTo>
                  <a:pt x="84009" y="1122120"/>
                </a:lnTo>
                <a:lnTo>
                  <a:pt x="59479" y="1085781"/>
                </a:lnTo>
                <a:lnTo>
                  <a:pt x="37246" y="1047992"/>
                </a:lnTo>
                <a:lnTo>
                  <a:pt x="17394" y="1008900"/>
                </a:lnTo>
                <a:lnTo>
                  <a:pt x="0" y="968654"/>
                </a:lnTo>
                <a:lnTo>
                  <a:pt x="221900" y="880800"/>
                </a:lnTo>
                <a:lnTo>
                  <a:pt x="233431" y="907480"/>
                </a:lnTo>
                <a:lnTo>
                  <a:pt x="246591" y="933395"/>
                </a:lnTo>
                <a:lnTo>
                  <a:pt x="261330" y="958445"/>
                </a:lnTo>
                <a:lnTo>
                  <a:pt x="277591" y="982536"/>
                </a:lnTo>
                <a:lnTo>
                  <a:pt x="295312" y="1005574"/>
                </a:lnTo>
                <a:lnTo>
                  <a:pt x="314425" y="1027470"/>
                </a:lnTo>
                <a:lnTo>
                  <a:pt x="334856" y="1048142"/>
                </a:lnTo>
                <a:lnTo>
                  <a:pt x="356528" y="1067510"/>
                </a:lnTo>
                <a:lnTo>
                  <a:pt x="379357" y="1085498"/>
                </a:lnTo>
                <a:lnTo>
                  <a:pt x="403256" y="1102040"/>
                </a:lnTo>
                <a:lnTo>
                  <a:pt x="428133" y="1117070"/>
                </a:lnTo>
                <a:lnTo>
                  <a:pt x="453892" y="1130532"/>
                </a:lnTo>
                <a:lnTo>
                  <a:pt x="480436" y="1142374"/>
                </a:lnTo>
                <a:lnTo>
                  <a:pt x="507661" y="1152551"/>
                </a:lnTo>
                <a:lnTo>
                  <a:pt x="535464" y="1161022"/>
                </a:lnTo>
                <a:lnTo>
                  <a:pt x="563738" y="1167757"/>
                </a:lnTo>
                <a:lnTo>
                  <a:pt x="592375" y="1172728"/>
                </a:lnTo>
                <a:lnTo>
                  <a:pt x="621264" y="1175918"/>
                </a:lnTo>
                <a:lnTo>
                  <a:pt x="650295" y="1177313"/>
                </a:lnTo>
                <a:lnTo>
                  <a:pt x="679358" y="1176909"/>
                </a:lnTo>
                <a:lnTo>
                  <a:pt x="708339" y="1174707"/>
                </a:lnTo>
                <a:lnTo>
                  <a:pt x="737128" y="1170715"/>
                </a:lnTo>
                <a:lnTo>
                  <a:pt x="765616" y="1164949"/>
                </a:lnTo>
                <a:lnTo>
                  <a:pt x="793692" y="1157431"/>
                </a:lnTo>
                <a:lnTo>
                  <a:pt x="821248" y="1148189"/>
                </a:lnTo>
                <a:lnTo>
                  <a:pt x="848180" y="1137260"/>
                </a:lnTo>
                <a:lnTo>
                  <a:pt x="874383" y="1124684"/>
                </a:lnTo>
                <a:lnTo>
                  <a:pt x="899759" y="1110511"/>
                </a:lnTo>
                <a:lnTo>
                  <a:pt x="924208" y="1094794"/>
                </a:lnTo>
                <a:lnTo>
                  <a:pt x="947637" y="1077595"/>
                </a:lnTo>
                <a:lnTo>
                  <a:pt x="969957" y="1058978"/>
                </a:lnTo>
                <a:lnTo>
                  <a:pt x="991082" y="1039015"/>
                </a:lnTo>
                <a:lnTo>
                  <a:pt x="1010931" y="1017783"/>
                </a:lnTo>
                <a:lnTo>
                  <a:pt x="1029428" y="995363"/>
                </a:lnTo>
                <a:lnTo>
                  <a:pt x="1046501" y="971842"/>
                </a:lnTo>
                <a:lnTo>
                  <a:pt x="1062086" y="947308"/>
                </a:lnTo>
                <a:lnTo>
                  <a:pt x="1076122" y="921857"/>
                </a:lnTo>
                <a:lnTo>
                  <a:pt x="1088557" y="895587"/>
                </a:lnTo>
                <a:lnTo>
                  <a:pt x="1099341" y="868596"/>
                </a:lnTo>
                <a:lnTo>
                  <a:pt x="1108434" y="840991"/>
                </a:lnTo>
                <a:lnTo>
                  <a:pt x="1115802" y="812875"/>
                </a:lnTo>
                <a:lnTo>
                  <a:pt x="1121414" y="784357"/>
                </a:lnTo>
                <a:lnTo>
                  <a:pt x="1125251" y="755546"/>
                </a:lnTo>
                <a:lnTo>
                  <a:pt x="1127298" y="726554"/>
                </a:lnTo>
                <a:lnTo>
                  <a:pt x="1127546" y="697490"/>
                </a:lnTo>
                <a:lnTo>
                  <a:pt x="1125994" y="668466"/>
                </a:lnTo>
                <a:lnTo>
                  <a:pt x="1122649" y="639594"/>
                </a:lnTo>
                <a:lnTo>
                  <a:pt x="1117524" y="610985"/>
                </a:lnTo>
                <a:lnTo>
                  <a:pt x="1110637" y="582747"/>
                </a:lnTo>
                <a:lnTo>
                  <a:pt x="1102016" y="554990"/>
                </a:lnTo>
                <a:lnTo>
                  <a:pt x="1091694" y="527820"/>
                </a:lnTo>
                <a:lnTo>
                  <a:pt x="1079710" y="501341"/>
                </a:lnTo>
                <a:lnTo>
                  <a:pt x="1066109" y="475654"/>
                </a:lnTo>
                <a:lnTo>
                  <a:pt x="1050945" y="450859"/>
                </a:lnTo>
                <a:lnTo>
                  <a:pt x="1034275" y="427049"/>
                </a:lnTo>
                <a:lnTo>
                  <a:pt x="1016164" y="404317"/>
                </a:lnTo>
                <a:lnTo>
                  <a:pt x="996680" y="382750"/>
                </a:lnTo>
                <a:lnTo>
                  <a:pt x="975899" y="362430"/>
                </a:lnTo>
                <a:lnTo>
                  <a:pt x="953900" y="343435"/>
                </a:lnTo>
                <a:lnTo>
                  <a:pt x="930767" y="325838"/>
                </a:lnTo>
                <a:lnTo>
                  <a:pt x="906590" y="309706"/>
                </a:lnTo>
                <a:lnTo>
                  <a:pt x="881460" y="295102"/>
                </a:lnTo>
                <a:lnTo>
                  <a:pt x="855475" y="282082"/>
                </a:lnTo>
                <a:lnTo>
                  <a:pt x="828733" y="270695"/>
                </a:lnTo>
                <a:lnTo>
                  <a:pt x="801338" y="260984"/>
                </a:lnTo>
                <a:lnTo>
                  <a:pt x="773395" y="252988"/>
                </a:lnTo>
                <a:lnTo>
                  <a:pt x="745010" y="246737"/>
                </a:lnTo>
                <a:lnTo>
                  <a:pt x="716293" y="242255"/>
                </a:lnTo>
                <a:lnTo>
                  <a:pt x="687353" y="239558"/>
                </a:lnTo>
                <a:lnTo>
                  <a:pt x="658302" y="238658"/>
                </a:lnTo>
                <a:close/>
              </a:path>
            </a:pathLst>
          </a:custGeom>
          <a:solidFill>
            <a:srgbClr val="0B3A8F"/>
          </a:solidFill>
          <a:ln/>
        </p:spPr>
      </p:sp>
      <p:sp>
        <p:nvSpPr>
          <p:cNvPr id="8" name="Shape 5"/>
          <p:cNvSpPr/>
          <p:nvPr/>
        </p:nvSpPr>
        <p:spPr>
          <a:xfrm>
            <a:off x="709300" y="2198214"/>
            <a:ext cx="408395" cy="787735"/>
          </a:xfrm>
          <a:custGeom>
            <a:avLst/>
            <a:gdLst/>
            <a:ahLst/>
            <a:cxnLst/>
            <a:rect l="l" t="t" r="r" b="b"/>
            <a:pathLst>
              <a:path w="408395" h="787735">
                <a:moveTo>
                  <a:pt x="42914" y="787735"/>
                </a:moveTo>
                <a:lnTo>
                  <a:pt x="38757" y="776027"/>
                </a:lnTo>
                <a:lnTo>
                  <a:pt x="34806" y="764248"/>
                </a:lnTo>
                <a:lnTo>
                  <a:pt x="31062" y="752401"/>
                </a:lnTo>
                <a:lnTo>
                  <a:pt x="27527" y="740490"/>
                </a:lnTo>
                <a:lnTo>
                  <a:pt x="24201" y="728519"/>
                </a:lnTo>
                <a:lnTo>
                  <a:pt x="21086" y="716492"/>
                </a:lnTo>
                <a:lnTo>
                  <a:pt x="18182" y="704412"/>
                </a:lnTo>
                <a:lnTo>
                  <a:pt x="15491" y="692282"/>
                </a:lnTo>
                <a:lnTo>
                  <a:pt x="13013" y="680107"/>
                </a:lnTo>
                <a:lnTo>
                  <a:pt x="10749" y="667891"/>
                </a:lnTo>
                <a:lnTo>
                  <a:pt x="8699" y="655637"/>
                </a:lnTo>
                <a:lnTo>
                  <a:pt x="6866" y="643349"/>
                </a:lnTo>
                <a:lnTo>
                  <a:pt x="5247" y="631030"/>
                </a:lnTo>
                <a:lnTo>
                  <a:pt x="3846" y="618685"/>
                </a:lnTo>
                <a:lnTo>
                  <a:pt x="2661" y="606317"/>
                </a:lnTo>
                <a:lnTo>
                  <a:pt x="1693" y="593931"/>
                </a:lnTo>
                <a:lnTo>
                  <a:pt x="943" y="581529"/>
                </a:lnTo>
                <a:lnTo>
                  <a:pt x="411" y="569116"/>
                </a:lnTo>
                <a:lnTo>
                  <a:pt x="96" y="556696"/>
                </a:lnTo>
                <a:lnTo>
                  <a:pt x="0" y="544272"/>
                </a:lnTo>
                <a:lnTo>
                  <a:pt x="122" y="531848"/>
                </a:lnTo>
                <a:lnTo>
                  <a:pt x="461" y="519428"/>
                </a:lnTo>
                <a:lnTo>
                  <a:pt x="1018" y="507016"/>
                </a:lnTo>
                <a:lnTo>
                  <a:pt x="1794" y="494616"/>
                </a:lnTo>
                <a:lnTo>
                  <a:pt x="2786" y="482232"/>
                </a:lnTo>
                <a:lnTo>
                  <a:pt x="3996" y="469866"/>
                </a:lnTo>
                <a:lnTo>
                  <a:pt x="5422" y="457524"/>
                </a:lnTo>
                <a:lnTo>
                  <a:pt x="7065" y="445209"/>
                </a:lnTo>
                <a:lnTo>
                  <a:pt x="8924" y="432924"/>
                </a:lnTo>
                <a:lnTo>
                  <a:pt x="10998" y="420674"/>
                </a:lnTo>
                <a:lnTo>
                  <a:pt x="13287" y="408462"/>
                </a:lnTo>
                <a:lnTo>
                  <a:pt x="15789" y="396293"/>
                </a:lnTo>
                <a:lnTo>
                  <a:pt x="18505" y="384169"/>
                </a:lnTo>
                <a:lnTo>
                  <a:pt x="21433" y="372094"/>
                </a:lnTo>
                <a:lnTo>
                  <a:pt x="24573" y="360073"/>
                </a:lnTo>
                <a:lnTo>
                  <a:pt x="27923" y="348109"/>
                </a:lnTo>
                <a:lnTo>
                  <a:pt x="31482" y="336205"/>
                </a:lnTo>
                <a:lnTo>
                  <a:pt x="35250" y="324366"/>
                </a:lnTo>
                <a:lnTo>
                  <a:pt x="39225" y="312595"/>
                </a:lnTo>
                <a:lnTo>
                  <a:pt x="43405" y="300895"/>
                </a:lnTo>
                <a:lnTo>
                  <a:pt x="47791" y="289270"/>
                </a:lnTo>
                <a:lnTo>
                  <a:pt x="52380" y="277724"/>
                </a:lnTo>
                <a:lnTo>
                  <a:pt x="57170" y="266261"/>
                </a:lnTo>
                <a:lnTo>
                  <a:pt x="62162" y="254883"/>
                </a:lnTo>
                <a:lnTo>
                  <a:pt x="67352" y="243595"/>
                </a:lnTo>
                <a:lnTo>
                  <a:pt x="72739" y="232399"/>
                </a:lnTo>
                <a:lnTo>
                  <a:pt x="78322" y="221300"/>
                </a:lnTo>
                <a:lnTo>
                  <a:pt x="84098" y="210300"/>
                </a:lnTo>
                <a:lnTo>
                  <a:pt x="90067" y="199403"/>
                </a:lnTo>
                <a:lnTo>
                  <a:pt x="96227" y="188613"/>
                </a:lnTo>
                <a:lnTo>
                  <a:pt x="102574" y="177933"/>
                </a:lnTo>
                <a:lnTo>
                  <a:pt x="109108" y="167365"/>
                </a:lnTo>
                <a:lnTo>
                  <a:pt x="115827" y="156914"/>
                </a:lnTo>
                <a:lnTo>
                  <a:pt x="122727" y="146582"/>
                </a:lnTo>
                <a:lnTo>
                  <a:pt x="129809" y="136373"/>
                </a:lnTo>
                <a:lnTo>
                  <a:pt x="137068" y="126290"/>
                </a:lnTo>
                <a:lnTo>
                  <a:pt x="144503" y="116336"/>
                </a:lnTo>
                <a:lnTo>
                  <a:pt x="152111" y="106514"/>
                </a:lnTo>
                <a:lnTo>
                  <a:pt x="159891" y="96826"/>
                </a:lnTo>
                <a:lnTo>
                  <a:pt x="167839" y="87277"/>
                </a:lnTo>
                <a:lnTo>
                  <a:pt x="175954" y="77869"/>
                </a:lnTo>
                <a:lnTo>
                  <a:pt x="184232" y="68605"/>
                </a:lnTo>
                <a:lnTo>
                  <a:pt x="192672" y="59487"/>
                </a:lnTo>
                <a:lnTo>
                  <a:pt x="201271" y="50519"/>
                </a:lnTo>
                <a:lnTo>
                  <a:pt x="210025" y="41703"/>
                </a:lnTo>
                <a:lnTo>
                  <a:pt x="218933" y="33042"/>
                </a:lnTo>
                <a:lnTo>
                  <a:pt x="227992" y="24538"/>
                </a:lnTo>
                <a:lnTo>
                  <a:pt x="237198" y="16195"/>
                </a:lnTo>
                <a:lnTo>
                  <a:pt x="246550" y="8015"/>
                </a:lnTo>
                <a:lnTo>
                  <a:pt x="256043" y="0"/>
                </a:lnTo>
                <a:lnTo>
                  <a:pt x="408395" y="183703"/>
                </a:lnTo>
                <a:lnTo>
                  <a:pt x="402101" y="189016"/>
                </a:lnTo>
                <a:lnTo>
                  <a:pt x="395902" y="194439"/>
                </a:lnTo>
                <a:lnTo>
                  <a:pt x="389799" y="199970"/>
                </a:lnTo>
                <a:lnTo>
                  <a:pt x="383794" y="205607"/>
                </a:lnTo>
                <a:lnTo>
                  <a:pt x="377889" y="211349"/>
                </a:lnTo>
                <a:lnTo>
                  <a:pt x="372085" y="217193"/>
                </a:lnTo>
                <a:lnTo>
                  <a:pt x="366385" y="223138"/>
                </a:lnTo>
                <a:lnTo>
                  <a:pt x="360790" y="229183"/>
                </a:lnTo>
                <a:lnTo>
                  <a:pt x="355302" y="235324"/>
                </a:lnTo>
                <a:lnTo>
                  <a:pt x="349922" y="241561"/>
                </a:lnTo>
                <a:lnTo>
                  <a:pt x="344653" y="247891"/>
                </a:lnTo>
                <a:lnTo>
                  <a:pt x="339496" y="254313"/>
                </a:lnTo>
                <a:lnTo>
                  <a:pt x="334452" y="260825"/>
                </a:lnTo>
                <a:lnTo>
                  <a:pt x="329523" y="267424"/>
                </a:lnTo>
                <a:lnTo>
                  <a:pt x="324711" y="274108"/>
                </a:lnTo>
                <a:lnTo>
                  <a:pt x="320017" y="280876"/>
                </a:lnTo>
                <a:lnTo>
                  <a:pt x="315442" y="287725"/>
                </a:lnTo>
                <a:lnTo>
                  <a:pt x="310988" y="294653"/>
                </a:lnTo>
                <a:lnTo>
                  <a:pt x="306657" y="301658"/>
                </a:lnTo>
                <a:lnTo>
                  <a:pt x="302449" y="308739"/>
                </a:lnTo>
                <a:lnTo>
                  <a:pt x="298366" y="315892"/>
                </a:lnTo>
                <a:lnTo>
                  <a:pt x="294409" y="323115"/>
                </a:lnTo>
                <a:lnTo>
                  <a:pt x="290579" y="330407"/>
                </a:lnTo>
                <a:lnTo>
                  <a:pt x="286878" y="337765"/>
                </a:lnTo>
                <a:lnTo>
                  <a:pt x="283307" y="345187"/>
                </a:lnTo>
                <a:lnTo>
                  <a:pt x="279866" y="352671"/>
                </a:lnTo>
                <a:lnTo>
                  <a:pt x="276558" y="360213"/>
                </a:lnTo>
                <a:lnTo>
                  <a:pt x="273382" y="367813"/>
                </a:lnTo>
                <a:lnTo>
                  <a:pt x="270340" y="375467"/>
                </a:lnTo>
                <a:lnTo>
                  <a:pt x="267433" y="383173"/>
                </a:lnTo>
                <a:lnTo>
                  <a:pt x="264661" y="390929"/>
                </a:lnTo>
                <a:lnTo>
                  <a:pt x="262026" y="398732"/>
                </a:lnTo>
                <a:lnTo>
                  <a:pt x="259528" y="406581"/>
                </a:lnTo>
                <a:lnTo>
                  <a:pt x="257169" y="414472"/>
                </a:lnTo>
                <a:lnTo>
                  <a:pt x="254948" y="422403"/>
                </a:lnTo>
                <a:lnTo>
                  <a:pt x="252867" y="430372"/>
                </a:lnTo>
                <a:lnTo>
                  <a:pt x="250926" y="438377"/>
                </a:lnTo>
                <a:lnTo>
                  <a:pt x="249125" y="446414"/>
                </a:lnTo>
                <a:lnTo>
                  <a:pt x="247466" y="454482"/>
                </a:lnTo>
                <a:lnTo>
                  <a:pt x="245949" y="462577"/>
                </a:lnTo>
                <a:lnTo>
                  <a:pt x="244574" y="470698"/>
                </a:lnTo>
                <a:lnTo>
                  <a:pt x="243342" y="478841"/>
                </a:lnTo>
                <a:lnTo>
                  <a:pt x="242253" y="487006"/>
                </a:lnTo>
                <a:lnTo>
                  <a:pt x="241307" y="495187"/>
                </a:lnTo>
                <a:lnTo>
                  <a:pt x="240505" y="503385"/>
                </a:lnTo>
                <a:lnTo>
                  <a:pt x="239847" y="511595"/>
                </a:lnTo>
                <a:lnTo>
                  <a:pt x="239333" y="519815"/>
                </a:lnTo>
                <a:lnTo>
                  <a:pt x="238964" y="528043"/>
                </a:lnTo>
                <a:lnTo>
                  <a:pt x="238739" y="536276"/>
                </a:lnTo>
                <a:lnTo>
                  <a:pt x="238658" y="544512"/>
                </a:lnTo>
                <a:lnTo>
                  <a:pt x="238722" y="552749"/>
                </a:lnTo>
                <a:lnTo>
                  <a:pt x="238931" y="560982"/>
                </a:lnTo>
                <a:lnTo>
                  <a:pt x="239284" y="569211"/>
                </a:lnTo>
                <a:lnTo>
                  <a:pt x="239781" y="577432"/>
                </a:lnTo>
                <a:lnTo>
                  <a:pt x="240422" y="585644"/>
                </a:lnTo>
                <a:lnTo>
                  <a:pt x="241208" y="593843"/>
                </a:lnTo>
                <a:lnTo>
                  <a:pt x="242137" y="602026"/>
                </a:lnTo>
                <a:lnTo>
                  <a:pt x="243210" y="610193"/>
                </a:lnTo>
                <a:lnTo>
                  <a:pt x="244425" y="618339"/>
                </a:lnTo>
                <a:lnTo>
                  <a:pt x="245784" y="626462"/>
                </a:lnTo>
                <a:lnTo>
                  <a:pt x="247285" y="634561"/>
                </a:lnTo>
                <a:lnTo>
                  <a:pt x="248927" y="642632"/>
                </a:lnTo>
                <a:lnTo>
                  <a:pt x="250712" y="650673"/>
                </a:lnTo>
                <a:lnTo>
                  <a:pt x="252637" y="658681"/>
                </a:lnTo>
                <a:lnTo>
                  <a:pt x="254702" y="666654"/>
                </a:lnTo>
                <a:lnTo>
                  <a:pt x="256906" y="674590"/>
                </a:lnTo>
                <a:lnTo>
                  <a:pt x="259250" y="682486"/>
                </a:lnTo>
                <a:lnTo>
                  <a:pt x="261732" y="690339"/>
                </a:lnTo>
                <a:lnTo>
                  <a:pt x="264351" y="698148"/>
                </a:lnTo>
                <a:lnTo>
                  <a:pt x="267107" y="705910"/>
                </a:lnTo>
                <a:close/>
              </a:path>
            </a:pathLst>
          </a:custGeom>
          <a:solidFill>
            <a:srgbClr val="2F86F5"/>
          </a:solidFill>
          <a:ln/>
        </p:spPr>
      </p:sp>
      <p:sp>
        <p:nvSpPr>
          <p:cNvPr id="9" name="Shape 6"/>
          <p:cNvSpPr/>
          <p:nvPr/>
        </p:nvSpPr>
        <p:spPr>
          <a:xfrm>
            <a:off x="980236" y="2035438"/>
            <a:ext cx="424427" cy="338515"/>
          </a:xfrm>
          <a:custGeom>
            <a:avLst/>
            <a:gdLst/>
            <a:ahLst/>
            <a:cxnLst/>
            <a:rect l="l" t="t" r="r" b="b"/>
            <a:pathLst>
              <a:path w="424427" h="338515">
                <a:moveTo>
                  <a:pt x="0" y="150762"/>
                </a:moveTo>
                <a:lnTo>
                  <a:pt x="5098" y="146799"/>
                </a:lnTo>
                <a:lnTo>
                  <a:pt x="10231" y="142882"/>
                </a:lnTo>
                <a:lnTo>
                  <a:pt x="15401" y="139013"/>
                </a:lnTo>
                <a:lnTo>
                  <a:pt x="20605" y="135191"/>
                </a:lnTo>
                <a:lnTo>
                  <a:pt x="25844" y="131417"/>
                </a:lnTo>
                <a:lnTo>
                  <a:pt x="31117" y="127691"/>
                </a:lnTo>
                <a:lnTo>
                  <a:pt x="36424" y="124013"/>
                </a:lnTo>
                <a:lnTo>
                  <a:pt x="41764" y="120383"/>
                </a:lnTo>
                <a:lnTo>
                  <a:pt x="47137" y="116802"/>
                </a:lnTo>
                <a:lnTo>
                  <a:pt x="52543" y="113271"/>
                </a:lnTo>
                <a:lnTo>
                  <a:pt x="57980" y="109789"/>
                </a:lnTo>
                <a:lnTo>
                  <a:pt x="63449" y="106356"/>
                </a:lnTo>
                <a:lnTo>
                  <a:pt x="68949" y="102974"/>
                </a:lnTo>
                <a:lnTo>
                  <a:pt x="74480" y="99642"/>
                </a:lnTo>
                <a:lnTo>
                  <a:pt x="80041" y="96360"/>
                </a:lnTo>
                <a:lnTo>
                  <a:pt x="85631" y="93130"/>
                </a:lnTo>
                <a:lnTo>
                  <a:pt x="91251" y="89950"/>
                </a:lnTo>
                <a:lnTo>
                  <a:pt x="96900" y="86822"/>
                </a:lnTo>
                <a:lnTo>
                  <a:pt x="102577" y="83745"/>
                </a:lnTo>
                <a:lnTo>
                  <a:pt x="108281" y="80721"/>
                </a:lnTo>
                <a:lnTo>
                  <a:pt x="114013" y="77748"/>
                </a:lnTo>
                <a:lnTo>
                  <a:pt x="119772" y="74828"/>
                </a:lnTo>
                <a:lnTo>
                  <a:pt x="125558" y="71961"/>
                </a:lnTo>
                <a:lnTo>
                  <a:pt x="131369" y="69146"/>
                </a:lnTo>
                <a:lnTo>
                  <a:pt x="137205" y="66385"/>
                </a:lnTo>
                <a:lnTo>
                  <a:pt x="143067" y="63677"/>
                </a:lnTo>
                <a:lnTo>
                  <a:pt x="148953" y="61022"/>
                </a:lnTo>
                <a:lnTo>
                  <a:pt x="154863" y="58422"/>
                </a:lnTo>
                <a:lnTo>
                  <a:pt x="160796" y="55875"/>
                </a:lnTo>
                <a:lnTo>
                  <a:pt x="166753" y="53382"/>
                </a:lnTo>
                <a:lnTo>
                  <a:pt x="172732" y="50944"/>
                </a:lnTo>
                <a:lnTo>
                  <a:pt x="178733" y="48561"/>
                </a:lnTo>
                <a:lnTo>
                  <a:pt x="184755" y="46232"/>
                </a:lnTo>
                <a:lnTo>
                  <a:pt x="190798" y="43958"/>
                </a:lnTo>
                <a:lnTo>
                  <a:pt x="196862" y="41740"/>
                </a:lnTo>
                <a:lnTo>
                  <a:pt x="202946" y="39577"/>
                </a:lnTo>
                <a:lnTo>
                  <a:pt x="209049" y="37470"/>
                </a:lnTo>
                <a:lnTo>
                  <a:pt x="215172" y="35418"/>
                </a:lnTo>
                <a:lnTo>
                  <a:pt x="221312" y="33422"/>
                </a:lnTo>
                <a:lnTo>
                  <a:pt x="227471" y="31482"/>
                </a:lnTo>
                <a:lnTo>
                  <a:pt x="233647" y="29599"/>
                </a:lnTo>
                <a:lnTo>
                  <a:pt x="239840" y="27772"/>
                </a:lnTo>
                <a:lnTo>
                  <a:pt x="246049" y="26001"/>
                </a:lnTo>
                <a:lnTo>
                  <a:pt x="252275" y="24288"/>
                </a:lnTo>
                <a:lnTo>
                  <a:pt x="258515" y="22631"/>
                </a:lnTo>
                <a:lnTo>
                  <a:pt x="264771" y="21031"/>
                </a:lnTo>
                <a:lnTo>
                  <a:pt x="271041" y="19488"/>
                </a:lnTo>
                <a:lnTo>
                  <a:pt x="277324" y="18002"/>
                </a:lnTo>
                <a:lnTo>
                  <a:pt x="283621" y="16574"/>
                </a:lnTo>
                <a:lnTo>
                  <a:pt x="289931" y="15203"/>
                </a:lnTo>
                <a:lnTo>
                  <a:pt x="296253" y="13890"/>
                </a:lnTo>
                <a:lnTo>
                  <a:pt x="302587" y="12635"/>
                </a:lnTo>
                <a:lnTo>
                  <a:pt x="308932" y="11437"/>
                </a:lnTo>
                <a:lnTo>
                  <a:pt x="315287" y="10297"/>
                </a:lnTo>
                <a:lnTo>
                  <a:pt x="321653" y="9215"/>
                </a:lnTo>
                <a:lnTo>
                  <a:pt x="328028" y="8192"/>
                </a:lnTo>
                <a:lnTo>
                  <a:pt x="334412" y="7226"/>
                </a:lnTo>
                <a:lnTo>
                  <a:pt x="340805" y="6319"/>
                </a:lnTo>
                <a:lnTo>
                  <a:pt x="347206" y="5470"/>
                </a:lnTo>
                <a:lnTo>
                  <a:pt x="353614" y="4680"/>
                </a:lnTo>
                <a:lnTo>
                  <a:pt x="360030" y="3948"/>
                </a:lnTo>
                <a:lnTo>
                  <a:pt x="366451" y="3274"/>
                </a:lnTo>
                <a:lnTo>
                  <a:pt x="372879" y="2660"/>
                </a:lnTo>
                <a:lnTo>
                  <a:pt x="379312" y="2103"/>
                </a:lnTo>
                <a:lnTo>
                  <a:pt x="385750" y="1606"/>
                </a:lnTo>
                <a:lnTo>
                  <a:pt x="392192" y="1167"/>
                </a:lnTo>
                <a:lnTo>
                  <a:pt x="398637" y="787"/>
                </a:lnTo>
                <a:lnTo>
                  <a:pt x="405086" y="466"/>
                </a:lnTo>
                <a:lnTo>
                  <a:pt x="411538" y="204"/>
                </a:lnTo>
                <a:lnTo>
                  <a:pt x="417991" y="0"/>
                </a:lnTo>
                <a:lnTo>
                  <a:pt x="424427" y="238572"/>
                </a:lnTo>
                <a:lnTo>
                  <a:pt x="420149" y="238707"/>
                </a:lnTo>
                <a:lnTo>
                  <a:pt x="415872" y="238880"/>
                </a:lnTo>
                <a:lnTo>
                  <a:pt x="411597" y="239093"/>
                </a:lnTo>
                <a:lnTo>
                  <a:pt x="407324" y="239345"/>
                </a:lnTo>
                <a:lnTo>
                  <a:pt x="403053" y="239636"/>
                </a:lnTo>
                <a:lnTo>
                  <a:pt x="398786" y="239966"/>
                </a:lnTo>
                <a:lnTo>
                  <a:pt x="394521" y="240335"/>
                </a:lnTo>
                <a:lnTo>
                  <a:pt x="390260" y="240742"/>
                </a:lnTo>
                <a:lnTo>
                  <a:pt x="386003" y="241189"/>
                </a:lnTo>
                <a:lnTo>
                  <a:pt x="381750" y="241674"/>
                </a:lnTo>
                <a:lnTo>
                  <a:pt x="377502" y="242198"/>
                </a:lnTo>
                <a:lnTo>
                  <a:pt x="373259" y="242761"/>
                </a:lnTo>
                <a:lnTo>
                  <a:pt x="369021" y="243362"/>
                </a:lnTo>
                <a:lnTo>
                  <a:pt x="364788" y="244002"/>
                </a:lnTo>
                <a:lnTo>
                  <a:pt x="360562" y="244681"/>
                </a:lnTo>
                <a:lnTo>
                  <a:pt x="356342" y="245398"/>
                </a:lnTo>
                <a:lnTo>
                  <a:pt x="352129" y="246153"/>
                </a:lnTo>
                <a:lnTo>
                  <a:pt x="347923" y="246947"/>
                </a:lnTo>
                <a:lnTo>
                  <a:pt x="343724" y="247780"/>
                </a:lnTo>
                <a:lnTo>
                  <a:pt x="339533" y="248650"/>
                </a:lnTo>
                <a:lnTo>
                  <a:pt x="335350" y="249559"/>
                </a:lnTo>
                <a:lnTo>
                  <a:pt x="331176" y="250506"/>
                </a:lnTo>
                <a:lnTo>
                  <a:pt x="327010" y="251491"/>
                </a:lnTo>
                <a:lnTo>
                  <a:pt x="322854" y="252513"/>
                </a:lnTo>
                <a:lnTo>
                  <a:pt x="318707" y="253574"/>
                </a:lnTo>
                <a:lnTo>
                  <a:pt x="314570" y="254672"/>
                </a:lnTo>
                <a:lnTo>
                  <a:pt x="310443" y="255809"/>
                </a:lnTo>
                <a:lnTo>
                  <a:pt x="306327" y="256982"/>
                </a:lnTo>
                <a:lnTo>
                  <a:pt x="302221" y="258193"/>
                </a:lnTo>
                <a:lnTo>
                  <a:pt x="298127" y="259442"/>
                </a:lnTo>
                <a:lnTo>
                  <a:pt x="294044" y="260728"/>
                </a:lnTo>
                <a:lnTo>
                  <a:pt x="289973" y="262051"/>
                </a:lnTo>
                <a:lnTo>
                  <a:pt x="285915" y="263411"/>
                </a:lnTo>
                <a:lnTo>
                  <a:pt x="281869" y="264808"/>
                </a:lnTo>
                <a:lnTo>
                  <a:pt x="277836" y="266242"/>
                </a:lnTo>
                <a:lnTo>
                  <a:pt x="273816" y="267713"/>
                </a:lnTo>
                <a:lnTo>
                  <a:pt x="269810" y="269220"/>
                </a:lnTo>
                <a:lnTo>
                  <a:pt x="265817" y="270764"/>
                </a:lnTo>
                <a:lnTo>
                  <a:pt x="261839" y="272344"/>
                </a:lnTo>
                <a:lnTo>
                  <a:pt x="257876" y="273960"/>
                </a:lnTo>
                <a:lnTo>
                  <a:pt x="253927" y="275612"/>
                </a:lnTo>
                <a:lnTo>
                  <a:pt x="249994" y="277301"/>
                </a:lnTo>
                <a:lnTo>
                  <a:pt x="246076" y="279025"/>
                </a:lnTo>
                <a:lnTo>
                  <a:pt x="242174" y="280784"/>
                </a:lnTo>
                <a:lnTo>
                  <a:pt x="238288" y="282580"/>
                </a:lnTo>
                <a:lnTo>
                  <a:pt x="234419" y="284410"/>
                </a:lnTo>
                <a:lnTo>
                  <a:pt x="230566" y="286276"/>
                </a:lnTo>
                <a:lnTo>
                  <a:pt x="226731" y="288177"/>
                </a:lnTo>
                <a:lnTo>
                  <a:pt x="222914" y="290113"/>
                </a:lnTo>
                <a:lnTo>
                  <a:pt x="219114" y="292083"/>
                </a:lnTo>
                <a:lnTo>
                  <a:pt x="215332" y="294088"/>
                </a:lnTo>
                <a:lnTo>
                  <a:pt x="211569" y="296128"/>
                </a:lnTo>
                <a:lnTo>
                  <a:pt x="207824" y="298201"/>
                </a:lnTo>
                <a:lnTo>
                  <a:pt x="204099" y="300309"/>
                </a:lnTo>
                <a:lnTo>
                  <a:pt x="200392" y="302451"/>
                </a:lnTo>
                <a:lnTo>
                  <a:pt x="196706" y="304626"/>
                </a:lnTo>
                <a:lnTo>
                  <a:pt x="193040" y="306835"/>
                </a:lnTo>
                <a:lnTo>
                  <a:pt x="189393" y="309077"/>
                </a:lnTo>
                <a:lnTo>
                  <a:pt x="185768" y="311353"/>
                </a:lnTo>
                <a:lnTo>
                  <a:pt x="182163" y="313661"/>
                </a:lnTo>
                <a:lnTo>
                  <a:pt x="178580" y="316002"/>
                </a:lnTo>
                <a:lnTo>
                  <a:pt x="175018" y="318376"/>
                </a:lnTo>
                <a:lnTo>
                  <a:pt x="171478" y="320782"/>
                </a:lnTo>
                <a:lnTo>
                  <a:pt x="167960" y="323221"/>
                </a:lnTo>
                <a:lnTo>
                  <a:pt x="164464" y="325691"/>
                </a:lnTo>
                <a:lnTo>
                  <a:pt x="160991" y="328193"/>
                </a:lnTo>
                <a:lnTo>
                  <a:pt x="157541" y="330726"/>
                </a:lnTo>
                <a:lnTo>
                  <a:pt x="154114" y="333291"/>
                </a:lnTo>
                <a:lnTo>
                  <a:pt x="150711" y="335888"/>
                </a:lnTo>
                <a:lnTo>
                  <a:pt x="147332" y="338515"/>
                </a:lnTo>
                <a:close/>
              </a:path>
            </a:pathLst>
          </a:custGeom>
          <a:solidFill>
            <a:srgbClr val="8CC4FF"/>
          </a:solidFill>
          <a:ln/>
        </p:spPr>
      </p:sp>
      <p:sp>
        <p:nvSpPr>
          <p:cNvPr id="10" name="Text 7"/>
          <p:cNvSpPr txBox="1"/>
          <p:nvPr/>
        </p:nvSpPr>
        <p:spPr>
          <a:xfrm>
            <a:off x="1071534" y="2553462"/>
            <a:ext cx="691572" cy="309067"/>
          </a:xfrm>
          <a:prstGeom prst="rect">
            <a:avLst/>
          </a:prstGeom>
          <a:noFill/>
          <a:ln/>
        </p:spPr>
        <p:txBody>
          <a:bodyPr wrap="none" lIns="0" tIns="0" rIns="0" bIns="0" rtlCol="0" anchor="t"/>
          <a:lstStyle/>
          <a:p>
            <a:pPr algn="ctr" indent="0" marL="0">
              <a:lnSpc>
                <a:spcPts val="1870"/>
              </a:lnSpc>
              <a:buNone/>
            </a:pPr>
            <a:r>
              <a:rPr lang="en-US" sz="1870" b="1" spc="-75" kern="0" dirty="0">
                <a:solidFill>
                  <a:srgbClr val="071A33"/>
                </a:solidFill>
                <a:latin typeface="Arial" pitchFamily="34" charset="0"/>
                <a:ea typeface="Arial" pitchFamily="34" charset="-122"/>
                <a:cs typeface="Arial" pitchFamily="34" charset="-120"/>
              </a:rPr>
              <a:t>271.7k</a:t>
            </a:r>
            <a:endParaRPr lang="en-US" sz="1870" dirty="0"/>
          </a:p>
        </p:txBody>
      </p:sp>
      <p:sp>
        <p:nvSpPr>
          <p:cNvPr id="11" name="Text 8"/>
          <p:cNvSpPr txBox="1"/>
          <p:nvPr/>
        </p:nvSpPr>
        <p:spPr>
          <a:xfrm>
            <a:off x="1161117" y="2791206"/>
            <a:ext cx="512407" cy="184252"/>
          </a:xfrm>
          <a:prstGeom prst="rect">
            <a:avLst/>
          </a:prstGeom>
          <a:noFill/>
          <a:ln/>
        </p:spPr>
        <p:txBody>
          <a:bodyPr wrap="none" lIns="0" tIns="0" rIns="0" bIns="0" rtlCol="0" anchor="t"/>
          <a:lstStyle/>
          <a:p>
            <a:pPr algn="ctr" indent="0" marL="0">
              <a:lnSpc>
                <a:spcPts val="1120"/>
              </a:lnSpc>
              <a:buNone/>
            </a:pPr>
            <a:r>
              <a:rPr lang="en-US" sz="720" dirty="0">
                <a:solidFill>
                  <a:srgbClr val="4D6585"/>
                </a:solidFill>
                <a:latin typeface="Arial" pitchFamily="34" charset="0"/>
                <a:ea typeface="Arial" pitchFamily="34" charset="-122"/>
                <a:cs typeface="Arial" pitchFamily="34" charset="-120"/>
              </a:rPr>
              <a:t>service hrs</a:t>
            </a:r>
            <a:endParaRPr lang="en-US" sz="720" dirty="0"/>
          </a:p>
        </p:txBody>
      </p:sp>
      <p:sp>
        <p:nvSpPr>
          <p:cNvPr id="12" name="Shape 9"/>
          <p:cNvSpPr/>
          <p:nvPr/>
        </p:nvSpPr>
        <p:spPr>
          <a:xfrm>
            <a:off x="621792" y="3695319"/>
            <a:ext cx="91440" cy="91440"/>
          </a:xfrm>
          <a:prstGeom prst="roundRect">
            <a:avLst>
              <a:gd name="adj" fmla="val 30000"/>
            </a:avLst>
          </a:prstGeom>
          <a:solidFill>
            <a:srgbClr val="0B3A8F"/>
          </a:solidFill>
          <a:ln/>
        </p:spPr>
      </p:sp>
      <p:sp>
        <p:nvSpPr>
          <p:cNvPr id="13" name="Text 10"/>
          <p:cNvSpPr txBox="1"/>
          <p:nvPr/>
        </p:nvSpPr>
        <p:spPr>
          <a:xfrm>
            <a:off x="777240" y="3666744"/>
            <a:ext cx="362631" cy="193378"/>
          </a:xfrm>
          <a:prstGeom prst="rect">
            <a:avLst/>
          </a:prstGeom>
          <a:noFill/>
          <a:ln/>
        </p:spPr>
        <p:txBody>
          <a:bodyPr wrap="none" lIns="0" tIns="0" rIns="0" bIns="0" rtlCol="0" anchor="t"/>
          <a:lstStyle/>
          <a:p>
            <a:pPr algn="l" indent="0" marL="0">
              <a:lnSpc>
                <a:spcPts val="1170"/>
              </a:lnSpc>
              <a:buNone/>
            </a:pPr>
            <a:r>
              <a:rPr lang="en-US" sz="760" dirty="0">
                <a:solidFill>
                  <a:srgbClr val="071A33"/>
                </a:solidFill>
                <a:latin typeface="Arial" pitchFamily="34" charset="0"/>
                <a:ea typeface="Arial" pitchFamily="34" charset="-122"/>
                <a:cs typeface="Arial" pitchFamily="34" charset="-120"/>
              </a:rPr>
              <a:t>LCBTH</a:t>
            </a:r>
            <a:endParaRPr lang="en-US" sz="760" dirty="0"/>
          </a:p>
        </p:txBody>
      </p:sp>
      <p:sp>
        <p:nvSpPr>
          <p:cNvPr id="14" name="Text 11"/>
          <p:cNvSpPr txBox="1"/>
          <p:nvPr/>
        </p:nvSpPr>
        <p:spPr>
          <a:xfrm>
            <a:off x="1945243" y="3666744"/>
            <a:ext cx="312653"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69.5%</a:t>
            </a:r>
            <a:endParaRPr lang="en-US" sz="760" dirty="0"/>
          </a:p>
        </p:txBody>
      </p:sp>
      <p:sp>
        <p:nvSpPr>
          <p:cNvPr id="15" name="Shape 12"/>
          <p:cNvSpPr/>
          <p:nvPr/>
        </p:nvSpPr>
        <p:spPr>
          <a:xfrm>
            <a:off x="621792" y="3908060"/>
            <a:ext cx="91440" cy="91440"/>
          </a:xfrm>
          <a:prstGeom prst="roundRect">
            <a:avLst>
              <a:gd name="adj" fmla="val 30000"/>
            </a:avLst>
          </a:prstGeom>
          <a:solidFill>
            <a:srgbClr val="2F86F5"/>
          </a:solidFill>
          <a:ln/>
        </p:spPr>
      </p:sp>
      <p:sp>
        <p:nvSpPr>
          <p:cNvPr id="16" name="Text 13"/>
          <p:cNvSpPr txBox="1"/>
          <p:nvPr/>
        </p:nvSpPr>
        <p:spPr>
          <a:xfrm>
            <a:off x="777240" y="3879485"/>
            <a:ext cx="397050" cy="193378"/>
          </a:xfrm>
          <a:prstGeom prst="rect">
            <a:avLst/>
          </a:prstGeom>
          <a:noFill/>
          <a:ln/>
        </p:spPr>
        <p:txBody>
          <a:bodyPr wrap="none" lIns="0" tIns="0" rIns="0" bIns="0" rtlCol="0" anchor="t"/>
          <a:lstStyle/>
          <a:p>
            <a:pPr algn="l" indent="0" marL="0">
              <a:lnSpc>
                <a:spcPts val="1170"/>
              </a:lnSpc>
              <a:buNone/>
            </a:pPr>
            <a:r>
              <a:rPr lang="en-US" sz="760" dirty="0">
                <a:solidFill>
                  <a:srgbClr val="071A33"/>
                </a:solidFill>
                <a:latin typeface="Arial" pitchFamily="34" charset="0"/>
                <a:ea typeface="Arial" pitchFamily="34" charset="-122"/>
                <a:cs typeface="Arial" pitchFamily="34" charset="-120"/>
              </a:rPr>
              <a:t>BANGN</a:t>
            </a:r>
            <a:endParaRPr lang="en-US" sz="760" dirty="0"/>
          </a:p>
        </p:txBody>
      </p:sp>
      <p:sp>
        <p:nvSpPr>
          <p:cNvPr id="17" name="Text 14"/>
          <p:cNvSpPr txBox="1"/>
          <p:nvPr/>
        </p:nvSpPr>
        <p:spPr>
          <a:xfrm>
            <a:off x="1936385" y="3879485"/>
            <a:ext cx="322397"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20.0%</a:t>
            </a:r>
            <a:endParaRPr lang="en-US" sz="760" dirty="0"/>
          </a:p>
        </p:txBody>
      </p:sp>
      <p:sp>
        <p:nvSpPr>
          <p:cNvPr id="18" name="Shape 15"/>
          <p:cNvSpPr/>
          <p:nvPr/>
        </p:nvSpPr>
        <p:spPr>
          <a:xfrm>
            <a:off x="621792" y="4120801"/>
            <a:ext cx="91440" cy="91440"/>
          </a:xfrm>
          <a:prstGeom prst="roundRect">
            <a:avLst>
              <a:gd name="adj" fmla="val 30000"/>
            </a:avLst>
          </a:prstGeom>
          <a:solidFill>
            <a:srgbClr val="8CC4FF"/>
          </a:solidFill>
          <a:ln/>
        </p:spPr>
      </p:sp>
      <p:sp>
        <p:nvSpPr>
          <p:cNvPr id="19" name="Text 16"/>
          <p:cNvSpPr txBox="1"/>
          <p:nvPr/>
        </p:nvSpPr>
        <p:spPr>
          <a:xfrm>
            <a:off x="777240" y="4092226"/>
            <a:ext cx="386991" cy="193378"/>
          </a:xfrm>
          <a:prstGeom prst="rect">
            <a:avLst/>
          </a:prstGeom>
          <a:noFill/>
          <a:ln/>
        </p:spPr>
        <p:txBody>
          <a:bodyPr wrap="none" lIns="0" tIns="0" rIns="0" bIns="0" rtlCol="0" anchor="t"/>
          <a:lstStyle/>
          <a:p>
            <a:pPr algn="l" indent="0" marL="0">
              <a:lnSpc>
                <a:spcPts val="1170"/>
              </a:lnSpc>
              <a:buNone/>
            </a:pPr>
            <a:r>
              <a:rPr lang="en-US" sz="760" dirty="0">
                <a:solidFill>
                  <a:srgbClr val="071A33"/>
                </a:solidFill>
                <a:latin typeface="Arial" pitchFamily="34" charset="0"/>
                <a:ea typeface="Arial" pitchFamily="34" charset="-122"/>
                <a:cs typeface="Arial" pitchFamily="34" charset="-120"/>
              </a:rPr>
              <a:t>AMATA</a:t>
            </a:r>
            <a:endParaRPr lang="en-US" sz="760" dirty="0"/>
          </a:p>
        </p:txBody>
      </p:sp>
      <p:sp>
        <p:nvSpPr>
          <p:cNvPr id="20" name="Text 17"/>
          <p:cNvSpPr txBox="1"/>
          <p:nvPr/>
        </p:nvSpPr>
        <p:spPr>
          <a:xfrm>
            <a:off x="1958959" y="4092226"/>
            <a:ext cx="297566" cy="193378"/>
          </a:xfrm>
          <a:prstGeom prst="rect">
            <a:avLst/>
          </a:prstGeom>
          <a:noFill/>
          <a:ln/>
        </p:spPr>
        <p:txBody>
          <a:bodyPr wrap="none" lIns="0" tIns="0" rIns="0" bIns="0" rtlCol="0" anchor="t"/>
          <a:lstStyle/>
          <a:p>
            <a:pPr algn="l" indent="0" marL="0">
              <a:lnSpc>
                <a:spcPts val="1170"/>
              </a:lnSpc>
              <a:buNone/>
            </a:pPr>
            <a:r>
              <a:rPr lang="en-US" sz="760" b="1" dirty="0">
                <a:solidFill>
                  <a:srgbClr val="071A33"/>
                </a:solidFill>
                <a:latin typeface="Arial" pitchFamily="34" charset="0"/>
                <a:ea typeface="Arial" pitchFamily="34" charset="-122"/>
                <a:cs typeface="Arial" pitchFamily="34" charset="-120"/>
              </a:rPr>
              <a:t>10.6%</a:t>
            </a:r>
            <a:endParaRPr lang="en-US" sz="760" dirty="0"/>
          </a:p>
        </p:txBody>
      </p:sp>
      <p:sp>
        <p:nvSpPr>
          <p:cNvPr id="21" name="Shape 18"/>
          <p:cNvSpPr/>
          <p:nvPr/>
        </p:nvSpPr>
        <p:spPr>
          <a:xfrm>
            <a:off x="2560320" y="1783080"/>
            <a:ext cx="1956816" cy="2879789"/>
          </a:xfrm>
          <a:prstGeom prst="roundRect">
            <a:avLst>
              <a:gd name="adj" fmla="val 7477"/>
            </a:avLst>
          </a:prstGeom>
          <a:solidFill>
            <a:srgbClr val="F0F6FF"/>
          </a:solidFill>
          <a:ln w="9144">
            <a:solidFill>
              <a:srgbClr val="D6E6FA"/>
            </a:solidFill>
            <a:prstDash val="solid"/>
          </a:ln>
        </p:spPr>
      </p:sp>
      <p:sp>
        <p:nvSpPr>
          <p:cNvPr id="22" name="Shape 19"/>
          <p:cNvSpPr/>
          <p:nvPr/>
        </p:nvSpPr>
        <p:spPr>
          <a:xfrm>
            <a:off x="2688336" y="1931099"/>
            <a:ext cx="118872" cy="118872"/>
          </a:xfrm>
          <a:prstGeom prst="roundRect">
            <a:avLst>
              <a:gd name="adj" fmla="val 26923"/>
            </a:avLst>
          </a:prstGeom>
          <a:solidFill>
            <a:srgbClr val="0B3A8F"/>
          </a:solidFill>
          <a:ln/>
        </p:spPr>
      </p:sp>
      <p:sp>
        <p:nvSpPr>
          <p:cNvPr id="23" name="Text 20"/>
          <p:cNvSpPr txBox="1"/>
          <p:nvPr/>
        </p:nvSpPr>
        <p:spPr>
          <a:xfrm>
            <a:off x="2871216" y="1901952"/>
            <a:ext cx="458500" cy="230315"/>
          </a:xfrm>
          <a:prstGeom prst="rect">
            <a:avLst/>
          </a:prstGeom>
          <a:noFill/>
          <a:ln/>
        </p:spPr>
        <p:txBody>
          <a:bodyPr wrap="none" lIns="0" tIns="0" rIns="0" bIns="0" rtlCol="0" anchor="t"/>
          <a:lstStyle/>
          <a:p>
            <a:pPr algn="l" indent="0" marL="0">
              <a:lnSpc>
                <a:spcPts val="1390"/>
              </a:lnSpc>
              <a:buNone/>
            </a:pPr>
            <a:r>
              <a:rPr lang="en-US" sz="900" b="1" spc="36" kern="0" dirty="0">
                <a:solidFill>
                  <a:srgbClr val="071A33"/>
                </a:solidFill>
                <a:latin typeface="Arial" pitchFamily="34" charset="0"/>
                <a:ea typeface="Arial" pitchFamily="34" charset="-122"/>
                <a:cs typeface="Arial" pitchFamily="34" charset="-120"/>
              </a:rPr>
              <a:t>LCBTH</a:t>
            </a:r>
            <a:endParaRPr lang="en-US" sz="900" dirty="0"/>
          </a:p>
        </p:txBody>
      </p:sp>
      <p:sp>
        <p:nvSpPr>
          <p:cNvPr id="24" name="Shape 21"/>
          <p:cNvSpPr/>
          <p:nvPr/>
        </p:nvSpPr>
        <p:spPr>
          <a:xfrm>
            <a:off x="2688336" y="2147697"/>
            <a:ext cx="1700784" cy="200739"/>
          </a:xfrm>
          <a:prstGeom prst="roundRect">
            <a:avLst>
              <a:gd name="adj" fmla="val 18221"/>
            </a:avLst>
          </a:prstGeom>
          <a:solidFill>
            <a:srgbClr val="D9EAFF"/>
          </a:solidFill>
          <a:ln/>
        </p:spPr>
      </p:sp>
      <p:sp>
        <p:nvSpPr>
          <p:cNvPr id="25" name="Text 22"/>
          <p:cNvSpPr txBox="1"/>
          <p:nvPr/>
        </p:nvSpPr>
        <p:spPr>
          <a:xfrm>
            <a:off x="2734056" y="2178701"/>
            <a:ext cx="62917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Service hours</a:t>
            </a:r>
            <a:endParaRPr lang="en-US" sz="710" dirty="0"/>
          </a:p>
        </p:txBody>
      </p:sp>
      <p:sp>
        <p:nvSpPr>
          <p:cNvPr id="26" name="Text 23"/>
          <p:cNvSpPr txBox="1"/>
          <p:nvPr/>
        </p:nvSpPr>
        <p:spPr>
          <a:xfrm>
            <a:off x="4027075" y="2178701"/>
            <a:ext cx="366246"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188,739</a:t>
            </a:r>
            <a:endParaRPr lang="en-US" sz="710" dirty="0"/>
          </a:p>
        </p:txBody>
      </p:sp>
      <p:sp>
        <p:nvSpPr>
          <p:cNvPr id="27" name="Text 24"/>
          <p:cNvSpPr txBox="1"/>
          <p:nvPr/>
        </p:nvSpPr>
        <p:spPr>
          <a:xfrm>
            <a:off x="2734056" y="2393156"/>
            <a:ext cx="668312"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Share of hours</a:t>
            </a:r>
            <a:endParaRPr lang="en-US" sz="710" dirty="0"/>
          </a:p>
        </p:txBody>
      </p:sp>
      <p:sp>
        <p:nvSpPr>
          <p:cNvPr id="28" name="Text 25"/>
          <p:cNvSpPr txBox="1"/>
          <p:nvPr/>
        </p:nvSpPr>
        <p:spPr>
          <a:xfrm>
            <a:off x="4093797" y="2393156"/>
            <a:ext cx="292851"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69.5%</a:t>
            </a:r>
            <a:endParaRPr lang="en-US" sz="710" dirty="0"/>
          </a:p>
        </p:txBody>
      </p:sp>
      <p:sp>
        <p:nvSpPr>
          <p:cNvPr id="29" name="Text 26"/>
          <p:cNvSpPr txBox="1"/>
          <p:nvPr/>
        </p:nvSpPr>
        <p:spPr>
          <a:xfrm>
            <a:off x="2734056" y="2607612"/>
            <a:ext cx="516650"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Customers</a:t>
            </a:r>
            <a:endParaRPr lang="en-US" sz="710" dirty="0"/>
          </a:p>
        </p:txBody>
      </p:sp>
      <p:sp>
        <p:nvSpPr>
          <p:cNvPr id="30" name="Text 27"/>
          <p:cNvSpPr txBox="1"/>
          <p:nvPr/>
        </p:nvSpPr>
        <p:spPr>
          <a:xfrm>
            <a:off x="4231958" y="2607612"/>
            <a:ext cx="140875"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20</a:t>
            </a:r>
            <a:endParaRPr lang="en-US" sz="710" dirty="0"/>
          </a:p>
        </p:txBody>
      </p:sp>
      <p:sp>
        <p:nvSpPr>
          <p:cNvPr id="31" name="Text 28"/>
          <p:cNvSpPr txBox="1"/>
          <p:nvPr/>
        </p:nvSpPr>
        <p:spPr>
          <a:xfrm>
            <a:off x="2734056" y="2822067"/>
            <a:ext cx="412766"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Missions</a:t>
            </a:r>
            <a:endParaRPr lang="en-US" sz="710" dirty="0"/>
          </a:p>
        </p:txBody>
      </p:sp>
      <p:sp>
        <p:nvSpPr>
          <p:cNvPr id="32" name="Text 29"/>
          <p:cNvSpPr txBox="1"/>
          <p:nvPr/>
        </p:nvSpPr>
        <p:spPr>
          <a:xfrm>
            <a:off x="4238101" y="2822067"/>
            <a:ext cx="134117"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76</a:t>
            </a:r>
            <a:endParaRPr lang="en-US" sz="710" dirty="0"/>
          </a:p>
        </p:txBody>
      </p:sp>
      <p:sp>
        <p:nvSpPr>
          <p:cNvPr id="33" name="Text 30"/>
          <p:cNvSpPr txBox="1"/>
          <p:nvPr/>
        </p:nvSpPr>
        <p:spPr>
          <a:xfrm>
            <a:off x="2734056" y="3036522"/>
            <a:ext cx="72111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Hours / mission</a:t>
            </a:r>
            <a:endParaRPr lang="en-US" sz="710" dirty="0"/>
          </a:p>
        </p:txBody>
      </p:sp>
      <p:sp>
        <p:nvSpPr>
          <p:cNvPr id="34" name="Text 31"/>
          <p:cNvSpPr txBox="1"/>
          <p:nvPr/>
        </p:nvSpPr>
        <p:spPr>
          <a:xfrm>
            <a:off x="4108228" y="3036522"/>
            <a:ext cx="276977"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2,483</a:t>
            </a:r>
            <a:endParaRPr lang="en-US" sz="710" dirty="0"/>
          </a:p>
        </p:txBody>
      </p:sp>
      <p:sp>
        <p:nvSpPr>
          <p:cNvPr id="35" name="Text 32"/>
          <p:cNvSpPr txBox="1"/>
          <p:nvPr/>
        </p:nvSpPr>
        <p:spPr>
          <a:xfrm>
            <a:off x="2734056" y="3250978"/>
            <a:ext cx="684500"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Mgmt fee days</a:t>
            </a:r>
            <a:endParaRPr lang="en-US" sz="710" dirty="0"/>
          </a:p>
        </p:txBody>
      </p:sp>
      <p:sp>
        <p:nvSpPr>
          <p:cNvPr id="36" name="Text 33"/>
          <p:cNvSpPr txBox="1"/>
          <p:nvPr/>
        </p:nvSpPr>
        <p:spPr>
          <a:xfrm>
            <a:off x="4094226" y="3250978"/>
            <a:ext cx="292379"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2,004</a:t>
            </a:r>
            <a:endParaRPr lang="en-US" sz="710" dirty="0"/>
          </a:p>
        </p:txBody>
      </p:sp>
      <p:sp>
        <p:nvSpPr>
          <p:cNvPr id="37" name="Text 34"/>
          <p:cNvSpPr txBox="1"/>
          <p:nvPr/>
        </p:nvSpPr>
        <p:spPr>
          <a:xfrm>
            <a:off x="2734056" y="3465433"/>
            <a:ext cx="70367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Per-piece units</a:t>
            </a:r>
            <a:endParaRPr lang="en-US" sz="710" dirty="0"/>
          </a:p>
        </p:txBody>
      </p:sp>
      <p:sp>
        <p:nvSpPr>
          <p:cNvPr id="38" name="Text 35"/>
          <p:cNvSpPr txBox="1"/>
          <p:nvPr/>
        </p:nvSpPr>
        <p:spPr>
          <a:xfrm>
            <a:off x="4109514" y="3465433"/>
            <a:ext cx="27556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5,985</a:t>
            </a:r>
            <a:endParaRPr lang="en-US" sz="710" dirty="0"/>
          </a:p>
        </p:txBody>
      </p:sp>
      <p:sp>
        <p:nvSpPr>
          <p:cNvPr id="39" name="Text 36"/>
          <p:cNvSpPr txBox="1"/>
          <p:nvPr/>
        </p:nvSpPr>
        <p:spPr>
          <a:xfrm>
            <a:off x="2734056" y="3679889"/>
            <a:ext cx="761667"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Sep vs Jan hours</a:t>
            </a:r>
            <a:endParaRPr lang="en-US" sz="710" dirty="0"/>
          </a:p>
        </p:txBody>
      </p:sp>
      <p:sp>
        <p:nvSpPr>
          <p:cNvPr id="40" name="Text 37"/>
          <p:cNvSpPr txBox="1"/>
          <p:nvPr/>
        </p:nvSpPr>
        <p:spPr>
          <a:xfrm>
            <a:off x="4118658" y="3679889"/>
            <a:ext cx="265505"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+30%</a:t>
            </a:r>
            <a:endParaRPr lang="en-US" sz="710" dirty="0"/>
          </a:p>
        </p:txBody>
      </p:sp>
      <p:sp>
        <p:nvSpPr>
          <p:cNvPr id="41" name="Shape 38"/>
          <p:cNvSpPr/>
          <p:nvPr/>
        </p:nvSpPr>
        <p:spPr>
          <a:xfrm>
            <a:off x="2688336" y="3941064"/>
            <a:ext cx="1700784" cy="0"/>
          </a:xfrm>
          <a:prstGeom prst="line">
            <a:avLst/>
          </a:prstGeom>
          <a:noFill/>
          <a:ln w="9144">
            <a:solidFill>
              <a:srgbClr val="C9DCF5"/>
            </a:solidFill>
            <a:prstDash val="solid"/>
          </a:ln>
        </p:spPr>
      </p:sp>
      <p:sp>
        <p:nvSpPr>
          <p:cNvPr id="42" name="Text 39"/>
          <p:cNvSpPr txBox="1"/>
          <p:nvPr/>
        </p:nvSpPr>
        <p:spPr>
          <a:xfrm>
            <a:off x="2688336" y="4018788"/>
            <a:ext cx="706817" cy="187959"/>
          </a:xfrm>
          <a:prstGeom prst="rect">
            <a:avLst/>
          </a:prstGeom>
          <a:noFill/>
          <a:ln/>
        </p:spPr>
        <p:txBody>
          <a:bodyPr wrap="none" lIns="0" tIns="0" rIns="0" bIns="0" rtlCol="0" anchor="t"/>
          <a:lstStyle/>
          <a:p>
            <a:pPr algn="l" indent="0" marL="0">
              <a:lnSpc>
                <a:spcPts val="1140"/>
              </a:lnSpc>
              <a:buNone/>
            </a:pPr>
            <a:r>
              <a:rPr lang="en-US" sz="730" b="1" dirty="0">
                <a:solidFill>
                  <a:srgbClr val="071A33"/>
                </a:solidFill>
                <a:latin typeface="Arial" pitchFamily="34" charset="0"/>
                <a:ea typeface="Arial" pitchFamily="34" charset="-122"/>
                <a:cs typeface="Arial" pitchFamily="34" charset="-120"/>
              </a:rPr>
              <a:t>LCBTH = scale</a:t>
            </a:r>
            <a:endParaRPr lang="en-US" sz="730" dirty="0"/>
          </a:p>
        </p:txBody>
      </p:sp>
      <p:sp>
        <p:nvSpPr>
          <p:cNvPr id="43" name="Text 40"/>
          <p:cNvSpPr txBox="1"/>
          <p:nvPr/>
        </p:nvSpPr>
        <p:spPr>
          <a:xfrm>
            <a:off x="2688336" y="4190810"/>
            <a:ext cx="1888285" cy="388519"/>
          </a:xfrm>
          <a:prstGeom prst="rect">
            <a:avLst/>
          </a:prstGeom>
          <a:noFill/>
          <a:ln/>
        </p:spPr>
        <p:txBody>
          <a:bodyPr wrap="square" lIns="0" tIns="0" rIns="0" bIns="0" rtlCol="0" anchor="t"/>
          <a:lstStyle/>
          <a:p>
            <a:pPr algn="l" indent="0" marL="0">
              <a:lnSpc>
                <a:spcPts val="930"/>
              </a:lnSpc>
              <a:buNone/>
            </a:pPr>
            <a:r>
              <a:rPr lang="en-US" sz="660" dirty="0">
                <a:solidFill>
                  <a:srgbClr val="4D6585"/>
                </a:solidFill>
                <a:latin typeface="Arial" pitchFamily="34" charset="0"/>
                <a:ea typeface="Arial" pitchFamily="34" charset="-122"/>
                <a:cs typeface="Arial" pitchFamily="34" charset="-120"/>
              </a:rPr>
              <a:t>Ford + AutoAlliance + Mitsubishi port/plant</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inspection. ~2,500 hrs per mission; only 10</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hosts.</a:t>
            </a:r>
            <a:endParaRPr lang="en-US" sz="660" dirty="0"/>
          </a:p>
        </p:txBody>
      </p:sp>
      <p:sp>
        <p:nvSpPr>
          <p:cNvPr id="44" name="Shape 41"/>
          <p:cNvSpPr/>
          <p:nvPr/>
        </p:nvSpPr>
        <p:spPr>
          <a:xfrm>
            <a:off x="4645152" y="1783080"/>
            <a:ext cx="1956816" cy="2879789"/>
          </a:xfrm>
          <a:prstGeom prst="roundRect">
            <a:avLst>
              <a:gd name="adj" fmla="val 7477"/>
            </a:avLst>
          </a:prstGeom>
          <a:solidFill>
            <a:srgbClr val="F0F6FF"/>
          </a:solidFill>
          <a:ln w="9144">
            <a:solidFill>
              <a:srgbClr val="D6E6FA"/>
            </a:solidFill>
            <a:prstDash val="solid"/>
          </a:ln>
        </p:spPr>
      </p:sp>
      <p:sp>
        <p:nvSpPr>
          <p:cNvPr id="45" name="Shape 42"/>
          <p:cNvSpPr/>
          <p:nvPr/>
        </p:nvSpPr>
        <p:spPr>
          <a:xfrm>
            <a:off x="4773168" y="1931099"/>
            <a:ext cx="118872" cy="118872"/>
          </a:xfrm>
          <a:prstGeom prst="roundRect">
            <a:avLst>
              <a:gd name="adj" fmla="val 26923"/>
            </a:avLst>
          </a:prstGeom>
          <a:solidFill>
            <a:srgbClr val="2F86F5"/>
          </a:solidFill>
          <a:ln/>
        </p:spPr>
      </p:sp>
      <p:sp>
        <p:nvSpPr>
          <p:cNvPr id="46" name="Text 43"/>
          <p:cNvSpPr txBox="1"/>
          <p:nvPr/>
        </p:nvSpPr>
        <p:spPr>
          <a:xfrm>
            <a:off x="4956048" y="1901952"/>
            <a:ext cx="491504" cy="230315"/>
          </a:xfrm>
          <a:prstGeom prst="rect">
            <a:avLst/>
          </a:prstGeom>
          <a:noFill/>
          <a:ln/>
        </p:spPr>
        <p:txBody>
          <a:bodyPr wrap="none" lIns="0" tIns="0" rIns="0" bIns="0" rtlCol="0" anchor="t"/>
          <a:lstStyle/>
          <a:p>
            <a:pPr algn="l" indent="0" marL="0">
              <a:lnSpc>
                <a:spcPts val="1390"/>
              </a:lnSpc>
              <a:buNone/>
            </a:pPr>
            <a:r>
              <a:rPr lang="en-US" sz="900" b="1" spc="36" kern="0" dirty="0">
                <a:solidFill>
                  <a:srgbClr val="071A33"/>
                </a:solidFill>
                <a:latin typeface="Arial" pitchFamily="34" charset="0"/>
                <a:ea typeface="Arial" pitchFamily="34" charset="-122"/>
                <a:cs typeface="Arial" pitchFamily="34" charset="-120"/>
              </a:rPr>
              <a:t>BANGN</a:t>
            </a:r>
            <a:endParaRPr lang="en-US" sz="900" dirty="0"/>
          </a:p>
        </p:txBody>
      </p:sp>
      <p:sp>
        <p:nvSpPr>
          <p:cNvPr id="47" name="Text 44"/>
          <p:cNvSpPr txBox="1"/>
          <p:nvPr/>
        </p:nvSpPr>
        <p:spPr>
          <a:xfrm>
            <a:off x="4818888" y="2178701"/>
            <a:ext cx="62917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Service hours</a:t>
            </a:r>
            <a:endParaRPr lang="en-US" sz="710" dirty="0"/>
          </a:p>
        </p:txBody>
      </p:sp>
      <p:sp>
        <p:nvSpPr>
          <p:cNvPr id="48" name="Text 45"/>
          <p:cNvSpPr txBox="1"/>
          <p:nvPr/>
        </p:nvSpPr>
        <p:spPr>
          <a:xfrm>
            <a:off x="6143482" y="2178701"/>
            <a:ext cx="33151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54,235</a:t>
            </a:r>
            <a:endParaRPr lang="en-US" sz="710" dirty="0"/>
          </a:p>
        </p:txBody>
      </p:sp>
      <p:sp>
        <p:nvSpPr>
          <p:cNvPr id="49" name="Text 46"/>
          <p:cNvSpPr txBox="1"/>
          <p:nvPr/>
        </p:nvSpPr>
        <p:spPr>
          <a:xfrm>
            <a:off x="4818888" y="2393156"/>
            <a:ext cx="668312"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Share of hours</a:t>
            </a:r>
            <a:endParaRPr lang="en-US" sz="710" dirty="0"/>
          </a:p>
        </p:txBody>
      </p:sp>
      <p:sp>
        <p:nvSpPr>
          <p:cNvPr id="50" name="Text 47"/>
          <p:cNvSpPr txBox="1"/>
          <p:nvPr/>
        </p:nvSpPr>
        <p:spPr>
          <a:xfrm>
            <a:off x="6170200" y="2393156"/>
            <a:ext cx="30212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20.0%</a:t>
            </a:r>
            <a:endParaRPr lang="en-US" sz="710" dirty="0"/>
          </a:p>
        </p:txBody>
      </p:sp>
      <p:sp>
        <p:nvSpPr>
          <p:cNvPr id="51" name="Text 48"/>
          <p:cNvSpPr txBox="1"/>
          <p:nvPr/>
        </p:nvSpPr>
        <p:spPr>
          <a:xfrm>
            <a:off x="4818888" y="2607612"/>
            <a:ext cx="516650"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Customers</a:t>
            </a:r>
            <a:endParaRPr lang="en-US" sz="710" dirty="0"/>
          </a:p>
        </p:txBody>
      </p:sp>
      <p:sp>
        <p:nvSpPr>
          <p:cNvPr id="52" name="Text 49"/>
          <p:cNvSpPr txBox="1"/>
          <p:nvPr/>
        </p:nvSpPr>
        <p:spPr>
          <a:xfrm>
            <a:off x="6323648" y="2607612"/>
            <a:ext cx="133331"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53</a:t>
            </a:r>
            <a:endParaRPr lang="en-US" sz="710" dirty="0"/>
          </a:p>
        </p:txBody>
      </p:sp>
      <p:sp>
        <p:nvSpPr>
          <p:cNvPr id="53" name="Shape 50"/>
          <p:cNvSpPr/>
          <p:nvPr/>
        </p:nvSpPr>
        <p:spPr>
          <a:xfrm>
            <a:off x="4773168" y="2791063"/>
            <a:ext cx="1700784" cy="200739"/>
          </a:xfrm>
          <a:prstGeom prst="roundRect">
            <a:avLst>
              <a:gd name="adj" fmla="val 18221"/>
            </a:avLst>
          </a:prstGeom>
          <a:solidFill>
            <a:srgbClr val="D9EAFF"/>
          </a:solidFill>
          <a:ln/>
        </p:spPr>
      </p:sp>
      <p:sp>
        <p:nvSpPr>
          <p:cNvPr id="54" name="Text 51"/>
          <p:cNvSpPr txBox="1"/>
          <p:nvPr/>
        </p:nvSpPr>
        <p:spPr>
          <a:xfrm>
            <a:off x="4818888" y="2822067"/>
            <a:ext cx="412766"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Missions</a:t>
            </a:r>
            <a:endParaRPr lang="en-US" sz="710" dirty="0"/>
          </a:p>
        </p:txBody>
      </p:sp>
      <p:sp>
        <p:nvSpPr>
          <p:cNvPr id="55" name="Text 52"/>
          <p:cNvSpPr txBox="1"/>
          <p:nvPr/>
        </p:nvSpPr>
        <p:spPr>
          <a:xfrm>
            <a:off x="6277070" y="2822067"/>
            <a:ext cx="184566"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140</a:t>
            </a:r>
            <a:endParaRPr lang="en-US" sz="710" dirty="0"/>
          </a:p>
        </p:txBody>
      </p:sp>
      <p:sp>
        <p:nvSpPr>
          <p:cNvPr id="56" name="Shape 53"/>
          <p:cNvSpPr/>
          <p:nvPr/>
        </p:nvSpPr>
        <p:spPr>
          <a:xfrm>
            <a:off x="4773168" y="3005519"/>
            <a:ext cx="1700784" cy="200739"/>
          </a:xfrm>
          <a:prstGeom prst="roundRect">
            <a:avLst>
              <a:gd name="adj" fmla="val 18221"/>
            </a:avLst>
          </a:prstGeom>
          <a:solidFill>
            <a:srgbClr val="D9EAFF"/>
          </a:solidFill>
          <a:ln/>
        </p:spPr>
      </p:sp>
      <p:sp>
        <p:nvSpPr>
          <p:cNvPr id="57" name="Text 54"/>
          <p:cNvSpPr txBox="1"/>
          <p:nvPr/>
        </p:nvSpPr>
        <p:spPr>
          <a:xfrm>
            <a:off x="4818888" y="3036522"/>
            <a:ext cx="72111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Hours / mission</a:t>
            </a:r>
            <a:endParaRPr lang="en-US" sz="710" dirty="0"/>
          </a:p>
        </p:txBody>
      </p:sp>
      <p:sp>
        <p:nvSpPr>
          <p:cNvPr id="58" name="Text 55"/>
          <p:cNvSpPr txBox="1"/>
          <p:nvPr/>
        </p:nvSpPr>
        <p:spPr>
          <a:xfrm>
            <a:off x="6271355" y="3036522"/>
            <a:ext cx="190852"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387</a:t>
            </a:r>
            <a:endParaRPr lang="en-US" sz="710" dirty="0"/>
          </a:p>
        </p:txBody>
      </p:sp>
      <p:sp>
        <p:nvSpPr>
          <p:cNvPr id="59" name="Text 56"/>
          <p:cNvSpPr txBox="1"/>
          <p:nvPr/>
        </p:nvSpPr>
        <p:spPr>
          <a:xfrm>
            <a:off x="4818888" y="3250978"/>
            <a:ext cx="684500"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Mgmt fee days</a:t>
            </a:r>
            <a:endParaRPr lang="en-US" sz="710" dirty="0"/>
          </a:p>
        </p:txBody>
      </p:sp>
      <p:sp>
        <p:nvSpPr>
          <p:cNvPr id="60" name="Text 57"/>
          <p:cNvSpPr txBox="1"/>
          <p:nvPr/>
        </p:nvSpPr>
        <p:spPr>
          <a:xfrm>
            <a:off x="6198918" y="3250978"/>
            <a:ext cx="270534"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1,200</a:t>
            </a:r>
            <a:endParaRPr lang="en-US" sz="710" dirty="0"/>
          </a:p>
        </p:txBody>
      </p:sp>
      <p:sp>
        <p:nvSpPr>
          <p:cNvPr id="61" name="Text 58"/>
          <p:cNvSpPr txBox="1"/>
          <p:nvPr/>
        </p:nvSpPr>
        <p:spPr>
          <a:xfrm>
            <a:off x="4818888" y="3465433"/>
            <a:ext cx="70367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Per-piece units</a:t>
            </a:r>
            <a:endParaRPr lang="en-US" sz="710" dirty="0"/>
          </a:p>
        </p:txBody>
      </p:sp>
      <p:sp>
        <p:nvSpPr>
          <p:cNvPr id="62" name="Text 59"/>
          <p:cNvSpPr txBox="1"/>
          <p:nvPr/>
        </p:nvSpPr>
        <p:spPr>
          <a:xfrm>
            <a:off x="6147911" y="3465433"/>
            <a:ext cx="326641"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23,533</a:t>
            </a:r>
            <a:endParaRPr lang="en-US" sz="710" dirty="0"/>
          </a:p>
        </p:txBody>
      </p:sp>
      <p:sp>
        <p:nvSpPr>
          <p:cNvPr id="63" name="Shape 60"/>
          <p:cNvSpPr/>
          <p:nvPr/>
        </p:nvSpPr>
        <p:spPr>
          <a:xfrm>
            <a:off x="4773168" y="3648885"/>
            <a:ext cx="1700784" cy="200739"/>
          </a:xfrm>
          <a:prstGeom prst="roundRect">
            <a:avLst>
              <a:gd name="adj" fmla="val 18221"/>
            </a:avLst>
          </a:prstGeom>
          <a:solidFill>
            <a:srgbClr val="D9EAFF"/>
          </a:solidFill>
          <a:ln/>
        </p:spPr>
      </p:sp>
      <p:sp>
        <p:nvSpPr>
          <p:cNvPr id="64" name="Text 61"/>
          <p:cNvSpPr txBox="1"/>
          <p:nvPr/>
        </p:nvSpPr>
        <p:spPr>
          <a:xfrm>
            <a:off x="4818888" y="3679889"/>
            <a:ext cx="761667"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Sep vs Jan hours</a:t>
            </a:r>
            <a:endParaRPr lang="en-US" sz="710" dirty="0"/>
          </a:p>
        </p:txBody>
      </p:sp>
      <p:sp>
        <p:nvSpPr>
          <p:cNvPr id="65" name="Text 62"/>
          <p:cNvSpPr txBox="1"/>
          <p:nvPr/>
        </p:nvSpPr>
        <p:spPr>
          <a:xfrm>
            <a:off x="6199489" y="3679889"/>
            <a:ext cx="269905" cy="180401"/>
          </a:xfrm>
          <a:prstGeom prst="rect">
            <a:avLst/>
          </a:prstGeom>
          <a:noFill/>
          <a:ln/>
        </p:spPr>
        <p:txBody>
          <a:bodyPr wrap="none" lIns="0" tIns="0" rIns="0" bIns="0" rtlCol="0" anchor="t"/>
          <a:lstStyle/>
          <a:p>
            <a:pPr algn="l" indent="0" marL="0">
              <a:lnSpc>
                <a:spcPts val="1090"/>
              </a:lnSpc>
              <a:buNone/>
            </a:pPr>
            <a:r>
              <a:rPr lang="en-US" sz="710" b="1" dirty="0">
                <a:solidFill>
                  <a:srgbClr val="0B4FBF"/>
                </a:solidFill>
                <a:latin typeface="Arial" pitchFamily="34" charset="0"/>
                <a:ea typeface="Arial" pitchFamily="34" charset="-122"/>
                <a:cs typeface="Arial" pitchFamily="34" charset="-120"/>
              </a:rPr>
              <a:t>+96%</a:t>
            </a:r>
            <a:endParaRPr lang="en-US" sz="710" dirty="0"/>
          </a:p>
        </p:txBody>
      </p:sp>
      <p:sp>
        <p:nvSpPr>
          <p:cNvPr id="66" name="Shape 63"/>
          <p:cNvSpPr/>
          <p:nvPr/>
        </p:nvSpPr>
        <p:spPr>
          <a:xfrm>
            <a:off x="4773168" y="3941064"/>
            <a:ext cx="1700784" cy="0"/>
          </a:xfrm>
          <a:prstGeom prst="line">
            <a:avLst/>
          </a:prstGeom>
          <a:noFill/>
          <a:ln w="9144">
            <a:solidFill>
              <a:srgbClr val="C9DCF5"/>
            </a:solidFill>
            <a:prstDash val="solid"/>
          </a:ln>
        </p:spPr>
      </p:sp>
      <p:sp>
        <p:nvSpPr>
          <p:cNvPr id="67" name="Text 64"/>
          <p:cNvSpPr txBox="1"/>
          <p:nvPr/>
        </p:nvSpPr>
        <p:spPr>
          <a:xfrm>
            <a:off x="4773168" y="4018788"/>
            <a:ext cx="869009" cy="187959"/>
          </a:xfrm>
          <a:prstGeom prst="rect">
            <a:avLst/>
          </a:prstGeom>
          <a:noFill/>
          <a:ln/>
        </p:spPr>
        <p:txBody>
          <a:bodyPr wrap="none" lIns="0" tIns="0" rIns="0" bIns="0" rtlCol="0" anchor="t"/>
          <a:lstStyle/>
          <a:p>
            <a:pPr algn="l" indent="0" marL="0">
              <a:lnSpc>
                <a:spcPts val="1140"/>
              </a:lnSpc>
              <a:buNone/>
            </a:pPr>
            <a:r>
              <a:rPr lang="en-US" sz="730" b="1" dirty="0">
                <a:solidFill>
                  <a:srgbClr val="071A33"/>
                </a:solidFill>
                <a:latin typeface="Arial" pitchFamily="34" charset="0"/>
                <a:ea typeface="Arial" pitchFamily="34" charset="-122"/>
                <a:cs typeface="Arial" pitchFamily="34" charset="-120"/>
              </a:rPr>
              <a:t>BANGN = breadth</a:t>
            </a:r>
            <a:endParaRPr lang="en-US" sz="730" dirty="0"/>
          </a:p>
        </p:txBody>
      </p:sp>
      <p:sp>
        <p:nvSpPr>
          <p:cNvPr id="68" name="Text 65"/>
          <p:cNvSpPr txBox="1"/>
          <p:nvPr/>
        </p:nvSpPr>
        <p:spPr>
          <a:xfrm>
            <a:off x="4773168" y="4190810"/>
            <a:ext cx="1834535" cy="388519"/>
          </a:xfrm>
          <a:prstGeom prst="rect">
            <a:avLst/>
          </a:prstGeom>
          <a:noFill/>
          <a:ln/>
        </p:spPr>
        <p:txBody>
          <a:bodyPr wrap="square" lIns="0" tIns="0" rIns="0" bIns="0" rtlCol="0" anchor="t"/>
          <a:lstStyle/>
          <a:p>
            <a:pPr algn="l" indent="0" marL="0">
              <a:lnSpc>
                <a:spcPts val="930"/>
              </a:lnSpc>
              <a:buNone/>
            </a:pPr>
            <a:r>
              <a:rPr lang="en-US" sz="660" dirty="0">
                <a:solidFill>
                  <a:srgbClr val="4D6585"/>
                </a:solidFill>
                <a:latin typeface="Arial" pitchFamily="34" charset="0"/>
                <a:ea typeface="Arial" pitchFamily="34" charset="-122"/>
                <a:cs typeface="Arial" pitchFamily="34" charset="-120"/>
              </a:rPr>
              <a:t>140 missions, 53 customers, 70% of per-piece</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units. Many short sorting jobs (~390</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hrs/mission).</a:t>
            </a:r>
            <a:endParaRPr lang="en-US" sz="660" dirty="0"/>
          </a:p>
        </p:txBody>
      </p:sp>
      <p:sp>
        <p:nvSpPr>
          <p:cNvPr id="69" name="Shape 66"/>
          <p:cNvSpPr/>
          <p:nvPr/>
        </p:nvSpPr>
        <p:spPr>
          <a:xfrm>
            <a:off x="6729984" y="1783080"/>
            <a:ext cx="1956816" cy="2879789"/>
          </a:xfrm>
          <a:prstGeom prst="roundRect">
            <a:avLst>
              <a:gd name="adj" fmla="val 7477"/>
            </a:avLst>
          </a:prstGeom>
          <a:solidFill>
            <a:srgbClr val="F0F6FF"/>
          </a:solidFill>
          <a:ln w="9144">
            <a:solidFill>
              <a:srgbClr val="D6E6FA"/>
            </a:solidFill>
            <a:prstDash val="solid"/>
          </a:ln>
        </p:spPr>
      </p:sp>
      <p:sp>
        <p:nvSpPr>
          <p:cNvPr id="70" name="Shape 67"/>
          <p:cNvSpPr/>
          <p:nvPr/>
        </p:nvSpPr>
        <p:spPr>
          <a:xfrm>
            <a:off x="6858000" y="1931099"/>
            <a:ext cx="118872" cy="118872"/>
          </a:xfrm>
          <a:prstGeom prst="roundRect">
            <a:avLst>
              <a:gd name="adj" fmla="val 26923"/>
            </a:avLst>
          </a:prstGeom>
          <a:solidFill>
            <a:srgbClr val="8CC4FF"/>
          </a:solidFill>
          <a:ln/>
        </p:spPr>
      </p:sp>
      <p:sp>
        <p:nvSpPr>
          <p:cNvPr id="71" name="Text 68"/>
          <p:cNvSpPr txBox="1"/>
          <p:nvPr/>
        </p:nvSpPr>
        <p:spPr>
          <a:xfrm>
            <a:off x="7040880" y="1901952"/>
            <a:ext cx="489147" cy="230315"/>
          </a:xfrm>
          <a:prstGeom prst="rect">
            <a:avLst/>
          </a:prstGeom>
          <a:noFill/>
          <a:ln/>
        </p:spPr>
        <p:txBody>
          <a:bodyPr wrap="none" lIns="0" tIns="0" rIns="0" bIns="0" rtlCol="0" anchor="t"/>
          <a:lstStyle/>
          <a:p>
            <a:pPr algn="l" indent="0" marL="0">
              <a:lnSpc>
                <a:spcPts val="1390"/>
              </a:lnSpc>
              <a:buNone/>
            </a:pPr>
            <a:r>
              <a:rPr lang="en-US" sz="900" b="1" spc="36" kern="0" dirty="0">
                <a:solidFill>
                  <a:srgbClr val="071A33"/>
                </a:solidFill>
                <a:latin typeface="Arial" pitchFamily="34" charset="0"/>
                <a:ea typeface="Arial" pitchFamily="34" charset="-122"/>
                <a:cs typeface="Arial" pitchFamily="34" charset="-120"/>
              </a:rPr>
              <a:t>AMATA</a:t>
            </a:r>
            <a:endParaRPr lang="en-US" sz="900" dirty="0"/>
          </a:p>
        </p:txBody>
      </p:sp>
      <p:sp>
        <p:nvSpPr>
          <p:cNvPr id="72" name="Text 69"/>
          <p:cNvSpPr txBox="1"/>
          <p:nvPr/>
        </p:nvSpPr>
        <p:spPr>
          <a:xfrm>
            <a:off x="6903720" y="2178701"/>
            <a:ext cx="62917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Service hours</a:t>
            </a:r>
            <a:endParaRPr lang="en-US" sz="710" dirty="0"/>
          </a:p>
        </p:txBody>
      </p:sp>
      <p:sp>
        <p:nvSpPr>
          <p:cNvPr id="73" name="Text 70"/>
          <p:cNvSpPr txBox="1"/>
          <p:nvPr/>
        </p:nvSpPr>
        <p:spPr>
          <a:xfrm>
            <a:off x="8229314" y="2178701"/>
            <a:ext cx="33041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28,687</a:t>
            </a:r>
            <a:endParaRPr lang="en-US" sz="710" dirty="0"/>
          </a:p>
        </p:txBody>
      </p:sp>
      <p:sp>
        <p:nvSpPr>
          <p:cNvPr id="74" name="Text 71"/>
          <p:cNvSpPr txBox="1"/>
          <p:nvPr/>
        </p:nvSpPr>
        <p:spPr>
          <a:xfrm>
            <a:off x="6903720" y="2393156"/>
            <a:ext cx="668312"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Share of hours</a:t>
            </a:r>
            <a:endParaRPr lang="en-US" sz="710" dirty="0"/>
          </a:p>
        </p:txBody>
      </p:sp>
      <p:sp>
        <p:nvSpPr>
          <p:cNvPr id="75" name="Text 72"/>
          <p:cNvSpPr txBox="1"/>
          <p:nvPr/>
        </p:nvSpPr>
        <p:spPr>
          <a:xfrm>
            <a:off x="8276177" y="2393156"/>
            <a:ext cx="278863"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10.6%</a:t>
            </a:r>
            <a:endParaRPr lang="en-US" sz="710" dirty="0"/>
          </a:p>
        </p:txBody>
      </p:sp>
      <p:sp>
        <p:nvSpPr>
          <p:cNvPr id="76" name="Text 73"/>
          <p:cNvSpPr txBox="1"/>
          <p:nvPr/>
        </p:nvSpPr>
        <p:spPr>
          <a:xfrm>
            <a:off x="6903720" y="2607612"/>
            <a:ext cx="516650"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Customers</a:t>
            </a:r>
            <a:endParaRPr lang="en-US" sz="710" dirty="0"/>
          </a:p>
        </p:txBody>
      </p:sp>
      <p:sp>
        <p:nvSpPr>
          <p:cNvPr id="77" name="Text 74"/>
          <p:cNvSpPr txBox="1"/>
          <p:nvPr/>
        </p:nvSpPr>
        <p:spPr>
          <a:xfrm>
            <a:off x="8426339" y="2607612"/>
            <a:ext cx="113686"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31</a:t>
            </a:r>
            <a:endParaRPr lang="en-US" sz="710" dirty="0"/>
          </a:p>
        </p:txBody>
      </p:sp>
      <p:sp>
        <p:nvSpPr>
          <p:cNvPr id="78" name="Text 75"/>
          <p:cNvSpPr txBox="1"/>
          <p:nvPr/>
        </p:nvSpPr>
        <p:spPr>
          <a:xfrm>
            <a:off x="6903720" y="2822067"/>
            <a:ext cx="412766"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Missions</a:t>
            </a:r>
            <a:endParaRPr lang="en-US" sz="710" dirty="0"/>
          </a:p>
        </p:txBody>
      </p:sp>
      <p:sp>
        <p:nvSpPr>
          <p:cNvPr id="79" name="Text 76"/>
          <p:cNvSpPr txBox="1"/>
          <p:nvPr/>
        </p:nvSpPr>
        <p:spPr>
          <a:xfrm>
            <a:off x="8404908" y="2822067"/>
            <a:ext cx="137260"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45</a:t>
            </a:r>
            <a:endParaRPr lang="en-US" sz="710" dirty="0"/>
          </a:p>
        </p:txBody>
      </p:sp>
      <p:sp>
        <p:nvSpPr>
          <p:cNvPr id="80" name="Text 77"/>
          <p:cNvSpPr txBox="1"/>
          <p:nvPr/>
        </p:nvSpPr>
        <p:spPr>
          <a:xfrm>
            <a:off x="6903720" y="3036522"/>
            <a:ext cx="721119"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Hours / mission</a:t>
            </a:r>
            <a:endParaRPr lang="en-US" sz="710" dirty="0"/>
          </a:p>
        </p:txBody>
      </p:sp>
      <p:sp>
        <p:nvSpPr>
          <p:cNvPr id="81" name="Text 78"/>
          <p:cNvSpPr txBox="1"/>
          <p:nvPr/>
        </p:nvSpPr>
        <p:spPr>
          <a:xfrm>
            <a:off x="8354044" y="3036522"/>
            <a:ext cx="193210"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637</a:t>
            </a:r>
            <a:endParaRPr lang="en-US" sz="710" dirty="0"/>
          </a:p>
        </p:txBody>
      </p:sp>
      <p:sp>
        <p:nvSpPr>
          <p:cNvPr id="82" name="Text 79"/>
          <p:cNvSpPr txBox="1"/>
          <p:nvPr/>
        </p:nvSpPr>
        <p:spPr>
          <a:xfrm>
            <a:off x="6903720" y="3250978"/>
            <a:ext cx="684500"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Mgmt fee days</a:t>
            </a:r>
            <a:endParaRPr lang="en-US" sz="710" dirty="0"/>
          </a:p>
        </p:txBody>
      </p:sp>
      <p:sp>
        <p:nvSpPr>
          <p:cNvPr id="83" name="Text 80"/>
          <p:cNvSpPr txBox="1"/>
          <p:nvPr/>
        </p:nvSpPr>
        <p:spPr>
          <a:xfrm>
            <a:off x="8347901" y="3250978"/>
            <a:ext cx="199968"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663</a:t>
            </a:r>
            <a:endParaRPr lang="en-US" sz="710" dirty="0"/>
          </a:p>
        </p:txBody>
      </p:sp>
      <p:sp>
        <p:nvSpPr>
          <p:cNvPr id="84" name="Text 81"/>
          <p:cNvSpPr txBox="1"/>
          <p:nvPr/>
        </p:nvSpPr>
        <p:spPr>
          <a:xfrm>
            <a:off x="6903720" y="3465433"/>
            <a:ext cx="703674"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Per-piece units</a:t>
            </a:r>
            <a:endParaRPr lang="en-US" sz="710" dirty="0"/>
          </a:p>
        </p:txBody>
      </p:sp>
      <p:sp>
        <p:nvSpPr>
          <p:cNvPr id="85" name="Text 82"/>
          <p:cNvSpPr txBox="1"/>
          <p:nvPr/>
        </p:nvSpPr>
        <p:spPr>
          <a:xfrm>
            <a:off x="8292036" y="3465433"/>
            <a:ext cx="261418"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4,160</a:t>
            </a:r>
            <a:endParaRPr lang="en-US" sz="710" dirty="0"/>
          </a:p>
        </p:txBody>
      </p:sp>
      <p:sp>
        <p:nvSpPr>
          <p:cNvPr id="86" name="Text 83"/>
          <p:cNvSpPr txBox="1"/>
          <p:nvPr/>
        </p:nvSpPr>
        <p:spPr>
          <a:xfrm>
            <a:off x="6903720" y="3679889"/>
            <a:ext cx="761667" cy="180401"/>
          </a:xfrm>
          <a:prstGeom prst="rect">
            <a:avLst/>
          </a:prstGeom>
          <a:noFill/>
          <a:ln/>
        </p:spPr>
        <p:txBody>
          <a:bodyPr wrap="none" lIns="0" tIns="0" rIns="0" bIns="0" rtlCol="0" anchor="t"/>
          <a:lstStyle/>
          <a:p>
            <a:pPr algn="l" indent="0" marL="0">
              <a:lnSpc>
                <a:spcPts val="1090"/>
              </a:lnSpc>
              <a:buNone/>
            </a:pPr>
            <a:r>
              <a:rPr lang="en-US" sz="710" dirty="0">
                <a:solidFill>
                  <a:srgbClr val="4D6585"/>
                </a:solidFill>
                <a:latin typeface="Arial" pitchFamily="34" charset="0"/>
                <a:ea typeface="Arial" pitchFamily="34" charset="-122"/>
                <a:cs typeface="Arial" pitchFamily="34" charset="-120"/>
              </a:rPr>
              <a:t>Sep vs Jan hours</a:t>
            </a:r>
            <a:endParaRPr lang="en-US" sz="710" dirty="0"/>
          </a:p>
        </p:txBody>
      </p:sp>
      <p:sp>
        <p:nvSpPr>
          <p:cNvPr id="87" name="Text 84"/>
          <p:cNvSpPr txBox="1"/>
          <p:nvPr/>
        </p:nvSpPr>
        <p:spPr>
          <a:xfrm>
            <a:off x="8298752" y="3679889"/>
            <a:ext cx="254032" cy="180401"/>
          </a:xfrm>
          <a:prstGeom prst="rect">
            <a:avLst/>
          </a:prstGeom>
          <a:noFill/>
          <a:ln/>
        </p:spPr>
        <p:txBody>
          <a:bodyPr wrap="none" lIns="0" tIns="0" rIns="0" bIns="0" rtlCol="0" anchor="t"/>
          <a:lstStyle/>
          <a:p>
            <a:pPr algn="l" indent="0" marL="0">
              <a:lnSpc>
                <a:spcPts val="1090"/>
              </a:lnSpc>
              <a:buNone/>
            </a:pPr>
            <a:r>
              <a:rPr lang="en-US" sz="710" b="1" dirty="0">
                <a:solidFill>
                  <a:srgbClr val="071A33"/>
                </a:solidFill>
                <a:latin typeface="Arial" pitchFamily="34" charset="0"/>
                <a:ea typeface="Arial" pitchFamily="34" charset="-122"/>
                <a:cs typeface="Arial" pitchFamily="34" charset="-120"/>
              </a:rPr>
              <a:t>+35%</a:t>
            </a:r>
            <a:endParaRPr lang="en-US" sz="710" dirty="0"/>
          </a:p>
        </p:txBody>
      </p:sp>
      <p:sp>
        <p:nvSpPr>
          <p:cNvPr id="88" name="Shape 85"/>
          <p:cNvSpPr/>
          <p:nvPr/>
        </p:nvSpPr>
        <p:spPr>
          <a:xfrm>
            <a:off x="6858000" y="3941064"/>
            <a:ext cx="1700784" cy="0"/>
          </a:xfrm>
          <a:prstGeom prst="line">
            <a:avLst/>
          </a:prstGeom>
          <a:noFill/>
          <a:ln w="9144">
            <a:solidFill>
              <a:srgbClr val="C9DCF5"/>
            </a:solidFill>
            <a:prstDash val="solid"/>
          </a:ln>
        </p:spPr>
      </p:sp>
      <p:sp>
        <p:nvSpPr>
          <p:cNvPr id="89" name="Text 86"/>
          <p:cNvSpPr txBox="1"/>
          <p:nvPr/>
        </p:nvSpPr>
        <p:spPr>
          <a:xfrm>
            <a:off x="6858000" y="4018788"/>
            <a:ext cx="833804" cy="187959"/>
          </a:xfrm>
          <a:prstGeom prst="rect">
            <a:avLst/>
          </a:prstGeom>
          <a:noFill/>
          <a:ln/>
        </p:spPr>
        <p:txBody>
          <a:bodyPr wrap="none" lIns="0" tIns="0" rIns="0" bIns="0" rtlCol="0" anchor="t"/>
          <a:lstStyle/>
          <a:p>
            <a:pPr algn="l" indent="0" marL="0">
              <a:lnSpc>
                <a:spcPts val="1140"/>
              </a:lnSpc>
              <a:buNone/>
            </a:pPr>
            <a:r>
              <a:rPr lang="en-US" sz="730" b="1" dirty="0">
                <a:solidFill>
                  <a:srgbClr val="071A33"/>
                </a:solidFill>
                <a:latin typeface="Arial" pitchFamily="34" charset="0"/>
                <a:ea typeface="Arial" pitchFamily="34" charset="-122"/>
                <a:cs typeface="Arial" pitchFamily="34" charset="-120"/>
              </a:rPr>
              <a:t>BANGN = growth</a:t>
            </a:r>
            <a:endParaRPr lang="en-US" sz="730" dirty="0"/>
          </a:p>
        </p:txBody>
      </p:sp>
      <p:sp>
        <p:nvSpPr>
          <p:cNvPr id="90" name="Text 87"/>
          <p:cNvSpPr txBox="1"/>
          <p:nvPr/>
        </p:nvSpPr>
        <p:spPr>
          <a:xfrm>
            <a:off x="6858000" y="4190810"/>
            <a:ext cx="1833069" cy="270790"/>
          </a:xfrm>
          <a:prstGeom prst="rect">
            <a:avLst/>
          </a:prstGeom>
          <a:noFill/>
          <a:ln/>
        </p:spPr>
        <p:txBody>
          <a:bodyPr wrap="square" lIns="0" tIns="0" rIns="0" bIns="0" rtlCol="0" anchor="t"/>
          <a:lstStyle/>
          <a:p>
            <a:pPr algn="l" indent="0" marL="0">
              <a:lnSpc>
                <a:spcPts val="930"/>
              </a:lnSpc>
              <a:buNone/>
            </a:pPr>
            <a:r>
              <a:rPr lang="en-US" sz="660" dirty="0">
                <a:solidFill>
                  <a:srgbClr val="4D6585"/>
                </a:solidFill>
                <a:latin typeface="Arial" pitchFamily="34" charset="0"/>
                <a:ea typeface="Arial" pitchFamily="34" charset="-122"/>
                <a:cs typeface="Arial" pitchFamily="34" charset="-120"/>
              </a:rPr>
              <a:t>Hours up 96% from Jan to Sep, the fastest</a:t>
            </a:r>
            <a:endParaRPr lang="en-US" sz="660" dirty="0"/>
          </a:p>
          <a:p>
            <a:pPr algn="l" indent="0" marL="0">
              <a:lnSpc>
                <a:spcPts val="930"/>
              </a:lnSpc>
              <a:buNone/>
            </a:pPr>
            <a:r>
              <a:rPr lang="en-US" sz="660" dirty="0">
                <a:solidFill>
                  <a:srgbClr val="4D6585"/>
                </a:solidFill>
                <a:latin typeface="Arial" pitchFamily="34" charset="0"/>
                <a:ea typeface="Arial" pitchFamily="34" charset="-122"/>
                <a:cs typeface="Arial" pitchFamily="34" charset="-120"/>
              </a:rPr>
              <a:t>growth of the three sites.</a:t>
            </a:r>
            <a:endParaRPr lang="en-US" sz="660" dirty="0"/>
          </a:p>
        </p:txBody>
      </p:sp>
    </p:spTree>
  </p:cSld>
  <p:clrMapOvr>
    <a:masterClrMapping/>
  </p:clrMapOvr>
  <p:transition spd="med">
    <p:push dir="r"/>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1165289" cy="201168"/>
          </a:xfrm>
          <a:prstGeom prst="roundRect">
            <a:avLst>
              <a:gd name="adj" fmla="val 50000"/>
            </a:avLst>
          </a:prstGeom>
          <a:solidFill>
            <a:srgbClr val="E1EEFF"/>
          </a:solidFill>
          <a:ln/>
        </p:spPr>
      </p:sp>
      <p:sp>
        <p:nvSpPr>
          <p:cNvPr id="4" name="Text 1"/>
          <p:cNvSpPr txBox="1"/>
          <p:nvPr/>
        </p:nvSpPr>
        <p:spPr>
          <a:xfrm>
            <a:off x="557784" y="1005840"/>
            <a:ext cx="1078821"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01 · Customers &amp; hosts</a:t>
            </a:r>
            <a:endParaRPr lang="en-US" sz="720" dirty="0"/>
          </a:p>
        </p:txBody>
      </p:sp>
      <p:sp>
        <p:nvSpPr>
          <p:cNvPr id="5" name="Text 2"/>
          <p:cNvSpPr txBox="1"/>
          <p:nvPr/>
        </p:nvSpPr>
        <p:spPr>
          <a:xfrm>
            <a:off x="457200" y="1252728"/>
            <a:ext cx="7095315"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Three major hosts account for 71% of service hours.</a:t>
            </a:r>
            <a:endParaRPr lang="en-US" sz="2380" dirty="0"/>
          </a:p>
        </p:txBody>
      </p:sp>
      <p:sp>
        <p:nvSpPr>
          <p:cNvPr id="6" name="Shape 3"/>
          <p:cNvSpPr/>
          <p:nvPr/>
        </p:nvSpPr>
        <p:spPr>
          <a:xfrm>
            <a:off x="457200" y="1783080"/>
            <a:ext cx="5577840" cy="2829211"/>
          </a:xfrm>
          <a:prstGeom prst="roundRect">
            <a:avLst>
              <a:gd name="adj" fmla="val 5818"/>
            </a:avLst>
          </a:prstGeom>
          <a:solidFill>
            <a:srgbClr val="F0F6FF"/>
          </a:solidFill>
          <a:ln w="9144">
            <a:solidFill>
              <a:srgbClr val="D6E6FA"/>
            </a:solidFill>
            <a:prstDash val="solid"/>
          </a:ln>
        </p:spPr>
      </p:sp>
      <p:sp>
        <p:nvSpPr>
          <p:cNvPr id="7" name="Text 4"/>
          <p:cNvSpPr txBox="1"/>
          <p:nvPr/>
        </p:nvSpPr>
        <p:spPr>
          <a:xfrm>
            <a:off x="621792" y="1929384"/>
            <a:ext cx="2133224" cy="211775"/>
          </a:xfrm>
          <a:prstGeom prst="rect">
            <a:avLst/>
          </a:prstGeom>
          <a:noFill/>
          <a:ln/>
        </p:spPr>
        <p:txBody>
          <a:bodyPr wrap="none" lIns="0" tIns="0" rIns="0" bIns="0" rtlCol="0" anchor="t"/>
          <a:lstStyle/>
          <a:p>
            <a:pPr algn="l" indent="0" marL="0">
              <a:lnSpc>
                <a:spcPts val="1280"/>
              </a:lnSpc>
              <a:buNone/>
            </a:pPr>
            <a:r>
              <a:rPr lang="en-US" sz="830" b="1" dirty="0">
                <a:solidFill>
                  <a:srgbClr val="071A33"/>
                </a:solidFill>
                <a:latin typeface="Arial" pitchFamily="34" charset="0"/>
                <a:ea typeface="Arial" pitchFamily="34" charset="-122"/>
                <a:cs typeface="Arial" pitchFamily="34" charset="-120"/>
              </a:rPr>
              <a:t>Service hours by host and site, Jan–Sep</a:t>
            </a:r>
            <a:endParaRPr lang="en-US" sz="830" dirty="0"/>
          </a:p>
        </p:txBody>
      </p:sp>
      <p:sp>
        <p:nvSpPr>
          <p:cNvPr id="8" name="Text 5"/>
          <p:cNvSpPr txBox="1"/>
          <p:nvPr/>
        </p:nvSpPr>
        <p:spPr>
          <a:xfrm>
            <a:off x="4413266" y="1939957"/>
            <a:ext cx="346129"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LCBTH</a:t>
            </a:r>
            <a:endParaRPr lang="en-US" sz="720" dirty="0"/>
          </a:p>
        </p:txBody>
      </p:sp>
      <p:sp>
        <p:nvSpPr>
          <p:cNvPr id="9" name="Shape 6"/>
          <p:cNvSpPr/>
          <p:nvPr/>
        </p:nvSpPr>
        <p:spPr>
          <a:xfrm>
            <a:off x="4276106" y="1965103"/>
            <a:ext cx="91440" cy="91440"/>
          </a:xfrm>
          <a:prstGeom prst="roundRect">
            <a:avLst>
              <a:gd name="adj" fmla="val 30000"/>
            </a:avLst>
          </a:prstGeom>
          <a:solidFill>
            <a:srgbClr val="0B3A8F"/>
          </a:solidFill>
          <a:ln/>
        </p:spPr>
      </p:sp>
      <p:sp>
        <p:nvSpPr>
          <p:cNvPr id="10" name="Text 7"/>
          <p:cNvSpPr txBox="1"/>
          <p:nvPr/>
        </p:nvSpPr>
        <p:spPr>
          <a:xfrm>
            <a:off x="4967335" y="1939957"/>
            <a:ext cx="378976"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BANGN</a:t>
            </a:r>
            <a:endParaRPr lang="en-US" sz="720" dirty="0"/>
          </a:p>
        </p:txBody>
      </p:sp>
      <p:sp>
        <p:nvSpPr>
          <p:cNvPr id="11" name="Shape 8"/>
          <p:cNvSpPr/>
          <p:nvPr/>
        </p:nvSpPr>
        <p:spPr>
          <a:xfrm>
            <a:off x="4830175" y="1965103"/>
            <a:ext cx="91440" cy="91440"/>
          </a:xfrm>
          <a:prstGeom prst="roundRect">
            <a:avLst>
              <a:gd name="adj" fmla="val 30000"/>
            </a:avLst>
          </a:prstGeom>
          <a:solidFill>
            <a:srgbClr val="2F86F5"/>
          </a:solidFill>
          <a:ln/>
        </p:spPr>
      </p:sp>
      <p:sp>
        <p:nvSpPr>
          <p:cNvPr id="12" name="Text 9"/>
          <p:cNvSpPr txBox="1"/>
          <p:nvPr/>
        </p:nvSpPr>
        <p:spPr>
          <a:xfrm>
            <a:off x="5551265" y="1939957"/>
            <a:ext cx="369389"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AMATA</a:t>
            </a:r>
            <a:endParaRPr lang="en-US" sz="720" dirty="0"/>
          </a:p>
        </p:txBody>
      </p:sp>
      <p:sp>
        <p:nvSpPr>
          <p:cNvPr id="13" name="Shape 10"/>
          <p:cNvSpPr/>
          <p:nvPr/>
        </p:nvSpPr>
        <p:spPr>
          <a:xfrm>
            <a:off x="5414105" y="1965103"/>
            <a:ext cx="91440" cy="91440"/>
          </a:xfrm>
          <a:prstGeom prst="roundRect">
            <a:avLst>
              <a:gd name="adj" fmla="val 30000"/>
            </a:avLst>
          </a:prstGeom>
          <a:solidFill>
            <a:srgbClr val="8CC4FF"/>
          </a:solidFill>
          <a:ln/>
        </p:spPr>
      </p:sp>
      <p:sp>
        <p:nvSpPr>
          <p:cNvPr id="14" name="Text 11"/>
          <p:cNvSpPr txBox="1"/>
          <p:nvPr/>
        </p:nvSpPr>
        <p:spPr>
          <a:xfrm>
            <a:off x="1698123" y="2240175"/>
            <a:ext cx="906297" cy="118872"/>
          </a:xfrm>
          <a:prstGeom prst="rect">
            <a:avLst/>
          </a:prstGeom>
          <a:noFill/>
          <a:ln/>
        </p:spPr>
        <p:txBody>
          <a:bodyPr wrap="none" lIns="0" tIns="0" rIns="0" bIns="0" rtlCol="0" anchor="ctr"/>
          <a:lstStyle/>
          <a:p>
            <a:pPr algn="r" indent="0" marL="0">
              <a:lnSpc>
                <a:spcPts val="940"/>
              </a:lnSpc>
              <a:buNone/>
            </a:pPr>
            <a:r>
              <a:rPr lang="en-US" sz="720" b="1" dirty="0">
                <a:solidFill>
                  <a:srgbClr val="071A33"/>
                </a:solidFill>
                <a:latin typeface="Arial" pitchFamily="34" charset="0"/>
                <a:ea typeface="Arial" pitchFamily="34" charset="-122"/>
                <a:cs typeface="Arial" pitchFamily="34" charset="-120"/>
              </a:rPr>
              <a:t>Ford MVIP Activity</a:t>
            </a:r>
            <a:endParaRPr lang="en-US" sz="720" dirty="0"/>
          </a:p>
        </p:txBody>
      </p:sp>
      <p:sp>
        <p:nvSpPr>
          <p:cNvPr id="15" name="Shape 12"/>
          <p:cNvSpPr/>
          <p:nvPr/>
        </p:nvSpPr>
        <p:spPr>
          <a:xfrm>
            <a:off x="2686285" y="2239767"/>
            <a:ext cx="2448405" cy="122464"/>
          </a:xfrm>
          <a:prstGeom prst="roundRect">
            <a:avLst>
              <a:gd name="adj" fmla="val 10714"/>
            </a:avLst>
          </a:prstGeom>
          <a:solidFill>
            <a:srgbClr val="0B3A8F"/>
          </a:solidFill>
          <a:ln/>
        </p:spPr>
      </p:sp>
      <p:sp>
        <p:nvSpPr>
          <p:cNvPr id="16" name="Text 13"/>
          <p:cNvSpPr txBox="1"/>
          <p:nvPr/>
        </p:nvSpPr>
        <p:spPr>
          <a:xfrm>
            <a:off x="5194172" y="2240175"/>
            <a:ext cx="670596" cy="118872"/>
          </a:xfrm>
          <a:prstGeom prst="rect">
            <a:avLst/>
          </a:prstGeom>
          <a:noFill/>
          <a:ln/>
        </p:spPr>
        <p:txBody>
          <a:bodyPr wrap="none" lIns="0" tIns="0" rIns="0" bIns="0" rtlCol="0" anchor="ctr"/>
          <a:lstStyle/>
          <a:p>
            <a:pPr algn="l" indent="0" marL="0">
              <a:lnSpc>
                <a:spcPts val="940"/>
              </a:lnSpc>
              <a:buNone/>
            </a:pPr>
            <a:r>
              <a:rPr lang="en-US" sz="720" b="1" dirty="0">
                <a:solidFill>
                  <a:srgbClr val="071A33"/>
                </a:solidFill>
                <a:latin typeface="Arial" pitchFamily="34" charset="0"/>
                <a:ea typeface="Arial" pitchFamily="34" charset="-122"/>
                <a:cs typeface="Arial" pitchFamily="34" charset="-120"/>
              </a:rPr>
              <a:t>138.4K · 50.9%</a:t>
            </a:r>
            <a:endParaRPr lang="en-US" sz="720" dirty="0"/>
          </a:p>
        </p:txBody>
      </p:sp>
      <p:sp>
        <p:nvSpPr>
          <p:cNvPr id="17" name="Text 14"/>
          <p:cNvSpPr txBox="1"/>
          <p:nvPr/>
        </p:nvSpPr>
        <p:spPr>
          <a:xfrm>
            <a:off x="1227481" y="2441365"/>
            <a:ext cx="1371622" cy="118872"/>
          </a:xfrm>
          <a:prstGeom prst="rect">
            <a:avLst/>
          </a:prstGeom>
          <a:noFill/>
          <a:ln/>
        </p:spPr>
        <p:txBody>
          <a:bodyPr wrap="none" lIns="0" tIns="0" rIns="0" bIns="0" rtlCol="0" anchor="ctr"/>
          <a:lstStyle/>
          <a:p>
            <a:pPr algn="r" indent="0" marL="0">
              <a:lnSpc>
                <a:spcPts val="940"/>
              </a:lnSpc>
              <a:buNone/>
            </a:pPr>
            <a:r>
              <a:rPr lang="en-US" sz="720" b="1" dirty="0">
                <a:solidFill>
                  <a:srgbClr val="071A33"/>
                </a:solidFill>
                <a:latin typeface="Arial" pitchFamily="34" charset="0"/>
                <a:ea typeface="Arial" pitchFamily="34" charset="-122"/>
                <a:cs typeface="Arial" pitchFamily="34" charset="-120"/>
              </a:rPr>
              <a:t>MMTH Engine · 14 customers</a:t>
            </a:r>
            <a:endParaRPr lang="en-US" sz="720" dirty="0"/>
          </a:p>
        </p:txBody>
      </p:sp>
      <p:sp>
        <p:nvSpPr>
          <p:cNvPr id="18" name="Shape 15"/>
          <p:cNvSpPr/>
          <p:nvPr/>
        </p:nvSpPr>
        <p:spPr>
          <a:xfrm>
            <a:off x="2686285" y="2440957"/>
            <a:ext cx="669178" cy="122464"/>
          </a:xfrm>
          <a:prstGeom prst="roundRect">
            <a:avLst>
              <a:gd name="adj" fmla="val 10714"/>
            </a:avLst>
          </a:prstGeom>
          <a:solidFill>
            <a:srgbClr val="0B3A8F"/>
          </a:solidFill>
          <a:ln/>
        </p:spPr>
      </p:sp>
      <p:sp>
        <p:nvSpPr>
          <p:cNvPr id="19" name="Text 16"/>
          <p:cNvSpPr txBox="1"/>
          <p:nvPr/>
        </p:nvSpPr>
        <p:spPr>
          <a:xfrm>
            <a:off x="3414945" y="2441365"/>
            <a:ext cx="583382" cy="118872"/>
          </a:xfrm>
          <a:prstGeom prst="rect">
            <a:avLst/>
          </a:prstGeom>
          <a:noFill/>
          <a:ln/>
        </p:spPr>
        <p:txBody>
          <a:bodyPr wrap="none" lIns="0" tIns="0" rIns="0" bIns="0" rtlCol="0" anchor="ctr"/>
          <a:lstStyle/>
          <a:p>
            <a:pPr algn="l" indent="0" marL="0">
              <a:lnSpc>
                <a:spcPts val="940"/>
              </a:lnSpc>
              <a:buNone/>
            </a:pPr>
            <a:r>
              <a:rPr lang="en-US" sz="720" b="1" dirty="0">
                <a:solidFill>
                  <a:srgbClr val="071A33"/>
                </a:solidFill>
                <a:latin typeface="Arial" pitchFamily="34" charset="0"/>
                <a:ea typeface="Arial" pitchFamily="34" charset="-122"/>
                <a:cs typeface="Arial" pitchFamily="34" charset="-120"/>
              </a:rPr>
              <a:t>38.1K · 14.0%</a:t>
            </a:r>
            <a:endParaRPr lang="en-US" sz="720" dirty="0"/>
          </a:p>
        </p:txBody>
      </p:sp>
      <p:sp>
        <p:nvSpPr>
          <p:cNvPr id="20" name="Text 17"/>
          <p:cNvSpPr txBox="1"/>
          <p:nvPr/>
        </p:nvSpPr>
        <p:spPr>
          <a:xfrm>
            <a:off x="1945071" y="2642556"/>
            <a:ext cx="657316" cy="118872"/>
          </a:xfrm>
          <a:prstGeom prst="rect">
            <a:avLst/>
          </a:prstGeom>
          <a:noFill/>
          <a:ln/>
        </p:spPr>
        <p:txBody>
          <a:bodyPr wrap="none" lIns="0" tIns="0" rIns="0" bIns="0" rtlCol="0" anchor="ctr"/>
          <a:lstStyle/>
          <a:p>
            <a:pPr algn="r" indent="0" marL="0">
              <a:lnSpc>
                <a:spcPts val="940"/>
              </a:lnSpc>
              <a:buNone/>
            </a:pPr>
            <a:r>
              <a:rPr lang="en-US" sz="720" b="1" dirty="0">
                <a:solidFill>
                  <a:srgbClr val="071A33"/>
                </a:solidFill>
                <a:latin typeface="Arial" pitchFamily="34" charset="0"/>
                <a:ea typeface="Arial" pitchFamily="34" charset="-122"/>
                <a:cs typeface="Arial" pitchFamily="34" charset="-120"/>
              </a:rPr>
              <a:t>Surtec Kariya</a:t>
            </a:r>
            <a:endParaRPr lang="en-US" sz="720" dirty="0"/>
          </a:p>
        </p:txBody>
      </p:sp>
      <p:sp>
        <p:nvSpPr>
          <p:cNvPr id="21" name="Shape 18"/>
          <p:cNvSpPr/>
          <p:nvPr/>
        </p:nvSpPr>
        <p:spPr>
          <a:xfrm>
            <a:off x="2686285" y="2642148"/>
            <a:ext cx="299162" cy="122464"/>
          </a:xfrm>
          <a:prstGeom prst="roundRect">
            <a:avLst>
              <a:gd name="adj" fmla="val 10714"/>
            </a:avLst>
          </a:prstGeom>
          <a:solidFill>
            <a:srgbClr val="2F86F5"/>
          </a:solidFill>
          <a:ln/>
        </p:spPr>
      </p:sp>
      <p:sp>
        <p:nvSpPr>
          <p:cNvPr id="22" name="Text 19"/>
          <p:cNvSpPr txBox="1"/>
          <p:nvPr/>
        </p:nvSpPr>
        <p:spPr>
          <a:xfrm>
            <a:off x="3044929" y="2642556"/>
            <a:ext cx="527550" cy="118872"/>
          </a:xfrm>
          <a:prstGeom prst="rect">
            <a:avLst/>
          </a:prstGeom>
          <a:noFill/>
          <a:ln/>
        </p:spPr>
        <p:txBody>
          <a:bodyPr wrap="none" lIns="0" tIns="0" rIns="0" bIns="0" rtlCol="0" anchor="ctr"/>
          <a:lstStyle/>
          <a:p>
            <a:pPr algn="l" indent="0" marL="0">
              <a:lnSpc>
                <a:spcPts val="940"/>
              </a:lnSpc>
              <a:buNone/>
            </a:pPr>
            <a:r>
              <a:rPr lang="en-US" sz="720" b="1" dirty="0">
                <a:solidFill>
                  <a:srgbClr val="071A33"/>
                </a:solidFill>
                <a:latin typeface="Arial" pitchFamily="34" charset="0"/>
                <a:ea typeface="Arial" pitchFamily="34" charset="-122"/>
                <a:cs typeface="Arial" pitchFamily="34" charset="-120"/>
              </a:rPr>
              <a:t>17.2K · 6.3%</a:t>
            </a:r>
            <a:endParaRPr lang="en-US" sz="720" dirty="0"/>
          </a:p>
        </p:txBody>
      </p:sp>
      <p:sp>
        <p:nvSpPr>
          <p:cNvPr id="23" name="Shape 20"/>
          <p:cNvSpPr/>
          <p:nvPr/>
        </p:nvSpPr>
        <p:spPr>
          <a:xfrm>
            <a:off x="621892" y="2808349"/>
            <a:ext cx="5248456" cy="0"/>
          </a:xfrm>
          <a:prstGeom prst="line">
            <a:avLst/>
          </a:prstGeom>
          <a:noFill/>
          <a:ln w="8747">
            <a:solidFill>
              <a:srgbClr val="071A33">
                <a:alpha val="14000"/>
              </a:srgbClr>
            </a:solidFill>
            <a:prstDash val="sysDash"/>
          </a:ln>
        </p:spPr>
      </p:sp>
      <p:sp>
        <p:nvSpPr>
          <p:cNvPr id="24" name="Text 21"/>
          <p:cNvSpPr txBox="1"/>
          <p:nvPr/>
        </p:nvSpPr>
        <p:spPr>
          <a:xfrm>
            <a:off x="1949442" y="2843746"/>
            <a:ext cx="651665"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TTK Logistics</a:t>
            </a:r>
            <a:endParaRPr lang="en-US" sz="720" dirty="0"/>
          </a:p>
        </p:txBody>
      </p:sp>
      <p:sp>
        <p:nvSpPr>
          <p:cNvPr id="25" name="Shape 22"/>
          <p:cNvSpPr/>
          <p:nvPr/>
        </p:nvSpPr>
        <p:spPr>
          <a:xfrm>
            <a:off x="2686285" y="2843339"/>
            <a:ext cx="143458" cy="122464"/>
          </a:xfrm>
          <a:prstGeom prst="roundRect">
            <a:avLst>
              <a:gd name="adj" fmla="val 10714"/>
            </a:avLst>
          </a:prstGeom>
          <a:solidFill>
            <a:srgbClr val="8CC4FF"/>
          </a:solidFill>
          <a:ln/>
        </p:spPr>
      </p:sp>
      <p:sp>
        <p:nvSpPr>
          <p:cNvPr id="26" name="Text 23"/>
          <p:cNvSpPr txBox="1"/>
          <p:nvPr/>
        </p:nvSpPr>
        <p:spPr>
          <a:xfrm>
            <a:off x="2889225" y="2843746"/>
            <a:ext cx="460757"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8.5K · 3.1%</a:t>
            </a:r>
            <a:endParaRPr lang="en-US" sz="720" dirty="0"/>
          </a:p>
        </p:txBody>
      </p:sp>
      <p:sp>
        <p:nvSpPr>
          <p:cNvPr id="27" name="Text 24"/>
          <p:cNvSpPr txBox="1"/>
          <p:nvPr/>
        </p:nvSpPr>
        <p:spPr>
          <a:xfrm>
            <a:off x="1911324" y="3044939"/>
            <a:ext cx="687486"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Yusen Logistic</a:t>
            </a:r>
            <a:endParaRPr lang="en-US" sz="720" dirty="0"/>
          </a:p>
        </p:txBody>
      </p:sp>
      <p:sp>
        <p:nvSpPr>
          <p:cNvPr id="28" name="Shape 25"/>
          <p:cNvSpPr/>
          <p:nvPr/>
        </p:nvSpPr>
        <p:spPr>
          <a:xfrm>
            <a:off x="2686285" y="3044530"/>
            <a:ext cx="132961" cy="122464"/>
          </a:xfrm>
          <a:prstGeom prst="roundRect">
            <a:avLst>
              <a:gd name="adj" fmla="val 10714"/>
            </a:avLst>
          </a:prstGeom>
          <a:solidFill>
            <a:srgbClr val="0B3A8F"/>
          </a:solidFill>
          <a:ln/>
        </p:spPr>
      </p:sp>
      <p:sp>
        <p:nvSpPr>
          <p:cNvPr id="29" name="Text 26"/>
          <p:cNvSpPr txBox="1"/>
          <p:nvPr/>
        </p:nvSpPr>
        <p:spPr>
          <a:xfrm>
            <a:off x="2878728" y="3044939"/>
            <a:ext cx="476798"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7.9K · 2.9%</a:t>
            </a:r>
            <a:endParaRPr lang="en-US" sz="720" dirty="0"/>
          </a:p>
        </p:txBody>
      </p:sp>
      <p:sp>
        <p:nvSpPr>
          <p:cNvPr id="30" name="Text 27"/>
          <p:cNvSpPr txBox="1"/>
          <p:nvPr/>
        </p:nvSpPr>
        <p:spPr>
          <a:xfrm>
            <a:off x="1654765" y="3246129"/>
            <a:ext cx="946324"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TMBP · 11 customers</a:t>
            </a:r>
            <a:endParaRPr lang="en-US" sz="720" dirty="0"/>
          </a:p>
        </p:txBody>
      </p:sp>
      <p:sp>
        <p:nvSpPr>
          <p:cNvPr id="31" name="Shape 28"/>
          <p:cNvSpPr/>
          <p:nvPr/>
        </p:nvSpPr>
        <p:spPr>
          <a:xfrm>
            <a:off x="2686285" y="3245721"/>
            <a:ext cx="111092" cy="122464"/>
          </a:xfrm>
          <a:prstGeom prst="roundRect">
            <a:avLst>
              <a:gd name="adj" fmla="val 11811"/>
            </a:avLst>
          </a:prstGeom>
          <a:solidFill>
            <a:srgbClr val="2F86F5"/>
          </a:solidFill>
          <a:ln/>
        </p:spPr>
      </p:sp>
      <p:sp>
        <p:nvSpPr>
          <p:cNvPr id="32" name="Text 29"/>
          <p:cNvSpPr txBox="1"/>
          <p:nvPr/>
        </p:nvSpPr>
        <p:spPr>
          <a:xfrm>
            <a:off x="2856860" y="3246129"/>
            <a:ext cx="485680"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6.6K · 2.4%</a:t>
            </a:r>
            <a:endParaRPr lang="en-US" sz="720" dirty="0"/>
          </a:p>
        </p:txBody>
      </p:sp>
      <p:sp>
        <p:nvSpPr>
          <p:cNvPr id="33" name="Text 30"/>
          <p:cNvSpPr txBox="1"/>
          <p:nvPr/>
        </p:nvSpPr>
        <p:spPr>
          <a:xfrm>
            <a:off x="856228" y="3447319"/>
            <a:ext cx="1744797"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DM Casting Technology · 2 customers</a:t>
            </a:r>
            <a:endParaRPr lang="en-US" sz="720" dirty="0"/>
          </a:p>
        </p:txBody>
      </p:sp>
      <p:sp>
        <p:nvSpPr>
          <p:cNvPr id="34" name="Shape 31"/>
          <p:cNvSpPr/>
          <p:nvPr/>
        </p:nvSpPr>
        <p:spPr>
          <a:xfrm>
            <a:off x="2686285" y="3446912"/>
            <a:ext cx="96222" cy="122464"/>
          </a:xfrm>
          <a:prstGeom prst="roundRect">
            <a:avLst>
              <a:gd name="adj" fmla="val 13636"/>
            </a:avLst>
          </a:prstGeom>
          <a:solidFill>
            <a:srgbClr val="2F86F5"/>
          </a:solidFill>
          <a:ln/>
        </p:spPr>
      </p:sp>
      <p:sp>
        <p:nvSpPr>
          <p:cNvPr id="35" name="Shape 32"/>
          <p:cNvSpPr/>
          <p:nvPr/>
        </p:nvSpPr>
        <p:spPr>
          <a:xfrm>
            <a:off x="2789504" y="3446912"/>
            <a:ext cx="8747" cy="122464"/>
          </a:xfrm>
          <a:prstGeom prst="roundRect">
            <a:avLst>
              <a:gd name="adj" fmla="val 50002"/>
            </a:avLst>
          </a:prstGeom>
          <a:solidFill>
            <a:srgbClr val="8CC4FF"/>
          </a:solidFill>
          <a:ln/>
        </p:spPr>
      </p:sp>
      <p:sp>
        <p:nvSpPr>
          <p:cNvPr id="36" name="Text 33"/>
          <p:cNvSpPr txBox="1"/>
          <p:nvPr/>
        </p:nvSpPr>
        <p:spPr>
          <a:xfrm>
            <a:off x="2843739" y="3447319"/>
            <a:ext cx="489625"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5.9K · 2.2%</a:t>
            </a:r>
            <a:endParaRPr lang="en-US" sz="720" dirty="0"/>
          </a:p>
        </p:txBody>
      </p:sp>
      <p:sp>
        <p:nvSpPr>
          <p:cNvPr id="37" name="Text 34"/>
          <p:cNvSpPr txBox="1"/>
          <p:nvPr/>
        </p:nvSpPr>
        <p:spPr>
          <a:xfrm>
            <a:off x="725460" y="3648510"/>
            <a:ext cx="1875653"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Trigo Amatanakorn Branch · 3 customers</a:t>
            </a:r>
            <a:endParaRPr lang="en-US" sz="720" dirty="0"/>
          </a:p>
        </p:txBody>
      </p:sp>
      <p:sp>
        <p:nvSpPr>
          <p:cNvPr id="38" name="Shape 35"/>
          <p:cNvSpPr/>
          <p:nvPr/>
        </p:nvSpPr>
        <p:spPr>
          <a:xfrm>
            <a:off x="2686285" y="3648102"/>
            <a:ext cx="62107" cy="122464"/>
          </a:xfrm>
          <a:prstGeom prst="roundRect">
            <a:avLst>
              <a:gd name="adj" fmla="val 21127"/>
            </a:avLst>
          </a:prstGeom>
          <a:solidFill>
            <a:srgbClr val="8CC4FF"/>
          </a:solidFill>
          <a:ln/>
        </p:spPr>
      </p:sp>
      <p:sp>
        <p:nvSpPr>
          <p:cNvPr id="39" name="Text 36"/>
          <p:cNvSpPr txBox="1"/>
          <p:nvPr/>
        </p:nvSpPr>
        <p:spPr>
          <a:xfrm>
            <a:off x="2807874" y="3648510"/>
            <a:ext cx="466710"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3.9K · 1.4%</a:t>
            </a:r>
            <a:endParaRPr lang="en-US" sz="720" dirty="0"/>
          </a:p>
        </p:txBody>
      </p:sp>
      <p:sp>
        <p:nvSpPr>
          <p:cNvPr id="40" name="Text 37"/>
          <p:cNvSpPr txBox="1"/>
          <p:nvPr/>
        </p:nvSpPr>
        <p:spPr>
          <a:xfrm>
            <a:off x="1212338" y="3849702"/>
            <a:ext cx="1387315"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New Somthai Motor Work HQ</a:t>
            </a:r>
            <a:endParaRPr lang="en-US" sz="720" dirty="0"/>
          </a:p>
        </p:txBody>
      </p:sp>
      <p:sp>
        <p:nvSpPr>
          <p:cNvPr id="41" name="Shape 38"/>
          <p:cNvSpPr/>
          <p:nvPr/>
        </p:nvSpPr>
        <p:spPr>
          <a:xfrm>
            <a:off x="2686285" y="3849293"/>
            <a:ext cx="55984" cy="122464"/>
          </a:xfrm>
          <a:prstGeom prst="roundRect">
            <a:avLst>
              <a:gd name="adj" fmla="val 23437"/>
            </a:avLst>
          </a:prstGeom>
          <a:solidFill>
            <a:srgbClr val="2F86F5"/>
          </a:solidFill>
          <a:ln/>
        </p:spPr>
      </p:sp>
      <p:sp>
        <p:nvSpPr>
          <p:cNvPr id="42" name="Text 39"/>
          <p:cNvSpPr txBox="1"/>
          <p:nvPr/>
        </p:nvSpPr>
        <p:spPr>
          <a:xfrm>
            <a:off x="2801751" y="3849702"/>
            <a:ext cx="466511"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3.6K · 1.3%</a:t>
            </a:r>
            <a:endParaRPr lang="en-US" sz="720" dirty="0"/>
          </a:p>
        </p:txBody>
      </p:sp>
      <p:sp>
        <p:nvSpPr>
          <p:cNvPr id="43" name="Text 40"/>
          <p:cNvSpPr txBox="1"/>
          <p:nvPr/>
        </p:nvSpPr>
        <p:spPr>
          <a:xfrm>
            <a:off x="777484" y="4050892"/>
            <a:ext cx="1823599"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Mitsubishi Electric Consumer Products</a:t>
            </a:r>
            <a:endParaRPr lang="en-US" sz="720" dirty="0"/>
          </a:p>
        </p:txBody>
      </p:sp>
      <p:sp>
        <p:nvSpPr>
          <p:cNvPr id="44" name="Shape 41"/>
          <p:cNvSpPr/>
          <p:nvPr/>
        </p:nvSpPr>
        <p:spPr>
          <a:xfrm>
            <a:off x="2686285" y="4050484"/>
            <a:ext cx="55984" cy="122464"/>
          </a:xfrm>
          <a:prstGeom prst="roundRect">
            <a:avLst>
              <a:gd name="adj" fmla="val 23437"/>
            </a:avLst>
          </a:prstGeom>
          <a:solidFill>
            <a:srgbClr val="8CC4FF"/>
          </a:solidFill>
          <a:ln/>
        </p:spPr>
      </p:sp>
      <p:sp>
        <p:nvSpPr>
          <p:cNvPr id="45" name="Text 42"/>
          <p:cNvSpPr txBox="1"/>
          <p:nvPr/>
        </p:nvSpPr>
        <p:spPr>
          <a:xfrm>
            <a:off x="2801751" y="4050892"/>
            <a:ext cx="465504"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3.5K · 1.3%</a:t>
            </a:r>
            <a:endParaRPr lang="en-US" sz="720" dirty="0"/>
          </a:p>
        </p:txBody>
      </p:sp>
      <p:sp>
        <p:nvSpPr>
          <p:cNvPr id="46" name="Text 43"/>
          <p:cNvSpPr txBox="1"/>
          <p:nvPr/>
        </p:nvSpPr>
        <p:spPr>
          <a:xfrm>
            <a:off x="1120263" y="4252083"/>
            <a:ext cx="1480743" cy="118872"/>
          </a:xfrm>
          <a:prstGeom prst="rect">
            <a:avLst/>
          </a:prstGeom>
          <a:noFill/>
          <a:ln/>
        </p:spPr>
        <p:txBody>
          <a:bodyPr wrap="none" lIns="0" tIns="0" rIns="0" bIns="0" rtlCol="0" anchor="ctr"/>
          <a:lstStyle/>
          <a:p>
            <a:pPr algn="r" indent="0" marL="0">
              <a:lnSpc>
                <a:spcPts val="940"/>
              </a:lnSpc>
              <a:buNone/>
            </a:pPr>
            <a:r>
              <a:rPr lang="en-US" sz="720" dirty="0">
                <a:solidFill>
                  <a:srgbClr val="26405F"/>
                </a:solidFill>
                <a:latin typeface="Arial" pitchFamily="34" charset="0"/>
                <a:ea typeface="Arial" pitchFamily="34" charset="-122"/>
                <a:cs typeface="Arial" pitchFamily="34" charset="-120"/>
              </a:rPr>
              <a:t>Others (71 hosts) · 64 customers</a:t>
            </a:r>
            <a:endParaRPr lang="en-US" sz="720" dirty="0"/>
          </a:p>
        </p:txBody>
      </p:sp>
      <p:sp>
        <p:nvSpPr>
          <p:cNvPr id="47" name="Shape 44"/>
          <p:cNvSpPr/>
          <p:nvPr/>
        </p:nvSpPr>
        <p:spPr>
          <a:xfrm>
            <a:off x="2686285" y="4251675"/>
            <a:ext cx="70854" cy="122464"/>
          </a:xfrm>
          <a:prstGeom prst="roundRect">
            <a:avLst>
              <a:gd name="adj" fmla="val 18519"/>
            </a:avLst>
          </a:prstGeom>
          <a:solidFill>
            <a:srgbClr val="0B3A8F"/>
          </a:solidFill>
          <a:ln/>
        </p:spPr>
      </p:sp>
      <p:sp>
        <p:nvSpPr>
          <p:cNvPr id="48" name="Shape 45"/>
          <p:cNvSpPr/>
          <p:nvPr/>
        </p:nvSpPr>
        <p:spPr>
          <a:xfrm>
            <a:off x="2764137" y="4251675"/>
            <a:ext cx="365642" cy="122464"/>
          </a:xfrm>
          <a:prstGeom prst="roundRect">
            <a:avLst>
              <a:gd name="adj" fmla="val 10714"/>
            </a:avLst>
          </a:prstGeom>
          <a:solidFill>
            <a:srgbClr val="2F86F5"/>
          </a:solidFill>
          <a:ln/>
        </p:spPr>
      </p:sp>
      <p:sp>
        <p:nvSpPr>
          <p:cNvPr id="49" name="Shape 46"/>
          <p:cNvSpPr/>
          <p:nvPr/>
        </p:nvSpPr>
        <p:spPr>
          <a:xfrm>
            <a:off x="3135902" y="4251675"/>
            <a:ext cx="217811" cy="122464"/>
          </a:xfrm>
          <a:prstGeom prst="roundRect">
            <a:avLst>
              <a:gd name="adj" fmla="val 10714"/>
            </a:avLst>
          </a:prstGeom>
          <a:solidFill>
            <a:srgbClr val="8CC4FF"/>
          </a:solidFill>
          <a:ln/>
        </p:spPr>
      </p:sp>
      <p:sp>
        <p:nvSpPr>
          <p:cNvPr id="50" name="Text 47"/>
          <p:cNvSpPr txBox="1"/>
          <p:nvPr/>
        </p:nvSpPr>
        <p:spPr>
          <a:xfrm>
            <a:off x="3414071" y="4252083"/>
            <a:ext cx="600604" cy="118872"/>
          </a:xfrm>
          <a:prstGeom prst="rect">
            <a:avLst/>
          </a:prstGeom>
          <a:noFill/>
          <a:ln/>
        </p:spPr>
        <p:txBody>
          <a:bodyPr wrap="none" lIns="0" tIns="0" rIns="0" bIns="0" rtlCol="0" anchor="ctr"/>
          <a:lstStyle/>
          <a:p>
            <a:pPr algn="l" indent="0" marL="0">
              <a:lnSpc>
                <a:spcPts val="940"/>
              </a:lnSpc>
              <a:buNone/>
            </a:pPr>
            <a:r>
              <a:rPr lang="en-US" sz="720" dirty="0">
                <a:solidFill>
                  <a:srgbClr val="26405F"/>
                </a:solidFill>
                <a:latin typeface="Arial" pitchFamily="34" charset="0"/>
                <a:ea typeface="Arial" pitchFamily="34" charset="-122"/>
                <a:cs typeface="Arial" pitchFamily="34" charset="-120"/>
              </a:rPr>
              <a:t>38.0K · 14.0%</a:t>
            </a:r>
            <a:endParaRPr lang="en-US" sz="720" dirty="0"/>
          </a:p>
        </p:txBody>
      </p:sp>
      <p:sp>
        <p:nvSpPr>
          <p:cNvPr id="51" name="Shape 48"/>
          <p:cNvSpPr/>
          <p:nvPr/>
        </p:nvSpPr>
        <p:spPr>
          <a:xfrm>
            <a:off x="6263640" y="1783080"/>
            <a:ext cx="2423160" cy="841248"/>
          </a:xfrm>
          <a:prstGeom prst="roundRect">
            <a:avLst>
              <a:gd name="adj" fmla="val 17391"/>
            </a:avLst>
          </a:prstGeom>
          <a:solidFill>
            <a:srgbClr val="E8F2FF"/>
          </a:solidFill>
          <a:ln w="9144">
            <a:solidFill>
              <a:srgbClr val="D6E6FA"/>
            </a:solidFill>
            <a:prstDash val="solid"/>
          </a:ln>
        </p:spPr>
      </p:sp>
      <p:sp>
        <p:nvSpPr>
          <p:cNvPr id="52" name="Text 49"/>
          <p:cNvSpPr txBox="1"/>
          <p:nvPr/>
        </p:nvSpPr>
        <p:spPr>
          <a:xfrm>
            <a:off x="6428232" y="1892808"/>
            <a:ext cx="588316" cy="427939"/>
          </a:xfrm>
          <a:prstGeom prst="rect">
            <a:avLst/>
          </a:prstGeom>
          <a:noFill/>
          <a:ln/>
        </p:spPr>
        <p:txBody>
          <a:bodyPr wrap="none" lIns="0" tIns="0" rIns="0" bIns="0" rtlCol="0" anchor="t"/>
          <a:lstStyle/>
          <a:p>
            <a:pPr algn="l" indent="0" marL="0">
              <a:lnSpc>
                <a:spcPts val="2590"/>
              </a:lnSpc>
              <a:buNone/>
            </a:pPr>
            <a:r>
              <a:rPr lang="en-US" sz="2590" b="1" spc="-130" kern="0" dirty="0">
                <a:solidFill>
                  <a:srgbClr val="1A62D6"/>
                </a:solidFill>
                <a:latin typeface="Arial" pitchFamily="34" charset="0"/>
                <a:ea typeface="Arial" pitchFamily="34" charset="-122"/>
                <a:cs typeface="Arial" pitchFamily="34" charset="-120"/>
              </a:rPr>
              <a:t>51%</a:t>
            </a:r>
            <a:endParaRPr lang="en-US" sz="2590" dirty="0"/>
          </a:p>
        </p:txBody>
      </p:sp>
      <p:sp>
        <p:nvSpPr>
          <p:cNvPr id="53" name="Text 50"/>
          <p:cNvSpPr txBox="1"/>
          <p:nvPr/>
        </p:nvSpPr>
        <p:spPr>
          <a:xfrm>
            <a:off x="6428232" y="2267712"/>
            <a:ext cx="2293687" cy="283921"/>
          </a:xfrm>
          <a:prstGeom prst="rect">
            <a:avLst/>
          </a:prstGeom>
          <a:noFill/>
          <a:ln/>
        </p:spPr>
        <p:txBody>
          <a:bodyPr wrap="squar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Ford MVIP activity: 138.4K h across the Ford and</a:t>
            </a:r>
            <a:endParaRPr lang="en-US" sz="720" dirty="0"/>
          </a:p>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Auto Alliance plants</a:t>
            </a:r>
            <a:endParaRPr lang="en-US" sz="720" dirty="0"/>
          </a:p>
        </p:txBody>
      </p:sp>
      <p:sp>
        <p:nvSpPr>
          <p:cNvPr id="54" name="Shape 51"/>
          <p:cNvSpPr/>
          <p:nvPr/>
        </p:nvSpPr>
        <p:spPr>
          <a:xfrm>
            <a:off x="6263640" y="2734056"/>
            <a:ext cx="2423160" cy="841248"/>
          </a:xfrm>
          <a:prstGeom prst="roundRect">
            <a:avLst>
              <a:gd name="adj" fmla="val 17391"/>
            </a:avLst>
          </a:prstGeom>
          <a:solidFill>
            <a:srgbClr val="E8F2FF"/>
          </a:solidFill>
          <a:ln w="9144">
            <a:solidFill>
              <a:srgbClr val="D6E6FA"/>
            </a:solidFill>
            <a:prstDash val="solid"/>
          </a:ln>
        </p:spPr>
      </p:sp>
      <p:sp>
        <p:nvSpPr>
          <p:cNvPr id="55" name="Text 52"/>
          <p:cNvSpPr txBox="1"/>
          <p:nvPr/>
        </p:nvSpPr>
        <p:spPr>
          <a:xfrm>
            <a:off x="6428232" y="2843784"/>
            <a:ext cx="346129" cy="427939"/>
          </a:xfrm>
          <a:prstGeom prst="rect">
            <a:avLst/>
          </a:prstGeom>
          <a:noFill/>
          <a:ln/>
        </p:spPr>
        <p:txBody>
          <a:bodyPr wrap="none" lIns="0" tIns="0" rIns="0" bIns="0" rtlCol="0" anchor="t"/>
          <a:lstStyle/>
          <a:p>
            <a:pPr algn="l" indent="0" marL="0">
              <a:lnSpc>
                <a:spcPts val="2590"/>
              </a:lnSpc>
              <a:buNone/>
            </a:pPr>
            <a:r>
              <a:rPr lang="en-US" sz="2590" b="1" spc="-130" kern="0" dirty="0">
                <a:solidFill>
                  <a:srgbClr val="1A62D6"/>
                </a:solidFill>
                <a:latin typeface="Arial" pitchFamily="34" charset="0"/>
                <a:ea typeface="Arial" pitchFamily="34" charset="-122"/>
                <a:cs typeface="Arial" pitchFamily="34" charset="-120"/>
              </a:rPr>
              <a:t>14</a:t>
            </a:r>
            <a:endParaRPr lang="en-US" sz="2590" dirty="0"/>
          </a:p>
        </p:txBody>
      </p:sp>
      <p:sp>
        <p:nvSpPr>
          <p:cNvPr id="56" name="Text 53"/>
          <p:cNvSpPr txBox="1"/>
          <p:nvPr/>
        </p:nvSpPr>
        <p:spPr>
          <a:xfrm>
            <a:off x="6428232" y="3218688"/>
            <a:ext cx="2379197" cy="283921"/>
          </a:xfrm>
          <a:prstGeom prst="rect">
            <a:avLst/>
          </a:prstGeom>
          <a:noFill/>
          <a:ln/>
        </p:spPr>
        <p:txBody>
          <a:bodyPr wrap="squar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Customers at MMTH Engine: largest host, 38.1K h;</a:t>
            </a:r>
            <a:endParaRPr lang="en-US" sz="720" dirty="0"/>
          </a:p>
          <a:p>
            <a:pPr algn="l" indent="0" marL="0">
              <a:lnSpc>
                <a:spcPts val="970"/>
              </a:lnSpc>
              <a:buNone/>
            </a:pPr>
            <a:r>
              <a:rPr lang="en-US" sz="720" dirty="0">
                <a:solidFill>
                  <a:srgbClr val="4D6585"/>
                </a:solidFill>
                <a:latin typeface="Arial" pitchFamily="34" charset="0"/>
                <a:ea typeface="Arial" pitchFamily="34" charset="-122"/>
                <a:cs typeface="Arial" pitchFamily="34" charset="-120"/>
              </a:rPr>
              <a:t>TMBP serves 11</a:t>
            </a:r>
            <a:endParaRPr lang="en-US" sz="720" dirty="0"/>
          </a:p>
        </p:txBody>
      </p:sp>
      <p:sp>
        <p:nvSpPr>
          <p:cNvPr id="57" name="Shape 54"/>
          <p:cNvSpPr/>
          <p:nvPr/>
        </p:nvSpPr>
        <p:spPr>
          <a:xfrm>
            <a:off x="6263640" y="3685032"/>
            <a:ext cx="2423160" cy="841248"/>
          </a:xfrm>
          <a:prstGeom prst="roundRect">
            <a:avLst>
              <a:gd name="adj" fmla="val 17391"/>
            </a:avLst>
          </a:prstGeom>
          <a:solidFill>
            <a:srgbClr val="071A33"/>
          </a:solidFill>
          <a:ln/>
        </p:spPr>
      </p:sp>
      <p:sp>
        <p:nvSpPr>
          <p:cNvPr id="58" name="Text 55"/>
          <p:cNvSpPr txBox="1"/>
          <p:nvPr/>
        </p:nvSpPr>
        <p:spPr>
          <a:xfrm>
            <a:off x="6428232" y="3794760"/>
            <a:ext cx="654639" cy="427939"/>
          </a:xfrm>
          <a:prstGeom prst="rect">
            <a:avLst/>
          </a:prstGeom>
          <a:noFill/>
          <a:ln/>
        </p:spPr>
        <p:txBody>
          <a:bodyPr wrap="none" lIns="0" tIns="0" rIns="0" bIns="0" rtlCol="0" anchor="t"/>
          <a:lstStyle/>
          <a:p>
            <a:pPr algn="l" indent="0" marL="0">
              <a:lnSpc>
                <a:spcPts val="2590"/>
              </a:lnSpc>
              <a:buNone/>
            </a:pPr>
            <a:r>
              <a:rPr lang="en-US" sz="2590" b="1" spc="-130" kern="0" dirty="0">
                <a:solidFill>
                  <a:srgbClr val="9CCBFF"/>
                </a:solidFill>
                <a:latin typeface="Arial" pitchFamily="34" charset="0"/>
                <a:ea typeface="Arial" pitchFamily="34" charset="-122"/>
                <a:cs typeface="Arial" pitchFamily="34" charset="-120"/>
              </a:rPr>
              <a:t>4.5×</a:t>
            </a:r>
            <a:endParaRPr lang="en-US" sz="2590" dirty="0"/>
          </a:p>
        </p:txBody>
      </p:sp>
      <p:sp>
        <p:nvSpPr>
          <p:cNvPr id="59" name="Text 56"/>
          <p:cNvSpPr txBox="1"/>
          <p:nvPr/>
        </p:nvSpPr>
        <p:spPr>
          <a:xfrm>
            <a:off x="6428232" y="4169664"/>
            <a:ext cx="2230979" cy="283921"/>
          </a:xfrm>
          <a:prstGeom prst="rect">
            <a:avLst/>
          </a:prstGeom>
          <a:noFill/>
          <a:ln/>
        </p:spPr>
        <p:txBody>
          <a:bodyPr wrap="square" lIns="0" tIns="0" rIns="0" bIns="0" rtlCol="0" anchor="t"/>
          <a:lstStyle/>
          <a:p>
            <a:pPr algn="l" indent="0" marL="0">
              <a:lnSpc>
                <a:spcPts val="970"/>
              </a:lnSpc>
              <a:buNone/>
            </a:pPr>
            <a:r>
              <a:rPr lang="en-US" sz="720" dirty="0">
                <a:solidFill>
                  <a:srgbClr val="9DB6D4"/>
                </a:solidFill>
                <a:latin typeface="Arial" pitchFamily="34" charset="0"/>
                <a:ea typeface="Arial" pitchFamily="34" charset="-122"/>
                <a:cs typeface="Arial" pitchFamily="34" charset="-120"/>
              </a:rPr>
              <a:t>Yusen Logistic growth: 331 h in Jan → 1,488 h in</a:t>
            </a:r>
            <a:endParaRPr lang="en-US" sz="720" dirty="0"/>
          </a:p>
          <a:p>
            <a:pPr algn="l" indent="0" marL="0">
              <a:lnSpc>
                <a:spcPts val="970"/>
              </a:lnSpc>
              <a:buNone/>
            </a:pPr>
            <a:r>
              <a:rPr lang="en-US" sz="720" dirty="0">
                <a:solidFill>
                  <a:srgbClr val="9DB6D4"/>
                </a:solidFill>
                <a:latin typeface="Arial" pitchFamily="34" charset="0"/>
                <a:ea typeface="Arial" pitchFamily="34" charset="-122"/>
                <a:cs typeface="Arial" pitchFamily="34" charset="-120"/>
              </a:rPr>
              <a:t>Sep</a:t>
            </a:r>
            <a:endParaRPr lang="en-US" sz="720" dirty="0"/>
          </a:p>
        </p:txBody>
      </p:sp>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3435287"/>
            <a:ext cx="1368600" cy="201168"/>
          </a:xfrm>
          <a:prstGeom prst="roundRect">
            <a:avLst>
              <a:gd name="adj" fmla="val 50000"/>
            </a:avLst>
          </a:prstGeom>
          <a:solidFill>
            <a:srgbClr val="FFFFFF">
              <a:alpha val="12000"/>
            </a:srgbClr>
          </a:solidFill>
          <a:ln/>
        </p:spPr>
      </p:sp>
      <p:sp>
        <p:nvSpPr>
          <p:cNvPr id="4" name="Text 1"/>
          <p:cNvSpPr txBox="1"/>
          <p:nvPr/>
        </p:nvSpPr>
        <p:spPr>
          <a:xfrm>
            <a:off x="557784" y="3481007"/>
            <a:ext cx="1302463" cy="109728"/>
          </a:xfrm>
          <a:prstGeom prst="rect">
            <a:avLst/>
          </a:prstGeom>
          <a:noFill/>
          <a:ln/>
        </p:spPr>
        <p:txBody>
          <a:bodyPr wrap="none" lIns="0" tIns="0" rIns="0" bIns="0" rtlCol="0" anchor="ctr"/>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Non-Rayong overview 2026</a:t>
            </a:r>
            <a:endParaRPr lang="en-US" sz="720" dirty="0"/>
          </a:p>
        </p:txBody>
      </p:sp>
      <p:sp>
        <p:nvSpPr>
          <p:cNvPr id="5" name="Text 2"/>
          <p:cNvSpPr txBox="1"/>
          <p:nvPr/>
        </p:nvSpPr>
        <p:spPr>
          <a:xfrm>
            <a:off x="457200" y="3746183"/>
            <a:ext cx="2903792" cy="538659"/>
          </a:xfrm>
          <a:prstGeom prst="rect">
            <a:avLst/>
          </a:prstGeom>
          <a:noFill/>
          <a:ln/>
        </p:spPr>
        <p:txBody>
          <a:bodyPr wrap="none" lIns="0" tIns="0" rIns="0" bIns="0" rtlCol="0" anchor="t"/>
          <a:lstStyle/>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Cost reduction.</a:t>
            </a:r>
            <a:endParaRPr lang="en-US" sz="3170" dirty="0"/>
          </a:p>
        </p:txBody>
      </p:sp>
      <p:sp>
        <p:nvSpPr>
          <p:cNvPr id="6" name="Text 3"/>
          <p:cNvSpPr txBox="1"/>
          <p:nvPr/>
        </p:nvSpPr>
        <p:spPr>
          <a:xfrm>
            <a:off x="457200" y="4270248"/>
            <a:ext cx="2914901" cy="378562"/>
          </a:xfrm>
          <a:prstGeom prst="rect">
            <a:avLst/>
          </a:prstGeom>
          <a:noFill/>
          <a:ln/>
        </p:spPr>
        <p:txBody>
          <a:bodyPr wrap="square" lIns="0" tIns="0" rIns="0" bIns="0" rtlCol="0" anchor="t"/>
          <a:lstStyle/>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A new beverage supplier, and a 2026 drink mix that</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lowers the cost per unit.</a:t>
            </a:r>
            <a:endParaRPr lang="en-US" sz="860" dirty="0"/>
          </a:p>
        </p:txBody>
      </p:sp>
    </p:spTree>
  </p:cSld>
  <p:clrMapOvr>
    <a:masterClrMapping/>
  </p:clrMapOvr>
  <p:transition spd="med">
    <p:push dir="r"/>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1132284" cy="201168"/>
          </a:xfrm>
          <a:prstGeom prst="roundRect">
            <a:avLst>
              <a:gd name="adj" fmla="val 50000"/>
            </a:avLst>
          </a:prstGeom>
          <a:solidFill>
            <a:srgbClr val="E1EEFF"/>
          </a:solidFill>
          <a:ln/>
        </p:spPr>
      </p:sp>
      <p:sp>
        <p:nvSpPr>
          <p:cNvPr id="4" name="Text 1"/>
          <p:cNvSpPr txBox="1"/>
          <p:nvPr/>
        </p:nvSpPr>
        <p:spPr>
          <a:xfrm>
            <a:off x="557784" y="1005840"/>
            <a:ext cx="1042516"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02 · Beverage supplier</a:t>
            </a:r>
            <a:endParaRPr lang="en-US" sz="720" dirty="0"/>
          </a:p>
        </p:txBody>
      </p:sp>
      <p:sp>
        <p:nvSpPr>
          <p:cNvPr id="5" name="Text 2"/>
          <p:cNvSpPr txBox="1"/>
          <p:nvPr/>
        </p:nvSpPr>
        <p:spPr>
          <a:xfrm>
            <a:off x="457200" y="1252728"/>
            <a:ext cx="5942843"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Supplier change reduced unit cost by 30%.</a:t>
            </a:r>
            <a:endParaRPr lang="en-US" sz="2380" dirty="0"/>
          </a:p>
        </p:txBody>
      </p:sp>
      <p:sp>
        <p:nvSpPr>
          <p:cNvPr id="6" name="Text 3"/>
          <p:cNvSpPr txBox="1"/>
          <p:nvPr/>
        </p:nvSpPr>
        <p:spPr>
          <a:xfrm>
            <a:off x="457200" y="1636633"/>
            <a:ext cx="4037405"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Lower purchase cost, with the monthly operating trend kept in view.</a:t>
            </a:r>
            <a:endParaRPr lang="en-US" sz="940" dirty="0"/>
          </a:p>
        </p:txBody>
      </p:sp>
      <p:sp>
        <p:nvSpPr>
          <p:cNvPr id="7" name="Shape 4"/>
          <p:cNvSpPr/>
          <p:nvPr/>
        </p:nvSpPr>
        <p:spPr>
          <a:xfrm>
            <a:off x="457200" y="2194560"/>
            <a:ext cx="2743200" cy="891826"/>
          </a:xfrm>
          <a:prstGeom prst="roundRect">
            <a:avLst>
              <a:gd name="adj" fmla="val 18456"/>
            </a:avLst>
          </a:prstGeom>
          <a:solidFill>
            <a:srgbClr val="F0F6FF"/>
          </a:solidFill>
          <a:ln w="9144">
            <a:solidFill>
              <a:srgbClr val="D6E6FA"/>
            </a:solidFill>
            <a:prstDash val="solid"/>
          </a:ln>
        </p:spPr>
      </p:sp>
      <p:sp>
        <p:nvSpPr>
          <p:cNvPr id="8" name="Text 5"/>
          <p:cNvSpPr txBox="1"/>
          <p:nvPr/>
        </p:nvSpPr>
        <p:spPr>
          <a:xfrm>
            <a:off x="603504" y="2313432"/>
            <a:ext cx="1056503"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5F7691"/>
                </a:solidFill>
                <a:latin typeface="Arial" pitchFamily="34" charset="0"/>
                <a:ea typeface="Arial" pitchFamily="34" charset="-122"/>
                <a:cs typeface="Arial" pitchFamily="34" charset="-120"/>
              </a:rPr>
              <a:t>PREVIOUS SUPPLIER</a:t>
            </a:r>
            <a:endParaRPr lang="en-US" sz="650" dirty="0"/>
          </a:p>
        </p:txBody>
      </p:sp>
      <p:sp>
        <p:nvSpPr>
          <p:cNvPr id="9" name="Text 6"/>
          <p:cNvSpPr txBox="1"/>
          <p:nvPr/>
        </p:nvSpPr>
        <p:spPr>
          <a:xfrm>
            <a:off x="603504" y="2477453"/>
            <a:ext cx="1581898" cy="405296"/>
          </a:xfrm>
          <a:prstGeom prst="rect">
            <a:avLst/>
          </a:prstGeom>
          <a:noFill/>
          <a:ln/>
        </p:spPr>
        <p:txBody>
          <a:bodyPr wrap="none" lIns="0" tIns="0" rIns="0" bIns="0" rtlCol="0" anchor="t"/>
          <a:lstStyle/>
          <a:p>
            <a:pPr algn="l" indent="0" marL="0">
              <a:lnSpc>
                <a:spcPts val="2460"/>
              </a:lnSpc>
              <a:buNone/>
            </a:pPr>
            <a:r>
              <a:rPr lang="en-US" sz="1580" b="1" spc="-48" kern="0" dirty="0">
                <a:solidFill>
                  <a:srgbClr val="5F7691"/>
                </a:solidFill>
                <a:latin typeface="Arial" pitchFamily="34" charset="0"/>
                <a:ea typeface="Arial" pitchFamily="34" charset="-122"/>
                <a:cs typeface="Arial" pitchFamily="34" charset="-120"/>
              </a:rPr>
              <a:t>22.34 THB / unit</a:t>
            </a:r>
            <a:endParaRPr lang="en-US" sz="1580" dirty="0"/>
          </a:p>
        </p:txBody>
      </p:sp>
      <p:sp>
        <p:nvSpPr>
          <p:cNvPr id="10" name="Text 7"/>
          <p:cNvSpPr txBox="1"/>
          <p:nvPr/>
        </p:nvSpPr>
        <p:spPr>
          <a:xfrm>
            <a:off x="603504" y="2825782"/>
            <a:ext cx="1300734"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Monthly avg. 80,899.75 THB</a:t>
            </a:r>
            <a:endParaRPr lang="en-US" sz="720" dirty="0"/>
          </a:p>
        </p:txBody>
      </p:sp>
      <p:sp>
        <p:nvSpPr>
          <p:cNvPr id="11" name="Shape 8"/>
          <p:cNvSpPr/>
          <p:nvPr/>
        </p:nvSpPr>
        <p:spPr>
          <a:xfrm>
            <a:off x="457200" y="3214402"/>
            <a:ext cx="2743200" cy="891826"/>
          </a:xfrm>
          <a:prstGeom prst="roundRect">
            <a:avLst>
              <a:gd name="adj" fmla="val 18456"/>
            </a:avLst>
          </a:prstGeom>
          <a:solidFill>
            <a:srgbClr val="F0F6FF"/>
          </a:solidFill>
          <a:ln w="9144">
            <a:solidFill>
              <a:srgbClr val="D6E6FA"/>
            </a:solidFill>
            <a:prstDash val="solid"/>
          </a:ln>
        </p:spPr>
      </p:sp>
      <p:sp>
        <p:nvSpPr>
          <p:cNvPr id="12" name="Text 9"/>
          <p:cNvSpPr txBox="1"/>
          <p:nvPr/>
        </p:nvSpPr>
        <p:spPr>
          <a:xfrm>
            <a:off x="603504" y="3333274"/>
            <a:ext cx="1022871"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1A62D6"/>
                </a:solidFill>
                <a:latin typeface="Arial" pitchFamily="34" charset="0"/>
                <a:ea typeface="Arial" pitchFamily="34" charset="-122"/>
                <a:cs typeface="Arial" pitchFamily="34" charset="-120"/>
              </a:rPr>
              <a:t>CURRENT SUPPLIER</a:t>
            </a:r>
            <a:endParaRPr lang="en-US" sz="650" dirty="0"/>
          </a:p>
        </p:txBody>
      </p:sp>
      <p:sp>
        <p:nvSpPr>
          <p:cNvPr id="13" name="Text 10"/>
          <p:cNvSpPr txBox="1"/>
          <p:nvPr/>
        </p:nvSpPr>
        <p:spPr>
          <a:xfrm>
            <a:off x="603504" y="3497294"/>
            <a:ext cx="1543236" cy="405296"/>
          </a:xfrm>
          <a:prstGeom prst="rect">
            <a:avLst/>
          </a:prstGeom>
          <a:noFill/>
          <a:ln/>
        </p:spPr>
        <p:txBody>
          <a:bodyPr wrap="none" lIns="0" tIns="0" rIns="0" bIns="0" rtlCol="0" anchor="t"/>
          <a:lstStyle/>
          <a:p>
            <a:pPr algn="l" indent="0" marL="0">
              <a:lnSpc>
                <a:spcPts val="2460"/>
              </a:lnSpc>
              <a:buNone/>
            </a:pPr>
            <a:r>
              <a:rPr lang="en-US" sz="1580" b="1" spc="-48" kern="0" dirty="0">
                <a:solidFill>
                  <a:srgbClr val="1A62D6"/>
                </a:solidFill>
                <a:latin typeface="Arial" pitchFamily="34" charset="0"/>
                <a:ea typeface="Arial" pitchFamily="34" charset="-122"/>
                <a:cs typeface="Arial" pitchFamily="34" charset="-120"/>
              </a:rPr>
              <a:t>15.68 THB / unit</a:t>
            </a:r>
            <a:endParaRPr lang="en-US" sz="1580" dirty="0"/>
          </a:p>
        </p:txBody>
      </p:sp>
      <p:sp>
        <p:nvSpPr>
          <p:cNvPr id="14" name="Text 11"/>
          <p:cNvSpPr txBox="1"/>
          <p:nvPr/>
        </p:nvSpPr>
        <p:spPr>
          <a:xfrm>
            <a:off x="603504" y="3845624"/>
            <a:ext cx="1309378"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Monthly avg. 64,983.03 THB</a:t>
            </a:r>
            <a:endParaRPr lang="en-US" sz="720" dirty="0"/>
          </a:p>
        </p:txBody>
      </p:sp>
      <p:sp>
        <p:nvSpPr>
          <p:cNvPr id="15" name="Shape 12"/>
          <p:cNvSpPr/>
          <p:nvPr/>
        </p:nvSpPr>
        <p:spPr>
          <a:xfrm>
            <a:off x="3520440" y="2194560"/>
            <a:ext cx="5166360" cy="2595182"/>
          </a:xfrm>
          <a:prstGeom prst="roundRect">
            <a:avLst>
              <a:gd name="adj" fmla="val 6342"/>
            </a:avLst>
          </a:prstGeom>
          <a:solidFill>
            <a:srgbClr val="F0F6FF"/>
          </a:solidFill>
          <a:ln w="9144">
            <a:solidFill>
              <a:srgbClr val="D6E6FA"/>
            </a:solidFill>
            <a:prstDash val="solid"/>
          </a:ln>
        </p:spPr>
      </p:sp>
      <p:sp>
        <p:nvSpPr>
          <p:cNvPr id="16" name="Text 13"/>
          <p:cNvSpPr txBox="1"/>
          <p:nvPr/>
        </p:nvSpPr>
        <p:spPr>
          <a:xfrm>
            <a:off x="3685032" y="2340864"/>
            <a:ext cx="1304506" cy="211775"/>
          </a:xfrm>
          <a:prstGeom prst="rect">
            <a:avLst/>
          </a:prstGeom>
          <a:noFill/>
          <a:ln/>
        </p:spPr>
        <p:txBody>
          <a:bodyPr wrap="none" lIns="0" tIns="0" rIns="0" bIns="0" rtlCol="0" anchor="t"/>
          <a:lstStyle/>
          <a:p>
            <a:pPr algn="l" indent="0" marL="0">
              <a:lnSpc>
                <a:spcPts val="1280"/>
              </a:lnSpc>
              <a:buNone/>
            </a:pPr>
            <a:r>
              <a:rPr lang="en-US" sz="830" b="1" dirty="0">
                <a:solidFill>
                  <a:srgbClr val="071A33"/>
                </a:solidFill>
                <a:latin typeface="Arial" pitchFamily="34" charset="0"/>
                <a:ea typeface="Arial" pitchFamily="34" charset="-122"/>
                <a:cs typeface="Arial" pitchFamily="34" charset="-120"/>
              </a:rPr>
              <a:t>Total cost and cost / HC</a:t>
            </a:r>
            <a:endParaRPr lang="en-US" sz="830" dirty="0"/>
          </a:p>
        </p:txBody>
      </p:sp>
      <p:sp>
        <p:nvSpPr>
          <p:cNvPr id="17" name="Text 14"/>
          <p:cNvSpPr txBox="1"/>
          <p:nvPr/>
        </p:nvSpPr>
        <p:spPr>
          <a:xfrm>
            <a:off x="5962460" y="2351437"/>
            <a:ext cx="809130"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Previous supplier</a:t>
            </a:r>
            <a:endParaRPr lang="en-US" sz="720" dirty="0"/>
          </a:p>
        </p:txBody>
      </p:sp>
      <p:sp>
        <p:nvSpPr>
          <p:cNvPr id="18" name="Shape 15"/>
          <p:cNvSpPr/>
          <p:nvPr/>
        </p:nvSpPr>
        <p:spPr>
          <a:xfrm>
            <a:off x="5825300" y="2376583"/>
            <a:ext cx="91440" cy="91440"/>
          </a:xfrm>
          <a:prstGeom prst="roundRect">
            <a:avLst>
              <a:gd name="adj" fmla="val 30000"/>
            </a:avLst>
          </a:prstGeom>
          <a:solidFill>
            <a:srgbClr val="B9CCE6"/>
          </a:solidFill>
          <a:ln/>
        </p:spPr>
      </p:sp>
      <p:sp>
        <p:nvSpPr>
          <p:cNvPr id="19" name="Text 16"/>
          <p:cNvSpPr txBox="1"/>
          <p:nvPr/>
        </p:nvSpPr>
        <p:spPr>
          <a:xfrm>
            <a:off x="6937439" y="2351437"/>
            <a:ext cx="770153"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Current supplier</a:t>
            </a:r>
            <a:endParaRPr lang="en-US" sz="720" dirty="0"/>
          </a:p>
        </p:txBody>
      </p:sp>
      <p:sp>
        <p:nvSpPr>
          <p:cNvPr id="20" name="Shape 17"/>
          <p:cNvSpPr/>
          <p:nvPr/>
        </p:nvSpPr>
        <p:spPr>
          <a:xfrm>
            <a:off x="6800279" y="2376583"/>
            <a:ext cx="91440" cy="91440"/>
          </a:xfrm>
          <a:prstGeom prst="roundRect">
            <a:avLst>
              <a:gd name="adj" fmla="val 30000"/>
            </a:avLst>
          </a:prstGeom>
          <a:solidFill>
            <a:srgbClr val="1F6FEB"/>
          </a:solidFill>
          <a:ln/>
        </p:spPr>
      </p:sp>
      <p:sp>
        <p:nvSpPr>
          <p:cNvPr id="21" name="Text 18"/>
          <p:cNvSpPr txBox="1"/>
          <p:nvPr/>
        </p:nvSpPr>
        <p:spPr>
          <a:xfrm>
            <a:off x="7876985" y="2351437"/>
            <a:ext cx="728034" cy="141732"/>
          </a:xfrm>
          <a:prstGeom prst="rect">
            <a:avLst/>
          </a:prstGeom>
          <a:noFill/>
          <a:ln/>
        </p:spPr>
        <p:txBody>
          <a:bodyPr wrap="none" lIns="0" tIns="0" rIns="0" bIns="0" rtlCol="0" anchor="ctr"/>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Cost / HC, right</a:t>
            </a:r>
            <a:endParaRPr lang="en-US" sz="720" dirty="0"/>
          </a:p>
        </p:txBody>
      </p:sp>
      <p:sp>
        <p:nvSpPr>
          <p:cNvPr id="22" name="Shape 19"/>
          <p:cNvSpPr/>
          <p:nvPr/>
        </p:nvSpPr>
        <p:spPr>
          <a:xfrm>
            <a:off x="7739825" y="2376583"/>
            <a:ext cx="91440" cy="91440"/>
          </a:xfrm>
          <a:prstGeom prst="roundRect">
            <a:avLst>
              <a:gd name="adj" fmla="val 30000"/>
            </a:avLst>
          </a:prstGeom>
          <a:solidFill>
            <a:srgbClr val="071A33"/>
          </a:solidFill>
          <a:ln/>
        </p:spPr>
      </p:sp>
      <p:sp>
        <p:nvSpPr>
          <p:cNvPr id="23" name="Shape 20"/>
          <p:cNvSpPr/>
          <p:nvPr/>
        </p:nvSpPr>
        <p:spPr>
          <a:xfrm>
            <a:off x="4055989" y="4221448"/>
            <a:ext cx="4143632" cy="0"/>
          </a:xfrm>
          <a:prstGeom prst="line">
            <a:avLst/>
          </a:prstGeom>
          <a:noFill/>
          <a:ln w="8062">
            <a:solidFill>
              <a:srgbClr val="071A33">
                <a:alpha val="18000"/>
              </a:srgbClr>
            </a:solidFill>
            <a:prstDash val="solid"/>
          </a:ln>
        </p:spPr>
      </p:sp>
      <p:sp>
        <p:nvSpPr>
          <p:cNvPr id="24" name="Text 21"/>
          <p:cNvSpPr txBox="1"/>
          <p:nvPr/>
        </p:nvSpPr>
        <p:spPr>
          <a:xfrm>
            <a:off x="3861419" y="4167367"/>
            <a:ext cx="130544" cy="100584"/>
          </a:xfrm>
          <a:prstGeom prst="rect">
            <a:avLst/>
          </a:prstGeom>
          <a:noFill/>
          <a:ln/>
        </p:spPr>
        <p:txBody>
          <a:bodyPr wrap="none" lIns="0" tIns="0" rIns="0" bIns="0" rtlCol="0" anchor="ctr"/>
          <a:lstStyle/>
          <a:p>
            <a:pPr algn="r" indent="0" marL="0">
              <a:lnSpc>
                <a:spcPts val="790"/>
              </a:lnSpc>
              <a:buNone/>
            </a:pPr>
            <a:r>
              <a:rPr lang="en-US" sz="670" dirty="0">
                <a:solidFill>
                  <a:srgbClr val="5F7691"/>
                </a:solidFill>
                <a:latin typeface="Arial" pitchFamily="34" charset="0"/>
                <a:ea typeface="Arial" pitchFamily="34" charset="-122"/>
                <a:cs typeface="Arial" pitchFamily="34" charset="-120"/>
              </a:rPr>
              <a:t>0k</a:t>
            </a:r>
            <a:endParaRPr lang="en-US" sz="670" dirty="0"/>
          </a:p>
        </p:txBody>
      </p:sp>
      <p:sp>
        <p:nvSpPr>
          <p:cNvPr id="25" name="Text 22"/>
          <p:cNvSpPr txBox="1"/>
          <p:nvPr/>
        </p:nvSpPr>
        <p:spPr>
          <a:xfrm>
            <a:off x="8264113" y="4167367"/>
            <a:ext cx="80368" cy="100584"/>
          </a:xfrm>
          <a:prstGeom prst="rect">
            <a:avLst/>
          </a:prstGeom>
          <a:noFill/>
          <a:ln/>
        </p:spPr>
        <p:txBody>
          <a:bodyPr wrap="none" lIns="0" tIns="0" rIns="0" bIns="0" rtlCol="0" anchor="ctr"/>
          <a:lstStyle/>
          <a:p>
            <a:pPr algn="l" indent="0" marL="0">
              <a:lnSpc>
                <a:spcPts val="790"/>
              </a:lnSpc>
              <a:buNone/>
            </a:pPr>
            <a:r>
              <a:rPr lang="en-US" sz="670" dirty="0">
                <a:solidFill>
                  <a:srgbClr val="5F7691"/>
                </a:solidFill>
                <a:latin typeface="Arial" pitchFamily="34" charset="0"/>
                <a:ea typeface="Arial" pitchFamily="34" charset="-122"/>
                <a:cs typeface="Arial" pitchFamily="34" charset="-120"/>
              </a:rPr>
              <a:t>0</a:t>
            </a:r>
            <a:endParaRPr lang="en-US" sz="670" dirty="0"/>
          </a:p>
        </p:txBody>
      </p:sp>
      <p:sp>
        <p:nvSpPr>
          <p:cNvPr id="26" name="Shape 23"/>
          <p:cNvSpPr/>
          <p:nvPr/>
        </p:nvSpPr>
        <p:spPr>
          <a:xfrm>
            <a:off x="4055989" y="3732112"/>
            <a:ext cx="4143632" cy="0"/>
          </a:xfrm>
          <a:prstGeom prst="line">
            <a:avLst/>
          </a:prstGeom>
          <a:noFill/>
          <a:ln w="8062">
            <a:solidFill>
              <a:srgbClr val="071A33">
                <a:alpha val="7000"/>
              </a:srgbClr>
            </a:solidFill>
            <a:prstDash val="solid"/>
          </a:ln>
        </p:spPr>
      </p:sp>
      <p:sp>
        <p:nvSpPr>
          <p:cNvPr id="27" name="Text 24"/>
          <p:cNvSpPr txBox="1"/>
          <p:nvPr/>
        </p:nvSpPr>
        <p:spPr>
          <a:xfrm>
            <a:off x="3805481" y="3678031"/>
            <a:ext cx="186368" cy="100584"/>
          </a:xfrm>
          <a:prstGeom prst="rect">
            <a:avLst/>
          </a:prstGeom>
          <a:noFill/>
          <a:ln/>
        </p:spPr>
        <p:txBody>
          <a:bodyPr wrap="none" lIns="0" tIns="0" rIns="0" bIns="0" rtlCol="0" anchor="ctr"/>
          <a:lstStyle/>
          <a:p>
            <a:pPr algn="r" indent="0" marL="0">
              <a:lnSpc>
                <a:spcPts val="790"/>
              </a:lnSpc>
              <a:buNone/>
            </a:pPr>
            <a:r>
              <a:rPr lang="en-US" sz="670" dirty="0">
                <a:solidFill>
                  <a:srgbClr val="5F7691"/>
                </a:solidFill>
                <a:latin typeface="Arial" pitchFamily="34" charset="0"/>
                <a:ea typeface="Arial" pitchFamily="34" charset="-122"/>
                <a:cs typeface="Arial" pitchFamily="34" charset="-120"/>
              </a:rPr>
              <a:t>40k</a:t>
            </a:r>
            <a:endParaRPr lang="en-US" sz="670" dirty="0"/>
          </a:p>
        </p:txBody>
      </p:sp>
      <p:sp>
        <p:nvSpPr>
          <p:cNvPr id="28" name="Text 25"/>
          <p:cNvSpPr txBox="1"/>
          <p:nvPr/>
        </p:nvSpPr>
        <p:spPr>
          <a:xfrm>
            <a:off x="8264113" y="3678031"/>
            <a:ext cx="116672" cy="100584"/>
          </a:xfrm>
          <a:prstGeom prst="rect">
            <a:avLst/>
          </a:prstGeom>
          <a:noFill/>
          <a:ln/>
        </p:spPr>
        <p:txBody>
          <a:bodyPr wrap="none" lIns="0" tIns="0" rIns="0" bIns="0" rtlCol="0" anchor="ctr"/>
          <a:lstStyle/>
          <a:p>
            <a:pPr algn="l" indent="0" marL="0">
              <a:lnSpc>
                <a:spcPts val="790"/>
              </a:lnSpc>
              <a:buNone/>
            </a:pPr>
            <a:r>
              <a:rPr lang="en-US" sz="670" dirty="0">
                <a:solidFill>
                  <a:srgbClr val="5F7691"/>
                </a:solidFill>
                <a:latin typeface="Arial" pitchFamily="34" charset="0"/>
                <a:ea typeface="Arial" pitchFamily="34" charset="-122"/>
                <a:cs typeface="Arial" pitchFamily="34" charset="-120"/>
              </a:rPr>
              <a:t>10</a:t>
            </a:r>
            <a:endParaRPr lang="en-US" sz="670" dirty="0"/>
          </a:p>
        </p:txBody>
      </p:sp>
      <p:sp>
        <p:nvSpPr>
          <p:cNvPr id="29" name="Shape 26"/>
          <p:cNvSpPr/>
          <p:nvPr/>
        </p:nvSpPr>
        <p:spPr>
          <a:xfrm>
            <a:off x="4055989" y="3243583"/>
            <a:ext cx="4143632" cy="0"/>
          </a:xfrm>
          <a:prstGeom prst="line">
            <a:avLst/>
          </a:prstGeom>
          <a:noFill/>
          <a:ln w="8062">
            <a:solidFill>
              <a:srgbClr val="071A33">
                <a:alpha val="7000"/>
              </a:srgbClr>
            </a:solidFill>
            <a:prstDash val="solid"/>
          </a:ln>
        </p:spPr>
      </p:sp>
      <p:sp>
        <p:nvSpPr>
          <p:cNvPr id="30" name="Text 27"/>
          <p:cNvSpPr txBox="1"/>
          <p:nvPr/>
        </p:nvSpPr>
        <p:spPr>
          <a:xfrm>
            <a:off x="3805792" y="3189501"/>
            <a:ext cx="186089" cy="100584"/>
          </a:xfrm>
          <a:prstGeom prst="rect">
            <a:avLst/>
          </a:prstGeom>
          <a:noFill/>
          <a:ln/>
        </p:spPr>
        <p:txBody>
          <a:bodyPr wrap="none" lIns="0" tIns="0" rIns="0" bIns="0" rtlCol="0" anchor="ctr"/>
          <a:lstStyle/>
          <a:p>
            <a:pPr algn="r" indent="0" marL="0">
              <a:lnSpc>
                <a:spcPts val="790"/>
              </a:lnSpc>
              <a:buNone/>
            </a:pPr>
            <a:r>
              <a:rPr lang="en-US" sz="670" dirty="0">
                <a:solidFill>
                  <a:srgbClr val="5F7691"/>
                </a:solidFill>
                <a:latin typeface="Arial" pitchFamily="34" charset="0"/>
                <a:ea typeface="Arial" pitchFamily="34" charset="-122"/>
                <a:cs typeface="Arial" pitchFamily="34" charset="-120"/>
              </a:rPr>
              <a:t>80k</a:t>
            </a:r>
            <a:endParaRPr lang="en-US" sz="670" dirty="0"/>
          </a:p>
        </p:txBody>
      </p:sp>
      <p:sp>
        <p:nvSpPr>
          <p:cNvPr id="31" name="Text 28"/>
          <p:cNvSpPr txBox="1"/>
          <p:nvPr/>
        </p:nvSpPr>
        <p:spPr>
          <a:xfrm>
            <a:off x="8264113" y="3189501"/>
            <a:ext cx="132388" cy="100584"/>
          </a:xfrm>
          <a:prstGeom prst="rect">
            <a:avLst/>
          </a:prstGeom>
          <a:noFill/>
          <a:ln/>
        </p:spPr>
        <p:txBody>
          <a:bodyPr wrap="none" lIns="0" tIns="0" rIns="0" bIns="0" rtlCol="0" anchor="ctr"/>
          <a:lstStyle/>
          <a:p>
            <a:pPr algn="l" indent="0" marL="0">
              <a:lnSpc>
                <a:spcPts val="790"/>
              </a:lnSpc>
              <a:buNone/>
            </a:pPr>
            <a:r>
              <a:rPr lang="en-US" sz="670" dirty="0">
                <a:solidFill>
                  <a:srgbClr val="5F7691"/>
                </a:solidFill>
                <a:latin typeface="Arial" pitchFamily="34" charset="0"/>
                <a:ea typeface="Arial" pitchFamily="34" charset="-122"/>
                <a:cs typeface="Arial" pitchFamily="34" charset="-120"/>
              </a:rPr>
              <a:t>20</a:t>
            </a:r>
            <a:endParaRPr lang="en-US" sz="670" dirty="0"/>
          </a:p>
        </p:txBody>
      </p:sp>
      <p:sp>
        <p:nvSpPr>
          <p:cNvPr id="32" name="Shape 29"/>
          <p:cNvSpPr/>
          <p:nvPr/>
        </p:nvSpPr>
        <p:spPr>
          <a:xfrm>
            <a:off x="4055989" y="2754247"/>
            <a:ext cx="4143632" cy="0"/>
          </a:xfrm>
          <a:prstGeom prst="line">
            <a:avLst/>
          </a:prstGeom>
          <a:noFill/>
          <a:ln w="8062">
            <a:solidFill>
              <a:srgbClr val="071A33">
                <a:alpha val="7000"/>
              </a:srgbClr>
            </a:solidFill>
            <a:prstDash val="solid"/>
          </a:ln>
        </p:spPr>
      </p:sp>
      <p:sp>
        <p:nvSpPr>
          <p:cNvPr id="33" name="Text 30"/>
          <p:cNvSpPr txBox="1"/>
          <p:nvPr/>
        </p:nvSpPr>
        <p:spPr>
          <a:xfrm>
            <a:off x="3772945" y="2700168"/>
            <a:ext cx="218932" cy="100584"/>
          </a:xfrm>
          <a:prstGeom prst="rect">
            <a:avLst/>
          </a:prstGeom>
          <a:noFill/>
          <a:ln/>
        </p:spPr>
        <p:txBody>
          <a:bodyPr wrap="none" lIns="0" tIns="0" rIns="0" bIns="0" rtlCol="0" anchor="ctr"/>
          <a:lstStyle/>
          <a:p>
            <a:pPr algn="r" indent="0" marL="0">
              <a:lnSpc>
                <a:spcPts val="790"/>
              </a:lnSpc>
              <a:buNone/>
            </a:pPr>
            <a:r>
              <a:rPr lang="en-US" sz="670" dirty="0">
                <a:solidFill>
                  <a:srgbClr val="5F7691"/>
                </a:solidFill>
                <a:latin typeface="Arial" pitchFamily="34" charset="0"/>
                <a:ea typeface="Arial" pitchFamily="34" charset="-122"/>
                <a:cs typeface="Arial" pitchFamily="34" charset="-120"/>
              </a:rPr>
              <a:t>120k</a:t>
            </a:r>
            <a:endParaRPr lang="en-US" sz="670" dirty="0"/>
          </a:p>
        </p:txBody>
      </p:sp>
      <p:sp>
        <p:nvSpPr>
          <p:cNvPr id="34" name="Text 31"/>
          <p:cNvSpPr txBox="1"/>
          <p:nvPr/>
        </p:nvSpPr>
        <p:spPr>
          <a:xfrm>
            <a:off x="8264113" y="2700168"/>
            <a:ext cx="135374" cy="100584"/>
          </a:xfrm>
          <a:prstGeom prst="rect">
            <a:avLst/>
          </a:prstGeom>
          <a:noFill/>
          <a:ln/>
        </p:spPr>
        <p:txBody>
          <a:bodyPr wrap="none" lIns="0" tIns="0" rIns="0" bIns="0" rtlCol="0" anchor="ctr"/>
          <a:lstStyle/>
          <a:p>
            <a:pPr algn="l" indent="0" marL="0">
              <a:lnSpc>
                <a:spcPts val="790"/>
              </a:lnSpc>
              <a:buNone/>
            </a:pPr>
            <a:r>
              <a:rPr lang="en-US" sz="670" dirty="0">
                <a:solidFill>
                  <a:srgbClr val="5F7691"/>
                </a:solidFill>
                <a:latin typeface="Arial" pitchFamily="34" charset="0"/>
                <a:ea typeface="Arial" pitchFamily="34" charset="-122"/>
                <a:cs typeface="Arial" pitchFamily="34" charset="-120"/>
              </a:rPr>
              <a:t>30</a:t>
            </a:r>
            <a:endParaRPr lang="en-US" sz="670" dirty="0"/>
          </a:p>
        </p:txBody>
      </p:sp>
      <p:sp>
        <p:nvSpPr>
          <p:cNvPr id="35" name="Shape 32"/>
          <p:cNvSpPr/>
          <p:nvPr/>
        </p:nvSpPr>
        <p:spPr>
          <a:xfrm>
            <a:off x="4113226" y="3628118"/>
            <a:ext cx="161231" cy="593329"/>
          </a:xfrm>
          <a:prstGeom prst="roundRect">
            <a:avLst>
              <a:gd name="adj" fmla="val 10000"/>
            </a:avLst>
          </a:prstGeom>
          <a:solidFill>
            <a:srgbClr val="B9CCE6"/>
          </a:solidFill>
          <a:ln/>
        </p:spPr>
      </p:sp>
      <p:sp>
        <p:nvSpPr>
          <p:cNvPr id="36" name="Text 33"/>
          <p:cNvSpPr txBox="1"/>
          <p:nvPr/>
        </p:nvSpPr>
        <p:spPr>
          <a:xfrm>
            <a:off x="4111224" y="4268136"/>
            <a:ext cx="165235"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Jan</a:t>
            </a:r>
            <a:endParaRPr lang="en-US" sz="670" dirty="0"/>
          </a:p>
        </p:txBody>
      </p:sp>
      <p:sp>
        <p:nvSpPr>
          <p:cNvPr id="37" name="Shape 34"/>
          <p:cNvSpPr/>
          <p:nvPr/>
        </p:nvSpPr>
        <p:spPr>
          <a:xfrm>
            <a:off x="4389737" y="3144426"/>
            <a:ext cx="161231" cy="1077022"/>
          </a:xfrm>
          <a:prstGeom prst="roundRect">
            <a:avLst>
              <a:gd name="adj" fmla="val 10000"/>
            </a:avLst>
          </a:prstGeom>
          <a:solidFill>
            <a:srgbClr val="B9CCE6"/>
          </a:solidFill>
          <a:ln/>
        </p:spPr>
      </p:sp>
      <p:sp>
        <p:nvSpPr>
          <p:cNvPr id="38" name="Text 35"/>
          <p:cNvSpPr txBox="1"/>
          <p:nvPr/>
        </p:nvSpPr>
        <p:spPr>
          <a:xfrm>
            <a:off x="4380168" y="4268136"/>
            <a:ext cx="183959"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Feb</a:t>
            </a:r>
            <a:endParaRPr lang="en-US" sz="670" dirty="0"/>
          </a:p>
        </p:txBody>
      </p:sp>
      <p:sp>
        <p:nvSpPr>
          <p:cNvPr id="39" name="Shape 36"/>
          <p:cNvSpPr/>
          <p:nvPr/>
        </p:nvSpPr>
        <p:spPr>
          <a:xfrm>
            <a:off x="4666247" y="3082352"/>
            <a:ext cx="161231" cy="1139096"/>
          </a:xfrm>
          <a:prstGeom prst="roundRect">
            <a:avLst>
              <a:gd name="adj" fmla="val 10000"/>
            </a:avLst>
          </a:prstGeom>
          <a:solidFill>
            <a:srgbClr val="B9CCE6"/>
          </a:solidFill>
          <a:ln/>
        </p:spPr>
      </p:sp>
      <p:sp>
        <p:nvSpPr>
          <p:cNvPr id="40" name="Text 37"/>
          <p:cNvSpPr txBox="1"/>
          <p:nvPr/>
        </p:nvSpPr>
        <p:spPr>
          <a:xfrm>
            <a:off x="4653081" y="4268136"/>
            <a:ext cx="192405"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Mar</a:t>
            </a:r>
            <a:endParaRPr lang="en-US" sz="670" dirty="0"/>
          </a:p>
        </p:txBody>
      </p:sp>
      <p:sp>
        <p:nvSpPr>
          <p:cNvPr id="41" name="Shape 38"/>
          <p:cNvSpPr/>
          <p:nvPr/>
        </p:nvSpPr>
        <p:spPr>
          <a:xfrm>
            <a:off x="4941952" y="3269380"/>
            <a:ext cx="161231" cy="952068"/>
          </a:xfrm>
          <a:prstGeom prst="roundRect">
            <a:avLst>
              <a:gd name="adj" fmla="val 10000"/>
            </a:avLst>
          </a:prstGeom>
          <a:solidFill>
            <a:srgbClr val="B9CCE6"/>
          </a:solidFill>
          <a:ln/>
        </p:spPr>
      </p:sp>
      <p:sp>
        <p:nvSpPr>
          <p:cNvPr id="42" name="Text 39"/>
          <p:cNvSpPr txBox="1"/>
          <p:nvPr/>
        </p:nvSpPr>
        <p:spPr>
          <a:xfrm>
            <a:off x="4933658" y="4268136"/>
            <a:ext cx="182636"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Apr</a:t>
            </a:r>
            <a:endParaRPr lang="en-US" sz="670" dirty="0"/>
          </a:p>
        </p:txBody>
      </p:sp>
      <p:sp>
        <p:nvSpPr>
          <p:cNvPr id="43" name="Shape 40"/>
          <p:cNvSpPr/>
          <p:nvPr/>
        </p:nvSpPr>
        <p:spPr>
          <a:xfrm>
            <a:off x="5218463" y="3021084"/>
            <a:ext cx="161231" cy="1200363"/>
          </a:xfrm>
          <a:prstGeom prst="roundRect">
            <a:avLst>
              <a:gd name="adj" fmla="val 10000"/>
            </a:avLst>
          </a:prstGeom>
          <a:solidFill>
            <a:srgbClr val="B9CCE6"/>
          </a:solidFill>
          <a:ln/>
        </p:spPr>
      </p:sp>
      <p:sp>
        <p:nvSpPr>
          <p:cNvPr id="44" name="Text 41"/>
          <p:cNvSpPr txBox="1"/>
          <p:nvPr/>
        </p:nvSpPr>
        <p:spPr>
          <a:xfrm>
            <a:off x="5199574" y="4268136"/>
            <a:ext cx="200417"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May</a:t>
            </a:r>
            <a:endParaRPr lang="en-US" sz="670" dirty="0"/>
          </a:p>
        </p:txBody>
      </p:sp>
      <p:sp>
        <p:nvSpPr>
          <p:cNvPr id="45" name="Shape 42"/>
          <p:cNvSpPr/>
          <p:nvPr/>
        </p:nvSpPr>
        <p:spPr>
          <a:xfrm>
            <a:off x="5494974" y="3149263"/>
            <a:ext cx="161231" cy="1072185"/>
          </a:xfrm>
          <a:prstGeom prst="roundRect">
            <a:avLst>
              <a:gd name="adj" fmla="val 10000"/>
            </a:avLst>
          </a:prstGeom>
          <a:solidFill>
            <a:srgbClr val="B9CCE6"/>
          </a:solidFill>
          <a:ln/>
        </p:spPr>
      </p:sp>
      <p:sp>
        <p:nvSpPr>
          <p:cNvPr id="46" name="Text 43"/>
          <p:cNvSpPr txBox="1"/>
          <p:nvPr/>
        </p:nvSpPr>
        <p:spPr>
          <a:xfrm>
            <a:off x="5490143" y="4268136"/>
            <a:ext cx="170893"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Jun</a:t>
            </a:r>
            <a:endParaRPr lang="en-US" sz="670" dirty="0"/>
          </a:p>
        </p:txBody>
      </p:sp>
      <p:sp>
        <p:nvSpPr>
          <p:cNvPr id="47" name="Shape 44"/>
          <p:cNvSpPr/>
          <p:nvPr/>
        </p:nvSpPr>
        <p:spPr>
          <a:xfrm>
            <a:off x="5770678" y="3331454"/>
            <a:ext cx="161231" cy="889994"/>
          </a:xfrm>
          <a:prstGeom prst="roundRect">
            <a:avLst>
              <a:gd name="adj" fmla="val 10000"/>
            </a:avLst>
          </a:prstGeom>
          <a:solidFill>
            <a:srgbClr val="B9CCE6"/>
          </a:solidFill>
          <a:ln/>
        </p:spPr>
      </p:sp>
      <p:sp>
        <p:nvSpPr>
          <p:cNvPr id="48" name="Text 45"/>
          <p:cNvSpPr txBox="1"/>
          <p:nvPr/>
        </p:nvSpPr>
        <p:spPr>
          <a:xfrm>
            <a:off x="5782585" y="4268136"/>
            <a:ext cx="137417"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Jul</a:t>
            </a:r>
            <a:endParaRPr lang="en-US" sz="670" dirty="0"/>
          </a:p>
        </p:txBody>
      </p:sp>
      <p:sp>
        <p:nvSpPr>
          <p:cNvPr id="49" name="Shape 46"/>
          <p:cNvSpPr/>
          <p:nvPr/>
        </p:nvSpPr>
        <p:spPr>
          <a:xfrm>
            <a:off x="6047189" y="3271798"/>
            <a:ext cx="161231" cy="949649"/>
          </a:xfrm>
          <a:prstGeom prst="roundRect">
            <a:avLst>
              <a:gd name="adj" fmla="val 10000"/>
            </a:avLst>
          </a:prstGeom>
          <a:solidFill>
            <a:srgbClr val="1F6FEB"/>
          </a:solidFill>
          <a:ln/>
        </p:spPr>
      </p:sp>
      <p:sp>
        <p:nvSpPr>
          <p:cNvPr id="50" name="Text 47"/>
          <p:cNvSpPr txBox="1"/>
          <p:nvPr/>
        </p:nvSpPr>
        <p:spPr>
          <a:xfrm>
            <a:off x="6030729" y="4268136"/>
            <a:ext cx="194153"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Aug</a:t>
            </a:r>
            <a:endParaRPr lang="en-US" sz="670" dirty="0"/>
          </a:p>
        </p:txBody>
      </p:sp>
      <p:sp>
        <p:nvSpPr>
          <p:cNvPr id="51" name="Shape 48"/>
          <p:cNvSpPr/>
          <p:nvPr/>
        </p:nvSpPr>
        <p:spPr>
          <a:xfrm>
            <a:off x="6323700" y="3422549"/>
            <a:ext cx="161231" cy="798899"/>
          </a:xfrm>
          <a:prstGeom prst="roundRect">
            <a:avLst>
              <a:gd name="adj" fmla="val 10000"/>
            </a:avLst>
          </a:prstGeom>
          <a:solidFill>
            <a:srgbClr val="1F6FEB"/>
          </a:solidFill>
          <a:ln/>
        </p:spPr>
      </p:sp>
      <p:sp>
        <p:nvSpPr>
          <p:cNvPr id="52" name="Text 49"/>
          <p:cNvSpPr txBox="1"/>
          <p:nvPr/>
        </p:nvSpPr>
        <p:spPr>
          <a:xfrm>
            <a:off x="6312327" y="4268136"/>
            <a:ext cx="187496"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Sep</a:t>
            </a:r>
            <a:endParaRPr lang="en-US" sz="670" dirty="0"/>
          </a:p>
        </p:txBody>
      </p:sp>
      <p:sp>
        <p:nvSpPr>
          <p:cNvPr id="53" name="Shape 50"/>
          <p:cNvSpPr/>
          <p:nvPr/>
        </p:nvSpPr>
        <p:spPr>
          <a:xfrm>
            <a:off x="6599405" y="3429804"/>
            <a:ext cx="161231" cy="791643"/>
          </a:xfrm>
          <a:prstGeom prst="roundRect">
            <a:avLst>
              <a:gd name="adj" fmla="val 10000"/>
            </a:avLst>
          </a:prstGeom>
          <a:solidFill>
            <a:srgbClr val="1F6FEB"/>
          </a:solidFill>
          <a:ln/>
        </p:spPr>
      </p:sp>
      <p:sp>
        <p:nvSpPr>
          <p:cNvPr id="54" name="Text 51"/>
          <p:cNvSpPr txBox="1"/>
          <p:nvPr/>
        </p:nvSpPr>
        <p:spPr>
          <a:xfrm>
            <a:off x="6591906" y="4268136"/>
            <a:ext cx="180869"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Oct</a:t>
            </a:r>
            <a:endParaRPr lang="en-US" sz="670" dirty="0"/>
          </a:p>
        </p:txBody>
      </p:sp>
      <p:sp>
        <p:nvSpPr>
          <p:cNvPr id="55" name="Shape 52"/>
          <p:cNvSpPr/>
          <p:nvPr/>
        </p:nvSpPr>
        <p:spPr>
          <a:xfrm>
            <a:off x="6875916" y="3424161"/>
            <a:ext cx="161231" cy="797286"/>
          </a:xfrm>
          <a:prstGeom prst="roundRect">
            <a:avLst>
              <a:gd name="adj" fmla="val 10000"/>
            </a:avLst>
          </a:prstGeom>
          <a:solidFill>
            <a:srgbClr val="1F6FEB"/>
          </a:solidFill>
          <a:ln/>
        </p:spPr>
      </p:sp>
      <p:sp>
        <p:nvSpPr>
          <p:cNvPr id="56" name="Text 53"/>
          <p:cNvSpPr txBox="1"/>
          <p:nvPr/>
        </p:nvSpPr>
        <p:spPr>
          <a:xfrm>
            <a:off x="6862136" y="4268136"/>
            <a:ext cx="190182"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Nov</a:t>
            </a:r>
            <a:endParaRPr lang="en-US" sz="670" dirty="0"/>
          </a:p>
        </p:txBody>
      </p:sp>
      <p:sp>
        <p:nvSpPr>
          <p:cNvPr id="57" name="Shape 54"/>
          <p:cNvSpPr/>
          <p:nvPr/>
        </p:nvSpPr>
        <p:spPr>
          <a:xfrm>
            <a:off x="7152426" y="3416100"/>
            <a:ext cx="161231" cy="805348"/>
          </a:xfrm>
          <a:prstGeom prst="roundRect">
            <a:avLst>
              <a:gd name="adj" fmla="val 10000"/>
            </a:avLst>
          </a:prstGeom>
          <a:solidFill>
            <a:srgbClr val="1F6FEB"/>
          </a:solidFill>
          <a:ln/>
        </p:spPr>
      </p:sp>
      <p:sp>
        <p:nvSpPr>
          <p:cNvPr id="58" name="Text 55"/>
          <p:cNvSpPr txBox="1"/>
          <p:nvPr/>
        </p:nvSpPr>
        <p:spPr>
          <a:xfrm>
            <a:off x="7137983" y="4268136"/>
            <a:ext cx="190647"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Dec</a:t>
            </a:r>
            <a:endParaRPr lang="en-US" sz="670" dirty="0"/>
          </a:p>
        </p:txBody>
      </p:sp>
      <p:sp>
        <p:nvSpPr>
          <p:cNvPr id="59" name="Shape 56"/>
          <p:cNvSpPr/>
          <p:nvPr/>
        </p:nvSpPr>
        <p:spPr>
          <a:xfrm>
            <a:off x="7428131" y="3537023"/>
            <a:ext cx="161231" cy="684425"/>
          </a:xfrm>
          <a:prstGeom prst="roundRect">
            <a:avLst>
              <a:gd name="adj" fmla="val 10000"/>
            </a:avLst>
          </a:prstGeom>
          <a:solidFill>
            <a:srgbClr val="1F6FEB"/>
          </a:solidFill>
          <a:ln/>
        </p:spPr>
      </p:sp>
      <p:sp>
        <p:nvSpPr>
          <p:cNvPr id="60" name="Text 57"/>
          <p:cNvSpPr txBox="1"/>
          <p:nvPr/>
        </p:nvSpPr>
        <p:spPr>
          <a:xfrm>
            <a:off x="7426129" y="4268136"/>
            <a:ext cx="165235"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Jan</a:t>
            </a:r>
            <a:endParaRPr lang="en-US" sz="670" dirty="0"/>
          </a:p>
        </p:txBody>
      </p:sp>
      <p:sp>
        <p:nvSpPr>
          <p:cNvPr id="61" name="Shape 58"/>
          <p:cNvSpPr/>
          <p:nvPr/>
        </p:nvSpPr>
        <p:spPr>
          <a:xfrm>
            <a:off x="7704642" y="3477368"/>
            <a:ext cx="161231" cy="744080"/>
          </a:xfrm>
          <a:prstGeom prst="roundRect">
            <a:avLst>
              <a:gd name="adj" fmla="val 10000"/>
            </a:avLst>
          </a:prstGeom>
          <a:solidFill>
            <a:srgbClr val="1F6FEB"/>
          </a:solidFill>
          <a:ln/>
        </p:spPr>
      </p:sp>
      <p:sp>
        <p:nvSpPr>
          <p:cNvPr id="62" name="Text 59"/>
          <p:cNvSpPr txBox="1"/>
          <p:nvPr/>
        </p:nvSpPr>
        <p:spPr>
          <a:xfrm>
            <a:off x="7695074" y="4268136"/>
            <a:ext cx="183959"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Feb</a:t>
            </a:r>
            <a:endParaRPr lang="en-US" sz="670" dirty="0"/>
          </a:p>
        </p:txBody>
      </p:sp>
      <p:sp>
        <p:nvSpPr>
          <p:cNvPr id="63" name="Shape 60"/>
          <p:cNvSpPr/>
          <p:nvPr/>
        </p:nvSpPr>
        <p:spPr>
          <a:xfrm>
            <a:off x="7981153" y="3436254"/>
            <a:ext cx="161231" cy="785194"/>
          </a:xfrm>
          <a:prstGeom prst="roundRect">
            <a:avLst>
              <a:gd name="adj" fmla="val 10000"/>
            </a:avLst>
          </a:prstGeom>
          <a:solidFill>
            <a:srgbClr val="1F6FEB"/>
          </a:solidFill>
          <a:ln/>
        </p:spPr>
      </p:sp>
      <p:sp>
        <p:nvSpPr>
          <p:cNvPr id="64" name="Text 61"/>
          <p:cNvSpPr txBox="1"/>
          <p:nvPr/>
        </p:nvSpPr>
        <p:spPr>
          <a:xfrm>
            <a:off x="7967986" y="4268136"/>
            <a:ext cx="192405" cy="100584"/>
          </a:xfrm>
          <a:prstGeom prst="rect">
            <a:avLst/>
          </a:prstGeom>
          <a:noFill/>
          <a:ln/>
        </p:spPr>
        <p:txBody>
          <a:bodyPr wrap="none" lIns="0" tIns="0" rIns="0" bIns="0" rtlCol="0" anchor="ctr"/>
          <a:lstStyle/>
          <a:p>
            <a:pPr algn="ctr" indent="0" marL="0">
              <a:lnSpc>
                <a:spcPts val="790"/>
              </a:lnSpc>
              <a:buNone/>
            </a:pPr>
            <a:r>
              <a:rPr lang="en-US" sz="670" dirty="0">
                <a:solidFill>
                  <a:srgbClr val="5F7691"/>
                </a:solidFill>
                <a:latin typeface="Arial" pitchFamily="34" charset="0"/>
                <a:ea typeface="Arial" pitchFamily="34" charset="-122"/>
                <a:cs typeface="Arial" pitchFamily="34" charset="-120"/>
              </a:rPr>
              <a:t>Mar</a:t>
            </a:r>
            <a:endParaRPr lang="en-US" sz="670" dirty="0"/>
          </a:p>
        </p:txBody>
      </p:sp>
      <p:sp>
        <p:nvSpPr>
          <p:cNvPr id="65" name="Shape 62"/>
          <p:cNvSpPr/>
          <p:nvPr/>
        </p:nvSpPr>
        <p:spPr>
          <a:xfrm>
            <a:off x="5989952" y="2689755"/>
            <a:ext cx="0" cy="1531693"/>
          </a:xfrm>
          <a:prstGeom prst="line">
            <a:avLst/>
          </a:prstGeom>
          <a:noFill/>
          <a:ln w="8062">
            <a:solidFill>
              <a:srgbClr val="071A33">
                <a:alpha val="50000"/>
              </a:srgbClr>
            </a:solidFill>
            <a:prstDash val="sysDash"/>
          </a:ln>
        </p:spPr>
      </p:sp>
      <p:sp>
        <p:nvSpPr>
          <p:cNvPr id="66" name="Text 63"/>
          <p:cNvSpPr txBox="1"/>
          <p:nvPr/>
        </p:nvSpPr>
        <p:spPr>
          <a:xfrm>
            <a:off x="6038322" y="2663889"/>
            <a:ext cx="738939" cy="100586"/>
          </a:xfrm>
          <a:prstGeom prst="rect">
            <a:avLst/>
          </a:prstGeom>
          <a:noFill/>
          <a:ln/>
        </p:spPr>
        <p:txBody>
          <a:bodyPr wrap="none" lIns="0" tIns="0" rIns="0" bIns="0" rtlCol="0" anchor="ctr"/>
          <a:lstStyle/>
          <a:p>
            <a:pPr algn="l" indent="0" marL="0">
              <a:lnSpc>
                <a:spcPts val="790"/>
              </a:lnSpc>
              <a:buNone/>
            </a:pPr>
            <a:r>
              <a:rPr lang="en-US" sz="670" b="1" dirty="0">
                <a:solidFill>
                  <a:srgbClr val="071A33"/>
                </a:solidFill>
                <a:latin typeface="Arial" pitchFamily="34" charset="0"/>
                <a:ea typeface="Arial" pitchFamily="34" charset="-122"/>
                <a:cs typeface="Arial" pitchFamily="34" charset="-120"/>
              </a:rPr>
              <a:t>Supplier change</a:t>
            </a:r>
            <a:endParaRPr lang="en-US" sz="670" dirty="0"/>
          </a:p>
        </p:txBody>
      </p:sp>
      <p:sp>
        <p:nvSpPr>
          <p:cNvPr id="67" name="Shape 64"/>
          <p:cNvSpPr/>
          <p:nvPr/>
        </p:nvSpPr>
        <p:spPr>
          <a:xfrm>
            <a:off x="4193841" y="2963847"/>
            <a:ext cx="3867927" cy="563502"/>
          </a:xfrm>
          <a:custGeom>
            <a:avLst/>
            <a:gdLst/>
            <a:ahLst/>
            <a:cxnLst/>
            <a:rect l="l" t="t" r="r" b="b"/>
            <a:pathLst>
              <a:path w="3867927" h="563502">
                <a:moveTo>
                  <a:pt x="0" y="105606"/>
                </a:moveTo>
                <a:lnTo>
                  <a:pt x="276511" y="12092"/>
                </a:lnTo>
                <a:lnTo>
                  <a:pt x="553022" y="74166"/>
                </a:lnTo>
                <a:lnTo>
                  <a:pt x="828726" y="0"/>
                </a:lnTo>
                <a:lnTo>
                  <a:pt x="1105237" y="160425"/>
                </a:lnTo>
                <a:lnTo>
                  <a:pt x="1381748" y="298277"/>
                </a:lnTo>
                <a:lnTo>
                  <a:pt x="1657453" y="390985"/>
                </a:lnTo>
                <a:lnTo>
                  <a:pt x="1933964" y="398240"/>
                </a:lnTo>
                <a:lnTo>
                  <a:pt x="2210474" y="461926"/>
                </a:lnTo>
                <a:lnTo>
                  <a:pt x="2486179" y="516745"/>
                </a:lnTo>
                <a:lnTo>
                  <a:pt x="2762690" y="563502"/>
                </a:lnTo>
                <a:lnTo>
                  <a:pt x="3039201" y="481274"/>
                </a:lnTo>
                <a:lnTo>
                  <a:pt x="3314905" y="481274"/>
                </a:lnTo>
                <a:lnTo>
                  <a:pt x="3591416" y="537705"/>
                </a:lnTo>
                <a:lnTo>
                  <a:pt x="3867927" y="478856"/>
                </a:lnTo>
              </a:path>
            </a:pathLst>
          </a:custGeom>
          <a:ln w="17735">
            <a:solidFill>
              <a:srgbClr val="071A33"/>
            </a:solidFill>
            <a:prstDash val="solid"/>
          </a:ln>
        </p:spPr>
      </p:sp>
      <p:sp>
        <p:nvSpPr>
          <p:cNvPr id="68" name="Shape 65"/>
          <p:cNvSpPr/>
          <p:nvPr/>
        </p:nvSpPr>
        <p:spPr>
          <a:xfrm>
            <a:off x="4169656" y="3045269"/>
            <a:ext cx="48369" cy="48369"/>
          </a:xfrm>
          <a:prstGeom prst="ellipse">
            <a:avLst/>
          </a:prstGeom>
          <a:solidFill>
            <a:srgbClr val="FFFFFF"/>
          </a:solidFill>
          <a:ln w="14511">
            <a:solidFill>
              <a:srgbClr val="071A33"/>
            </a:solidFill>
            <a:prstDash val="solid"/>
          </a:ln>
        </p:spPr>
      </p:sp>
      <p:sp>
        <p:nvSpPr>
          <p:cNvPr id="69" name="Shape 66"/>
          <p:cNvSpPr/>
          <p:nvPr/>
        </p:nvSpPr>
        <p:spPr>
          <a:xfrm>
            <a:off x="4446167" y="2951755"/>
            <a:ext cx="48369" cy="48369"/>
          </a:xfrm>
          <a:prstGeom prst="ellipse">
            <a:avLst/>
          </a:prstGeom>
          <a:solidFill>
            <a:srgbClr val="FFFFFF"/>
          </a:solidFill>
          <a:ln w="14511">
            <a:solidFill>
              <a:srgbClr val="071A33"/>
            </a:solidFill>
            <a:prstDash val="solid"/>
          </a:ln>
        </p:spPr>
      </p:sp>
      <p:sp>
        <p:nvSpPr>
          <p:cNvPr id="70" name="Shape 67"/>
          <p:cNvSpPr/>
          <p:nvPr/>
        </p:nvSpPr>
        <p:spPr>
          <a:xfrm>
            <a:off x="4722678" y="3013829"/>
            <a:ext cx="48369" cy="48369"/>
          </a:xfrm>
          <a:prstGeom prst="ellipse">
            <a:avLst/>
          </a:prstGeom>
          <a:solidFill>
            <a:srgbClr val="FFFFFF"/>
          </a:solidFill>
          <a:ln w="14511">
            <a:solidFill>
              <a:srgbClr val="071A33"/>
            </a:solidFill>
            <a:prstDash val="solid"/>
          </a:ln>
        </p:spPr>
      </p:sp>
      <p:sp>
        <p:nvSpPr>
          <p:cNvPr id="71" name="Shape 68"/>
          <p:cNvSpPr/>
          <p:nvPr/>
        </p:nvSpPr>
        <p:spPr>
          <a:xfrm>
            <a:off x="4998383" y="2939663"/>
            <a:ext cx="48369" cy="48369"/>
          </a:xfrm>
          <a:prstGeom prst="ellipse">
            <a:avLst/>
          </a:prstGeom>
          <a:solidFill>
            <a:srgbClr val="FFFFFF"/>
          </a:solidFill>
          <a:ln w="14511">
            <a:solidFill>
              <a:srgbClr val="071A33"/>
            </a:solidFill>
            <a:prstDash val="solid"/>
          </a:ln>
        </p:spPr>
      </p:sp>
      <p:sp>
        <p:nvSpPr>
          <p:cNvPr id="72" name="Shape 69"/>
          <p:cNvSpPr/>
          <p:nvPr/>
        </p:nvSpPr>
        <p:spPr>
          <a:xfrm>
            <a:off x="5274894" y="3100087"/>
            <a:ext cx="48369" cy="48369"/>
          </a:xfrm>
          <a:prstGeom prst="ellipse">
            <a:avLst/>
          </a:prstGeom>
          <a:solidFill>
            <a:srgbClr val="FFFFFF"/>
          </a:solidFill>
          <a:ln w="14511">
            <a:solidFill>
              <a:srgbClr val="071A33"/>
            </a:solidFill>
            <a:prstDash val="solid"/>
          </a:ln>
        </p:spPr>
      </p:sp>
      <p:sp>
        <p:nvSpPr>
          <p:cNvPr id="73" name="Shape 70"/>
          <p:cNvSpPr/>
          <p:nvPr/>
        </p:nvSpPr>
        <p:spPr>
          <a:xfrm>
            <a:off x="5551404" y="3237940"/>
            <a:ext cx="48369" cy="48369"/>
          </a:xfrm>
          <a:prstGeom prst="ellipse">
            <a:avLst/>
          </a:prstGeom>
          <a:solidFill>
            <a:srgbClr val="FFFFFF"/>
          </a:solidFill>
          <a:ln w="14511">
            <a:solidFill>
              <a:srgbClr val="071A33"/>
            </a:solidFill>
            <a:prstDash val="solid"/>
          </a:ln>
        </p:spPr>
      </p:sp>
      <p:sp>
        <p:nvSpPr>
          <p:cNvPr id="74" name="Shape 71"/>
          <p:cNvSpPr/>
          <p:nvPr/>
        </p:nvSpPr>
        <p:spPr>
          <a:xfrm>
            <a:off x="5827109" y="3330648"/>
            <a:ext cx="48369" cy="48369"/>
          </a:xfrm>
          <a:prstGeom prst="ellipse">
            <a:avLst/>
          </a:prstGeom>
          <a:solidFill>
            <a:srgbClr val="FFFFFF"/>
          </a:solidFill>
          <a:ln w="14511">
            <a:solidFill>
              <a:srgbClr val="071A33"/>
            </a:solidFill>
            <a:prstDash val="solid"/>
          </a:ln>
        </p:spPr>
      </p:sp>
      <p:sp>
        <p:nvSpPr>
          <p:cNvPr id="75" name="Shape 72"/>
          <p:cNvSpPr/>
          <p:nvPr/>
        </p:nvSpPr>
        <p:spPr>
          <a:xfrm>
            <a:off x="6103620" y="3337903"/>
            <a:ext cx="48369" cy="48369"/>
          </a:xfrm>
          <a:prstGeom prst="ellipse">
            <a:avLst/>
          </a:prstGeom>
          <a:solidFill>
            <a:srgbClr val="FFFFFF"/>
          </a:solidFill>
          <a:ln w="14511">
            <a:solidFill>
              <a:srgbClr val="071A33"/>
            </a:solidFill>
            <a:prstDash val="solid"/>
          </a:ln>
        </p:spPr>
      </p:sp>
      <p:sp>
        <p:nvSpPr>
          <p:cNvPr id="76" name="Shape 73"/>
          <p:cNvSpPr/>
          <p:nvPr/>
        </p:nvSpPr>
        <p:spPr>
          <a:xfrm>
            <a:off x="6380131" y="3401589"/>
            <a:ext cx="48369" cy="48369"/>
          </a:xfrm>
          <a:prstGeom prst="ellipse">
            <a:avLst/>
          </a:prstGeom>
          <a:solidFill>
            <a:srgbClr val="FFFFFF"/>
          </a:solidFill>
          <a:ln w="14511">
            <a:solidFill>
              <a:srgbClr val="071A33"/>
            </a:solidFill>
            <a:prstDash val="solid"/>
          </a:ln>
        </p:spPr>
      </p:sp>
      <p:sp>
        <p:nvSpPr>
          <p:cNvPr id="77" name="Shape 74"/>
          <p:cNvSpPr/>
          <p:nvPr/>
        </p:nvSpPr>
        <p:spPr>
          <a:xfrm>
            <a:off x="6655836" y="3456408"/>
            <a:ext cx="48369" cy="48369"/>
          </a:xfrm>
          <a:prstGeom prst="ellipse">
            <a:avLst/>
          </a:prstGeom>
          <a:solidFill>
            <a:srgbClr val="FFFFFF"/>
          </a:solidFill>
          <a:ln w="14511">
            <a:solidFill>
              <a:srgbClr val="071A33"/>
            </a:solidFill>
            <a:prstDash val="solid"/>
          </a:ln>
        </p:spPr>
      </p:sp>
      <p:sp>
        <p:nvSpPr>
          <p:cNvPr id="78" name="Shape 75"/>
          <p:cNvSpPr/>
          <p:nvPr/>
        </p:nvSpPr>
        <p:spPr>
          <a:xfrm>
            <a:off x="6932346" y="3503164"/>
            <a:ext cx="48369" cy="48369"/>
          </a:xfrm>
          <a:prstGeom prst="ellipse">
            <a:avLst/>
          </a:prstGeom>
          <a:solidFill>
            <a:srgbClr val="FFFFFF"/>
          </a:solidFill>
          <a:ln w="14511">
            <a:solidFill>
              <a:srgbClr val="071A33"/>
            </a:solidFill>
            <a:prstDash val="solid"/>
          </a:ln>
        </p:spPr>
      </p:sp>
      <p:sp>
        <p:nvSpPr>
          <p:cNvPr id="79" name="Shape 76"/>
          <p:cNvSpPr/>
          <p:nvPr/>
        </p:nvSpPr>
        <p:spPr>
          <a:xfrm>
            <a:off x="7208857" y="3420937"/>
            <a:ext cx="48369" cy="48369"/>
          </a:xfrm>
          <a:prstGeom prst="ellipse">
            <a:avLst/>
          </a:prstGeom>
          <a:solidFill>
            <a:srgbClr val="FFFFFF"/>
          </a:solidFill>
          <a:ln w="14511">
            <a:solidFill>
              <a:srgbClr val="071A33"/>
            </a:solidFill>
            <a:prstDash val="solid"/>
          </a:ln>
        </p:spPr>
      </p:sp>
      <p:sp>
        <p:nvSpPr>
          <p:cNvPr id="80" name="Shape 77"/>
          <p:cNvSpPr/>
          <p:nvPr/>
        </p:nvSpPr>
        <p:spPr>
          <a:xfrm>
            <a:off x="7484562" y="3420937"/>
            <a:ext cx="48369" cy="48369"/>
          </a:xfrm>
          <a:prstGeom prst="ellipse">
            <a:avLst/>
          </a:prstGeom>
          <a:solidFill>
            <a:srgbClr val="FFFFFF"/>
          </a:solidFill>
          <a:ln w="14511">
            <a:solidFill>
              <a:srgbClr val="071A33"/>
            </a:solidFill>
            <a:prstDash val="solid"/>
          </a:ln>
        </p:spPr>
      </p:sp>
      <p:sp>
        <p:nvSpPr>
          <p:cNvPr id="81" name="Shape 78"/>
          <p:cNvSpPr/>
          <p:nvPr/>
        </p:nvSpPr>
        <p:spPr>
          <a:xfrm>
            <a:off x="7761073" y="3477368"/>
            <a:ext cx="48369" cy="48369"/>
          </a:xfrm>
          <a:prstGeom prst="ellipse">
            <a:avLst/>
          </a:prstGeom>
          <a:solidFill>
            <a:srgbClr val="FFFFFF"/>
          </a:solidFill>
          <a:ln w="14511">
            <a:solidFill>
              <a:srgbClr val="071A33"/>
            </a:solidFill>
            <a:prstDash val="solid"/>
          </a:ln>
        </p:spPr>
      </p:sp>
      <p:sp>
        <p:nvSpPr>
          <p:cNvPr id="82" name="Shape 79"/>
          <p:cNvSpPr/>
          <p:nvPr/>
        </p:nvSpPr>
        <p:spPr>
          <a:xfrm>
            <a:off x="8037584" y="3418518"/>
            <a:ext cx="48369" cy="48369"/>
          </a:xfrm>
          <a:prstGeom prst="ellipse">
            <a:avLst/>
          </a:prstGeom>
          <a:solidFill>
            <a:srgbClr val="FFFFFF"/>
          </a:solidFill>
          <a:ln w="14511">
            <a:solidFill>
              <a:srgbClr val="071A33"/>
            </a:solidFill>
            <a:prstDash val="solid"/>
          </a:ln>
        </p:spPr>
      </p:sp>
      <p:sp>
        <p:nvSpPr>
          <p:cNvPr id="83" name="Text 80"/>
          <p:cNvSpPr txBox="1"/>
          <p:nvPr/>
        </p:nvSpPr>
        <p:spPr>
          <a:xfrm>
            <a:off x="3685032" y="4515993"/>
            <a:ext cx="2729498" cy="165712"/>
          </a:xfrm>
          <a:prstGeom prst="rect">
            <a:avLst/>
          </a:prstGeom>
          <a:noFill/>
          <a:ln/>
        </p:spPr>
        <p:txBody>
          <a:bodyPr wrap="none" lIns="0" tIns="0" rIns="0" bIns="0" rtlCol="0" anchor="t"/>
          <a:lstStyle/>
          <a:p>
            <a:pPr algn="l" indent="0" marL="0">
              <a:lnSpc>
                <a:spcPts val="1000"/>
              </a:lnSpc>
              <a:buNone/>
            </a:pPr>
            <a:r>
              <a:rPr lang="en-US" sz="650" dirty="0">
                <a:solidFill>
                  <a:srgbClr val="5F7691"/>
                </a:solidFill>
                <a:latin typeface="Arial" pitchFamily="34" charset="0"/>
                <a:ea typeface="Arial" pitchFamily="34" charset="-122"/>
                <a:cs typeface="Arial" pitchFamily="34" charset="-120"/>
              </a:rPr>
              <a:t>Monthly sequence as supplied · Supplier change from Aug onward</a:t>
            </a:r>
            <a:endParaRPr lang="en-US" sz="650" dirty="0"/>
          </a:p>
        </p:txBody>
      </p:sp>
    </p:spTree>
  </p:cSld>
  <p:clrMapOvr>
    <a:masterClrMapping/>
  </p:clrMapOvr>
  <p:transition spd="med">
    <p:push dir="r"/>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775240" cy="201168"/>
          </a:xfrm>
          <a:prstGeom prst="roundRect">
            <a:avLst>
              <a:gd name="adj" fmla="val 50000"/>
            </a:avLst>
          </a:prstGeom>
          <a:solidFill>
            <a:srgbClr val="E1EEFF"/>
          </a:solidFill>
          <a:ln/>
        </p:spPr>
      </p:sp>
      <p:sp>
        <p:nvSpPr>
          <p:cNvPr id="4" name="Text 1"/>
          <p:cNvSpPr txBox="1"/>
          <p:nvPr/>
        </p:nvSpPr>
        <p:spPr>
          <a:xfrm>
            <a:off x="557784" y="1005840"/>
            <a:ext cx="649767"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02 · Drink mix</a:t>
            </a:r>
            <a:endParaRPr lang="en-US" sz="720" dirty="0"/>
          </a:p>
        </p:txBody>
      </p:sp>
      <p:sp>
        <p:nvSpPr>
          <p:cNvPr id="5" name="Text 2"/>
          <p:cNvSpPr txBox="1"/>
          <p:nvPr/>
        </p:nvSpPr>
        <p:spPr>
          <a:xfrm>
            <a:off x="457200" y="1252728"/>
            <a:ext cx="6602925"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2026 drink mix cuts unit cost by a further 25.2%.</a:t>
            </a:r>
            <a:endParaRPr lang="en-US" sz="2380" dirty="0"/>
          </a:p>
        </p:txBody>
      </p:sp>
      <p:sp>
        <p:nvSpPr>
          <p:cNvPr id="6" name="Text 3"/>
          <p:cNvSpPr txBox="1"/>
          <p:nvPr/>
        </p:nvSpPr>
        <p:spPr>
          <a:xfrm>
            <a:off x="457200" y="1636633"/>
            <a:ext cx="3976740"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Redistribute the beverage mix and introduce herbal drinks and tea.</a:t>
            </a:r>
            <a:endParaRPr lang="en-US" sz="940" dirty="0"/>
          </a:p>
        </p:txBody>
      </p:sp>
      <p:sp>
        <p:nvSpPr>
          <p:cNvPr id="7" name="Shape 4"/>
          <p:cNvSpPr/>
          <p:nvPr/>
        </p:nvSpPr>
        <p:spPr>
          <a:xfrm>
            <a:off x="457200" y="1965960"/>
            <a:ext cx="5120640" cy="1969389"/>
          </a:xfrm>
          <a:prstGeom prst="roundRect">
            <a:avLst>
              <a:gd name="adj" fmla="val 8358"/>
            </a:avLst>
          </a:prstGeom>
          <a:solidFill>
            <a:srgbClr val="F0F6FF"/>
          </a:solidFill>
          <a:ln w="9144">
            <a:solidFill>
              <a:srgbClr val="D6E6FA"/>
            </a:solidFill>
            <a:prstDash val="solid"/>
          </a:ln>
        </p:spPr>
      </p:sp>
      <p:sp>
        <p:nvSpPr>
          <p:cNvPr id="8" name="Shape 5"/>
          <p:cNvSpPr/>
          <p:nvPr/>
        </p:nvSpPr>
        <p:spPr>
          <a:xfrm>
            <a:off x="621792" y="2295430"/>
            <a:ext cx="4791456" cy="0"/>
          </a:xfrm>
          <a:prstGeom prst="line">
            <a:avLst/>
          </a:prstGeom>
          <a:noFill/>
          <a:ln w="9144">
            <a:solidFill>
              <a:srgbClr val="D6E6FA"/>
            </a:solidFill>
            <a:prstDash val="solid"/>
          </a:ln>
        </p:spPr>
      </p:sp>
      <p:sp>
        <p:nvSpPr>
          <p:cNvPr id="9" name="Text 6"/>
          <p:cNvSpPr txBox="1"/>
          <p:nvPr/>
        </p:nvSpPr>
        <p:spPr>
          <a:xfrm>
            <a:off x="621792" y="2128695"/>
            <a:ext cx="1241327"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BEVERAGE ALLOCATION</a:t>
            </a:r>
            <a:endParaRPr lang="en-US" sz="650" dirty="0"/>
          </a:p>
        </p:txBody>
      </p:sp>
      <p:sp>
        <p:nvSpPr>
          <p:cNvPr id="10" name="Text 7"/>
          <p:cNvSpPr txBox="1"/>
          <p:nvPr/>
        </p:nvSpPr>
        <p:spPr>
          <a:xfrm>
            <a:off x="2139696" y="2128695"/>
            <a:ext cx="334656"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Y2025</a:t>
            </a:r>
            <a:endParaRPr lang="en-US" sz="650" dirty="0"/>
          </a:p>
        </p:txBody>
      </p:sp>
      <p:sp>
        <p:nvSpPr>
          <p:cNvPr id="11" name="Text 8"/>
          <p:cNvSpPr txBox="1"/>
          <p:nvPr/>
        </p:nvSpPr>
        <p:spPr>
          <a:xfrm>
            <a:off x="3849624" y="2128695"/>
            <a:ext cx="338114"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Y2026</a:t>
            </a:r>
            <a:endParaRPr lang="en-US" sz="650" dirty="0"/>
          </a:p>
        </p:txBody>
      </p:sp>
      <p:sp>
        <p:nvSpPr>
          <p:cNvPr id="12" name="Shape 9"/>
          <p:cNvSpPr/>
          <p:nvPr/>
        </p:nvSpPr>
        <p:spPr>
          <a:xfrm>
            <a:off x="621792" y="2548176"/>
            <a:ext cx="4791456" cy="0"/>
          </a:xfrm>
          <a:prstGeom prst="line">
            <a:avLst/>
          </a:prstGeom>
          <a:noFill/>
          <a:ln w="9144">
            <a:solidFill>
              <a:srgbClr val="D6E6FA"/>
            </a:solidFill>
            <a:prstDash val="solid"/>
          </a:ln>
        </p:spPr>
      </p:sp>
      <p:sp>
        <p:nvSpPr>
          <p:cNvPr id="13" name="Text 10"/>
          <p:cNvSpPr txBox="1"/>
          <p:nvPr/>
        </p:nvSpPr>
        <p:spPr>
          <a:xfrm>
            <a:off x="621792" y="2353008"/>
            <a:ext cx="855335"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Electrolyte drink</a:t>
            </a:r>
            <a:endParaRPr lang="en-US" sz="790" dirty="0"/>
          </a:p>
        </p:txBody>
      </p:sp>
      <p:sp>
        <p:nvSpPr>
          <p:cNvPr id="14" name="Shape 11"/>
          <p:cNvSpPr/>
          <p:nvPr/>
        </p:nvSpPr>
        <p:spPr>
          <a:xfrm>
            <a:off x="2139696" y="2371439"/>
            <a:ext cx="459772" cy="118872"/>
          </a:xfrm>
          <a:prstGeom prst="roundRect">
            <a:avLst>
              <a:gd name="adj" fmla="val 23077"/>
            </a:avLst>
          </a:prstGeom>
          <a:solidFill>
            <a:srgbClr val="BCD8F7"/>
          </a:solidFill>
          <a:ln/>
        </p:spPr>
      </p:sp>
      <p:sp>
        <p:nvSpPr>
          <p:cNvPr id="15" name="Text 12"/>
          <p:cNvSpPr txBox="1"/>
          <p:nvPr/>
        </p:nvSpPr>
        <p:spPr>
          <a:xfrm>
            <a:off x="3502724" y="2356580"/>
            <a:ext cx="200597" cy="193378"/>
          </a:xfrm>
          <a:prstGeom prst="rect">
            <a:avLst/>
          </a:prstGeom>
          <a:noFill/>
          <a:ln/>
        </p:spPr>
        <p:txBody>
          <a:bodyPr wrap="none" lIns="0" tIns="0" rIns="0" bIns="0" rtlCol="0" anchor="t"/>
          <a:lstStyle/>
          <a:p>
            <a:pPr algn="r" indent="0" marL="0">
              <a:lnSpc>
                <a:spcPts val="1170"/>
              </a:lnSpc>
              <a:buNone/>
            </a:pPr>
            <a:r>
              <a:rPr lang="en-US" sz="760" dirty="0">
                <a:solidFill>
                  <a:srgbClr val="4D6585"/>
                </a:solidFill>
                <a:latin typeface="Arial" pitchFamily="34" charset="0"/>
                <a:ea typeface="Arial" pitchFamily="34" charset="-122"/>
                <a:cs typeface="Arial" pitchFamily="34" charset="-120"/>
              </a:rPr>
              <a:t>21%</a:t>
            </a:r>
            <a:endParaRPr lang="en-US" sz="760" dirty="0"/>
          </a:p>
        </p:txBody>
      </p:sp>
      <p:sp>
        <p:nvSpPr>
          <p:cNvPr id="16" name="Shape 13"/>
          <p:cNvSpPr/>
          <p:nvPr/>
        </p:nvSpPr>
        <p:spPr>
          <a:xfrm>
            <a:off x="3849624" y="2371439"/>
            <a:ext cx="1094994" cy="118872"/>
          </a:xfrm>
          <a:prstGeom prst="roundRect">
            <a:avLst>
              <a:gd name="adj" fmla="val 23077"/>
            </a:avLst>
          </a:prstGeom>
          <a:solidFill>
            <a:srgbClr val="1F6FEB"/>
          </a:solidFill>
          <a:ln/>
        </p:spPr>
      </p:sp>
      <p:sp>
        <p:nvSpPr>
          <p:cNvPr id="17" name="Text 14"/>
          <p:cNvSpPr txBox="1"/>
          <p:nvPr/>
        </p:nvSpPr>
        <p:spPr>
          <a:xfrm>
            <a:off x="5180433" y="2356580"/>
            <a:ext cx="232815" cy="193378"/>
          </a:xfrm>
          <a:prstGeom prst="rect">
            <a:avLst/>
          </a:prstGeom>
          <a:noFill/>
          <a:ln/>
        </p:spPr>
        <p:txBody>
          <a:bodyPr wrap="none" lIns="0" tIns="0" rIns="0" bIns="0" rtlCol="0" anchor="t"/>
          <a:lstStyle/>
          <a:p>
            <a:pPr algn="r" indent="0" marL="0">
              <a:lnSpc>
                <a:spcPts val="1170"/>
              </a:lnSpc>
              <a:buNone/>
            </a:pPr>
            <a:r>
              <a:rPr lang="en-US" sz="760" b="1" dirty="0">
                <a:solidFill>
                  <a:srgbClr val="071A33"/>
                </a:solidFill>
                <a:latin typeface="Arial" pitchFamily="34" charset="0"/>
                <a:ea typeface="Arial" pitchFamily="34" charset="-122"/>
                <a:cs typeface="Arial" pitchFamily="34" charset="-120"/>
              </a:rPr>
              <a:t>50%</a:t>
            </a:r>
            <a:endParaRPr lang="en-US" sz="760" dirty="0"/>
          </a:p>
        </p:txBody>
      </p:sp>
      <p:sp>
        <p:nvSpPr>
          <p:cNvPr id="18" name="Shape 15"/>
          <p:cNvSpPr/>
          <p:nvPr/>
        </p:nvSpPr>
        <p:spPr>
          <a:xfrm>
            <a:off x="621792" y="2800922"/>
            <a:ext cx="4791456" cy="0"/>
          </a:xfrm>
          <a:prstGeom prst="line">
            <a:avLst/>
          </a:prstGeom>
          <a:noFill/>
          <a:ln w="9144">
            <a:solidFill>
              <a:srgbClr val="D6E6FA"/>
            </a:solidFill>
            <a:prstDash val="solid"/>
          </a:ln>
        </p:spPr>
      </p:sp>
      <p:sp>
        <p:nvSpPr>
          <p:cNvPr id="19" name="Text 16"/>
          <p:cNvSpPr txBox="1"/>
          <p:nvPr/>
        </p:nvSpPr>
        <p:spPr>
          <a:xfrm>
            <a:off x="621792" y="2605754"/>
            <a:ext cx="513507"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Soft drink</a:t>
            </a:r>
            <a:endParaRPr lang="en-US" sz="790" dirty="0"/>
          </a:p>
        </p:txBody>
      </p:sp>
      <p:sp>
        <p:nvSpPr>
          <p:cNvPr id="20" name="Shape 17"/>
          <p:cNvSpPr/>
          <p:nvPr/>
        </p:nvSpPr>
        <p:spPr>
          <a:xfrm>
            <a:off x="2139696" y="2624185"/>
            <a:ext cx="1161288" cy="118872"/>
          </a:xfrm>
          <a:prstGeom prst="roundRect">
            <a:avLst>
              <a:gd name="adj" fmla="val 23077"/>
            </a:avLst>
          </a:prstGeom>
          <a:solidFill>
            <a:srgbClr val="BCD8F7"/>
          </a:solidFill>
          <a:ln/>
        </p:spPr>
      </p:sp>
      <p:sp>
        <p:nvSpPr>
          <p:cNvPr id="21" name="Text 18"/>
          <p:cNvSpPr txBox="1"/>
          <p:nvPr/>
        </p:nvSpPr>
        <p:spPr>
          <a:xfrm>
            <a:off x="3480721" y="2609326"/>
            <a:ext cx="222599" cy="193378"/>
          </a:xfrm>
          <a:prstGeom prst="rect">
            <a:avLst/>
          </a:prstGeom>
          <a:noFill/>
          <a:ln/>
        </p:spPr>
        <p:txBody>
          <a:bodyPr wrap="none" lIns="0" tIns="0" rIns="0" bIns="0" rtlCol="0" anchor="t"/>
          <a:lstStyle/>
          <a:p>
            <a:pPr algn="r" indent="0" marL="0">
              <a:lnSpc>
                <a:spcPts val="1170"/>
              </a:lnSpc>
              <a:buNone/>
            </a:pPr>
            <a:r>
              <a:rPr lang="en-US" sz="760" dirty="0">
                <a:solidFill>
                  <a:srgbClr val="4D6585"/>
                </a:solidFill>
                <a:latin typeface="Arial" pitchFamily="34" charset="0"/>
                <a:ea typeface="Arial" pitchFamily="34" charset="-122"/>
                <a:cs typeface="Arial" pitchFamily="34" charset="-120"/>
              </a:rPr>
              <a:t>53%</a:t>
            </a:r>
            <a:endParaRPr lang="en-US" sz="760" dirty="0"/>
          </a:p>
        </p:txBody>
      </p:sp>
      <p:sp>
        <p:nvSpPr>
          <p:cNvPr id="22" name="Shape 19"/>
          <p:cNvSpPr/>
          <p:nvPr/>
        </p:nvSpPr>
        <p:spPr>
          <a:xfrm>
            <a:off x="3849624" y="2624185"/>
            <a:ext cx="306467" cy="118872"/>
          </a:xfrm>
          <a:prstGeom prst="roundRect">
            <a:avLst>
              <a:gd name="adj" fmla="val 23077"/>
            </a:avLst>
          </a:prstGeom>
          <a:solidFill>
            <a:srgbClr val="1F6FEB"/>
          </a:solidFill>
          <a:ln/>
        </p:spPr>
      </p:sp>
      <p:sp>
        <p:nvSpPr>
          <p:cNvPr id="23" name="Text 20"/>
          <p:cNvSpPr txBox="1"/>
          <p:nvPr/>
        </p:nvSpPr>
        <p:spPr>
          <a:xfrm>
            <a:off x="5210137" y="2609326"/>
            <a:ext cx="203111" cy="193378"/>
          </a:xfrm>
          <a:prstGeom prst="rect">
            <a:avLst/>
          </a:prstGeom>
          <a:noFill/>
          <a:ln/>
        </p:spPr>
        <p:txBody>
          <a:bodyPr wrap="none" lIns="0" tIns="0" rIns="0" bIns="0" rtlCol="0" anchor="t"/>
          <a:lstStyle/>
          <a:p>
            <a:pPr algn="r" indent="0" marL="0">
              <a:lnSpc>
                <a:spcPts val="1170"/>
              </a:lnSpc>
              <a:buNone/>
            </a:pPr>
            <a:r>
              <a:rPr lang="en-US" sz="760" b="1" dirty="0">
                <a:solidFill>
                  <a:srgbClr val="071A33"/>
                </a:solidFill>
                <a:latin typeface="Arial" pitchFamily="34" charset="0"/>
                <a:ea typeface="Arial" pitchFamily="34" charset="-122"/>
                <a:cs typeface="Arial" pitchFamily="34" charset="-120"/>
              </a:rPr>
              <a:t>14%</a:t>
            </a:r>
            <a:endParaRPr lang="en-US" sz="760" dirty="0"/>
          </a:p>
        </p:txBody>
      </p:sp>
      <p:sp>
        <p:nvSpPr>
          <p:cNvPr id="24" name="Shape 21"/>
          <p:cNvSpPr/>
          <p:nvPr/>
        </p:nvSpPr>
        <p:spPr>
          <a:xfrm>
            <a:off x="621792" y="3053667"/>
            <a:ext cx="4791456" cy="0"/>
          </a:xfrm>
          <a:prstGeom prst="line">
            <a:avLst/>
          </a:prstGeom>
          <a:noFill/>
          <a:ln w="9144">
            <a:solidFill>
              <a:srgbClr val="D6E6FA"/>
            </a:solidFill>
            <a:prstDash val="solid"/>
          </a:ln>
        </p:spPr>
      </p:sp>
      <p:sp>
        <p:nvSpPr>
          <p:cNvPr id="25" name="Text 22"/>
          <p:cNvSpPr txBox="1"/>
          <p:nvPr/>
        </p:nvSpPr>
        <p:spPr>
          <a:xfrm>
            <a:off x="621792" y="2858500"/>
            <a:ext cx="663912"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Energy drink</a:t>
            </a:r>
            <a:endParaRPr lang="en-US" sz="790" dirty="0"/>
          </a:p>
        </p:txBody>
      </p:sp>
      <p:sp>
        <p:nvSpPr>
          <p:cNvPr id="26" name="Shape 23"/>
          <p:cNvSpPr/>
          <p:nvPr/>
        </p:nvSpPr>
        <p:spPr>
          <a:xfrm>
            <a:off x="2139696" y="2876931"/>
            <a:ext cx="459772" cy="118872"/>
          </a:xfrm>
          <a:prstGeom prst="roundRect">
            <a:avLst>
              <a:gd name="adj" fmla="val 23077"/>
            </a:avLst>
          </a:prstGeom>
          <a:solidFill>
            <a:srgbClr val="BCD8F7"/>
          </a:solidFill>
          <a:ln/>
        </p:spPr>
      </p:sp>
      <p:sp>
        <p:nvSpPr>
          <p:cNvPr id="27" name="Text 24"/>
          <p:cNvSpPr txBox="1"/>
          <p:nvPr/>
        </p:nvSpPr>
        <p:spPr>
          <a:xfrm>
            <a:off x="3502724" y="2862072"/>
            <a:ext cx="200597" cy="193378"/>
          </a:xfrm>
          <a:prstGeom prst="rect">
            <a:avLst/>
          </a:prstGeom>
          <a:noFill/>
          <a:ln/>
        </p:spPr>
        <p:txBody>
          <a:bodyPr wrap="none" lIns="0" tIns="0" rIns="0" bIns="0" rtlCol="0" anchor="t"/>
          <a:lstStyle/>
          <a:p>
            <a:pPr algn="r" indent="0" marL="0">
              <a:lnSpc>
                <a:spcPts val="1170"/>
              </a:lnSpc>
              <a:buNone/>
            </a:pPr>
            <a:r>
              <a:rPr lang="en-US" sz="760" dirty="0">
                <a:solidFill>
                  <a:srgbClr val="4D6585"/>
                </a:solidFill>
                <a:latin typeface="Arial" pitchFamily="34" charset="0"/>
                <a:ea typeface="Arial" pitchFamily="34" charset="-122"/>
                <a:cs typeface="Arial" pitchFamily="34" charset="-120"/>
              </a:rPr>
              <a:t>21%</a:t>
            </a:r>
            <a:endParaRPr lang="en-US" sz="760" dirty="0"/>
          </a:p>
        </p:txBody>
      </p:sp>
      <p:sp>
        <p:nvSpPr>
          <p:cNvPr id="28" name="Shape 25"/>
          <p:cNvSpPr/>
          <p:nvPr/>
        </p:nvSpPr>
        <p:spPr>
          <a:xfrm>
            <a:off x="3849624" y="2876931"/>
            <a:ext cx="328613" cy="118872"/>
          </a:xfrm>
          <a:prstGeom prst="roundRect">
            <a:avLst>
              <a:gd name="adj" fmla="val 23077"/>
            </a:avLst>
          </a:prstGeom>
          <a:solidFill>
            <a:srgbClr val="1F6FEB"/>
          </a:solidFill>
          <a:ln/>
        </p:spPr>
      </p:sp>
      <p:sp>
        <p:nvSpPr>
          <p:cNvPr id="29" name="Text 26"/>
          <p:cNvSpPr txBox="1"/>
          <p:nvPr/>
        </p:nvSpPr>
        <p:spPr>
          <a:xfrm>
            <a:off x="5213752" y="2862072"/>
            <a:ext cx="199496" cy="193378"/>
          </a:xfrm>
          <a:prstGeom prst="rect">
            <a:avLst/>
          </a:prstGeom>
          <a:noFill/>
          <a:ln/>
        </p:spPr>
        <p:txBody>
          <a:bodyPr wrap="none" lIns="0" tIns="0" rIns="0" bIns="0" rtlCol="0" anchor="t"/>
          <a:lstStyle/>
          <a:p>
            <a:pPr algn="r" indent="0" marL="0">
              <a:lnSpc>
                <a:spcPts val="1170"/>
              </a:lnSpc>
              <a:buNone/>
            </a:pPr>
            <a:r>
              <a:rPr lang="en-US" sz="760" b="1" dirty="0">
                <a:solidFill>
                  <a:srgbClr val="071A33"/>
                </a:solidFill>
                <a:latin typeface="Arial" pitchFamily="34" charset="0"/>
                <a:ea typeface="Arial" pitchFamily="34" charset="-122"/>
                <a:cs typeface="Arial" pitchFamily="34" charset="-120"/>
              </a:rPr>
              <a:t>15%</a:t>
            </a:r>
            <a:endParaRPr lang="en-US" sz="760" dirty="0"/>
          </a:p>
        </p:txBody>
      </p:sp>
      <p:sp>
        <p:nvSpPr>
          <p:cNvPr id="30" name="Shape 27"/>
          <p:cNvSpPr/>
          <p:nvPr/>
        </p:nvSpPr>
        <p:spPr>
          <a:xfrm>
            <a:off x="621792" y="3306413"/>
            <a:ext cx="4791456" cy="0"/>
          </a:xfrm>
          <a:prstGeom prst="line">
            <a:avLst/>
          </a:prstGeom>
          <a:noFill/>
          <a:ln w="9144">
            <a:solidFill>
              <a:srgbClr val="D6E6FA"/>
            </a:solidFill>
            <a:prstDash val="solid"/>
          </a:ln>
        </p:spPr>
      </p:sp>
      <p:sp>
        <p:nvSpPr>
          <p:cNvPr id="31" name="Text 28"/>
          <p:cNvSpPr txBox="1"/>
          <p:nvPr/>
        </p:nvSpPr>
        <p:spPr>
          <a:xfrm>
            <a:off x="621792" y="3111246"/>
            <a:ext cx="1089665"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Ready to drink coffee</a:t>
            </a:r>
            <a:endParaRPr lang="en-US" sz="790" dirty="0"/>
          </a:p>
        </p:txBody>
      </p:sp>
      <p:sp>
        <p:nvSpPr>
          <p:cNvPr id="32" name="Shape 29"/>
          <p:cNvSpPr/>
          <p:nvPr/>
        </p:nvSpPr>
        <p:spPr>
          <a:xfrm>
            <a:off x="2139696" y="3129677"/>
            <a:ext cx="175308" cy="118872"/>
          </a:xfrm>
          <a:prstGeom prst="roundRect">
            <a:avLst>
              <a:gd name="adj" fmla="val 23077"/>
            </a:avLst>
          </a:prstGeom>
          <a:solidFill>
            <a:srgbClr val="BCD8F7"/>
          </a:solidFill>
          <a:ln/>
        </p:spPr>
      </p:sp>
      <p:sp>
        <p:nvSpPr>
          <p:cNvPr id="33" name="Text 30"/>
          <p:cNvSpPr txBox="1"/>
          <p:nvPr/>
        </p:nvSpPr>
        <p:spPr>
          <a:xfrm>
            <a:off x="3540443" y="3114818"/>
            <a:ext cx="162878" cy="193378"/>
          </a:xfrm>
          <a:prstGeom prst="rect">
            <a:avLst/>
          </a:prstGeom>
          <a:noFill/>
          <a:ln/>
        </p:spPr>
        <p:txBody>
          <a:bodyPr wrap="none" lIns="0" tIns="0" rIns="0" bIns="0" rtlCol="0" anchor="t"/>
          <a:lstStyle/>
          <a:p>
            <a:pPr algn="r" indent="0" marL="0">
              <a:lnSpc>
                <a:spcPts val="1170"/>
              </a:lnSpc>
              <a:buNone/>
            </a:pPr>
            <a:r>
              <a:rPr lang="en-US" sz="760" dirty="0">
                <a:solidFill>
                  <a:srgbClr val="4D6585"/>
                </a:solidFill>
                <a:latin typeface="Arial" pitchFamily="34" charset="0"/>
                <a:ea typeface="Arial" pitchFamily="34" charset="-122"/>
                <a:cs typeface="Arial" pitchFamily="34" charset="-120"/>
              </a:rPr>
              <a:t>8%</a:t>
            </a:r>
            <a:endParaRPr lang="en-US" sz="760" dirty="0"/>
          </a:p>
        </p:txBody>
      </p:sp>
      <p:sp>
        <p:nvSpPr>
          <p:cNvPr id="34" name="Shape 31"/>
          <p:cNvSpPr/>
          <p:nvPr/>
        </p:nvSpPr>
        <p:spPr>
          <a:xfrm>
            <a:off x="3849624" y="3129677"/>
            <a:ext cx="153162" cy="118872"/>
          </a:xfrm>
          <a:prstGeom prst="roundRect">
            <a:avLst>
              <a:gd name="adj" fmla="val 23077"/>
            </a:avLst>
          </a:prstGeom>
          <a:solidFill>
            <a:srgbClr val="1F6FEB"/>
          </a:solidFill>
          <a:ln/>
        </p:spPr>
      </p:sp>
      <p:sp>
        <p:nvSpPr>
          <p:cNvPr id="35" name="Text 32"/>
          <p:cNvSpPr txBox="1"/>
          <p:nvPr/>
        </p:nvSpPr>
        <p:spPr>
          <a:xfrm>
            <a:off x="5253357" y="3114818"/>
            <a:ext cx="159891" cy="193378"/>
          </a:xfrm>
          <a:prstGeom prst="rect">
            <a:avLst/>
          </a:prstGeom>
          <a:noFill/>
          <a:ln/>
        </p:spPr>
        <p:txBody>
          <a:bodyPr wrap="none" lIns="0" tIns="0" rIns="0" bIns="0" rtlCol="0" anchor="t"/>
          <a:lstStyle/>
          <a:p>
            <a:pPr algn="r" indent="0" marL="0">
              <a:lnSpc>
                <a:spcPts val="1170"/>
              </a:lnSpc>
              <a:buNone/>
            </a:pPr>
            <a:r>
              <a:rPr lang="en-US" sz="760" b="1" dirty="0">
                <a:solidFill>
                  <a:srgbClr val="071A33"/>
                </a:solidFill>
                <a:latin typeface="Arial" pitchFamily="34" charset="0"/>
                <a:ea typeface="Arial" pitchFamily="34" charset="-122"/>
                <a:cs typeface="Arial" pitchFamily="34" charset="-120"/>
              </a:rPr>
              <a:t>7%</a:t>
            </a:r>
            <a:endParaRPr lang="en-US" sz="760" dirty="0"/>
          </a:p>
        </p:txBody>
      </p:sp>
      <p:sp>
        <p:nvSpPr>
          <p:cNvPr id="36" name="Shape 33"/>
          <p:cNvSpPr/>
          <p:nvPr/>
        </p:nvSpPr>
        <p:spPr>
          <a:xfrm>
            <a:off x="621792" y="3559159"/>
            <a:ext cx="4791456" cy="0"/>
          </a:xfrm>
          <a:prstGeom prst="line">
            <a:avLst/>
          </a:prstGeom>
          <a:noFill/>
          <a:ln w="9144">
            <a:solidFill>
              <a:srgbClr val="D6E6FA"/>
            </a:solidFill>
            <a:prstDash val="solid"/>
          </a:ln>
        </p:spPr>
      </p:sp>
      <p:sp>
        <p:nvSpPr>
          <p:cNvPr id="37" name="Text 34"/>
          <p:cNvSpPr txBox="1"/>
          <p:nvPr/>
        </p:nvSpPr>
        <p:spPr>
          <a:xfrm>
            <a:off x="621792" y="3363992"/>
            <a:ext cx="638137"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Herbal drink</a:t>
            </a:r>
            <a:endParaRPr lang="en-US" sz="790" dirty="0"/>
          </a:p>
        </p:txBody>
      </p:sp>
      <p:sp>
        <p:nvSpPr>
          <p:cNvPr id="38" name="Shape 35"/>
          <p:cNvSpPr/>
          <p:nvPr/>
        </p:nvSpPr>
        <p:spPr>
          <a:xfrm>
            <a:off x="1242012" y="3386852"/>
            <a:ext cx="244888" cy="118872"/>
          </a:xfrm>
          <a:prstGeom prst="roundRect">
            <a:avLst>
              <a:gd name="adj" fmla="val 50000"/>
            </a:avLst>
          </a:prstGeom>
          <a:solidFill>
            <a:srgbClr val="D9EAFF"/>
          </a:solidFill>
          <a:ln/>
        </p:spPr>
      </p:sp>
      <p:sp>
        <p:nvSpPr>
          <p:cNvPr id="39" name="Text 36"/>
          <p:cNvSpPr txBox="1"/>
          <p:nvPr/>
        </p:nvSpPr>
        <p:spPr>
          <a:xfrm>
            <a:off x="1287732" y="3400568"/>
            <a:ext cx="187081" cy="125456"/>
          </a:xfrm>
          <a:prstGeom prst="rect">
            <a:avLst/>
          </a:prstGeom>
          <a:noFill/>
          <a:ln/>
        </p:spPr>
        <p:txBody>
          <a:bodyPr wrap="none" lIns="0" tIns="0" rIns="0" bIns="0" rtlCol="0" anchor="t"/>
          <a:lstStyle/>
          <a:p>
            <a:pPr algn="l" indent="0" marL="0">
              <a:lnSpc>
                <a:spcPts val="890"/>
              </a:lnSpc>
              <a:buNone/>
            </a:pPr>
            <a:r>
              <a:rPr lang="en-US" sz="580" b="1" dirty="0">
                <a:solidFill>
                  <a:srgbClr val="0B4FBF"/>
                </a:solidFill>
                <a:latin typeface="Arial" pitchFamily="34" charset="0"/>
                <a:ea typeface="Arial" pitchFamily="34" charset="-122"/>
                <a:cs typeface="Arial" pitchFamily="34" charset="-120"/>
              </a:rPr>
              <a:t>New</a:t>
            </a:r>
            <a:endParaRPr lang="en-US" sz="580" dirty="0"/>
          </a:p>
        </p:txBody>
      </p:sp>
      <p:sp>
        <p:nvSpPr>
          <p:cNvPr id="40" name="Shape 37"/>
          <p:cNvSpPr/>
          <p:nvPr/>
        </p:nvSpPr>
        <p:spPr>
          <a:xfrm>
            <a:off x="2139696" y="3382423"/>
            <a:ext cx="9144" cy="118872"/>
          </a:xfrm>
          <a:prstGeom prst="roundRect">
            <a:avLst>
              <a:gd name="adj" fmla="val 50000"/>
            </a:avLst>
          </a:prstGeom>
          <a:solidFill>
            <a:srgbClr val="BCD8F7"/>
          </a:solidFill>
          <a:ln/>
        </p:spPr>
      </p:sp>
      <p:sp>
        <p:nvSpPr>
          <p:cNvPr id="41" name="Text 38"/>
          <p:cNvSpPr txBox="1"/>
          <p:nvPr/>
        </p:nvSpPr>
        <p:spPr>
          <a:xfrm>
            <a:off x="3631440" y="3367564"/>
            <a:ext cx="71880" cy="193378"/>
          </a:xfrm>
          <a:prstGeom prst="rect">
            <a:avLst/>
          </a:prstGeom>
          <a:noFill/>
          <a:ln/>
        </p:spPr>
        <p:txBody>
          <a:bodyPr wrap="none" lIns="0" tIns="0" rIns="0" bIns="0" rtlCol="0" anchor="t"/>
          <a:lstStyle/>
          <a:p>
            <a:pPr algn="r" indent="0" marL="0">
              <a:lnSpc>
                <a:spcPts val="1170"/>
              </a:lnSpc>
              <a:buNone/>
            </a:pPr>
            <a:r>
              <a:rPr lang="en-US" sz="760" dirty="0">
                <a:solidFill>
                  <a:srgbClr val="4D6585"/>
                </a:solidFill>
                <a:latin typeface="Arial" pitchFamily="34" charset="0"/>
                <a:ea typeface="Arial" pitchFamily="34" charset="-122"/>
                <a:cs typeface="Arial" pitchFamily="34" charset="-120"/>
              </a:rPr>
              <a:t>-</a:t>
            </a:r>
            <a:endParaRPr lang="en-US" sz="760" dirty="0"/>
          </a:p>
        </p:txBody>
      </p:sp>
      <p:sp>
        <p:nvSpPr>
          <p:cNvPr id="42" name="Shape 39"/>
          <p:cNvSpPr/>
          <p:nvPr/>
        </p:nvSpPr>
        <p:spPr>
          <a:xfrm>
            <a:off x="3849624" y="3382423"/>
            <a:ext cx="153162" cy="118872"/>
          </a:xfrm>
          <a:prstGeom prst="roundRect">
            <a:avLst>
              <a:gd name="adj" fmla="val 23077"/>
            </a:avLst>
          </a:prstGeom>
          <a:solidFill>
            <a:srgbClr val="1F6FEB"/>
          </a:solidFill>
          <a:ln/>
        </p:spPr>
      </p:sp>
      <p:sp>
        <p:nvSpPr>
          <p:cNvPr id="43" name="Text 40"/>
          <p:cNvSpPr txBox="1"/>
          <p:nvPr/>
        </p:nvSpPr>
        <p:spPr>
          <a:xfrm>
            <a:off x="5253357" y="3367564"/>
            <a:ext cx="159891" cy="193378"/>
          </a:xfrm>
          <a:prstGeom prst="rect">
            <a:avLst/>
          </a:prstGeom>
          <a:noFill/>
          <a:ln/>
        </p:spPr>
        <p:txBody>
          <a:bodyPr wrap="none" lIns="0" tIns="0" rIns="0" bIns="0" rtlCol="0" anchor="t"/>
          <a:lstStyle/>
          <a:p>
            <a:pPr algn="r" indent="0" marL="0">
              <a:lnSpc>
                <a:spcPts val="1170"/>
              </a:lnSpc>
              <a:buNone/>
            </a:pPr>
            <a:r>
              <a:rPr lang="en-US" sz="760" b="1" dirty="0">
                <a:solidFill>
                  <a:srgbClr val="071A33"/>
                </a:solidFill>
                <a:latin typeface="Arial" pitchFamily="34" charset="0"/>
                <a:ea typeface="Arial" pitchFamily="34" charset="-122"/>
                <a:cs typeface="Arial" pitchFamily="34" charset="-120"/>
              </a:rPr>
              <a:t>7%</a:t>
            </a:r>
            <a:endParaRPr lang="en-US" sz="760" dirty="0"/>
          </a:p>
        </p:txBody>
      </p:sp>
      <p:sp>
        <p:nvSpPr>
          <p:cNvPr id="44" name="Text 41"/>
          <p:cNvSpPr txBox="1"/>
          <p:nvPr/>
        </p:nvSpPr>
        <p:spPr>
          <a:xfrm>
            <a:off x="621792" y="3616738"/>
            <a:ext cx="199339" cy="202648"/>
          </a:xfrm>
          <a:prstGeom prst="rect">
            <a:avLst/>
          </a:prstGeom>
          <a:noFill/>
          <a:ln/>
        </p:spPr>
        <p:txBody>
          <a:bodyPr wrap="none" lIns="0" tIns="0" rIns="0" bIns="0" rtlCol="0" anchor="t"/>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Tea</a:t>
            </a:r>
            <a:endParaRPr lang="en-US" sz="790" dirty="0"/>
          </a:p>
        </p:txBody>
      </p:sp>
      <p:sp>
        <p:nvSpPr>
          <p:cNvPr id="45" name="Shape 42"/>
          <p:cNvSpPr/>
          <p:nvPr/>
        </p:nvSpPr>
        <p:spPr>
          <a:xfrm>
            <a:off x="843105" y="3639598"/>
            <a:ext cx="244888" cy="118872"/>
          </a:xfrm>
          <a:prstGeom prst="roundRect">
            <a:avLst>
              <a:gd name="adj" fmla="val 50000"/>
            </a:avLst>
          </a:prstGeom>
          <a:solidFill>
            <a:srgbClr val="D9EAFF"/>
          </a:solidFill>
          <a:ln/>
        </p:spPr>
      </p:sp>
      <p:sp>
        <p:nvSpPr>
          <p:cNvPr id="46" name="Text 43"/>
          <p:cNvSpPr txBox="1"/>
          <p:nvPr/>
        </p:nvSpPr>
        <p:spPr>
          <a:xfrm>
            <a:off x="888825" y="3653314"/>
            <a:ext cx="187081" cy="125456"/>
          </a:xfrm>
          <a:prstGeom prst="rect">
            <a:avLst/>
          </a:prstGeom>
          <a:noFill/>
          <a:ln/>
        </p:spPr>
        <p:txBody>
          <a:bodyPr wrap="none" lIns="0" tIns="0" rIns="0" bIns="0" rtlCol="0" anchor="t"/>
          <a:lstStyle/>
          <a:p>
            <a:pPr algn="l" indent="0" marL="0">
              <a:lnSpc>
                <a:spcPts val="890"/>
              </a:lnSpc>
              <a:buNone/>
            </a:pPr>
            <a:r>
              <a:rPr lang="en-US" sz="580" b="1" dirty="0">
                <a:solidFill>
                  <a:srgbClr val="0B4FBF"/>
                </a:solidFill>
                <a:latin typeface="Arial" pitchFamily="34" charset="0"/>
                <a:ea typeface="Arial" pitchFamily="34" charset="-122"/>
                <a:cs typeface="Arial" pitchFamily="34" charset="-120"/>
              </a:rPr>
              <a:t>New</a:t>
            </a:r>
            <a:endParaRPr lang="en-US" sz="580" dirty="0"/>
          </a:p>
        </p:txBody>
      </p:sp>
      <p:sp>
        <p:nvSpPr>
          <p:cNvPr id="47" name="Shape 44"/>
          <p:cNvSpPr/>
          <p:nvPr/>
        </p:nvSpPr>
        <p:spPr>
          <a:xfrm>
            <a:off x="2139696" y="3635169"/>
            <a:ext cx="9144" cy="118872"/>
          </a:xfrm>
          <a:prstGeom prst="roundRect">
            <a:avLst>
              <a:gd name="adj" fmla="val 50000"/>
            </a:avLst>
          </a:prstGeom>
          <a:solidFill>
            <a:srgbClr val="BCD8F7"/>
          </a:solidFill>
          <a:ln/>
        </p:spPr>
      </p:sp>
      <p:sp>
        <p:nvSpPr>
          <p:cNvPr id="48" name="Text 45"/>
          <p:cNvSpPr txBox="1"/>
          <p:nvPr/>
        </p:nvSpPr>
        <p:spPr>
          <a:xfrm>
            <a:off x="3631440" y="3620310"/>
            <a:ext cx="71880" cy="193378"/>
          </a:xfrm>
          <a:prstGeom prst="rect">
            <a:avLst/>
          </a:prstGeom>
          <a:noFill/>
          <a:ln/>
        </p:spPr>
        <p:txBody>
          <a:bodyPr wrap="none" lIns="0" tIns="0" rIns="0" bIns="0" rtlCol="0" anchor="t"/>
          <a:lstStyle/>
          <a:p>
            <a:pPr algn="r" indent="0" marL="0">
              <a:lnSpc>
                <a:spcPts val="1170"/>
              </a:lnSpc>
              <a:buNone/>
            </a:pPr>
            <a:r>
              <a:rPr lang="en-US" sz="760" dirty="0">
                <a:solidFill>
                  <a:srgbClr val="4D6585"/>
                </a:solidFill>
                <a:latin typeface="Arial" pitchFamily="34" charset="0"/>
                <a:ea typeface="Arial" pitchFamily="34" charset="-122"/>
                <a:cs typeface="Arial" pitchFamily="34" charset="-120"/>
              </a:rPr>
              <a:t>-</a:t>
            </a:r>
            <a:endParaRPr lang="en-US" sz="760" dirty="0"/>
          </a:p>
        </p:txBody>
      </p:sp>
      <p:sp>
        <p:nvSpPr>
          <p:cNvPr id="49" name="Shape 46"/>
          <p:cNvSpPr/>
          <p:nvPr/>
        </p:nvSpPr>
        <p:spPr>
          <a:xfrm>
            <a:off x="3849624" y="3635169"/>
            <a:ext cx="153162" cy="118872"/>
          </a:xfrm>
          <a:prstGeom prst="roundRect">
            <a:avLst>
              <a:gd name="adj" fmla="val 23077"/>
            </a:avLst>
          </a:prstGeom>
          <a:solidFill>
            <a:srgbClr val="1F6FEB"/>
          </a:solidFill>
          <a:ln/>
        </p:spPr>
      </p:sp>
      <p:sp>
        <p:nvSpPr>
          <p:cNvPr id="50" name="Text 47"/>
          <p:cNvSpPr txBox="1"/>
          <p:nvPr/>
        </p:nvSpPr>
        <p:spPr>
          <a:xfrm>
            <a:off x="5253357" y="3620310"/>
            <a:ext cx="159891" cy="193378"/>
          </a:xfrm>
          <a:prstGeom prst="rect">
            <a:avLst/>
          </a:prstGeom>
          <a:noFill/>
          <a:ln/>
        </p:spPr>
        <p:txBody>
          <a:bodyPr wrap="none" lIns="0" tIns="0" rIns="0" bIns="0" rtlCol="0" anchor="t"/>
          <a:lstStyle/>
          <a:p>
            <a:pPr algn="r" indent="0" marL="0">
              <a:lnSpc>
                <a:spcPts val="1170"/>
              </a:lnSpc>
              <a:buNone/>
            </a:pPr>
            <a:r>
              <a:rPr lang="en-US" sz="760" b="1" dirty="0">
                <a:solidFill>
                  <a:srgbClr val="071A33"/>
                </a:solidFill>
                <a:latin typeface="Arial" pitchFamily="34" charset="0"/>
                <a:ea typeface="Arial" pitchFamily="34" charset="-122"/>
                <a:cs typeface="Arial" pitchFamily="34" charset="-120"/>
              </a:rPr>
              <a:t>7%</a:t>
            </a:r>
            <a:endParaRPr lang="en-US" sz="760" dirty="0"/>
          </a:p>
        </p:txBody>
      </p:sp>
      <p:sp>
        <p:nvSpPr>
          <p:cNvPr id="51" name="Shape 48"/>
          <p:cNvSpPr/>
          <p:nvPr/>
        </p:nvSpPr>
        <p:spPr>
          <a:xfrm>
            <a:off x="5852160" y="1965960"/>
            <a:ext cx="2834640" cy="1948386"/>
          </a:xfrm>
          <a:prstGeom prst="roundRect">
            <a:avLst>
              <a:gd name="adj" fmla="val 8448"/>
            </a:avLst>
          </a:prstGeom>
          <a:solidFill>
            <a:srgbClr val="F0F6FF"/>
          </a:solidFill>
          <a:ln w="9144">
            <a:solidFill>
              <a:srgbClr val="D6E6FA"/>
            </a:solidFill>
            <a:prstDash val="solid"/>
          </a:ln>
        </p:spPr>
      </p:sp>
      <p:sp>
        <p:nvSpPr>
          <p:cNvPr id="52" name="Text 49"/>
          <p:cNvSpPr txBox="1"/>
          <p:nvPr/>
        </p:nvSpPr>
        <p:spPr>
          <a:xfrm>
            <a:off x="6016752" y="2084832"/>
            <a:ext cx="1211623"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0B4FBF"/>
                </a:solidFill>
                <a:latin typeface="Arial" pitchFamily="34" charset="0"/>
                <a:ea typeface="Arial" pitchFamily="34" charset="-122"/>
                <a:cs typeface="Arial" pitchFamily="34" charset="-120"/>
              </a:rPr>
              <a:t>EXPECTED COST / UNIT</a:t>
            </a:r>
            <a:endParaRPr lang="en-US" sz="650" dirty="0"/>
          </a:p>
        </p:txBody>
      </p:sp>
      <p:sp>
        <p:nvSpPr>
          <p:cNvPr id="53" name="Text 50"/>
          <p:cNvSpPr txBox="1"/>
          <p:nvPr/>
        </p:nvSpPr>
        <p:spPr>
          <a:xfrm>
            <a:off x="6016752" y="2285429"/>
            <a:ext cx="861779" cy="546811"/>
          </a:xfrm>
          <a:prstGeom prst="rect">
            <a:avLst/>
          </a:prstGeom>
          <a:noFill/>
          <a:ln/>
        </p:spPr>
        <p:txBody>
          <a:bodyPr wrap="none" lIns="0" tIns="0" rIns="0" bIns="0" rtlCol="0" anchor="t"/>
          <a:lstStyle/>
          <a:p>
            <a:pPr algn="l" indent="0" marL="0">
              <a:lnSpc>
                <a:spcPts val="3310"/>
              </a:lnSpc>
              <a:buNone/>
            </a:pPr>
            <a:r>
              <a:rPr lang="en-US" sz="3310" b="1" spc="-166" kern="0" dirty="0">
                <a:solidFill>
                  <a:srgbClr val="071A33"/>
                </a:solidFill>
                <a:latin typeface="Arial" pitchFamily="34" charset="0"/>
                <a:ea typeface="Arial" pitchFamily="34" charset="-122"/>
                <a:cs typeface="Arial" pitchFamily="34" charset="-120"/>
              </a:rPr>
              <a:t>11.73</a:t>
            </a:r>
            <a:endParaRPr lang="en-US" sz="3310" dirty="0"/>
          </a:p>
        </p:txBody>
      </p:sp>
      <p:sp>
        <p:nvSpPr>
          <p:cNvPr id="54" name="Text 51"/>
          <p:cNvSpPr txBox="1"/>
          <p:nvPr/>
        </p:nvSpPr>
        <p:spPr>
          <a:xfrm>
            <a:off x="6016752" y="2733485"/>
            <a:ext cx="534567" cy="202648"/>
          </a:xfrm>
          <a:prstGeom prst="rect">
            <a:avLst/>
          </a:prstGeom>
          <a:noFill/>
          <a:ln/>
        </p:spPr>
        <p:txBody>
          <a:bodyPr wrap="none" lIns="0" tIns="0" rIns="0" bIns="0" rtlCol="0" anchor="t"/>
          <a:lstStyle/>
          <a:p>
            <a:pPr algn="l" indent="0" marL="0">
              <a:lnSpc>
                <a:spcPts val="1230"/>
              </a:lnSpc>
              <a:buNone/>
            </a:pPr>
            <a:r>
              <a:rPr lang="en-US" sz="790" dirty="0">
                <a:solidFill>
                  <a:srgbClr val="4D6585"/>
                </a:solidFill>
                <a:latin typeface="Arial" pitchFamily="34" charset="0"/>
                <a:ea typeface="Arial" pitchFamily="34" charset="-122"/>
                <a:cs typeface="Arial" pitchFamily="34" charset="-120"/>
              </a:rPr>
              <a:t>THB / unit</a:t>
            </a:r>
            <a:endParaRPr lang="en-US" sz="790" dirty="0"/>
          </a:p>
        </p:txBody>
      </p:sp>
      <p:sp>
        <p:nvSpPr>
          <p:cNvPr id="55" name="Shape 52"/>
          <p:cNvSpPr/>
          <p:nvPr/>
        </p:nvSpPr>
        <p:spPr>
          <a:xfrm>
            <a:off x="6016752" y="2967085"/>
            <a:ext cx="2505456" cy="0"/>
          </a:xfrm>
          <a:prstGeom prst="line">
            <a:avLst/>
          </a:prstGeom>
          <a:noFill/>
          <a:ln w="9144">
            <a:solidFill>
              <a:srgbClr val="D6E6FA"/>
            </a:solidFill>
            <a:prstDash val="solid"/>
          </a:ln>
        </p:spPr>
      </p:sp>
      <p:sp>
        <p:nvSpPr>
          <p:cNvPr id="56" name="Text 53"/>
          <p:cNvSpPr txBox="1"/>
          <p:nvPr/>
        </p:nvSpPr>
        <p:spPr>
          <a:xfrm>
            <a:off x="6016752" y="3044809"/>
            <a:ext cx="407580" cy="386900"/>
          </a:xfrm>
          <a:prstGeom prst="rect">
            <a:avLst/>
          </a:prstGeom>
          <a:noFill/>
          <a:ln/>
        </p:spPr>
        <p:txBody>
          <a:bodyPr wrap="none" lIns="0" tIns="0" rIns="0" bIns="0" rtlCol="0" anchor="t"/>
          <a:lstStyle/>
          <a:p>
            <a:pPr algn="l" indent="0" marL="0">
              <a:lnSpc>
                <a:spcPts val="2340"/>
              </a:lnSpc>
              <a:buNone/>
            </a:pPr>
            <a:r>
              <a:rPr lang="en-US" sz="1510" b="1" spc="-60" kern="0" dirty="0">
                <a:solidFill>
                  <a:srgbClr val="1A62D6"/>
                </a:solidFill>
                <a:latin typeface="Arial" pitchFamily="34" charset="0"/>
                <a:ea typeface="Arial" pitchFamily="34" charset="-122"/>
                <a:cs typeface="Arial" pitchFamily="34" charset="-120"/>
              </a:rPr>
              <a:t>3.95</a:t>
            </a:r>
            <a:endParaRPr lang="en-US" sz="1510" dirty="0"/>
          </a:p>
        </p:txBody>
      </p:sp>
      <p:sp>
        <p:nvSpPr>
          <p:cNvPr id="57" name="Text 54"/>
          <p:cNvSpPr txBox="1"/>
          <p:nvPr/>
        </p:nvSpPr>
        <p:spPr>
          <a:xfrm>
            <a:off x="6748272" y="3058954"/>
            <a:ext cx="888497"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THB saved per unit</a:t>
            </a:r>
            <a:endParaRPr lang="en-US" sz="720" dirty="0"/>
          </a:p>
        </p:txBody>
      </p:sp>
      <p:sp>
        <p:nvSpPr>
          <p:cNvPr id="58" name="Text 55"/>
          <p:cNvSpPr txBox="1"/>
          <p:nvPr/>
        </p:nvSpPr>
        <p:spPr>
          <a:xfrm>
            <a:off x="6748272" y="3200686"/>
            <a:ext cx="750037" cy="165712"/>
          </a:xfrm>
          <a:prstGeom prst="rect">
            <a:avLst/>
          </a:prstGeom>
          <a:noFill/>
          <a:ln/>
        </p:spPr>
        <p:txBody>
          <a:bodyPr wrap="none" lIns="0" tIns="0" rIns="0" bIns="0" rtlCol="0" anchor="t"/>
          <a:lstStyle/>
          <a:p>
            <a:pPr algn="l" indent="0" marL="0">
              <a:lnSpc>
                <a:spcPts val="1000"/>
              </a:lnSpc>
              <a:buNone/>
            </a:pPr>
            <a:r>
              <a:rPr lang="en-US" sz="650" dirty="0">
                <a:solidFill>
                  <a:srgbClr val="6C84A3"/>
                </a:solidFill>
                <a:latin typeface="Arial" pitchFamily="34" charset="0"/>
                <a:ea typeface="Arial" pitchFamily="34" charset="-122"/>
                <a:cs typeface="Arial" pitchFamily="34" charset="-120"/>
              </a:rPr>
              <a:t>15.68 − 11.73 = 3.95</a:t>
            </a:r>
            <a:endParaRPr lang="en-US" sz="650" dirty="0"/>
          </a:p>
        </p:txBody>
      </p:sp>
      <p:sp>
        <p:nvSpPr>
          <p:cNvPr id="59" name="Shape 56"/>
          <p:cNvSpPr/>
          <p:nvPr/>
        </p:nvSpPr>
        <p:spPr>
          <a:xfrm>
            <a:off x="6016752" y="3420142"/>
            <a:ext cx="2505456" cy="0"/>
          </a:xfrm>
          <a:prstGeom prst="line">
            <a:avLst/>
          </a:prstGeom>
          <a:noFill/>
          <a:ln w="9144">
            <a:solidFill>
              <a:srgbClr val="D6E6FA"/>
            </a:solidFill>
            <a:prstDash val="solid"/>
          </a:ln>
        </p:spPr>
      </p:sp>
      <p:sp>
        <p:nvSpPr>
          <p:cNvPr id="60" name="Text 57"/>
          <p:cNvSpPr txBox="1"/>
          <p:nvPr/>
        </p:nvSpPr>
        <p:spPr>
          <a:xfrm>
            <a:off x="6016752" y="3497866"/>
            <a:ext cx="552326" cy="386900"/>
          </a:xfrm>
          <a:prstGeom prst="rect">
            <a:avLst/>
          </a:prstGeom>
          <a:noFill/>
          <a:ln/>
        </p:spPr>
        <p:txBody>
          <a:bodyPr wrap="none" lIns="0" tIns="0" rIns="0" bIns="0" rtlCol="0" anchor="t"/>
          <a:lstStyle/>
          <a:p>
            <a:pPr algn="l" indent="0" marL="0">
              <a:lnSpc>
                <a:spcPts val="2340"/>
              </a:lnSpc>
              <a:buNone/>
            </a:pPr>
            <a:r>
              <a:rPr lang="en-US" sz="1510" b="1" spc="-60" kern="0" dirty="0">
                <a:solidFill>
                  <a:srgbClr val="1A62D6"/>
                </a:solidFill>
                <a:latin typeface="Arial" pitchFamily="34" charset="0"/>
                <a:ea typeface="Arial" pitchFamily="34" charset="-122"/>
                <a:cs typeface="Arial" pitchFamily="34" charset="-120"/>
              </a:rPr>
              <a:t>25.2%</a:t>
            </a:r>
            <a:endParaRPr lang="en-US" sz="1510" dirty="0"/>
          </a:p>
        </p:txBody>
      </p:sp>
      <p:sp>
        <p:nvSpPr>
          <p:cNvPr id="61" name="Text 58"/>
          <p:cNvSpPr txBox="1"/>
          <p:nvPr/>
        </p:nvSpPr>
        <p:spPr>
          <a:xfrm>
            <a:off x="6748272" y="3512010"/>
            <a:ext cx="1046288"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below current supplier</a:t>
            </a:r>
            <a:endParaRPr lang="en-US" sz="720" dirty="0"/>
          </a:p>
        </p:txBody>
      </p:sp>
      <p:sp>
        <p:nvSpPr>
          <p:cNvPr id="62" name="Text 59"/>
          <p:cNvSpPr txBox="1"/>
          <p:nvPr/>
        </p:nvSpPr>
        <p:spPr>
          <a:xfrm>
            <a:off x="6748272" y="3653742"/>
            <a:ext cx="485689" cy="165712"/>
          </a:xfrm>
          <a:prstGeom prst="rect">
            <a:avLst/>
          </a:prstGeom>
          <a:noFill/>
          <a:ln/>
        </p:spPr>
        <p:txBody>
          <a:bodyPr wrap="none" lIns="0" tIns="0" rIns="0" bIns="0" rtlCol="0" anchor="t"/>
          <a:lstStyle/>
          <a:p>
            <a:pPr algn="l" indent="0" marL="0">
              <a:lnSpc>
                <a:spcPts val="1000"/>
              </a:lnSpc>
              <a:buNone/>
            </a:pPr>
            <a:r>
              <a:rPr lang="en-US" sz="650" dirty="0">
                <a:solidFill>
                  <a:srgbClr val="6C84A3"/>
                </a:solidFill>
                <a:latin typeface="Arial" pitchFamily="34" charset="0"/>
                <a:ea typeface="Arial" pitchFamily="34" charset="-122"/>
                <a:cs typeface="Arial" pitchFamily="34" charset="-120"/>
              </a:rPr>
              <a:t>3.95 ÷ 15.68</a:t>
            </a:r>
            <a:endParaRPr lang="en-US" sz="650" dirty="0"/>
          </a:p>
        </p:txBody>
      </p:sp>
      <p:sp>
        <p:nvSpPr>
          <p:cNvPr id="63" name="Gradient shape"/>
          <p:cNvSpPr/>
          <p:nvPr/>
        </p:nvSpPr>
        <p:spPr>
          <a:xfrm>
            <a:off x="457200" y="4041648"/>
            <a:ext cx="8229600" cy="512064"/>
          </a:xfrm>
          <a:prstGeom prst="roundRect">
            <a:avLst>
              <a:gd name="adj" fmla="val 25000"/>
            </a:avLst>
          </a:prstGeom>
          <a:gradFill rotWithShape="1">
            <a:gsLst>
              <a:gs pos="0">
                <a:srgbClr val="0B4FBF"/>
              </a:gs>
              <a:gs pos="60000">
                <a:srgbClr val="1F6FEB"/>
              </a:gs>
              <a:gs pos="100000">
                <a:srgbClr val="52AEFF"/>
              </a:gs>
            </a:gsLst>
            <a:lin ang="600000" scaled="0"/>
          </a:gradFill>
          <a:ln/>
        </p:spPr>
      </p:sp>
      <p:sp>
        <p:nvSpPr>
          <p:cNvPr id="64" name="Text 61"/>
          <p:cNvSpPr txBox="1"/>
          <p:nvPr/>
        </p:nvSpPr>
        <p:spPr>
          <a:xfrm>
            <a:off x="658368" y="4163092"/>
            <a:ext cx="1228468" cy="309570"/>
          </a:xfrm>
          <a:prstGeom prst="rect">
            <a:avLst/>
          </a:prstGeom>
          <a:noFill/>
          <a:ln/>
        </p:spPr>
        <p:txBody>
          <a:bodyPr wrap="square" lIns="0" tIns="0" rIns="0" bIns="0" rtlCol="0" anchor="t"/>
          <a:lstStyle/>
          <a:p>
            <a:pPr algn="l" indent="0" marL="0">
              <a:lnSpc>
                <a:spcPts val="1060"/>
              </a:lnSpc>
              <a:buNone/>
            </a:pPr>
            <a:r>
              <a:rPr lang="en-US" sz="680" b="1" spc="55" kern="0" dirty="0">
                <a:solidFill>
                  <a:srgbClr val="FFFFFF"/>
                </a:solidFill>
                <a:latin typeface="Arial" pitchFamily="34" charset="0"/>
                <a:ea typeface="Arial" pitchFamily="34" charset="-122"/>
                <a:cs typeface="Arial" pitchFamily="34" charset="-120"/>
              </a:rPr>
              <a:t>TOGETHER: SUPPLIER</a:t>
            </a:r>
            <a:endParaRPr lang="en-US" sz="680" dirty="0"/>
          </a:p>
          <a:p>
            <a:pPr algn="l" indent="0" marL="0">
              <a:lnSpc>
                <a:spcPts val="1060"/>
              </a:lnSpc>
              <a:buNone/>
            </a:pPr>
            <a:r>
              <a:rPr lang="en-US" sz="680" b="1" spc="55" kern="0" dirty="0">
                <a:solidFill>
                  <a:srgbClr val="FFFFFF"/>
                </a:solidFill>
                <a:latin typeface="Arial" pitchFamily="34" charset="0"/>
                <a:ea typeface="Arial" pitchFamily="34" charset="-122"/>
                <a:cs typeface="Arial" pitchFamily="34" charset="-120"/>
              </a:rPr>
              <a:t>CHANGE + DRINK MIX</a:t>
            </a:r>
            <a:endParaRPr lang="en-US" sz="680" dirty="0"/>
          </a:p>
        </p:txBody>
      </p:sp>
      <p:sp>
        <p:nvSpPr>
          <p:cNvPr id="65" name="Text 62"/>
          <p:cNvSpPr txBox="1"/>
          <p:nvPr/>
        </p:nvSpPr>
        <p:spPr>
          <a:xfrm>
            <a:off x="2908221" y="4127659"/>
            <a:ext cx="605761" cy="442090"/>
          </a:xfrm>
          <a:prstGeom prst="rect">
            <a:avLst/>
          </a:prstGeom>
          <a:noFill/>
          <a:ln/>
        </p:spPr>
        <p:txBody>
          <a:bodyPr wrap="none" lIns="0" tIns="0" rIns="0" bIns="0" rtlCol="0" anchor="t"/>
          <a:lstStyle/>
          <a:p>
            <a:pPr algn="l" indent="0" marL="0">
              <a:lnSpc>
                <a:spcPts val="2680"/>
              </a:lnSpc>
              <a:buNone/>
            </a:pPr>
            <a:r>
              <a:rPr lang="en-US" sz="1730" b="1" spc="-52" kern="0" dirty="0">
                <a:solidFill>
                  <a:srgbClr val="FFFFFF"/>
                </a:solidFill>
                <a:latin typeface="Arial" pitchFamily="34" charset="0"/>
                <a:ea typeface="Arial" pitchFamily="34" charset="-122"/>
                <a:cs typeface="Arial" pitchFamily="34" charset="-120"/>
              </a:rPr>
              <a:t>22.34</a:t>
            </a:r>
            <a:endParaRPr lang="en-US" sz="1730" dirty="0"/>
          </a:p>
        </p:txBody>
      </p:sp>
      <p:pic>
        <p:nvPicPr>
          <p:cNvPr id="66" name="Image 1" descr="Icon: arrow forward">    </p:cNvPr>
          <p:cNvPicPr>
            <a:picLocks noChangeAspect="1"/>
          </p:cNvPicPr>
          <p:nvPr/>
        </p:nvPicPr>
        <p:blipFill>
          <a:blip r:embed="rId3"/>
          <a:stretch>
            <a:fillRect/>
          </a:stretch>
        </p:blipFill>
        <p:spPr>
          <a:xfrm>
            <a:off x="3533727" y="4229100"/>
            <a:ext cx="137160" cy="137160"/>
          </a:xfrm>
          <a:prstGeom prst="rect">
            <a:avLst/>
          </a:prstGeom>
        </p:spPr>
      </p:pic>
      <p:sp>
        <p:nvSpPr>
          <p:cNvPr id="67" name="Text 63"/>
          <p:cNvSpPr txBox="1"/>
          <p:nvPr/>
        </p:nvSpPr>
        <p:spPr>
          <a:xfrm>
            <a:off x="3762327" y="4127659"/>
            <a:ext cx="563485" cy="442090"/>
          </a:xfrm>
          <a:prstGeom prst="rect">
            <a:avLst/>
          </a:prstGeom>
          <a:noFill/>
          <a:ln/>
        </p:spPr>
        <p:txBody>
          <a:bodyPr wrap="none" lIns="0" tIns="0" rIns="0" bIns="0" rtlCol="0" anchor="t"/>
          <a:lstStyle/>
          <a:p>
            <a:pPr algn="l" indent="0" marL="0">
              <a:lnSpc>
                <a:spcPts val="2680"/>
              </a:lnSpc>
              <a:buNone/>
            </a:pPr>
            <a:r>
              <a:rPr lang="en-US" sz="1730" b="1" spc="-52" kern="0" dirty="0">
                <a:solidFill>
                  <a:srgbClr val="FFFFFF"/>
                </a:solidFill>
                <a:latin typeface="Arial" pitchFamily="34" charset="0"/>
                <a:ea typeface="Arial" pitchFamily="34" charset="-122"/>
                <a:cs typeface="Arial" pitchFamily="34" charset="-120"/>
              </a:rPr>
              <a:t>15.68</a:t>
            </a:r>
            <a:endParaRPr lang="en-US" sz="1730" dirty="0"/>
          </a:p>
        </p:txBody>
      </p:sp>
      <p:pic>
        <p:nvPicPr>
          <p:cNvPr id="68" name="Image 2" descr="Icon: arrow forward">    </p:cNvPr>
          <p:cNvPicPr>
            <a:picLocks noChangeAspect="1"/>
          </p:cNvPicPr>
          <p:nvPr/>
        </p:nvPicPr>
        <p:blipFill>
          <a:blip r:embed="rId4"/>
          <a:stretch>
            <a:fillRect/>
          </a:stretch>
        </p:blipFill>
        <p:spPr>
          <a:xfrm>
            <a:off x="4349401" y="4229100"/>
            <a:ext cx="137160" cy="137160"/>
          </a:xfrm>
          <a:prstGeom prst="rect">
            <a:avLst/>
          </a:prstGeom>
        </p:spPr>
      </p:pic>
      <p:sp>
        <p:nvSpPr>
          <p:cNvPr id="69" name="Text 64"/>
          <p:cNvSpPr txBox="1"/>
          <p:nvPr/>
        </p:nvSpPr>
        <p:spPr>
          <a:xfrm>
            <a:off x="4578001" y="4127659"/>
            <a:ext cx="482546" cy="442090"/>
          </a:xfrm>
          <a:prstGeom prst="rect">
            <a:avLst/>
          </a:prstGeom>
          <a:noFill/>
          <a:ln/>
        </p:spPr>
        <p:txBody>
          <a:bodyPr wrap="none" lIns="0" tIns="0" rIns="0" bIns="0" rtlCol="0" anchor="t"/>
          <a:lstStyle/>
          <a:p>
            <a:pPr algn="l" indent="0" marL="0">
              <a:lnSpc>
                <a:spcPts val="2680"/>
              </a:lnSpc>
              <a:buNone/>
            </a:pPr>
            <a:r>
              <a:rPr lang="en-US" sz="1730" b="1" spc="-52" kern="0" dirty="0">
                <a:solidFill>
                  <a:srgbClr val="FFFFFF"/>
                </a:solidFill>
                <a:latin typeface="Arial" pitchFamily="34" charset="0"/>
                <a:ea typeface="Arial" pitchFamily="34" charset="-122"/>
                <a:cs typeface="Arial" pitchFamily="34" charset="-120"/>
              </a:rPr>
              <a:t>11.73</a:t>
            </a:r>
            <a:endParaRPr lang="en-US" sz="1730" dirty="0"/>
          </a:p>
        </p:txBody>
      </p:sp>
      <p:sp>
        <p:nvSpPr>
          <p:cNvPr id="70" name="Text 65"/>
          <p:cNvSpPr txBox="1"/>
          <p:nvPr/>
        </p:nvSpPr>
        <p:spPr>
          <a:xfrm>
            <a:off x="5091494" y="4273963"/>
            <a:ext cx="487732" cy="184252"/>
          </a:xfrm>
          <a:prstGeom prst="rect">
            <a:avLst/>
          </a:prstGeom>
          <a:noFill/>
          <a:ln/>
        </p:spPr>
        <p:txBody>
          <a:bodyPr wrap="none" lIns="0" tIns="0" rIns="0" bIns="0" rtlCol="0" anchor="t"/>
          <a:lstStyle/>
          <a:p>
            <a:pPr algn="l" indent="0" marL="0">
              <a:lnSpc>
                <a:spcPts val="1120"/>
              </a:lnSpc>
              <a:buNone/>
            </a:pPr>
            <a:r>
              <a:rPr lang="en-US" sz="720" dirty="0">
                <a:solidFill>
                  <a:srgbClr val="FFFFFF"/>
                </a:solidFill>
                <a:latin typeface="Arial" pitchFamily="34" charset="0"/>
                <a:ea typeface="Arial" pitchFamily="34" charset="-122"/>
                <a:cs typeface="Arial" pitchFamily="34" charset="-120"/>
              </a:rPr>
              <a:t>THB / unit</a:t>
            </a:r>
            <a:endParaRPr lang="en-US" sz="720" dirty="0"/>
          </a:p>
        </p:txBody>
      </p:sp>
      <p:sp>
        <p:nvSpPr>
          <p:cNvPr id="71" name="Text 66"/>
          <p:cNvSpPr txBox="1"/>
          <p:nvPr/>
        </p:nvSpPr>
        <p:spPr>
          <a:xfrm>
            <a:off x="6305074" y="4085082"/>
            <a:ext cx="887082" cy="552755"/>
          </a:xfrm>
          <a:prstGeom prst="rect">
            <a:avLst/>
          </a:prstGeom>
          <a:noFill/>
          <a:ln/>
        </p:spPr>
        <p:txBody>
          <a:bodyPr wrap="none" lIns="0" tIns="0" rIns="0" bIns="0" rtlCol="0" anchor="t"/>
          <a:lstStyle/>
          <a:p>
            <a:pPr algn="l" indent="0" marL="0">
              <a:lnSpc>
                <a:spcPts val="3350"/>
              </a:lnSpc>
              <a:buNone/>
            </a:pPr>
            <a:r>
              <a:rPr lang="en-US" sz="2160" b="1" spc="-86" kern="0" dirty="0">
                <a:solidFill>
                  <a:srgbClr val="FFFFFF"/>
                </a:solidFill>
                <a:latin typeface="Arial" pitchFamily="34" charset="0"/>
                <a:ea typeface="Arial" pitchFamily="34" charset="-122"/>
                <a:cs typeface="Arial" pitchFamily="34" charset="-120"/>
              </a:rPr>
              <a:t>−47.5%</a:t>
            </a:r>
            <a:endParaRPr lang="en-US" sz="2160" dirty="0"/>
          </a:p>
        </p:txBody>
      </p:sp>
      <p:sp>
        <p:nvSpPr>
          <p:cNvPr id="72" name="Text 67"/>
          <p:cNvSpPr txBox="1"/>
          <p:nvPr/>
        </p:nvSpPr>
        <p:spPr>
          <a:xfrm>
            <a:off x="7186327" y="4286250"/>
            <a:ext cx="1447524" cy="184252"/>
          </a:xfrm>
          <a:prstGeom prst="rect">
            <a:avLst/>
          </a:prstGeom>
          <a:noFill/>
          <a:ln/>
        </p:spPr>
        <p:txBody>
          <a:bodyPr wrap="none" lIns="0" tIns="0" rIns="0" bIns="0" rtlCol="0" anchor="t"/>
          <a:lstStyle/>
          <a:p>
            <a:pPr algn="l" indent="0" marL="0">
              <a:lnSpc>
                <a:spcPts val="1120"/>
              </a:lnSpc>
              <a:buNone/>
            </a:pPr>
            <a:r>
              <a:rPr lang="en-US" sz="720" dirty="0">
                <a:solidFill>
                  <a:srgbClr val="FFFFFF"/>
                </a:solidFill>
                <a:latin typeface="Arial" pitchFamily="34" charset="0"/>
                <a:ea typeface="Arial" pitchFamily="34" charset="-122"/>
                <a:cs typeface="Arial" pitchFamily="34" charset="-120"/>
              </a:rPr>
              <a:t>from 2025 (−10.61 THB per unit)</a:t>
            </a:r>
            <a:endParaRPr lang="en-US" sz="720" dirty="0"/>
          </a:p>
        </p:txBody>
      </p:sp>
      <p:sp>
        <p:nvSpPr>
          <p:cNvPr id="73" name="Text 68"/>
          <p:cNvSpPr txBox="1"/>
          <p:nvPr/>
        </p:nvSpPr>
        <p:spPr>
          <a:xfrm>
            <a:off x="457200" y="4681728"/>
            <a:ext cx="6840083" cy="156585"/>
          </a:xfrm>
          <a:prstGeom prst="rect">
            <a:avLst/>
          </a:prstGeom>
          <a:noFill/>
          <a:ln/>
        </p:spPr>
        <p:txBody>
          <a:bodyPr wrap="none" lIns="0" tIns="0" rIns="0" bIns="0" rtlCol="0" anchor="t"/>
          <a:lstStyle/>
          <a:p>
            <a:pPr algn="l" indent="0" marL="0">
              <a:lnSpc>
                <a:spcPts val="950"/>
              </a:lnSpc>
              <a:buNone/>
            </a:pPr>
            <a:r>
              <a:rPr lang="en-US" sz="610" dirty="0">
                <a:solidFill>
                  <a:srgbClr val="5F7691"/>
                </a:solidFill>
                <a:latin typeface="Arial" pitchFamily="34" charset="0"/>
                <a:ea typeface="Arial" pitchFamily="34" charset="-122"/>
                <a:cs typeface="Arial" pitchFamily="34" charset="-120"/>
              </a:rPr>
              <a:t>Source check required: 2025 electrolyte allocation is 21% in the table but 18% in the source pie. 2025 table totals 103%; all supplied allocations are retained pending confirmation.</a:t>
            </a:r>
            <a:endParaRPr lang="en-US" sz="610" dirty="0"/>
          </a:p>
        </p:txBody>
      </p:sp>
    </p:spTree>
  </p:cSld>
  <p:clrMapOvr>
    <a:masterClrMapping/>
  </p:clrMapOvr>
  <p:transition spd="med">
    <p:push dir="r"/>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3020949"/>
            <a:ext cx="1368600" cy="201168"/>
          </a:xfrm>
          <a:prstGeom prst="roundRect">
            <a:avLst>
              <a:gd name="adj" fmla="val 50000"/>
            </a:avLst>
          </a:prstGeom>
          <a:solidFill>
            <a:srgbClr val="FFFFFF">
              <a:alpha val="12000"/>
            </a:srgbClr>
          </a:solidFill>
          <a:ln/>
        </p:spPr>
      </p:sp>
      <p:sp>
        <p:nvSpPr>
          <p:cNvPr id="4" name="Text 1"/>
          <p:cNvSpPr txBox="1"/>
          <p:nvPr/>
        </p:nvSpPr>
        <p:spPr>
          <a:xfrm>
            <a:off x="557784" y="3066669"/>
            <a:ext cx="1302463" cy="109728"/>
          </a:xfrm>
          <a:prstGeom prst="rect">
            <a:avLst/>
          </a:prstGeom>
          <a:noFill/>
          <a:ln/>
        </p:spPr>
        <p:txBody>
          <a:bodyPr wrap="none" lIns="0" tIns="0" rIns="0" bIns="0" rtlCol="0" anchor="ctr"/>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Non-Rayong overview 2026</a:t>
            </a:r>
            <a:endParaRPr lang="en-US" sz="720" dirty="0"/>
          </a:p>
        </p:txBody>
      </p:sp>
      <p:sp>
        <p:nvSpPr>
          <p:cNvPr id="5" name="Text 2"/>
          <p:cNvSpPr txBox="1"/>
          <p:nvPr/>
        </p:nvSpPr>
        <p:spPr>
          <a:xfrm>
            <a:off x="457200" y="3331845"/>
            <a:ext cx="2177718" cy="952997"/>
          </a:xfrm>
          <a:prstGeom prst="rect">
            <a:avLst/>
          </a:prstGeom>
          <a:noFill/>
          <a:ln/>
        </p:spPr>
        <p:txBody>
          <a:bodyPr wrap="square" lIns="0" tIns="0" rIns="0" bIns="0" rtlCol="0" anchor="t"/>
          <a:lstStyle/>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Operation</a:t>
            </a:r>
            <a:endParaRPr lang="en-US" sz="3170" dirty="0"/>
          </a:p>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excellence.</a:t>
            </a:r>
            <a:endParaRPr lang="en-US" sz="3170" dirty="0"/>
          </a:p>
        </p:txBody>
      </p:sp>
      <p:sp>
        <p:nvSpPr>
          <p:cNvPr id="6" name="Text 3"/>
          <p:cNvSpPr txBox="1"/>
          <p:nvPr/>
        </p:nvSpPr>
        <p:spPr>
          <a:xfrm>
            <a:off x="457200" y="4270248"/>
            <a:ext cx="2970443" cy="378562"/>
          </a:xfrm>
          <a:prstGeom prst="rect">
            <a:avLst/>
          </a:prstGeom>
          <a:noFill/>
          <a:ln/>
        </p:spPr>
        <p:txBody>
          <a:bodyPr wrap="square" lIns="0" tIns="0" rIns="0" bIns="0" rtlCol="0" anchor="t"/>
          <a:lstStyle/>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Handheld OCR, a hybrid online and offline workflow,</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and four poka-yoke controls.</a:t>
            </a:r>
            <a:endParaRPr lang="en-US" sz="860" dirty="0"/>
          </a:p>
        </p:txBody>
      </p:sp>
    </p:spTree>
  </p:cSld>
  <p:clrMapOvr>
    <a:masterClrMapping/>
  </p:clrMapOvr>
  <p:transition spd="med">
    <p:push dir="r"/>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1002268" cy="201168"/>
          </a:xfrm>
          <a:prstGeom prst="roundRect">
            <a:avLst>
              <a:gd name="adj" fmla="val 50000"/>
            </a:avLst>
          </a:prstGeom>
          <a:solidFill>
            <a:srgbClr val="E1EEFF"/>
          </a:solidFill>
          <a:ln/>
        </p:spPr>
      </p:sp>
      <p:sp>
        <p:nvSpPr>
          <p:cNvPr id="4" name="Text 1"/>
          <p:cNvSpPr txBox="1"/>
          <p:nvPr/>
        </p:nvSpPr>
        <p:spPr>
          <a:xfrm>
            <a:off x="557784" y="1005840"/>
            <a:ext cx="899498"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03 · Handheld OCR</a:t>
            </a:r>
            <a:endParaRPr lang="en-US" sz="720" dirty="0"/>
          </a:p>
        </p:txBody>
      </p:sp>
      <p:sp>
        <p:nvSpPr>
          <p:cNvPr id="5" name="Text 2"/>
          <p:cNvSpPr txBox="1"/>
          <p:nvPr/>
        </p:nvSpPr>
        <p:spPr>
          <a:xfrm>
            <a:off x="457200" y="1252728"/>
            <a:ext cx="4650687" cy="714748"/>
          </a:xfrm>
          <a:prstGeom prst="rect">
            <a:avLst/>
          </a:prstGeom>
          <a:noFill/>
          <a:ln/>
        </p:spPr>
        <p:txBody>
          <a:bodyPr wrap="squar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Handheld OCR replaces manual</a:t>
            </a:r>
            <a:endParaRPr lang="en-US" sz="2380" dirty="0"/>
          </a:p>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serial-number recording.</a:t>
            </a:r>
            <a:endParaRPr lang="en-US" sz="2380" dirty="0"/>
          </a:p>
        </p:txBody>
      </p:sp>
      <p:sp>
        <p:nvSpPr>
          <p:cNvPr id="6" name="Text 3"/>
          <p:cNvSpPr txBox="1"/>
          <p:nvPr/>
        </p:nvSpPr>
        <p:spPr>
          <a:xfrm>
            <a:off x="457200" y="1947386"/>
            <a:ext cx="5500587" cy="222885"/>
          </a:xfrm>
          <a:prstGeom prst="rect">
            <a:avLst/>
          </a:prstGeom>
          <a:noFill/>
          <a:ln/>
        </p:spPr>
        <p:txBody>
          <a:bodyPr wrap="none" lIns="0" tIns="0" rIns="0" bIns="0" rtlCol="0" anchor="t"/>
          <a:lstStyle/>
          <a:p>
            <a:pPr algn="l" indent="0" marL="0">
              <a:lnSpc>
                <a:spcPts val="1350"/>
              </a:lnSpc>
              <a:buNone/>
            </a:pPr>
            <a:r>
              <a:rPr lang="en-US" sz="900" dirty="0">
                <a:solidFill>
                  <a:srgbClr val="4D6585"/>
                </a:solidFill>
                <a:latin typeface="Arial" pitchFamily="34" charset="0"/>
                <a:ea typeface="Arial" pitchFamily="34" charset="-122"/>
                <a:cs typeface="Arial" pitchFamily="34" charset="-120"/>
              </a:rPr>
              <a:t>Read part serials with handheld OCR and automatically record inspection data in Google Sheets.</a:t>
            </a:r>
            <a:endParaRPr lang="en-US" sz="900" dirty="0"/>
          </a:p>
        </p:txBody>
      </p:sp>
      <p:sp>
        <p:nvSpPr>
          <p:cNvPr id="7" name="Text 4"/>
          <p:cNvSpPr txBox="1"/>
          <p:nvPr/>
        </p:nvSpPr>
        <p:spPr>
          <a:xfrm>
            <a:off x="457200" y="2670048"/>
            <a:ext cx="1276845" cy="404165"/>
          </a:xfrm>
          <a:prstGeom prst="rect">
            <a:avLst/>
          </a:prstGeom>
          <a:noFill/>
          <a:ln/>
        </p:spPr>
        <p:txBody>
          <a:bodyPr wrap="none" lIns="0" tIns="0" rIns="0" bIns="0" rtlCol="0" anchor="t"/>
          <a:lstStyle/>
          <a:p>
            <a:pPr algn="l" indent="0" marL="0">
              <a:lnSpc>
                <a:spcPts val="2450"/>
              </a:lnSpc>
              <a:buNone/>
            </a:pPr>
            <a:r>
              <a:rPr lang="en-US" sz="2450" b="1" spc="-98" kern="0" dirty="0">
                <a:solidFill>
                  <a:srgbClr val="5F7691"/>
                </a:solidFill>
                <a:latin typeface="Arial" pitchFamily="34" charset="0"/>
                <a:ea typeface="Arial" pitchFamily="34" charset="-122"/>
                <a:cs typeface="Arial" pitchFamily="34" charset="-120"/>
              </a:rPr>
              <a:t>8–10 sec</a:t>
            </a:r>
            <a:endParaRPr lang="en-US" sz="2450" dirty="0"/>
          </a:p>
        </p:txBody>
      </p:sp>
      <p:sp>
        <p:nvSpPr>
          <p:cNvPr id="8" name="Text 5"/>
          <p:cNvSpPr txBox="1"/>
          <p:nvPr/>
        </p:nvSpPr>
        <p:spPr>
          <a:xfrm>
            <a:off x="457200" y="3026664"/>
            <a:ext cx="453942"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5F7691"/>
                </a:solidFill>
                <a:latin typeface="Arial" pitchFamily="34" charset="0"/>
                <a:ea typeface="Arial" pitchFamily="34" charset="-122"/>
                <a:cs typeface="Arial" pitchFamily="34" charset="-120"/>
              </a:rPr>
              <a:t>MANUAL</a:t>
            </a:r>
            <a:endParaRPr lang="en-US" sz="650" dirty="0"/>
          </a:p>
        </p:txBody>
      </p:sp>
      <p:pic>
        <p:nvPicPr>
          <p:cNvPr id="9" name="Image 1" descr="Icon: arrow forward">    </p:cNvPr>
          <p:cNvPicPr>
            <a:picLocks noChangeAspect="1"/>
          </p:cNvPicPr>
          <p:nvPr/>
        </p:nvPicPr>
        <p:blipFill>
          <a:blip r:embed="rId3"/>
          <a:stretch>
            <a:fillRect/>
          </a:stretch>
        </p:blipFill>
        <p:spPr>
          <a:xfrm>
            <a:off x="1802511" y="2774918"/>
            <a:ext cx="274320" cy="274320"/>
          </a:xfrm>
          <a:prstGeom prst="rect">
            <a:avLst/>
          </a:prstGeom>
        </p:spPr>
      </p:pic>
      <p:sp>
        <p:nvSpPr>
          <p:cNvPr id="10" name="Text 6"/>
          <p:cNvSpPr txBox="1"/>
          <p:nvPr/>
        </p:nvSpPr>
        <p:spPr>
          <a:xfrm>
            <a:off x="2277999" y="2670048"/>
            <a:ext cx="717032" cy="404165"/>
          </a:xfrm>
          <a:prstGeom prst="rect">
            <a:avLst/>
          </a:prstGeom>
          <a:noFill/>
          <a:ln/>
        </p:spPr>
        <p:txBody>
          <a:bodyPr wrap="none" lIns="0" tIns="0" rIns="0" bIns="0" rtlCol="0" anchor="t"/>
          <a:lstStyle/>
          <a:p>
            <a:pPr algn="l" indent="0" marL="0">
              <a:lnSpc>
                <a:spcPts val="2450"/>
              </a:lnSpc>
              <a:buNone/>
            </a:pPr>
            <a:r>
              <a:rPr lang="en-US" sz="2450" b="1" spc="-98" kern="0" dirty="0">
                <a:solidFill>
                  <a:srgbClr val="1A62D6"/>
                </a:solidFill>
                <a:latin typeface="Arial" pitchFamily="34" charset="0"/>
                <a:ea typeface="Arial" pitchFamily="34" charset="-122"/>
                <a:cs typeface="Arial" pitchFamily="34" charset="-120"/>
              </a:rPr>
              <a:t>1 sec</a:t>
            </a:r>
            <a:endParaRPr lang="en-US" sz="2450" dirty="0"/>
          </a:p>
        </p:txBody>
      </p:sp>
      <p:sp>
        <p:nvSpPr>
          <p:cNvPr id="11" name="Text 7"/>
          <p:cNvSpPr txBox="1"/>
          <p:nvPr/>
        </p:nvSpPr>
        <p:spPr>
          <a:xfrm>
            <a:off x="2277999" y="3026664"/>
            <a:ext cx="1081807"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5F7691"/>
                </a:solidFill>
                <a:latin typeface="Arial" pitchFamily="34" charset="0"/>
                <a:ea typeface="Arial" pitchFamily="34" charset="-122"/>
                <a:cs typeface="Arial" pitchFamily="34" charset="-120"/>
              </a:rPr>
              <a:t>OCR + AUTO RECORD</a:t>
            </a:r>
            <a:endParaRPr lang="en-US" sz="650" dirty="0"/>
          </a:p>
        </p:txBody>
      </p:sp>
      <p:sp>
        <p:nvSpPr>
          <p:cNvPr id="12" name="Gradient shape"/>
          <p:cNvSpPr/>
          <p:nvPr/>
        </p:nvSpPr>
        <p:spPr>
          <a:xfrm>
            <a:off x="3519154" y="2596896"/>
            <a:ext cx="1074849" cy="630365"/>
          </a:xfrm>
          <a:prstGeom prst="roundRect">
            <a:avLst>
              <a:gd name="adj" fmla="val 20308"/>
            </a:avLst>
          </a:prstGeom>
          <a:gradFill rotWithShape="1">
            <a:gsLst>
              <a:gs pos="0">
                <a:srgbClr val="0B4FBF"/>
              </a:gs>
              <a:gs pos="100000">
                <a:srgbClr val="2F86F5"/>
              </a:gs>
            </a:gsLst>
            <a:lin ang="2700000" scaled="0"/>
          </a:gradFill>
          <a:ln/>
          <a:effectLst>
            <a:outerShdw sx="100000" sy="100000" kx="0" ky="0" algn="bl" rotWithShape="0" blurRad="237744" dist="109728" dir="5400000">
              <a:srgbClr val="1E5AC8">
                <a:alpha val="36000"/>
              </a:srgbClr>
            </a:outerShdw>
          </a:effectLst>
        </p:spPr>
      </p:sp>
      <p:sp>
        <p:nvSpPr>
          <p:cNvPr id="13" name="Text 9"/>
          <p:cNvSpPr txBox="1"/>
          <p:nvPr/>
        </p:nvSpPr>
        <p:spPr>
          <a:xfrm>
            <a:off x="3665458" y="2688336"/>
            <a:ext cx="758209" cy="356616"/>
          </a:xfrm>
          <a:prstGeom prst="rect">
            <a:avLst/>
          </a:prstGeom>
          <a:noFill/>
          <a:ln/>
        </p:spPr>
        <p:txBody>
          <a:bodyPr wrap="none" lIns="0" tIns="0" rIns="0" bIns="0" rtlCol="0" anchor="t"/>
          <a:lstStyle/>
          <a:p>
            <a:pPr algn="l" indent="0" marL="0">
              <a:lnSpc>
                <a:spcPts val="2160"/>
              </a:lnSpc>
              <a:buNone/>
            </a:pPr>
            <a:r>
              <a:rPr lang="en-US" sz="2160" b="1" spc="-86" kern="0" dirty="0">
                <a:solidFill>
                  <a:srgbClr val="FFFFFF"/>
                </a:solidFill>
                <a:latin typeface="Arial" pitchFamily="34" charset="0"/>
                <a:ea typeface="Arial" pitchFamily="34" charset="-122"/>
                <a:cs typeface="Arial" pitchFamily="34" charset="-120"/>
              </a:rPr>
              <a:t>−90%</a:t>
            </a:r>
            <a:endParaRPr lang="en-US" sz="2160" dirty="0"/>
          </a:p>
        </p:txBody>
      </p:sp>
      <p:sp>
        <p:nvSpPr>
          <p:cNvPr id="14" name="Text 10"/>
          <p:cNvSpPr txBox="1"/>
          <p:nvPr/>
        </p:nvSpPr>
        <p:spPr>
          <a:xfrm>
            <a:off x="3665458" y="3008376"/>
            <a:ext cx="878753" cy="165712"/>
          </a:xfrm>
          <a:prstGeom prst="rect">
            <a:avLst/>
          </a:prstGeom>
          <a:noFill/>
          <a:ln/>
        </p:spPr>
        <p:txBody>
          <a:bodyPr wrap="none" lIns="0" tIns="0" rIns="0" bIns="0" rtlCol="0" anchor="t"/>
          <a:lstStyle/>
          <a:p>
            <a:pPr algn="l" indent="0" marL="0">
              <a:lnSpc>
                <a:spcPts val="1000"/>
              </a:lnSpc>
              <a:buNone/>
            </a:pPr>
            <a:r>
              <a:rPr lang="en-US" sz="650" b="1" spc="52" kern="0" dirty="0">
                <a:solidFill>
                  <a:srgbClr val="FFFFFF"/>
                </a:solidFill>
                <a:latin typeface="Arial" pitchFamily="34" charset="0"/>
                <a:ea typeface="Arial" pitchFamily="34" charset="-122"/>
                <a:cs typeface="Arial" pitchFamily="34" charset="-120"/>
              </a:rPr>
              <a:t>TIME PER SERIAL</a:t>
            </a:r>
            <a:endParaRPr lang="en-US" sz="650" dirty="0"/>
          </a:p>
        </p:txBody>
      </p:sp>
      <p:sp>
        <p:nvSpPr>
          <p:cNvPr id="15" name="Shape 11"/>
          <p:cNvSpPr/>
          <p:nvPr/>
        </p:nvSpPr>
        <p:spPr>
          <a:xfrm>
            <a:off x="457200" y="3328416"/>
            <a:ext cx="5120640" cy="1640491"/>
          </a:xfrm>
          <a:prstGeom prst="roundRect">
            <a:avLst>
              <a:gd name="adj" fmla="val 10033"/>
            </a:avLst>
          </a:prstGeom>
          <a:solidFill>
            <a:srgbClr val="F0F6FF"/>
          </a:solidFill>
          <a:ln w="9144">
            <a:solidFill>
              <a:srgbClr val="D6E6FA"/>
            </a:solidFill>
            <a:prstDash val="solid"/>
          </a:ln>
        </p:spPr>
      </p:sp>
      <p:sp>
        <p:nvSpPr>
          <p:cNvPr id="16" name="Shape 12"/>
          <p:cNvSpPr/>
          <p:nvPr/>
        </p:nvSpPr>
        <p:spPr>
          <a:xfrm>
            <a:off x="603504" y="3714464"/>
            <a:ext cx="4828032" cy="0"/>
          </a:xfrm>
          <a:prstGeom prst="line">
            <a:avLst/>
          </a:prstGeom>
          <a:noFill/>
          <a:ln w="9144">
            <a:solidFill>
              <a:srgbClr val="D6E6FA"/>
            </a:solidFill>
            <a:prstDash val="solid"/>
          </a:ln>
        </p:spPr>
      </p:sp>
      <p:sp>
        <p:nvSpPr>
          <p:cNvPr id="17" name="Text 13"/>
          <p:cNvSpPr txBox="1"/>
          <p:nvPr/>
        </p:nvSpPr>
        <p:spPr>
          <a:xfrm>
            <a:off x="603504" y="3490865"/>
            <a:ext cx="427382"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MISSION</a:t>
            </a:r>
            <a:endParaRPr lang="en-US" sz="610" dirty="0"/>
          </a:p>
        </p:txBody>
      </p:sp>
      <p:sp>
        <p:nvSpPr>
          <p:cNvPr id="18" name="Text 14"/>
          <p:cNvSpPr txBox="1"/>
          <p:nvPr/>
        </p:nvSpPr>
        <p:spPr>
          <a:xfrm>
            <a:off x="1883664" y="3490865"/>
            <a:ext cx="471859"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MARKING</a:t>
            </a:r>
            <a:endParaRPr lang="en-US" sz="610" dirty="0"/>
          </a:p>
        </p:txBody>
      </p:sp>
      <p:sp>
        <p:nvSpPr>
          <p:cNvPr id="19" name="Text 15"/>
          <p:cNvSpPr txBox="1"/>
          <p:nvPr/>
        </p:nvSpPr>
        <p:spPr>
          <a:xfrm>
            <a:off x="3145536" y="3490865"/>
            <a:ext cx="429739"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MANUAL</a:t>
            </a:r>
            <a:endParaRPr lang="en-US" sz="610" dirty="0"/>
          </a:p>
        </p:txBody>
      </p:sp>
      <p:sp>
        <p:nvSpPr>
          <p:cNvPr id="20" name="Text 16"/>
          <p:cNvSpPr txBox="1"/>
          <p:nvPr/>
        </p:nvSpPr>
        <p:spPr>
          <a:xfrm>
            <a:off x="3831336" y="3430715"/>
            <a:ext cx="617189" cy="277029"/>
          </a:xfrm>
          <a:prstGeom prst="rect">
            <a:avLst/>
          </a:prstGeom>
          <a:noFill/>
          <a:ln/>
        </p:spPr>
        <p:txBody>
          <a:bodyPr wrap="squar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OCR + AUTO</a:t>
            </a:r>
            <a:endParaRPr lang="en-US" sz="610" dirty="0"/>
          </a:p>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RECORD</a:t>
            </a:r>
            <a:endParaRPr lang="en-US" sz="610" dirty="0"/>
          </a:p>
        </p:txBody>
      </p:sp>
      <p:sp>
        <p:nvSpPr>
          <p:cNvPr id="21" name="Text 17"/>
          <p:cNvSpPr txBox="1"/>
          <p:nvPr/>
        </p:nvSpPr>
        <p:spPr>
          <a:xfrm>
            <a:off x="4745736" y="3490865"/>
            <a:ext cx="599475" cy="156585"/>
          </a:xfrm>
          <a:prstGeom prst="rect">
            <a:avLst/>
          </a:prstGeom>
          <a:noFill/>
          <a:ln/>
        </p:spPr>
        <p:txBody>
          <a:bodyPr wrap="none" lIns="0" tIns="0" rIns="0" bIns="0" rtlCol="0" anchor="t"/>
          <a:lstStyle/>
          <a:p>
            <a:pPr algn="l" indent="0" marL="0">
              <a:lnSpc>
                <a:spcPts val="950"/>
              </a:lnSpc>
              <a:buNone/>
            </a:pPr>
            <a:r>
              <a:rPr lang="en-US" sz="610" b="1" spc="49" kern="0" dirty="0">
                <a:solidFill>
                  <a:srgbClr val="0B4FBF"/>
                </a:solidFill>
                <a:latin typeface="Arial" pitchFamily="34" charset="0"/>
                <a:ea typeface="Arial" pitchFamily="34" charset="-122"/>
                <a:cs typeface="Arial" pitchFamily="34" charset="-120"/>
              </a:rPr>
              <a:t>TIME SAVED</a:t>
            </a:r>
            <a:endParaRPr lang="en-US" sz="610" dirty="0"/>
          </a:p>
        </p:txBody>
      </p:sp>
      <p:sp>
        <p:nvSpPr>
          <p:cNvPr id="22" name="Shape 18"/>
          <p:cNvSpPr/>
          <p:nvPr/>
        </p:nvSpPr>
        <p:spPr>
          <a:xfrm>
            <a:off x="603504" y="3963067"/>
            <a:ext cx="4828032" cy="0"/>
          </a:xfrm>
          <a:prstGeom prst="line">
            <a:avLst/>
          </a:prstGeom>
          <a:noFill/>
          <a:ln w="9144">
            <a:solidFill>
              <a:srgbClr val="D6E6FA"/>
            </a:solidFill>
            <a:prstDash val="solid"/>
          </a:ln>
        </p:spPr>
      </p:sp>
      <p:sp>
        <p:nvSpPr>
          <p:cNvPr id="23" name="Text 19"/>
          <p:cNvSpPr txBox="1"/>
          <p:nvPr/>
        </p:nvSpPr>
        <p:spPr>
          <a:xfrm>
            <a:off x="603504" y="3766471"/>
            <a:ext cx="776911"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LCBTH.26.0005</a:t>
            </a:r>
            <a:endParaRPr lang="en-US" sz="730" dirty="0"/>
          </a:p>
        </p:txBody>
      </p:sp>
      <p:sp>
        <p:nvSpPr>
          <p:cNvPr id="24" name="Text 20"/>
          <p:cNvSpPr txBox="1"/>
          <p:nvPr/>
        </p:nvSpPr>
        <p:spPr>
          <a:xfrm>
            <a:off x="1883664" y="3766471"/>
            <a:ext cx="45252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Dot peen</a:t>
            </a:r>
            <a:endParaRPr lang="en-US" sz="730" dirty="0"/>
          </a:p>
        </p:txBody>
      </p:sp>
      <p:sp>
        <p:nvSpPr>
          <p:cNvPr id="25" name="Text 21"/>
          <p:cNvSpPr txBox="1"/>
          <p:nvPr/>
        </p:nvSpPr>
        <p:spPr>
          <a:xfrm>
            <a:off x="3145536" y="3766471"/>
            <a:ext cx="261261"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8 sec</a:t>
            </a:r>
            <a:endParaRPr lang="en-US" sz="730" dirty="0"/>
          </a:p>
        </p:txBody>
      </p:sp>
      <p:sp>
        <p:nvSpPr>
          <p:cNvPr id="26" name="Text 22"/>
          <p:cNvSpPr txBox="1"/>
          <p:nvPr/>
        </p:nvSpPr>
        <p:spPr>
          <a:xfrm>
            <a:off x="3831336" y="3766471"/>
            <a:ext cx="24821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27" name="Shape 23"/>
          <p:cNvSpPr/>
          <p:nvPr/>
        </p:nvSpPr>
        <p:spPr>
          <a:xfrm>
            <a:off x="4745736" y="3757327"/>
            <a:ext cx="685800" cy="162878"/>
          </a:xfrm>
          <a:prstGeom prst="roundRect">
            <a:avLst>
              <a:gd name="adj" fmla="val 50000"/>
            </a:avLst>
          </a:prstGeom>
          <a:solidFill>
            <a:srgbClr val="1F6FEB"/>
          </a:solidFill>
          <a:ln/>
        </p:spPr>
      </p:sp>
      <p:sp>
        <p:nvSpPr>
          <p:cNvPr id="28" name="Text 24"/>
          <p:cNvSpPr txBox="1"/>
          <p:nvPr/>
        </p:nvSpPr>
        <p:spPr>
          <a:xfrm>
            <a:off x="4921701" y="3766471"/>
            <a:ext cx="333870"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−87.5%</a:t>
            </a:r>
            <a:endParaRPr lang="en-US" sz="730" dirty="0"/>
          </a:p>
        </p:txBody>
      </p:sp>
      <p:sp>
        <p:nvSpPr>
          <p:cNvPr id="29" name="Shape 25"/>
          <p:cNvSpPr/>
          <p:nvPr/>
        </p:nvSpPr>
        <p:spPr>
          <a:xfrm>
            <a:off x="603504" y="4211669"/>
            <a:ext cx="4828032" cy="0"/>
          </a:xfrm>
          <a:prstGeom prst="line">
            <a:avLst/>
          </a:prstGeom>
          <a:noFill/>
          <a:ln w="9144">
            <a:solidFill>
              <a:srgbClr val="D6E6FA"/>
            </a:solidFill>
            <a:prstDash val="solid"/>
          </a:ln>
        </p:spPr>
      </p:sp>
      <p:sp>
        <p:nvSpPr>
          <p:cNvPr id="30" name="Text 26"/>
          <p:cNvSpPr txBox="1"/>
          <p:nvPr/>
        </p:nvSpPr>
        <p:spPr>
          <a:xfrm>
            <a:off x="603504" y="4015073"/>
            <a:ext cx="773297"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LCBTH.26.0002</a:t>
            </a:r>
            <a:endParaRPr lang="en-US" sz="730" dirty="0"/>
          </a:p>
        </p:txBody>
      </p:sp>
      <p:sp>
        <p:nvSpPr>
          <p:cNvPr id="31" name="Text 27"/>
          <p:cNvSpPr txBox="1"/>
          <p:nvPr/>
        </p:nvSpPr>
        <p:spPr>
          <a:xfrm>
            <a:off x="1883664" y="4015073"/>
            <a:ext cx="45252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Dot peen</a:t>
            </a:r>
            <a:endParaRPr lang="en-US" sz="730" dirty="0"/>
          </a:p>
        </p:txBody>
      </p:sp>
      <p:sp>
        <p:nvSpPr>
          <p:cNvPr id="32" name="Text 28"/>
          <p:cNvSpPr txBox="1"/>
          <p:nvPr/>
        </p:nvSpPr>
        <p:spPr>
          <a:xfrm>
            <a:off x="3145536" y="4015073"/>
            <a:ext cx="261261"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8 sec</a:t>
            </a:r>
            <a:endParaRPr lang="en-US" sz="730" dirty="0"/>
          </a:p>
        </p:txBody>
      </p:sp>
      <p:sp>
        <p:nvSpPr>
          <p:cNvPr id="33" name="Text 29"/>
          <p:cNvSpPr txBox="1"/>
          <p:nvPr/>
        </p:nvSpPr>
        <p:spPr>
          <a:xfrm>
            <a:off x="3831336" y="4015073"/>
            <a:ext cx="24821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34" name="Shape 30"/>
          <p:cNvSpPr/>
          <p:nvPr/>
        </p:nvSpPr>
        <p:spPr>
          <a:xfrm>
            <a:off x="4745736" y="4005929"/>
            <a:ext cx="685800" cy="162878"/>
          </a:xfrm>
          <a:prstGeom prst="roundRect">
            <a:avLst>
              <a:gd name="adj" fmla="val 50000"/>
            </a:avLst>
          </a:prstGeom>
          <a:solidFill>
            <a:srgbClr val="1F6FEB"/>
          </a:solidFill>
          <a:ln/>
        </p:spPr>
      </p:sp>
      <p:sp>
        <p:nvSpPr>
          <p:cNvPr id="35" name="Text 31"/>
          <p:cNvSpPr txBox="1"/>
          <p:nvPr/>
        </p:nvSpPr>
        <p:spPr>
          <a:xfrm>
            <a:off x="4921701" y="4015073"/>
            <a:ext cx="333870"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−87.5%</a:t>
            </a:r>
            <a:endParaRPr lang="en-US" sz="730" dirty="0"/>
          </a:p>
        </p:txBody>
      </p:sp>
      <p:sp>
        <p:nvSpPr>
          <p:cNvPr id="36" name="Shape 32"/>
          <p:cNvSpPr/>
          <p:nvPr/>
        </p:nvSpPr>
        <p:spPr>
          <a:xfrm>
            <a:off x="603504" y="4460272"/>
            <a:ext cx="4828032" cy="0"/>
          </a:xfrm>
          <a:prstGeom prst="line">
            <a:avLst/>
          </a:prstGeom>
          <a:noFill/>
          <a:ln w="9144">
            <a:solidFill>
              <a:srgbClr val="D6E6FA"/>
            </a:solidFill>
            <a:prstDash val="solid"/>
          </a:ln>
        </p:spPr>
      </p:sp>
      <p:sp>
        <p:nvSpPr>
          <p:cNvPr id="37" name="Text 33"/>
          <p:cNvSpPr txBox="1"/>
          <p:nvPr/>
        </p:nvSpPr>
        <p:spPr>
          <a:xfrm>
            <a:off x="603504" y="4263676"/>
            <a:ext cx="757895"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LCBTH.26.0027</a:t>
            </a:r>
            <a:endParaRPr lang="en-US" sz="730" dirty="0"/>
          </a:p>
        </p:txBody>
      </p:sp>
      <p:sp>
        <p:nvSpPr>
          <p:cNvPr id="38" name="Text 34"/>
          <p:cNvSpPr txBox="1"/>
          <p:nvPr/>
        </p:nvSpPr>
        <p:spPr>
          <a:xfrm>
            <a:off x="1883664" y="4263676"/>
            <a:ext cx="450328"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Stamped</a:t>
            </a:r>
            <a:endParaRPr lang="en-US" sz="730" dirty="0"/>
          </a:p>
        </p:txBody>
      </p:sp>
      <p:sp>
        <p:nvSpPr>
          <p:cNvPr id="39" name="Text 35"/>
          <p:cNvSpPr txBox="1"/>
          <p:nvPr/>
        </p:nvSpPr>
        <p:spPr>
          <a:xfrm>
            <a:off x="3145536" y="4263676"/>
            <a:ext cx="309824"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10 sec</a:t>
            </a:r>
            <a:endParaRPr lang="en-US" sz="730" dirty="0"/>
          </a:p>
        </p:txBody>
      </p:sp>
      <p:sp>
        <p:nvSpPr>
          <p:cNvPr id="40" name="Text 36"/>
          <p:cNvSpPr txBox="1"/>
          <p:nvPr/>
        </p:nvSpPr>
        <p:spPr>
          <a:xfrm>
            <a:off x="3831336" y="4263676"/>
            <a:ext cx="24821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41" name="Shape 37"/>
          <p:cNvSpPr/>
          <p:nvPr/>
        </p:nvSpPr>
        <p:spPr>
          <a:xfrm>
            <a:off x="4745736" y="4254532"/>
            <a:ext cx="685800" cy="162878"/>
          </a:xfrm>
          <a:prstGeom prst="roundRect">
            <a:avLst>
              <a:gd name="adj" fmla="val 50000"/>
            </a:avLst>
          </a:prstGeom>
          <a:solidFill>
            <a:srgbClr val="1F6FEB"/>
          </a:solidFill>
          <a:ln/>
        </p:spPr>
      </p:sp>
      <p:sp>
        <p:nvSpPr>
          <p:cNvPr id="42" name="Text 38"/>
          <p:cNvSpPr txBox="1"/>
          <p:nvPr/>
        </p:nvSpPr>
        <p:spPr>
          <a:xfrm>
            <a:off x="4946375" y="4263676"/>
            <a:ext cx="284521"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−90%</a:t>
            </a:r>
            <a:endParaRPr lang="en-US" sz="730" dirty="0"/>
          </a:p>
        </p:txBody>
      </p:sp>
      <p:sp>
        <p:nvSpPr>
          <p:cNvPr id="43" name="Shape 39"/>
          <p:cNvSpPr/>
          <p:nvPr/>
        </p:nvSpPr>
        <p:spPr>
          <a:xfrm>
            <a:off x="603504" y="4708874"/>
            <a:ext cx="4828032" cy="0"/>
          </a:xfrm>
          <a:prstGeom prst="line">
            <a:avLst/>
          </a:prstGeom>
          <a:noFill/>
          <a:ln w="9144">
            <a:solidFill>
              <a:srgbClr val="D6E6FA"/>
            </a:solidFill>
            <a:prstDash val="solid"/>
          </a:ln>
        </p:spPr>
      </p:sp>
      <p:sp>
        <p:nvSpPr>
          <p:cNvPr id="44" name="Text 40"/>
          <p:cNvSpPr txBox="1"/>
          <p:nvPr/>
        </p:nvSpPr>
        <p:spPr>
          <a:xfrm>
            <a:off x="603504" y="4512278"/>
            <a:ext cx="768896"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LCBTH.26.0007</a:t>
            </a:r>
            <a:endParaRPr lang="en-US" sz="730" dirty="0"/>
          </a:p>
        </p:txBody>
      </p:sp>
      <p:sp>
        <p:nvSpPr>
          <p:cNvPr id="45" name="Text 41"/>
          <p:cNvSpPr txBox="1"/>
          <p:nvPr/>
        </p:nvSpPr>
        <p:spPr>
          <a:xfrm>
            <a:off x="1883664" y="4512278"/>
            <a:ext cx="519794"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Embossed</a:t>
            </a:r>
            <a:endParaRPr lang="en-US" sz="730" dirty="0"/>
          </a:p>
        </p:txBody>
      </p:sp>
      <p:sp>
        <p:nvSpPr>
          <p:cNvPr id="46" name="Text 42"/>
          <p:cNvSpPr txBox="1"/>
          <p:nvPr/>
        </p:nvSpPr>
        <p:spPr>
          <a:xfrm>
            <a:off x="3145536" y="4512278"/>
            <a:ext cx="264090" cy="187959"/>
          </a:xfrm>
          <a:prstGeom prst="rect">
            <a:avLst/>
          </a:prstGeom>
          <a:noFill/>
          <a:ln/>
        </p:spPr>
        <p:txBody>
          <a:bodyPr wrap="none" lIns="0" tIns="0" rIns="0" bIns="0" rtlCol="0" anchor="t"/>
          <a:lstStyle/>
          <a:p>
            <a:pPr algn="l" indent="0" marL="0">
              <a:lnSpc>
                <a:spcPts val="1140"/>
              </a:lnSpc>
              <a:buNone/>
            </a:pPr>
            <a:r>
              <a:rPr lang="en-US" sz="730" dirty="0">
                <a:solidFill>
                  <a:srgbClr val="071A33"/>
                </a:solidFill>
                <a:latin typeface="Arial" pitchFamily="34" charset="0"/>
                <a:ea typeface="Arial" pitchFamily="34" charset="-122"/>
                <a:cs typeface="Arial" pitchFamily="34" charset="-120"/>
              </a:rPr>
              <a:t>9 sec</a:t>
            </a:r>
            <a:endParaRPr lang="en-US" sz="730" dirty="0"/>
          </a:p>
        </p:txBody>
      </p:sp>
      <p:sp>
        <p:nvSpPr>
          <p:cNvPr id="47" name="Text 43"/>
          <p:cNvSpPr txBox="1"/>
          <p:nvPr/>
        </p:nvSpPr>
        <p:spPr>
          <a:xfrm>
            <a:off x="3831336" y="4512278"/>
            <a:ext cx="248217" cy="187959"/>
          </a:xfrm>
          <a:prstGeom prst="rect">
            <a:avLst/>
          </a:prstGeom>
          <a:noFill/>
          <a:ln/>
        </p:spPr>
        <p:txBody>
          <a:bodyPr wrap="none" lIns="0" tIns="0" rIns="0" bIns="0" rtlCol="0" anchor="t"/>
          <a:lstStyle/>
          <a:p>
            <a:pPr algn="l" indent="0" marL="0">
              <a:lnSpc>
                <a:spcPts val="1140"/>
              </a:lnSpc>
              <a:buNone/>
            </a:pPr>
            <a:r>
              <a:rPr lang="en-US" sz="730" b="1" dirty="0">
                <a:solidFill>
                  <a:srgbClr val="1A62D6"/>
                </a:solidFill>
                <a:latin typeface="Arial" pitchFamily="34" charset="0"/>
                <a:ea typeface="Arial" pitchFamily="34" charset="-122"/>
                <a:cs typeface="Arial" pitchFamily="34" charset="-120"/>
              </a:rPr>
              <a:t>1 sec</a:t>
            </a:r>
            <a:endParaRPr lang="en-US" sz="730" dirty="0"/>
          </a:p>
        </p:txBody>
      </p:sp>
      <p:sp>
        <p:nvSpPr>
          <p:cNvPr id="48" name="Shape 44"/>
          <p:cNvSpPr/>
          <p:nvPr/>
        </p:nvSpPr>
        <p:spPr>
          <a:xfrm>
            <a:off x="4745736" y="4503134"/>
            <a:ext cx="685800" cy="162878"/>
          </a:xfrm>
          <a:prstGeom prst="roundRect">
            <a:avLst>
              <a:gd name="adj" fmla="val 50000"/>
            </a:avLst>
          </a:prstGeom>
          <a:solidFill>
            <a:srgbClr val="1F6FEB"/>
          </a:solidFill>
          <a:ln/>
        </p:spPr>
      </p:sp>
      <p:sp>
        <p:nvSpPr>
          <p:cNvPr id="49" name="Text 45"/>
          <p:cNvSpPr txBox="1"/>
          <p:nvPr/>
        </p:nvSpPr>
        <p:spPr>
          <a:xfrm>
            <a:off x="4910385" y="4512278"/>
            <a:ext cx="356502" cy="187959"/>
          </a:xfrm>
          <a:prstGeom prst="rect">
            <a:avLst/>
          </a:prstGeom>
          <a:noFill/>
          <a:ln/>
        </p:spPr>
        <p:txBody>
          <a:bodyPr wrap="none" lIns="0" tIns="0" rIns="0" bIns="0" rtlCol="0" anchor="t"/>
          <a:lstStyle/>
          <a:p>
            <a:pPr algn="ctr" indent="0" marL="0">
              <a:lnSpc>
                <a:spcPts val="1140"/>
              </a:lnSpc>
              <a:buNone/>
            </a:pPr>
            <a:r>
              <a:rPr lang="en-US" sz="730" b="1" dirty="0">
                <a:solidFill>
                  <a:srgbClr val="FFFFFF"/>
                </a:solidFill>
                <a:latin typeface="Arial" pitchFamily="34" charset="0"/>
                <a:ea typeface="Arial" pitchFamily="34" charset="-122"/>
                <a:cs typeface="Arial" pitchFamily="34" charset="-120"/>
              </a:rPr>
              <a:t>−88.9%</a:t>
            </a:r>
            <a:endParaRPr lang="en-US" sz="730" dirty="0"/>
          </a:p>
        </p:txBody>
      </p:sp>
      <p:sp>
        <p:nvSpPr>
          <p:cNvPr id="50" name="Text 46"/>
          <p:cNvSpPr txBox="1"/>
          <p:nvPr/>
        </p:nvSpPr>
        <p:spPr>
          <a:xfrm>
            <a:off x="603504" y="4777454"/>
            <a:ext cx="4557612" cy="165712"/>
          </a:xfrm>
          <a:prstGeom prst="rect">
            <a:avLst/>
          </a:prstGeom>
          <a:noFill/>
          <a:ln/>
        </p:spPr>
        <p:txBody>
          <a:bodyPr wrap="none" lIns="0" tIns="0" rIns="0" bIns="0" rtlCol="0" anchor="t"/>
          <a:lstStyle/>
          <a:p>
            <a:pPr algn="l" indent="0" marL="0">
              <a:lnSpc>
                <a:spcPts val="1000"/>
              </a:lnSpc>
              <a:buNone/>
            </a:pPr>
            <a:r>
              <a:rPr lang="en-US" sz="650" dirty="0">
                <a:solidFill>
                  <a:srgbClr val="5F7691"/>
                </a:solidFill>
                <a:latin typeface="Arial" pitchFamily="34" charset="0"/>
                <a:ea typeface="Arial" pitchFamily="34" charset="-122"/>
                <a:cs typeface="Arial" pitchFamily="34" charset="-120"/>
              </a:rPr>
              <a:t>Dot peen / stamped / embossed · Barcode / Data Matrix · Internal configuration; supplied mission comparisons.</a:t>
            </a:r>
            <a:endParaRPr lang="en-US" sz="650" dirty="0"/>
          </a:p>
        </p:txBody>
      </p:sp>
      <p:sp>
        <p:nvSpPr>
          <p:cNvPr id="51" name="Shape 47"/>
          <p:cNvSpPr/>
          <p:nvPr/>
        </p:nvSpPr>
        <p:spPr>
          <a:xfrm>
            <a:off x="6035040" y="1152144"/>
            <a:ext cx="2651760" cy="2505456"/>
          </a:xfrm>
          <a:prstGeom prst="roundRect">
            <a:avLst>
              <a:gd name="adj" fmla="val 7299"/>
            </a:avLst>
          </a:prstGeom>
          <a:ln w="9144">
            <a:solidFill>
              <a:srgbClr val="D6E6FA"/>
            </a:solidFill>
            <a:prstDash val="solid"/>
          </a:ln>
          <a:effectLst>
            <a:outerShdw sx="100000" sy="100000" kx="0" ky="0" algn="bl" rotWithShape="0" blurRad="457200" dist="219456" dir="5400000">
              <a:srgbClr val="1E5AC8">
                <a:alpha val="21600"/>
              </a:srgbClr>
            </a:outerShdw>
          </a:effectLst>
        </p:spPr>
      </p:sp>
      <p:pic>
        <p:nvPicPr>
          <p:cNvPr id="52" name="Picture" descr="Handheld OCR reader scanning a part on the shopfloor">    </p:cNvPr>
          <p:cNvPicPr>
            <a:picLocks noChangeAspect="1"/>
          </p:cNvPicPr>
          <p:nvPr/>
        </p:nvPicPr>
        <p:blipFill>
          <a:blip r:embed="rId4"/>
          <a:stretch>
            <a:fillRect/>
          </a:stretch>
        </p:blipFill>
        <p:spPr>
          <a:xfrm>
            <a:off x="6035040" y="1152144"/>
            <a:ext cx="2651760" cy="2505456"/>
          </a:xfrm>
          <a:prstGeom prst="roundRect">
            <a:avLst>
              <a:gd name="adj" fmla="val 7299"/>
            </a:avLst>
          </a:prstGeom>
        </p:spPr>
      </p:pic>
      <p:pic>
        <p:nvPicPr>
          <p:cNvPr id="53" name="Image 3" descr="Stamped serial number 2610815 read by OCR">    </p:cNvPr>
          <p:cNvPicPr>
            <a:picLocks noChangeAspect="1"/>
          </p:cNvPicPr>
          <p:nvPr/>
        </p:nvPicPr>
        <p:blipFill>
          <a:blip r:embed="rId5"/>
          <a:stretch>
            <a:fillRect/>
          </a:stretch>
        </p:blipFill>
        <p:spPr>
          <a:xfrm>
            <a:off x="6035040" y="3858768"/>
            <a:ext cx="1691640" cy="877681"/>
          </a:xfrm>
          <a:prstGeom prst="rect">
            <a:avLst/>
          </a:prstGeom>
        </p:spPr>
      </p:pic>
      <p:sp>
        <p:nvSpPr>
          <p:cNvPr id="54" name="Text 48"/>
          <p:cNvSpPr txBox="1"/>
          <p:nvPr/>
        </p:nvSpPr>
        <p:spPr>
          <a:xfrm>
            <a:off x="7863840" y="3968496"/>
            <a:ext cx="866228" cy="325984"/>
          </a:xfrm>
          <a:prstGeom prst="rect">
            <a:avLst/>
          </a:prstGeom>
          <a:noFill/>
          <a:ln/>
        </p:spPr>
        <p:txBody>
          <a:bodyPr wrap="square" lIns="0" tIns="0" rIns="0" bIns="0" rtlCol="0" anchor="t"/>
          <a:lstStyle/>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Shopfloor OCR in</a:t>
            </a:r>
            <a:endParaRPr lang="en-US" sz="720" dirty="0"/>
          </a:p>
          <a:p>
            <a:pPr algn="l" indent="0" marL="0">
              <a:lnSpc>
                <a:spcPts val="1120"/>
              </a:lnSpc>
              <a:buNone/>
            </a:pPr>
            <a:r>
              <a:rPr lang="en-US" sz="720" b="1" dirty="0">
                <a:solidFill>
                  <a:srgbClr val="071A33"/>
                </a:solidFill>
                <a:latin typeface="Arial" pitchFamily="34" charset="0"/>
                <a:ea typeface="Arial" pitchFamily="34" charset="-122"/>
                <a:cs typeface="Arial" pitchFamily="34" charset="-120"/>
              </a:rPr>
              <a:t>use</a:t>
            </a:r>
            <a:endParaRPr lang="en-US" sz="720" dirty="0"/>
          </a:p>
        </p:txBody>
      </p:sp>
      <p:sp>
        <p:nvSpPr>
          <p:cNvPr id="55" name="Text 49"/>
          <p:cNvSpPr txBox="1"/>
          <p:nvPr/>
        </p:nvSpPr>
        <p:spPr>
          <a:xfrm>
            <a:off x="7863840" y="4279392"/>
            <a:ext cx="890497" cy="250100"/>
          </a:xfrm>
          <a:prstGeom prst="rect">
            <a:avLst/>
          </a:prstGeom>
          <a:noFill/>
          <a:ln/>
        </p:spPr>
        <p:txBody>
          <a:bodyPr wrap="square" lIns="0" tIns="0" rIns="0" bIns="0" rtlCol="0" anchor="t"/>
          <a:lstStyle/>
          <a:p>
            <a:pPr algn="l" indent="0" marL="0">
              <a:lnSpc>
                <a:spcPts val="860"/>
              </a:lnSpc>
              <a:buNone/>
            </a:pPr>
            <a:r>
              <a:rPr lang="en-US" sz="610" dirty="0">
                <a:solidFill>
                  <a:srgbClr val="4D6585"/>
                </a:solidFill>
                <a:latin typeface="Arial" pitchFamily="34" charset="0"/>
                <a:ea typeface="Arial" pitchFamily="34" charset="-122"/>
                <a:cs typeface="Arial" pitchFamily="34" charset="-120"/>
              </a:rPr>
              <a:t>KEYENCE BT-A1000 ·</a:t>
            </a:r>
            <a:endParaRPr lang="en-US" sz="610" dirty="0"/>
          </a:p>
          <a:p>
            <a:pPr algn="l" indent="0" marL="0">
              <a:lnSpc>
                <a:spcPts val="860"/>
              </a:lnSpc>
              <a:buNone/>
            </a:pPr>
            <a:r>
              <a:rPr lang="en-US" sz="610" dirty="0">
                <a:solidFill>
                  <a:srgbClr val="4D6585"/>
                </a:solidFill>
                <a:latin typeface="Arial" pitchFamily="34" charset="0"/>
                <a:ea typeface="Arial" pitchFamily="34" charset="-122"/>
                <a:cs typeface="Arial" pitchFamily="34" charset="-120"/>
              </a:rPr>
              <a:t>LCBTH.26.0005</a:t>
            </a:r>
            <a:endParaRPr lang="en-US" sz="610" dirty="0"/>
          </a:p>
        </p:txBody>
      </p:sp>
    </p:spTree>
  </p:cSld>
  <p:clrMapOvr>
    <a:masterClrMapping/>
  </p:clrMapOvr>
  <p:transition spd="med">
    <p:push dir="r"/>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1066133" cy="201168"/>
          </a:xfrm>
          <a:prstGeom prst="roundRect">
            <a:avLst>
              <a:gd name="adj" fmla="val 50000"/>
            </a:avLst>
          </a:prstGeom>
          <a:solidFill>
            <a:srgbClr val="E1EEFF"/>
          </a:solidFill>
          <a:ln/>
        </p:spPr>
      </p:sp>
      <p:sp>
        <p:nvSpPr>
          <p:cNvPr id="4" name="Text 1"/>
          <p:cNvSpPr txBox="1"/>
          <p:nvPr/>
        </p:nvSpPr>
        <p:spPr>
          <a:xfrm>
            <a:off x="557784" y="1005840"/>
            <a:ext cx="969750"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03 · Hybrid workflow</a:t>
            </a:r>
            <a:endParaRPr lang="en-US" sz="720" dirty="0"/>
          </a:p>
        </p:txBody>
      </p:sp>
      <p:sp>
        <p:nvSpPr>
          <p:cNvPr id="5" name="Text 2"/>
          <p:cNvSpPr txBox="1"/>
          <p:nvPr/>
        </p:nvSpPr>
        <p:spPr>
          <a:xfrm>
            <a:off x="457200" y="1252728"/>
            <a:ext cx="5516707" cy="714748"/>
          </a:xfrm>
          <a:prstGeom prst="rect">
            <a:avLst/>
          </a:prstGeom>
          <a:noFill/>
          <a:ln/>
        </p:spPr>
        <p:txBody>
          <a:bodyPr wrap="squar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A hybrid workflow connects shopfloor</a:t>
            </a:r>
            <a:endParaRPr lang="en-US" sz="2380" dirty="0"/>
          </a:p>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capture to customer reports.</a:t>
            </a:r>
            <a:endParaRPr lang="en-US" sz="2380" dirty="0"/>
          </a:p>
        </p:txBody>
      </p:sp>
      <p:sp>
        <p:nvSpPr>
          <p:cNvPr id="6" name="Text 3"/>
          <p:cNvSpPr txBox="1"/>
          <p:nvPr/>
        </p:nvSpPr>
        <p:spPr>
          <a:xfrm>
            <a:off x="457200" y="1947386"/>
            <a:ext cx="5193806"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Online cloud records + offline Excel support → administrator review → customer report.</a:t>
            </a:r>
            <a:endParaRPr lang="en-US" sz="940" dirty="0"/>
          </a:p>
        </p:txBody>
      </p:sp>
      <p:sp>
        <p:nvSpPr>
          <p:cNvPr id="7" name="Shape 4"/>
          <p:cNvSpPr/>
          <p:nvPr/>
        </p:nvSpPr>
        <p:spPr>
          <a:xfrm>
            <a:off x="457200" y="2523744"/>
            <a:ext cx="1453896" cy="1207008"/>
          </a:xfrm>
          <a:prstGeom prst="roundRect">
            <a:avLst>
              <a:gd name="adj" fmla="val 13636"/>
            </a:avLst>
          </a:prstGeom>
          <a:solidFill>
            <a:srgbClr val="F0F6FF"/>
          </a:solidFill>
          <a:ln w="9144">
            <a:solidFill>
              <a:srgbClr val="D6E6FA"/>
            </a:solidFill>
            <a:prstDash val="solid"/>
          </a:ln>
        </p:spPr>
      </p:sp>
      <p:sp>
        <p:nvSpPr>
          <p:cNvPr id="8" name="Shape 5"/>
          <p:cNvSpPr/>
          <p:nvPr/>
        </p:nvSpPr>
        <p:spPr>
          <a:xfrm>
            <a:off x="576072" y="2651760"/>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9" name="Image 1" descr="Icon: barcode reader">    </p:cNvPr>
          <p:cNvPicPr>
            <a:picLocks noChangeAspect="1"/>
          </p:cNvPicPr>
          <p:nvPr/>
        </p:nvPicPr>
        <p:blipFill>
          <a:blip r:embed="rId3"/>
          <a:stretch>
            <a:fillRect/>
          </a:stretch>
        </p:blipFill>
        <p:spPr>
          <a:xfrm>
            <a:off x="576072" y="2651760"/>
            <a:ext cx="310896" cy="310896"/>
          </a:xfrm>
          <a:prstGeom prst="rect">
            <a:avLst/>
          </a:prstGeom>
        </p:spPr>
      </p:pic>
      <p:sp>
        <p:nvSpPr>
          <p:cNvPr id="10" name="Text 6"/>
          <p:cNvSpPr txBox="1"/>
          <p:nvPr/>
        </p:nvSpPr>
        <p:spPr>
          <a:xfrm>
            <a:off x="576072" y="3049524"/>
            <a:ext cx="617706"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Shopfloor</a:t>
            </a:r>
            <a:endParaRPr lang="en-US" sz="940" dirty="0"/>
          </a:p>
        </p:txBody>
      </p:sp>
      <p:sp>
        <p:nvSpPr>
          <p:cNvPr id="11" name="Text 7"/>
          <p:cNvSpPr txBox="1"/>
          <p:nvPr/>
        </p:nvSpPr>
        <p:spPr>
          <a:xfrm>
            <a:off x="576072" y="3265694"/>
            <a:ext cx="940046"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Handheld OCR / QR</a:t>
            </a:r>
            <a:endParaRPr lang="en-US" sz="720" dirty="0"/>
          </a:p>
        </p:txBody>
      </p:sp>
      <p:sp>
        <p:nvSpPr>
          <p:cNvPr id="12" name="Text 8"/>
          <p:cNvSpPr txBox="1"/>
          <p:nvPr/>
        </p:nvSpPr>
        <p:spPr>
          <a:xfrm>
            <a:off x="576072" y="3421142"/>
            <a:ext cx="859265"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Serial + Good / NG</a:t>
            </a:r>
            <a:endParaRPr lang="en-US" sz="720" dirty="0"/>
          </a:p>
        </p:txBody>
      </p:sp>
      <p:pic>
        <p:nvPicPr>
          <p:cNvPr id="13" name="Image 2" descr="Icon: arrow forward">    </p:cNvPr>
          <p:cNvPicPr>
            <a:picLocks noChangeAspect="1"/>
          </p:cNvPicPr>
          <p:nvPr/>
        </p:nvPicPr>
        <p:blipFill>
          <a:blip r:embed="rId4"/>
          <a:stretch>
            <a:fillRect/>
          </a:stretch>
        </p:blipFill>
        <p:spPr>
          <a:xfrm>
            <a:off x="1933956" y="3035808"/>
            <a:ext cx="164592" cy="164592"/>
          </a:xfrm>
          <a:prstGeom prst="rect">
            <a:avLst/>
          </a:prstGeom>
        </p:spPr>
      </p:pic>
      <p:sp>
        <p:nvSpPr>
          <p:cNvPr id="14" name="Shape 9"/>
          <p:cNvSpPr/>
          <p:nvPr/>
        </p:nvSpPr>
        <p:spPr>
          <a:xfrm>
            <a:off x="2148840" y="2523744"/>
            <a:ext cx="1453896" cy="1207008"/>
          </a:xfrm>
          <a:prstGeom prst="roundRect">
            <a:avLst>
              <a:gd name="adj" fmla="val 13636"/>
            </a:avLst>
          </a:prstGeom>
          <a:solidFill>
            <a:srgbClr val="F0F6FF"/>
          </a:solidFill>
          <a:ln w="9144">
            <a:solidFill>
              <a:srgbClr val="D6E6FA"/>
            </a:solidFill>
            <a:prstDash val="solid"/>
          </a:ln>
        </p:spPr>
      </p:sp>
      <p:sp>
        <p:nvSpPr>
          <p:cNvPr id="15" name="Shape 10"/>
          <p:cNvSpPr/>
          <p:nvPr/>
        </p:nvSpPr>
        <p:spPr>
          <a:xfrm>
            <a:off x="2267712" y="2651760"/>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6" name="Image 3" descr="Icon: table view">    </p:cNvPr>
          <p:cNvPicPr>
            <a:picLocks noChangeAspect="1"/>
          </p:cNvPicPr>
          <p:nvPr/>
        </p:nvPicPr>
        <p:blipFill>
          <a:blip r:embed="rId5"/>
          <a:stretch>
            <a:fillRect/>
          </a:stretch>
        </p:blipFill>
        <p:spPr>
          <a:xfrm>
            <a:off x="2267712" y="2651760"/>
            <a:ext cx="310896" cy="310896"/>
          </a:xfrm>
          <a:prstGeom prst="rect">
            <a:avLst/>
          </a:prstGeom>
        </p:spPr>
      </p:pic>
      <p:sp>
        <p:nvSpPr>
          <p:cNvPr id="17" name="Text 11"/>
          <p:cNvSpPr txBox="1"/>
          <p:nvPr/>
        </p:nvSpPr>
        <p:spPr>
          <a:xfrm>
            <a:off x="2267712" y="3049524"/>
            <a:ext cx="902327"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Google Sheets</a:t>
            </a:r>
            <a:endParaRPr lang="en-US" sz="940" dirty="0"/>
          </a:p>
        </p:txBody>
      </p:sp>
      <p:sp>
        <p:nvSpPr>
          <p:cNvPr id="18" name="Text 12"/>
          <p:cNvSpPr txBox="1"/>
          <p:nvPr/>
        </p:nvSpPr>
        <p:spPr>
          <a:xfrm>
            <a:off x="2267712" y="3265694"/>
            <a:ext cx="81777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Auto-record data</a:t>
            </a:r>
            <a:endParaRPr lang="en-US" sz="720" dirty="0"/>
          </a:p>
        </p:txBody>
      </p:sp>
      <p:sp>
        <p:nvSpPr>
          <p:cNvPr id="19" name="Text 13"/>
          <p:cNvSpPr txBox="1"/>
          <p:nvPr/>
        </p:nvSpPr>
        <p:spPr>
          <a:xfrm>
            <a:off x="2267712" y="3421142"/>
            <a:ext cx="804572"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Real-time access</a:t>
            </a:r>
            <a:endParaRPr lang="en-US" sz="720" dirty="0"/>
          </a:p>
        </p:txBody>
      </p:sp>
      <p:pic>
        <p:nvPicPr>
          <p:cNvPr id="20" name="Image 4" descr="Icon: arrow forward">    </p:cNvPr>
          <p:cNvPicPr>
            <a:picLocks noChangeAspect="1"/>
          </p:cNvPicPr>
          <p:nvPr/>
        </p:nvPicPr>
        <p:blipFill>
          <a:blip r:embed="rId6"/>
          <a:stretch>
            <a:fillRect/>
          </a:stretch>
        </p:blipFill>
        <p:spPr>
          <a:xfrm>
            <a:off x="3625596" y="3035808"/>
            <a:ext cx="164592" cy="164592"/>
          </a:xfrm>
          <a:prstGeom prst="rect">
            <a:avLst/>
          </a:prstGeom>
        </p:spPr>
      </p:pic>
      <p:sp>
        <p:nvSpPr>
          <p:cNvPr id="21" name="Shape 14"/>
          <p:cNvSpPr/>
          <p:nvPr/>
        </p:nvSpPr>
        <p:spPr>
          <a:xfrm>
            <a:off x="3840480" y="2523744"/>
            <a:ext cx="1453896" cy="1207008"/>
          </a:xfrm>
          <a:prstGeom prst="roundRect">
            <a:avLst>
              <a:gd name="adj" fmla="val 13636"/>
            </a:avLst>
          </a:prstGeom>
          <a:solidFill>
            <a:srgbClr val="F0F6FF"/>
          </a:solidFill>
          <a:ln w="9144">
            <a:solidFill>
              <a:srgbClr val="D6E6FA"/>
            </a:solidFill>
            <a:prstDash val="solid"/>
          </a:ln>
        </p:spPr>
      </p:sp>
      <p:sp>
        <p:nvSpPr>
          <p:cNvPr id="22" name="Shape 15"/>
          <p:cNvSpPr/>
          <p:nvPr/>
        </p:nvSpPr>
        <p:spPr>
          <a:xfrm>
            <a:off x="3959352" y="2651760"/>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23" name="Image 5" descr="Icon: cloud">    </p:cNvPr>
          <p:cNvPicPr>
            <a:picLocks noChangeAspect="1"/>
          </p:cNvPicPr>
          <p:nvPr/>
        </p:nvPicPr>
        <p:blipFill>
          <a:blip r:embed="rId7"/>
          <a:stretch>
            <a:fillRect/>
          </a:stretch>
        </p:blipFill>
        <p:spPr>
          <a:xfrm>
            <a:off x="3959352" y="2651760"/>
            <a:ext cx="310896" cy="310896"/>
          </a:xfrm>
          <a:prstGeom prst="rect">
            <a:avLst/>
          </a:prstGeom>
        </p:spPr>
      </p:pic>
      <p:sp>
        <p:nvSpPr>
          <p:cNvPr id="24" name="Text 16"/>
          <p:cNvSpPr txBox="1"/>
          <p:nvPr/>
        </p:nvSpPr>
        <p:spPr>
          <a:xfrm>
            <a:off x="3959352" y="3049524"/>
            <a:ext cx="798757"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Google Drive</a:t>
            </a:r>
            <a:endParaRPr lang="en-US" sz="940" dirty="0"/>
          </a:p>
        </p:txBody>
      </p:sp>
      <p:sp>
        <p:nvSpPr>
          <p:cNvPr id="25" name="Text 17"/>
          <p:cNvSpPr txBox="1"/>
          <p:nvPr/>
        </p:nvSpPr>
        <p:spPr>
          <a:xfrm>
            <a:off x="3959352" y="3265694"/>
            <a:ext cx="859422"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Shared online files</a:t>
            </a:r>
            <a:endParaRPr lang="en-US" sz="720" dirty="0"/>
          </a:p>
        </p:txBody>
      </p:sp>
      <p:sp>
        <p:nvSpPr>
          <p:cNvPr id="26" name="Text 18"/>
          <p:cNvSpPr txBox="1"/>
          <p:nvPr/>
        </p:nvSpPr>
        <p:spPr>
          <a:xfrm>
            <a:off x="3959352" y="3421142"/>
            <a:ext cx="849363"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Supervisor access</a:t>
            </a:r>
            <a:endParaRPr lang="en-US" sz="720" dirty="0"/>
          </a:p>
        </p:txBody>
      </p:sp>
      <p:pic>
        <p:nvPicPr>
          <p:cNvPr id="27" name="Image 6" descr="Icon: arrow forward">    </p:cNvPr>
          <p:cNvPicPr>
            <a:picLocks noChangeAspect="1"/>
          </p:cNvPicPr>
          <p:nvPr/>
        </p:nvPicPr>
        <p:blipFill>
          <a:blip r:embed="rId8"/>
          <a:stretch>
            <a:fillRect/>
          </a:stretch>
        </p:blipFill>
        <p:spPr>
          <a:xfrm>
            <a:off x="5317236" y="3035808"/>
            <a:ext cx="164592" cy="164592"/>
          </a:xfrm>
          <a:prstGeom prst="rect">
            <a:avLst/>
          </a:prstGeom>
        </p:spPr>
      </p:pic>
      <p:sp>
        <p:nvSpPr>
          <p:cNvPr id="28" name="Shape 19"/>
          <p:cNvSpPr/>
          <p:nvPr/>
        </p:nvSpPr>
        <p:spPr>
          <a:xfrm>
            <a:off x="5532120" y="2523744"/>
            <a:ext cx="1453896" cy="1207008"/>
          </a:xfrm>
          <a:prstGeom prst="roundRect">
            <a:avLst>
              <a:gd name="adj" fmla="val 13636"/>
            </a:avLst>
          </a:prstGeom>
          <a:solidFill>
            <a:srgbClr val="F0F6FF"/>
          </a:solidFill>
          <a:ln w="9144">
            <a:solidFill>
              <a:srgbClr val="D6E6FA"/>
            </a:solidFill>
            <a:prstDash val="solid"/>
          </a:ln>
        </p:spPr>
      </p:sp>
      <p:sp>
        <p:nvSpPr>
          <p:cNvPr id="29" name="Shape 20"/>
          <p:cNvSpPr/>
          <p:nvPr/>
        </p:nvSpPr>
        <p:spPr>
          <a:xfrm>
            <a:off x="5650992" y="2651760"/>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30" name="Image 7" descr="Icon: manage accounts">    </p:cNvPr>
          <p:cNvPicPr>
            <a:picLocks noChangeAspect="1"/>
          </p:cNvPicPr>
          <p:nvPr/>
        </p:nvPicPr>
        <p:blipFill>
          <a:blip r:embed="rId9"/>
          <a:stretch>
            <a:fillRect/>
          </a:stretch>
        </p:blipFill>
        <p:spPr>
          <a:xfrm>
            <a:off x="5650992" y="2651760"/>
            <a:ext cx="310896" cy="310896"/>
          </a:xfrm>
          <a:prstGeom prst="rect">
            <a:avLst/>
          </a:prstGeom>
        </p:spPr>
      </p:pic>
      <p:sp>
        <p:nvSpPr>
          <p:cNvPr id="31" name="Text 21"/>
          <p:cNvSpPr txBox="1"/>
          <p:nvPr/>
        </p:nvSpPr>
        <p:spPr>
          <a:xfrm>
            <a:off x="5650992" y="3049524"/>
            <a:ext cx="860208"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Administrator</a:t>
            </a:r>
            <a:endParaRPr lang="en-US" sz="940" dirty="0"/>
          </a:p>
        </p:txBody>
      </p:sp>
      <p:sp>
        <p:nvSpPr>
          <p:cNvPr id="32" name="Text 22"/>
          <p:cNvSpPr txBox="1"/>
          <p:nvPr/>
        </p:nvSpPr>
        <p:spPr>
          <a:xfrm>
            <a:off x="5650992" y="3265694"/>
            <a:ext cx="874824"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Review online data</a:t>
            </a:r>
            <a:endParaRPr lang="en-US" sz="720" dirty="0"/>
          </a:p>
        </p:txBody>
      </p:sp>
      <p:sp>
        <p:nvSpPr>
          <p:cNvPr id="33" name="Text 23"/>
          <p:cNvSpPr txBox="1"/>
          <p:nvPr/>
        </p:nvSpPr>
        <p:spPr>
          <a:xfrm>
            <a:off x="5650992" y="3421142"/>
            <a:ext cx="736678"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Reconcile Excel</a:t>
            </a:r>
            <a:endParaRPr lang="en-US" sz="720" dirty="0"/>
          </a:p>
        </p:txBody>
      </p:sp>
      <p:pic>
        <p:nvPicPr>
          <p:cNvPr id="34" name="Image 8" descr="Icon: arrow forward">    </p:cNvPr>
          <p:cNvPicPr>
            <a:picLocks noChangeAspect="1"/>
          </p:cNvPicPr>
          <p:nvPr/>
        </p:nvPicPr>
        <p:blipFill>
          <a:blip r:embed="rId10"/>
          <a:stretch>
            <a:fillRect/>
          </a:stretch>
        </p:blipFill>
        <p:spPr>
          <a:xfrm>
            <a:off x="7008876" y="3035808"/>
            <a:ext cx="164592" cy="164592"/>
          </a:xfrm>
          <a:prstGeom prst="rect">
            <a:avLst/>
          </a:prstGeom>
        </p:spPr>
      </p:pic>
      <p:sp>
        <p:nvSpPr>
          <p:cNvPr id="35" name="Shape 24"/>
          <p:cNvSpPr/>
          <p:nvPr/>
        </p:nvSpPr>
        <p:spPr>
          <a:xfrm>
            <a:off x="7223760" y="2523744"/>
            <a:ext cx="1453896" cy="1207008"/>
          </a:xfrm>
          <a:prstGeom prst="roundRect">
            <a:avLst>
              <a:gd name="adj" fmla="val 13636"/>
            </a:avLst>
          </a:prstGeom>
          <a:solidFill>
            <a:srgbClr val="F0F6FF"/>
          </a:solidFill>
          <a:ln w="9144">
            <a:solidFill>
              <a:srgbClr val="D6E6FA"/>
            </a:solidFill>
            <a:prstDash val="solid"/>
          </a:ln>
        </p:spPr>
      </p:sp>
      <p:sp>
        <p:nvSpPr>
          <p:cNvPr id="36" name="Shape 25"/>
          <p:cNvSpPr/>
          <p:nvPr/>
        </p:nvSpPr>
        <p:spPr>
          <a:xfrm>
            <a:off x="7342632" y="2651760"/>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37" name="Image 9" descr="Icon: assignment turned in">    </p:cNvPr>
          <p:cNvPicPr>
            <a:picLocks noChangeAspect="1"/>
          </p:cNvPicPr>
          <p:nvPr/>
        </p:nvPicPr>
        <p:blipFill>
          <a:blip r:embed="rId11"/>
          <a:stretch>
            <a:fillRect/>
          </a:stretch>
        </p:blipFill>
        <p:spPr>
          <a:xfrm>
            <a:off x="7342632" y="2651760"/>
            <a:ext cx="310896" cy="310896"/>
          </a:xfrm>
          <a:prstGeom prst="rect">
            <a:avLst/>
          </a:prstGeom>
        </p:spPr>
      </p:pic>
      <p:sp>
        <p:nvSpPr>
          <p:cNvPr id="38" name="Text 26"/>
          <p:cNvSpPr txBox="1"/>
          <p:nvPr/>
        </p:nvSpPr>
        <p:spPr>
          <a:xfrm>
            <a:off x="7342632" y="3049524"/>
            <a:ext cx="1030572" cy="239441"/>
          </a:xfrm>
          <a:prstGeom prst="rect">
            <a:avLst/>
          </a:prstGeom>
          <a:noFill/>
          <a:ln/>
        </p:spPr>
        <p:txBody>
          <a:bodyPr wrap="none" lIns="0" tIns="0" rIns="0" bIns="0" rtlCol="0" anchor="t"/>
          <a:lstStyle/>
          <a:p>
            <a:pPr algn="l" indent="0" marL="0">
              <a:lnSpc>
                <a:spcPts val="1450"/>
              </a:lnSpc>
              <a:buNone/>
            </a:pPr>
            <a:r>
              <a:rPr lang="en-US" sz="940" b="1" spc="-9" kern="0" dirty="0">
                <a:solidFill>
                  <a:srgbClr val="071A33"/>
                </a:solidFill>
                <a:latin typeface="Arial" pitchFamily="34" charset="0"/>
                <a:ea typeface="Arial" pitchFamily="34" charset="-122"/>
                <a:cs typeface="Arial" pitchFamily="34" charset="-120"/>
              </a:rPr>
              <a:t>Customer report</a:t>
            </a:r>
            <a:endParaRPr lang="en-US" sz="940" dirty="0"/>
          </a:p>
        </p:txBody>
      </p:sp>
      <p:sp>
        <p:nvSpPr>
          <p:cNvPr id="39" name="Text 27"/>
          <p:cNvSpPr txBox="1"/>
          <p:nvPr/>
        </p:nvSpPr>
        <p:spPr>
          <a:xfrm>
            <a:off x="7342632" y="3265694"/>
            <a:ext cx="791999"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Reviewed results</a:t>
            </a:r>
            <a:endParaRPr lang="en-US" sz="720" dirty="0"/>
          </a:p>
        </p:txBody>
      </p:sp>
      <p:sp>
        <p:nvSpPr>
          <p:cNvPr id="40" name="Text 28"/>
          <p:cNvSpPr txBox="1"/>
          <p:nvPr/>
        </p:nvSpPr>
        <p:spPr>
          <a:xfrm>
            <a:off x="7342632" y="3421142"/>
            <a:ext cx="881110" cy="160477"/>
          </a:xfrm>
          <a:prstGeom prst="rect">
            <a:avLst/>
          </a:prstGeom>
          <a:noFill/>
          <a:ln/>
        </p:spPr>
        <p:txBody>
          <a:bodyPr wrap="none" lIns="0" tIns="0" rIns="0" bIns="0" rtlCol="0" anchor="t"/>
          <a:lstStyle/>
          <a:p>
            <a:pPr algn="l" indent="0" marL="0">
              <a:lnSpc>
                <a:spcPts val="970"/>
              </a:lnSpc>
              <a:buNone/>
            </a:pPr>
            <a:r>
              <a:rPr lang="en-US" sz="720" dirty="0">
                <a:solidFill>
                  <a:srgbClr val="4D6585"/>
                </a:solidFill>
                <a:latin typeface="Arial" pitchFamily="34" charset="0"/>
                <a:ea typeface="Arial" pitchFamily="34" charset="-122"/>
                <a:cs typeface="Arial" pitchFamily="34" charset="-120"/>
              </a:rPr>
              <a:t>Submit final report</a:t>
            </a:r>
            <a:endParaRPr lang="en-US" sz="720" dirty="0"/>
          </a:p>
        </p:txBody>
      </p:sp>
      <p:sp>
        <p:nvSpPr>
          <p:cNvPr id="41" name="Shape 29"/>
          <p:cNvSpPr/>
          <p:nvPr/>
        </p:nvSpPr>
        <p:spPr>
          <a:xfrm>
            <a:off x="1184148" y="3730752"/>
            <a:ext cx="2107692" cy="713232"/>
          </a:xfrm>
          <a:custGeom>
            <a:avLst/>
            <a:gdLst/>
            <a:ahLst/>
            <a:cxnLst/>
            <a:rect l="l" t="t" r="r" b="b"/>
            <a:pathLst>
              <a:path w="2107692" h="713232">
                <a:moveTo>
                  <a:pt x="0" y="0"/>
                </a:moveTo>
                <a:lnTo>
                  <a:pt x="0" y="134330"/>
                </a:lnTo>
                <a:lnTo>
                  <a:pt x="0" y="268659"/>
                </a:lnTo>
                <a:lnTo>
                  <a:pt x="0" y="402989"/>
                </a:lnTo>
                <a:lnTo>
                  <a:pt x="0" y="537319"/>
                </a:lnTo>
                <a:lnTo>
                  <a:pt x="0" y="671649"/>
                </a:lnTo>
                <a:lnTo>
                  <a:pt x="92746" y="713232"/>
                </a:lnTo>
                <a:lnTo>
                  <a:pt x="227076" y="713232"/>
                </a:lnTo>
                <a:lnTo>
                  <a:pt x="361406" y="713232"/>
                </a:lnTo>
                <a:lnTo>
                  <a:pt x="495736" y="713232"/>
                </a:lnTo>
                <a:lnTo>
                  <a:pt x="630065" y="713232"/>
                </a:lnTo>
                <a:lnTo>
                  <a:pt x="764395" y="713232"/>
                </a:lnTo>
                <a:lnTo>
                  <a:pt x="898725" y="713232"/>
                </a:lnTo>
                <a:lnTo>
                  <a:pt x="1033054" y="713232"/>
                </a:lnTo>
                <a:lnTo>
                  <a:pt x="1167384" y="713232"/>
                </a:lnTo>
                <a:lnTo>
                  <a:pt x="1301714" y="713232"/>
                </a:lnTo>
                <a:lnTo>
                  <a:pt x="1436043" y="713232"/>
                </a:lnTo>
                <a:lnTo>
                  <a:pt x="1570373" y="713232"/>
                </a:lnTo>
                <a:lnTo>
                  <a:pt x="1704703" y="713232"/>
                </a:lnTo>
                <a:lnTo>
                  <a:pt x="1839033" y="713232"/>
                </a:lnTo>
                <a:lnTo>
                  <a:pt x="1973362" y="713232"/>
                </a:lnTo>
                <a:lnTo>
                  <a:pt x="2107692" y="713232"/>
                </a:lnTo>
              </a:path>
            </a:pathLst>
          </a:custGeom>
          <a:ln w="14630">
            <a:solidFill>
              <a:srgbClr val="1F6FEB"/>
            </a:solidFill>
            <a:prstDash val="sysDot"/>
          </a:ln>
        </p:spPr>
      </p:sp>
      <p:sp>
        <p:nvSpPr>
          <p:cNvPr id="42" name="Shape 30"/>
          <p:cNvSpPr/>
          <p:nvPr/>
        </p:nvSpPr>
        <p:spPr>
          <a:xfrm>
            <a:off x="5852160" y="3785616"/>
            <a:ext cx="406908" cy="658368"/>
          </a:xfrm>
          <a:custGeom>
            <a:avLst/>
            <a:gdLst/>
            <a:ahLst/>
            <a:cxnLst/>
            <a:rect l="l" t="t" r="r" b="b"/>
            <a:pathLst>
              <a:path w="406908" h="658368">
                <a:moveTo>
                  <a:pt x="0" y="658368"/>
                </a:moveTo>
                <a:lnTo>
                  <a:pt x="133160" y="658368"/>
                </a:lnTo>
                <a:lnTo>
                  <a:pt x="266319" y="658368"/>
                </a:lnTo>
                <a:lnTo>
                  <a:pt x="399478" y="658368"/>
                </a:lnTo>
                <a:lnTo>
                  <a:pt x="406908" y="532638"/>
                </a:lnTo>
                <a:lnTo>
                  <a:pt x="406908" y="399478"/>
                </a:lnTo>
                <a:lnTo>
                  <a:pt x="406908" y="266319"/>
                </a:lnTo>
                <a:lnTo>
                  <a:pt x="406908" y="133159"/>
                </a:lnTo>
                <a:lnTo>
                  <a:pt x="406908" y="0"/>
                </a:lnTo>
              </a:path>
            </a:pathLst>
          </a:custGeom>
          <a:ln w="14630">
            <a:solidFill>
              <a:srgbClr val="1F6FEB"/>
            </a:solidFill>
            <a:prstDash val="sysDot"/>
          </a:ln>
        </p:spPr>
      </p:sp>
      <p:sp>
        <p:nvSpPr>
          <p:cNvPr id="43" name="Shape 31"/>
          <p:cNvSpPr/>
          <p:nvPr/>
        </p:nvSpPr>
        <p:spPr>
          <a:xfrm>
            <a:off x="6167628" y="3767328"/>
            <a:ext cx="182880" cy="128016"/>
          </a:xfrm>
          <a:custGeom>
            <a:avLst/>
            <a:gdLst/>
            <a:ahLst/>
            <a:cxnLst/>
            <a:rect l="l" t="t" r="r" b="b"/>
            <a:pathLst>
              <a:path w="182880" h="128016">
                <a:moveTo>
                  <a:pt x="0" y="128016"/>
                </a:moveTo>
                <a:lnTo>
                  <a:pt x="22860" y="96012"/>
                </a:lnTo>
                <a:lnTo>
                  <a:pt x="45720" y="64008"/>
                </a:lnTo>
                <a:lnTo>
                  <a:pt x="68580" y="32004"/>
                </a:lnTo>
                <a:lnTo>
                  <a:pt x="91440" y="0"/>
                </a:lnTo>
                <a:lnTo>
                  <a:pt x="114300" y="32004"/>
                </a:lnTo>
                <a:lnTo>
                  <a:pt x="137160" y="64008"/>
                </a:lnTo>
                <a:lnTo>
                  <a:pt x="160020" y="96012"/>
                </a:lnTo>
                <a:lnTo>
                  <a:pt x="182880" y="128016"/>
                </a:lnTo>
              </a:path>
            </a:pathLst>
          </a:custGeom>
          <a:ln w="14630">
            <a:solidFill>
              <a:srgbClr val="1F6FEB"/>
            </a:solidFill>
            <a:prstDash val="sysDot"/>
          </a:ln>
        </p:spPr>
      </p:sp>
      <p:sp>
        <p:nvSpPr>
          <p:cNvPr id="44" name="Shape 32"/>
          <p:cNvSpPr/>
          <p:nvPr/>
        </p:nvSpPr>
        <p:spPr>
          <a:xfrm>
            <a:off x="3291840" y="4151376"/>
            <a:ext cx="2560320" cy="585216"/>
          </a:xfrm>
          <a:prstGeom prst="roundRect">
            <a:avLst>
              <a:gd name="adj" fmla="val 18750"/>
            </a:avLst>
          </a:prstGeom>
          <a:solidFill>
            <a:srgbClr val="FFFFFF"/>
          </a:solidFill>
          <a:ln w="9144">
            <a:solidFill>
              <a:srgbClr val="9CCBFF"/>
            </a:solidFill>
            <a:prstDash val="solid"/>
          </a:ln>
        </p:spPr>
      </p:sp>
      <p:pic>
        <p:nvPicPr>
          <p:cNvPr id="45" name="Image 10" descr="Icon: table chart">    </p:cNvPr>
          <p:cNvPicPr>
            <a:picLocks noChangeAspect="1"/>
          </p:cNvPicPr>
          <p:nvPr/>
        </p:nvPicPr>
        <p:blipFill>
          <a:blip r:embed="rId12"/>
          <a:stretch>
            <a:fillRect/>
          </a:stretch>
        </p:blipFill>
        <p:spPr>
          <a:xfrm>
            <a:off x="3419856" y="4352544"/>
            <a:ext cx="182880" cy="182880"/>
          </a:xfrm>
          <a:prstGeom prst="rect">
            <a:avLst/>
          </a:prstGeom>
        </p:spPr>
      </p:pic>
      <p:sp>
        <p:nvSpPr>
          <p:cNvPr id="46" name="Text 33"/>
          <p:cNvSpPr txBox="1"/>
          <p:nvPr/>
        </p:nvSpPr>
        <p:spPr>
          <a:xfrm>
            <a:off x="3703320" y="4291679"/>
            <a:ext cx="707288" cy="221045"/>
          </a:xfrm>
          <a:prstGeom prst="rect">
            <a:avLst/>
          </a:prstGeom>
          <a:noFill/>
          <a:ln/>
        </p:spPr>
        <p:txBody>
          <a:bodyPr wrap="none" lIns="0" tIns="0" rIns="0" bIns="0" rtlCol="0" anchor="t"/>
          <a:lstStyle/>
          <a:p>
            <a:pPr algn="l" indent="0" marL="0">
              <a:lnSpc>
                <a:spcPts val="1340"/>
              </a:lnSpc>
              <a:buNone/>
            </a:pPr>
            <a:r>
              <a:rPr lang="en-US" sz="860" b="1" dirty="0">
                <a:solidFill>
                  <a:srgbClr val="071A33"/>
                </a:solidFill>
                <a:latin typeface="Arial" pitchFamily="34" charset="0"/>
                <a:ea typeface="Arial" pitchFamily="34" charset="-122"/>
                <a:cs typeface="Arial" pitchFamily="34" charset="-120"/>
              </a:rPr>
              <a:t>Excel offline</a:t>
            </a:r>
            <a:endParaRPr lang="en-US" sz="860" dirty="0"/>
          </a:p>
        </p:txBody>
      </p:sp>
      <p:sp>
        <p:nvSpPr>
          <p:cNvPr id="47" name="Text 34"/>
          <p:cNvSpPr txBox="1"/>
          <p:nvPr/>
        </p:nvSpPr>
        <p:spPr>
          <a:xfrm>
            <a:off x="3703320" y="4461701"/>
            <a:ext cx="1164160" cy="174982"/>
          </a:xfrm>
          <a:prstGeom prst="rect">
            <a:avLst/>
          </a:prstGeom>
          <a:noFill/>
          <a:ln/>
        </p:spPr>
        <p:txBody>
          <a:bodyPr wrap="none" lIns="0" tIns="0" rIns="0" bIns="0" rtlCol="0" anchor="t"/>
          <a:lstStyle/>
          <a:p>
            <a:pPr algn="l" indent="0" marL="0">
              <a:lnSpc>
                <a:spcPts val="1060"/>
              </a:lnSpc>
              <a:buNone/>
            </a:pPr>
            <a:r>
              <a:rPr lang="en-US" sz="680" dirty="0">
                <a:solidFill>
                  <a:srgbClr val="4D6585"/>
                </a:solidFill>
                <a:latin typeface="Arial" pitchFamily="34" charset="0"/>
                <a:ea typeface="Arial" pitchFamily="34" charset="-122"/>
                <a:cs typeface="Arial" pitchFamily="34" charset="-120"/>
              </a:rPr>
              <a:t>Local serial + status record</a:t>
            </a:r>
            <a:endParaRPr lang="en-US" sz="680" dirty="0"/>
          </a:p>
        </p:txBody>
      </p:sp>
      <p:sp>
        <p:nvSpPr>
          <p:cNvPr id="48" name="Text 35"/>
          <p:cNvSpPr txBox="1"/>
          <p:nvPr/>
        </p:nvSpPr>
        <p:spPr>
          <a:xfrm>
            <a:off x="6400800" y="4224528"/>
            <a:ext cx="1568225" cy="152339"/>
          </a:xfrm>
          <a:prstGeom prst="rect">
            <a:avLst/>
          </a:prstGeom>
          <a:noFill/>
          <a:ln/>
        </p:spPr>
        <p:txBody>
          <a:bodyPr wrap="none" lIns="0" tIns="0" rIns="0" bIns="0" rtlCol="0" anchor="t"/>
          <a:lstStyle/>
          <a:p>
            <a:pPr algn="l" indent="0" marL="0">
              <a:lnSpc>
                <a:spcPts val="920"/>
              </a:lnSpc>
              <a:buNone/>
            </a:pPr>
            <a:r>
              <a:rPr lang="en-US" sz="680" dirty="0">
                <a:solidFill>
                  <a:srgbClr val="4D6585"/>
                </a:solidFill>
                <a:latin typeface="Arial" pitchFamily="34" charset="0"/>
                <a:ea typeface="Arial" pitchFamily="34" charset="-122"/>
                <a:cs typeface="Arial" pitchFamily="34" charset="-120"/>
              </a:rPr>
              <a:t>Reconcile offline and online records</a:t>
            </a:r>
            <a:endParaRPr lang="en-US" sz="680" dirty="0"/>
          </a:p>
        </p:txBody>
      </p:sp>
      <p:sp>
        <p:nvSpPr>
          <p:cNvPr id="49" name="Text 36"/>
          <p:cNvSpPr txBox="1"/>
          <p:nvPr/>
        </p:nvSpPr>
        <p:spPr>
          <a:xfrm>
            <a:off x="457200" y="4789884"/>
            <a:ext cx="4292479" cy="156585"/>
          </a:xfrm>
          <a:prstGeom prst="rect">
            <a:avLst/>
          </a:prstGeom>
          <a:noFill/>
          <a:ln/>
        </p:spPr>
        <p:txBody>
          <a:bodyPr wrap="none" lIns="0" tIns="0" rIns="0" bIns="0" rtlCol="0" anchor="t"/>
          <a:lstStyle/>
          <a:p>
            <a:pPr algn="l" indent="0" marL="0">
              <a:lnSpc>
                <a:spcPts val="950"/>
              </a:lnSpc>
              <a:buNone/>
            </a:pPr>
            <a:r>
              <a:rPr lang="en-US" sz="610" dirty="0">
                <a:solidFill>
                  <a:srgbClr val="5F7691"/>
                </a:solidFill>
                <a:latin typeface="Arial" pitchFamily="34" charset="0"/>
                <a:ea typeface="Arial" pitchFamily="34" charset="-122"/>
                <a:cs typeface="Arial" pitchFamily="34" charset="-120"/>
              </a:rPr>
              <a:t>Source: supplied OCR capture and MMTH hybrid workflow. Generic icons denote functions, not product logos.</a:t>
            </a:r>
            <a:endParaRPr lang="en-US" sz="610" dirty="0"/>
          </a:p>
        </p:txBody>
      </p:sp>
    </p:spTree>
  </p:cSld>
  <p:clrMapOvr>
    <a:masterClrMapping/>
  </p:clrMapOvr>
  <p:transition spd="med">
    <p:push dir="r"/>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960120"/>
            <a:ext cx="814959" cy="201168"/>
          </a:xfrm>
          <a:prstGeom prst="roundRect">
            <a:avLst>
              <a:gd name="adj" fmla="val 50000"/>
            </a:avLst>
          </a:prstGeom>
          <a:solidFill>
            <a:srgbClr val="E1EEFF"/>
          </a:solidFill>
          <a:ln/>
        </p:spPr>
      </p:sp>
      <p:sp>
        <p:nvSpPr>
          <p:cNvPr id="4" name="Text 1"/>
          <p:cNvSpPr txBox="1"/>
          <p:nvPr/>
        </p:nvSpPr>
        <p:spPr>
          <a:xfrm>
            <a:off x="557784" y="1005840"/>
            <a:ext cx="693458"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03 · Poka-yoke</a:t>
            </a:r>
            <a:endParaRPr lang="en-US" sz="720" dirty="0"/>
          </a:p>
        </p:txBody>
      </p:sp>
      <p:sp>
        <p:nvSpPr>
          <p:cNvPr id="5" name="Text 2"/>
          <p:cNvSpPr txBox="1"/>
          <p:nvPr/>
        </p:nvSpPr>
        <p:spPr>
          <a:xfrm>
            <a:off x="457200" y="1252728"/>
            <a:ext cx="6382112" cy="403994"/>
          </a:xfrm>
          <a:prstGeom prst="rect">
            <a:avLst/>
          </a:prstGeom>
          <a:noFill/>
          <a:ln/>
        </p:spPr>
        <p:txBody>
          <a:bodyPr wrap="none" lIns="0" tIns="0" rIns="0" bIns="0" rtlCol="0" anchor="t"/>
          <a:lstStyle/>
          <a:p>
            <a:pPr algn="l" indent="0" marL="0">
              <a:lnSpc>
                <a:spcPts val="2450"/>
              </a:lnSpc>
              <a:buNone/>
            </a:pPr>
            <a:r>
              <a:rPr lang="en-US" sz="2380" b="1" spc="-119" kern="0" dirty="0">
                <a:solidFill>
                  <a:srgbClr val="071A33"/>
                </a:solidFill>
                <a:latin typeface="Arial" pitchFamily="34" charset="0"/>
                <a:ea typeface="Arial" pitchFamily="34" charset="-122"/>
                <a:cs typeface="Arial" pitchFamily="34" charset="-120"/>
              </a:rPr>
              <a:t>Four controls protect every inspection record.</a:t>
            </a:r>
            <a:endParaRPr lang="en-US" sz="2380" dirty="0"/>
          </a:p>
        </p:txBody>
      </p:sp>
      <p:sp>
        <p:nvSpPr>
          <p:cNvPr id="6" name="Text 3"/>
          <p:cNvSpPr txBox="1"/>
          <p:nvPr/>
        </p:nvSpPr>
        <p:spPr>
          <a:xfrm>
            <a:off x="457200" y="1636633"/>
            <a:ext cx="4985566" cy="231800"/>
          </a:xfrm>
          <a:prstGeom prst="rect">
            <a:avLst/>
          </a:prstGeom>
          <a:noFill/>
          <a:ln/>
        </p:spPr>
        <p:txBody>
          <a:bodyPr wrap="non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Visual + voice guidance at capture. Administrator review before customer reporting.</a:t>
            </a:r>
            <a:endParaRPr lang="en-US" sz="940" dirty="0"/>
          </a:p>
        </p:txBody>
      </p:sp>
      <p:sp>
        <p:nvSpPr>
          <p:cNvPr id="7" name="Shape 4"/>
          <p:cNvSpPr/>
          <p:nvPr/>
        </p:nvSpPr>
        <p:spPr>
          <a:xfrm>
            <a:off x="457200" y="2322576"/>
            <a:ext cx="4023360" cy="676656"/>
          </a:xfrm>
          <a:prstGeom prst="roundRect">
            <a:avLst>
              <a:gd name="adj" fmla="val 18919"/>
            </a:avLst>
          </a:prstGeom>
          <a:solidFill>
            <a:srgbClr val="F0F6FF"/>
          </a:solidFill>
          <a:ln w="9144">
            <a:solidFill>
              <a:srgbClr val="D6E6FA"/>
            </a:solidFill>
            <a:prstDash val="solid"/>
          </a:ln>
        </p:spPr>
      </p:sp>
      <p:sp>
        <p:nvSpPr>
          <p:cNvPr id="8" name="Shape 5"/>
          <p:cNvSpPr/>
          <p:nvPr/>
        </p:nvSpPr>
        <p:spPr>
          <a:xfrm>
            <a:off x="621792" y="2459736"/>
            <a:ext cx="402336" cy="402336"/>
          </a:xfrm>
          <a:prstGeom prst="roundRect">
            <a:avLst>
              <a:gd name="adj" fmla="val 27273"/>
            </a:avLst>
          </a:prstGeom>
          <a:solidFill>
            <a:srgbClr val="FFFFFF"/>
          </a:solidFill>
          <a:ln/>
          <a:effectLst>
            <a:outerShdw sx="100000" sy="100000" kx="0" ky="0" algn="bl" rotWithShape="0" blurRad="109728" dist="36576" dir="5400000">
              <a:srgbClr val="1E5AC8">
                <a:alpha val="19200"/>
              </a:srgbClr>
            </a:outerShdw>
          </a:effectLst>
        </p:spPr>
      </p:sp>
      <p:pic>
        <p:nvPicPr>
          <p:cNvPr id="9" name="Image 1" descr="Icon: rule">    </p:cNvPr>
          <p:cNvPicPr>
            <a:picLocks noChangeAspect="1"/>
          </p:cNvPicPr>
          <p:nvPr/>
        </p:nvPicPr>
        <p:blipFill>
          <a:blip r:embed="rId3"/>
          <a:stretch>
            <a:fillRect/>
          </a:stretch>
        </p:blipFill>
        <p:spPr>
          <a:xfrm>
            <a:off x="621792" y="2459736"/>
            <a:ext cx="402336" cy="402336"/>
          </a:xfrm>
          <a:prstGeom prst="rect">
            <a:avLst/>
          </a:prstGeom>
        </p:spPr>
      </p:pic>
      <p:sp>
        <p:nvSpPr>
          <p:cNvPr id="10" name="Text 6"/>
          <p:cNvSpPr txBox="1"/>
          <p:nvPr/>
        </p:nvSpPr>
        <p:spPr>
          <a:xfrm>
            <a:off x="1152144" y="2471595"/>
            <a:ext cx="1274331"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Wrong part / serial</a:t>
            </a:r>
            <a:endParaRPr lang="en-US" sz="1040" dirty="0"/>
          </a:p>
        </p:txBody>
      </p:sp>
      <p:sp>
        <p:nvSpPr>
          <p:cNvPr id="11" name="Text 7"/>
          <p:cNvSpPr txBox="1"/>
          <p:nvPr/>
        </p:nvSpPr>
        <p:spPr>
          <a:xfrm>
            <a:off x="1152144" y="2704481"/>
            <a:ext cx="3429972" cy="189487"/>
          </a:xfrm>
          <a:prstGeom prst="rect">
            <a:avLst/>
          </a:prstGeom>
          <a:noFill/>
          <a:ln/>
        </p:spPr>
        <p:txBody>
          <a:bodyPr wrap="non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Validate against customer list / production plan. Warn on mismatch.</a:t>
            </a:r>
            <a:endParaRPr lang="en-US" sz="790" dirty="0"/>
          </a:p>
        </p:txBody>
      </p:sp>
      <p:sp>
        <p:nvSpPr>
          <p:cNvPr id="12" name="Shape 8"/>
          <p:cNvSpPr/>
          <p:nvPr/>
        </p:nvSpPr>
        <p:spPr>
          <a:xfrm>
            <a:off x="4663440" y="2322576"/>
            <a:ext cx="4023360" cy="676656"/>
          </a:xfrm>
          <a:prstGeom prst="roundRect">
            <a:avLst>
              <a:gd name="adj" fmla="val 18919"/>
            </a:avLst>
          </a:prstGeom>
          <a:solidFill>
            <a:srgbClr val="F0F6FF"/>
          </a:solidFill>
          <a:ln w="9144">
            <a:solidFill>
              <a:srgbClr val="D6E6FA"/>
            </a:solidFill>
            <a:prstDash val="solid"/>
          </a:ln>
        </p:spPr>
      </p:sp>
      <p:sp>
        <p:nvSpPr>
          <p:cNvPr id="13" name="Shape 9"/>
          <p:cNvSpPr/>
          <p:nvPr/>
        </p:nvSpPr>
        <p:spPr>
          <a:xfrm>
            <a:off x="4828032" y="2459736"/>
            <a:ext cx="402336" cy="402336"/>
          </a:xfrm>
          <a:prstGeom prst="roundRect">
            <a:avLst>
              <a:gd name="adj" fmla="val 27273"/>
            </a:avLst>
          </a:prstGeom>
          <a:solidFill>
            <a:srgbClr val="FFFFFF"/>
          </a:solidFill>
          <a:ln/>
          <a:effectLst>
            <a:outerShdw sx="100000" sy="100000" kx="0" ky="0" algn="bl" rotWithShape="0" blurRad="109728" dist="36576" dir="5400000">
              <a:srgbClr val="1E5AC8">
                <a:alpha val="19200"/>
              </a:srgbClr>
            </a:outerShdw>
          </a:effectLst>
        </p:spPr>
      </p:sp>
      <p:pic>
        <p:nvPicPr>
          <p:cNvPr id="14" name="Image 2" descr="Icon: content copy">    </p:cNvPr>
          <p:cNvPicPr>
            <a:picLocks noChangeAspect="1"/>
          </p:cNvPicPr>
          <p:nvPr/>
        </p:nvPicPr>
        <p:blipFill>
          <a:blip r:embed="rId4"/>
          <a:stretch>
            <a:fillRect/>
          </a:stretch>
        </p:blipFill>
        <p:spPr>
          <a:xfrm>
            <a:off x="4828032" y="2459736"/>
            <a:ext cx="402336" cy="402336"/>
          </a:xfrm>
          <a:prstGeom prst="rect">
            <a:avLst/>
          </a:prstGeom>
        </p:spPr>
      </p:pic>
      <p:sp>
        <p:nvSpPr>
          <p:cNvPr id="15" name="Text 10"/>
          <p:cNvSpPr txBox="1"/>
          <p:nvPr/>
        </p:nvSpPr>
        <p:spPr>
          <a:xfrm>
            <a:off x="5358384" y="2471595"/>
            <a:ext cx="1011241"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Duplicate scan</a:t>
            </a:r>
            <a:endParaRPr lang="en-US" sz="1040" dirty="0"/>
          </a:p>
        </p:txBody>
      </p:sp>
      <p:sp>
        <p:nvSpPr>
          <p:cNvPr id="16" name="Text 11"/>
          <p:cNvSpPr txBox="1"/>
          <p:nvPr/>
        </p:nvSpPr>
        <p:spPr>
          <a:xfrm>
            <a:off x="5358384" y="2704481"/>
            <a:ext cx="2691622" cy="189487"/>
          </a:xfrm>
          <a:prstGeom prst="rect">
            <a:avLst/>
          </a:prstGeom>
          <a:noFill/>
          <a:ln/>
        </p:spPr>
        <p:txBody>
          <a:bodyPr wrap="non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Lock out repeated scans. Prevent duplicate counting.</a:t>
            </a:r>
            <a:endParaRPr lang="en-US" sz="790" dirty="0"/>
          </a:p>
        </p:txBody>
      </p:sp>
      <p:sp>
        <p:nvSpPr>
          <p:cNvPr id="17" name="Shape 12"/>
          <p:cNvSpPr/>
          <p:nvPr/>
        </p:nvSpPr>
        <p:spPr>
          <a:xfrm>
            <a:off x="457200" y="3145536"/>
            <a:ext cx="4023360" cy="798671"/>
          </a:xfrm>
          <a:prstGeom prst="roundRect">
            <a:avLst>
              <a:gd name="adj" fmla="val 16029"/>
            </a:avLst>
          </a:prstGeom>
          <a:solidFill>
            <a:srgbClr val="F0F6FF"/>
          </a:solidFill>
          <a:ln w="9144">
            <a:solidFill>
              <a:srgbClr val="D6E6FA"/>
            </a:solidFill>
            <a:prstDash val="solid"/>
          </a:ln>
        </p:spPr>
      </p:sp>
      <p:sp>
        <p:nvSpPr>
          <p:cNvPr id="18" name="Shape 13"/>
          <p:cNvSpPr/>
          <p:nvPr/>
        </p:nvSpPr>
        <p:spPr>
          <a:xfrm>
            <a:off x="621792" y="3343704"/>
            <a:ext cx="402336" cy="402336"/>
          </a:xfrm>
          <a:prstGeom prst="roundRect">
            <a:avLst>
              <a:gd name="adj" fmla="val 27273"/>
            </a:avLst>
          </a:prstGeom>
          <a:solidFill>
            <a:srgbClr val="FFFFFF"/>
          </a:solidFill>
          <a:ln/>
          <a:effectLst>
            <a:outerShdw sx="100000" sy="100000" kx="0" ky="0" algn="bl" rotWithShape="0" blurRad="109728" dist="36576" dir="5400000">
              <a:srgbClr val="1E5AC8">
                <a:alpha val="19200"/>
              </a:srgbClr>
            </a:outerShdw>
          </a:effectLst>
        </p:spPr>
      </p:sp>
      <p:pic>
        <p:nvPicPr>
          <p:cNvPr id="19" name="Image 3" descr="Icon: inventory 2">    </p:cNvPr>
          <p:cNvPicPr>
            <a:picLocks noChangeAspect="1"/>
          </p:cNvPicPr>
          <p:nvPr/>
        </p:nvPicPr>
        <p:blipFill>
          <a:blip r:embed="rId5"/>
          <a:stretch>
            <a:fillRect/>
          </a:stretch>
        </p:blipFill>
        <p:spPr>
          <a:xfrm>
            <a:off x="621792" y="3343704"/>
            <a:ext cx="402336" cy="402336"/>
          </a:xfrm>
          <a:prstGeom prst="rect">
            <a:avLst/>
          </a:prstGeom>
        </p:spPr>
      </p:pic>
      <p:sp>
        <p:nvSpPr>
          <p:cNvPr id="20" name="Text 14"/>
          <p:cNvSpPr txBox="1"/>
          <p:nvPr/>
        </p:nvSpPr>
        <p:spPr>
          <a:xfrm>
            <a:off x="1152144" y="3355562"/>
            <a:ext cx="537553"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Full box</a:t>
            </a:r>
            <a:endParaRPr lang="en-US" sz="1040" dirty="0"/>
          </a:p>
        </p:txBody>
      </p:sp>
      <p:sp>
        <p:nvSpPr>
          <p:cNvPr id="21" name="Text 15"/>
          <p:cNvSpPr txBox="1"/>
          <p:nvPr/>
        </p:nvSpPr>
        <p:spPr>
          <a:xfrm>
            <a:off x="1152144" y="3588449"/>
            <a:ext cx="2986145" cy="189487"/>
          </a:xfrm>
          <a:prstGeom prst="rect">
            <a:avLst/>
          </a:prstGeom>
          <a:noFill/>
          <a:ln/>
        </p:spPr>
        <p:txBody>
          <a:bodyPr wrap="non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Voice + popup notification when target quantity is reached.</a:t>
            </a:r>
            <a:endParaRPr lang="en-US" sz="790" dirty="0"/>
          </a:p>
        </p:txBody>
      </p:sp>
      <p:sp>
        <p:nvSpPr>
          <p:cNvPr id="22" name="Shape 16"/>
          <p:cNvSpPr/>
          <p:nvPr/>
        </p:nvSpPr>
        <p:spPr>
          <a:xfrm>
            <a:off x="4663440" y="3145536"/>
            <a:ext cx="4023360" cy="798671"/>
          </a:xfrm>
          <a:prstGeom prst="roundRect">
            <a:avLst>
              <a:gd name="adj" fmla="val 16029"/>
            </a:avLst>
          </a:prstGeom>
          <a:solidFill>
            <a:srgbClr val="F0F6FF"/>
          </a:solidFill>
          <a:ln w="9144">
            <a:solidFill>
              <a:srgbClr val="D6E6FA"/>
            </a:solidFill>
            <a:prstDash val="solid"/>
          </a:ln>
        </p:spPr>
      </p:sp>
      <p:sp>
        <p:nvSpPr>
          <p:cNvPr id="23" name="Shape 17"/>
          <p:cNvSpPr/>
          <p:nvPr/>
        </p:nvSpPr>
        <p:spPr>
          <a:xfrm>
            <a:off x="4828032" y="3343704"/>
            <a:ext cx="402336" cy="402336"/>
          </a:xfrm>
          <a:prstGeom prst="roundRect">
            <a:avLst>
              <a:gd name="adj" fmla="val 27273"/>
            </a:avLst>
          </a:prstGeom>
          <a:solidFill>
            <a:srgbClr val="FFFFFF"/>
          </a:solidFill>
          <a:ln/>
          <a:effectLst>
            <a:outerShdw sx="100000" sy="100000" kx="0" ky="0" algn="bl" rotWithShape="0" blurRad="109728" dist="36576" dir="5400000">
              <a:srgbClr val="1E5AC8">
                <a:alpha val="19200"/>
              </a:srgbClr>
            </a:outerShdw>
          </a:effectLst>
        </p:spPr>
      </p:sp>
      <p:pic>
        <p:nvPicPr>
          <p:cNvPr id="24" name="Image 4" descr="Icon: verified user">    </p:cNvPr>
          <p:cNvPicPr>
            <a:picLocks noChangeAspect="1"/>
          </p:cNvPicPr>
          <p:nvPr/>
        </p:nvPicPr>
        <p:blipFill>
          <a:blip r:embed="rId6"/>
          <a:stretch>
            <a:fillRect/>
          </a:stretch>
        </p:blipFill>
        <p:spPr>
          <a:xfrm>
            <a:off x="4828032" y="3343704"/>
            <a:ext cx="402336" cy="402336"/>
          </a:xfrm>
          <a:prstGeom prst="rect">
            <a:avLst/>
          </a:prstGeom>
        </p:spPr>
      </p:pic>
      <p:sp>
        <p:nvSpPr>
          <p:cNvPr id="25" name="Text 18"/>
          <p:cNvSpPr txBox="1"/>
          <p:nvPr/>
        </p:nvSpPr>
        <p:spPr>
          <a:xfrm>
            <a:off x="5358384" y="3282696"/>
            <a:ext cx="1146086" cy="267108"/>
          </a:xfrm>
          <a:prstGeom prst="rect">
            <a:avLst/>
          </a:prstGeom>
          <a:noFill/>
          <a:ln/>
        </p:spPr>
        <p:txBody>
          <a:bodyPr wrap="none" lIns="0" tIns="0" rIns="0" bIns="0" rtlCol="0" anchor="t"/>
          <a:lstStyle/>
          <a:p>
            <a:pPr algn="l" indent="0" marL="0">
              <a:lnSpc>
                <a:spcPts val="1620"/>
              </a:lnSpc>
              <a:buNone/>
            </a:pPr>
            <a:r>
              <a:rPr lang="en-US" sz="1040" b="1" spc="-10" kern="0" dirty="0">
                <a:solidFill>
                  <a:srgbClr val="071A33"/>
                </a:solidFill>
                <a:latin typeface="Arial" pitchFamily="34" charset="0"/>
                <a:ea typeface="Arial" pitchFamily="34" charset="-122"/>
                <a:cs typeface="Arial" pitchFamily="34" charset="-120"/>
              </a:rPr>
              <a:t>Review &amp; release</a:t>
            </a:r>
            <a:endParaRPr lang="en-US" sz="1040" dirty="0"/>
          </a:p>
        </p:txBody>
      </p:sp>
      <p:sp>
        <p:nvSpPr>
          <p:cNvPr id="26" name="Text 19"/>
          <p:cNvSpPr txBox="1"/>
          <p:nvPr/>
        </p:nvSpPr>
        <p:spPr>
          <a:xfrm>
            <a:off x="5358384" y="3515582"/>
            <a:ext cx="3517385" cy="335219"/>
          </a:xfrm>
          <a:prstGeom prst="rect">
            <a:avLst/>
          </a:prstGeom>
          <a:noFill/>
          <a:ln/>
        </p:spPr>
        <p:txBody>
          <a:bodyPr wrap="square" lIns="0" tIns="0" rIns="0" bIns="0" rtlCol="0" anchor="t"/>
          <a:lstStyle/>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Administrator checks offline + online records before submitting the</a:t>
            </a:r>
            <a:endParaRPr lang="en-US" sz="790" dirty="0"/>
          </a:p>
          <a:p>
            <a:pPr algn="l" indent="0" marL="0">
              <a:lnSpc>
                <a:spcPts val="1150"/>
              </a:lnSpc>
              <a:buNone/>
            </a:pPr>
            <a:r>
              <a:rPr lang="en-US" sz="790" dirty="0">
                <a:solidFill>
                  <a:srgbClr val="4D6585"/>
                </a:solidFill>
                <a:latin typeface="Arial" pitchFamily="34" charset="0"/>
                <a:ea typeface="Arial" pitchFamily="34" charset="-122"/>
                <a:cs typeface="Arial" pitchFamily="34" charset="-120"/>
              </a:rPr>
              <a:t>customer report.</a:t>
            </a:r>
            <a:endParaRPr lang="en-US" sz="790" dirty="0"/>
          </a:p>
        </p:txBody>
      </p:sp>
      <p:sp>
        <p:nvSpPr>
          <p:cNvPr id="27" name="Shape 20"/>
          <p:cNvSpPr/>
          <p:nvPr/>
        </p:nvSpPr>
        <p:spPr>
          <a:xfrm>
            <a:off x="457200" y="4315968"/>
            <a:ext cx="8229600" cy="327470"/>
          </a:xfrm>
          <a:prstGeom prst="roundRect">
            <a:avLst>
              <a:gd name="adj" fmla="val 27923"/>
            </a:avLst>
          </a:prstGeom>
          <a:solidFill>
            <a:srgbClr val="E8F2FF"/>
          </a:solidFill>
          <a:ln w="9144">
            <a:solidFill>
              <a:srgbClr val="D6E6FA"/>
            </a:solidFill>
            <a:prstDash val="solid"/>
          </a:ln>
        </p:spPr>
      </p:sp>
      <p:sp>
        <p:nvSpPr>
          <p:cNvPr id="28" name="Text 21"/>
          <p:cNvSpPr txBox="1"/>
          <p:nvPr/>
        </p:nvSpPr>
        <p:spPr>
          <a:xfrm>
            <a:off x="603504" y="4407408"/>
            <a:ext cx="6123422" cy="187959"/>
          </a:xfrm>
          <a:prstGeom prst="rect">
            <a:avLst/>
          </a:prstGeom>
          <a:noFill/>
          <a:ln/>
        </p:spPr>
        <p:txBody>
          <a:bodyPr wrap="none" lIns="0" tIns="0" rIns="0" bIns="0" rtlCol="0" anchor="t"/>
          <a:lstStyle/>
          <a:p>
            <a:pPr algn="l" indent="0" marL="0">
              <a:lnSpc>
                <a:spcPts val="1140"/>
              </a:lnSpc>
              <a:buNone/>
            </a:pPr>
            <a:r>
              <a:rPr lang="en-US" sz="730" dirty="0">
                <a:solidFill>
                  <a:srgbClr val="0B4FBF"/>
                </a:solidFill>
                <a:latin typeface="Arial" pitchFamily="34" charset="0"/>
                <a:ea typeface="Arial" pitchFamily="34" charset="-122"/>
                <a:cs typeface="Arial" pitchFamily="34" charset="-120"/>
              </a:rPr>
              <a:t>Linked data: Customer • Material • Batch • Order | Missions 04, 29, 31 · Internal configuration + Text-to-Speech support shopfloor use.</a:t>
            </a:r>
            <a:endParaRPr lang="en-US" sz="730" dirty="0"/>
          </a:p>
        </p:txBody>
      </p:sp>
      <p:sp>
        <p:nvSpPr>
          <p:cNvPr id="29" name="Text 22"/>
          <p:cNvSpPr txBox="1"/>
          <p:nvPr/>
        </p:nvSpPr>
        <p:spPr>
          <a:xfrm>
            <a:off x="457200" y="4789884"/>
            <a:ext cx="3927862" cy="156585"/>
          </a:xfrm>
          <a:prstGeom prst="rect">
            <a:avLst/>
          </a:prstGeom>
          <a:noFill/>
          <a:ln/>
        </p:spPr>
        <p:txBody>
          <a:bodyPr wrap="none" lIns="0" tIns="0" rIns="0" bIns="0" rtlCol="0" anchor="t"/>
          <a:lstStyle/>
          <a:p>
            <a:pPr algn="l" indent="0" marL="0">
              <a:lnSpc>
                <a:spcPts val="950"/>
              </a:lnSpc>
              <a:buNone/>
            </a:pPr>
            <a:r>
              <a:rPr lang="en-US" sz="610" dirty="0">
                <a:solidFill>
                  <a:srgbClr val="5F7691"/>
                </a:solidFill>
                <a:latin typeface="Arial" pitchFamily="34" charset="0"/>
                <a:ea typeface="Arial" pitchFamily="34" charset="-122"/>
                <a:cs typeface="Arial" pitchFamily="34" charset="-120"/>
              </a:rPr>
              <a:t>Source: supplied error-prevention workflow. Next: two web apps supporting Non-Rayong operations.</a:t>
            </a:r>
            <a:endParaRPr lang="en-US" sz="610" dirty="0"/>
          </a:p>
        </p:txBody>
      </p:sp>
    </p:spTree>
  </p:cSld>
  <p:clrMapOvr>
    <a:masterClrMapping/>
  </p:clrMapOvr>
  <p:transition spd="med">
    <p:push dir="r"/>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3270695"/>
            <a:ext cx="1368600" cy="201168"/>
          </a:xfrm>
          <a:prstGeom prst="roundRect">
            <a:avLst>
              <a:gd name="adj" fmla="val 50000"/>
            </a:avLst>
          </a:prstGeom>
          <a:solidFill>
            <a:srgbClr val="FFFFFF">
              <a:alpha val="12000"/>
            </a:srgbClr>
          </a:solidFill>
          <a:ln/>
        </p:spPr>
      </p:sp>
      <p:sp>
        <p:nvSpPr>
          <p:cNvPr id="4" name="Text 1"/>
          <p:cNvSpPr txBox="1"/>
          <p:nvPr/>
        </p:nvSpPr>
        <p:spPr>
          <a:xfrm>
            <a:off x="557784" y="3316415"/>
            <a:ext cx="1302463" cy="109728"/>
          </a:xfrm>
          <a:prstGeom prst="rect">
            <a:avLst/>
          </a:prstGeom>
          <a:noFill/>
          <a:ln/>
        </p:spPr>
        <p:txBody>
          <a:bodyPr wrap="none" lIns="0" tIns="0" rIns="0" bIns="0" rtlCol="0" anchor="ctr"/>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Non-Rayong overview 2026</a:t>
            </a:r>
            <a:endParaRPr lang="en-US" sz="720" dirty="0"/>
          </a:p>
        </p:txBody>
      </p:sp>
      <p:sp>
        <p:nvSpPr>
          <p:cNvPr id="5" name="Text 2"/>
          <p:cNvSpPr txBox="1"/>
          <p:nvPr/>
        </p:nvSpPr>
        <p:spPr>
          <a:xfrm>
            <a:off x="457200" y="3581591"/>
            <a:ext cx="2641173" cy="538659"/>
          </a:xfrm>
          <a:prstGeom prst="rect">
            <a:avLst/>
          </a:prstGeom>
          <a:noFill/>
          <a:ln/>
        </p:spPr>
        <p:txBody>
          <a:bodyPr wrap="none" lIns="0" tIns="0" rIns="0" bIns="0" rtlCol="0" anchor="t"/>
          <a:lstStyle/>
          <a:p>
            <a:pPr algn="l" indent="0" marL="0">
              <a:lnSpc>
                <a:spcPts val="3260"/>
              </a:lnSpc>
              <a:buNone/>
            </a:pPr>
            <a:r>
              <a:rPr lang="en-US" sz="3170" b="1" spc="-158" kern="0" dirty="0">
                <a:solidFill>
                  <a:srgbClr val="FFFFFF"/>
                </a:solidFill>
                <a:latin typeface="Arial" pitchFamily="34" charset="0"/>
                <a:ea typeface="Arial" pitchFamily="34" charset="-122"/>
                <a:cs typeface="Arial" pitchFamily="34" charset="-120"/>
              </a:rPr>
              <a:t>The two apps.</a:t>
            </a:r>
            <a:endParaRPr lang="en-US" sz="3170" dirty="0"/>
          </a:p>
        </p:txBody>
      </p:sp>
      <p:sp>
        <p:nvSpPr>
          <p:cNvPr id="6" name="Text 3"/>
          <p:cNvSpPr txBox="1"/>
          <p:nvPr/>
        </p:nvSpPr>
        <p:spPr>
          <a:xfrm>
            <a:off x="457200" y="4105656"/>
            <a:ext cx="2812940" cy="543154"/>
          </a:xfrm>
          <a:prstGeom prst="rect">
            <a:avLst/>
          </a:prstGeom>
          <a:noFill/>
          <a:ln/>
        </p:spPr>
        <p:txBody>
          <a:bodyPr wrap="square" lIns="0" tIns="0" rIns="0" bIns="0" rtlCol="0" anchor="t"/>
          <a:lstStyle/>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The Manpower Board plans who goes where. The</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Inventory &amp; Quality System tracks tools, parts</a:t>
            </a:r>
            <a:endParaRPr lang="en-US" sz="860" dirty="0"/>
          </a:p>
          <a:p>
            <a:pPr algn="l" indent="0" marL="0">
              <a:lnSpc>
                <a:spcPts val="1300"/>
              </a:lnSpc>
              <a:buNone/>
            </a:pPr>
            <a:r>
              <a:rPr lang="en-US" sz="860" dirty="0">
                <a:solidFill>
                  <a:srgbClr val="FFFFFF"/>
                </a:solidFill>
                <a:latin typeface="Arial" pitchFamily="34" charset="0"/>
                <a:ea typeface="Arial" pitchFamily="34" charset="-122"/>
                <a:cs typeface="Arial" pitchFamily="34" charset="-120"/>
              </a:rPr>
              <a:t>and consumables.</a:t>
            </a:r>
            <a:endParaRPr lang="en-US" sz="860" dirty="0"/>
          </a:p>
        </p:txBody>
      </p:sp>
    </p:spTree>
  </p:cSld>
  <p:clrMapOvr>
    <a:masterClrMapping/>
  </p:clrMapOvr>
  <p:transition spd="med">
    <p:push dir="r"/>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88720"/>
            <a:ext cx="934831" cy="201168"/>
          </a:xfrm>
          <a:prstGeom prst="roundRect">
            <a:avLst>
              <a:gd name="adj" fmla="val 50000"/>
            </a:avLst>
          </a:prstGeom>
          <a:solidFill>
            <a:srgbClr val="FFFFFF">
              <a:alpha val="12000"/>
            </a:srgbClr>
          </a:solidFill>
          <a:ln/>
        </p:spPr>
      </p:sp>
      <p:sp>
        <p:nvSpPr>
          <p:cNvPr id="4" name="Text 1"/>
          <p:cNvSpPr txBox="1"/>
          <p:nvPr/>
        </p:nvSpPr>
        <p:spPr>
          <a:xfrm>
            <a:off x="557784" y="1234440"/>
            <a:ext cx="825317" cy="109728"/>
          </a:xfrm>
          <a:prstGeom prst="rect">
            <a:avLst/>
          </a:prstGeom>
          <a:noFill/>
          <a:ln/>
        </p:spPr>
        <p:txBody>
          <a:bodyPr wrap="none" lIns="0" tIns="0" rIns="0" bIns="0" rtlCol="0" anchor="ctr"/>
          <a:lstStyle/>
          <a:p>
            <a:pPr algn="l" indent="0" marL="0">
              <a:lnSpc>
                <a:spcPts val="860"/>
              </a:lnSpc>
              <a:buNone/>
            </a:pPr>
            <a:r>
              <a:rPr lang="en-US" sz="720" dirty="0">
                <a:solidFill>
                  <a:srgbClr val="E4F0FF"/>
                </a:solidFill>
                <a:latin typeface="Arial" pitchFamily="34" charset="0"/>
                <a:ea typeface="Arial" pitchFamily="34" charset="-122"/>
                <a:cs typeface="Arial" pitchFamily="34" charset="-120"/>
              </a:rPr>
              <a:t>04 · The two apps</a:t>
            </a:r>
            <a:endParaRPr lang="en-US" sz="720" dirty="0"/>
          </a:p>
        </p:txBody>
      </p:sp>
      <p:sp>
        <p:nvSpPr>
          <p:cNvPr id="5" name="Text 2"/>
          <p:cNvSpPr txBox="1"/>
          <p:nvPr/>
        </p:nvSpPr>
        <p:spPr>
          <a:xfrm>
            <a:off x="457200" y="1572768"/>
            <a:ext cx="2952038" cy="1615824"/>
          </a:xfrm>
          <a:prstGeom prst="rect">
            <a:avLst/>
          </a:prstGeom>
          <a:noFill/>
          <a:ln/>
        </p:spPr>
        <p:txBody>
          <a:bodyPr wrap="square" lIns="0" tIns="0" rIns="0" bIns="0" rtlCol="0" anchor="t"/>
          <a:lstStyle/>
          <a:p>
            <a:pPr algn="l" indent="0" marL="0">
              <a:lnSpc>
                <a:spcPts val="3860"/>
              </a:lnSpc>
              <a:buNone/>
            </a:pPr>
            <a:r>
              <a:rPr lang="en-US" sz="3740" b="1" spc="-187" kern="0" dirty="0">
                <a:solidFill>
                  <a:srgbClr val="FFFFFF"/>
                </a:solidFill>
                <a:latin typeface="Arial" pitchFamily="34" charset="0"/>
                <a:ea typeface="Arial" pitchFamily="34" charset="-122"/>
                <a:cs typeface="Arial" pitchFamily="34" charset="-120"/>
              </a:rPr>
              <a:t>Two apps for</a:t>
            </a:r>
            <a:endParaRPr lang="en-US" sz="3740" dirty="0"/>
          </a:p>
          <a:p>
            <a:pPr algn="l" indent="0" marL="0">
              <a:lnSpc>
                <a:spcPts val="3860"/>
              </a:lnSpc>
              <a:buNone/>
            </a:pPr>
            <a:r>
              <a:rPr lang="en-US" sz="3740" b="1" spc="-187" kern="0" dirty="0">
                <a:solidFill>
                  <a:srgbClr val="FFFFFF"/>
                </a:solidFill>
                <a:latin typeface="Arial" pitchFamily="34" charset="0"/>
                <a:ea typeface="Arial" pitchFamily="34" charset="-122"/>
                <a:cs typeface="Arial" pitchFamily="34" charset="-120"/>
              </a:rPr>
              <a:t>the work we</a:t>
            </a:r>
            <a:endParaRPr lang="en-US" sz="3740" dirty="0"/>
          </a:p>
          <a:p>
            <a:pPr algn="l" indent="0" marL="0">
              <a:lnSpc>
                <a:spcPts val="3860"/>
              </a:lnSpc>
              <a:buNone/>
            </a:pPr>
            <a:r>
              <a:rPr lang="en-US" sz="3740" b="1" spc="-187" kern="0" dirty="0">
                <a:solidFill>
                  <a:srgbClr val="FFFFFF"/>
                </a:solidFill>
                <a:latin typeface="Arial" pitchFamily="34" charset="0"/>
                <a:ea typeface="Arial" pitchFamily="34" charset="-122"/>
                <a:cs typeface="Arial" pitchFamily="34" charset="-120"/>
              </a:rPr>
              <a:t>do every day.</a:t>
            </a:r>
            <a:endParaRPr lang="en-US" sz="3740" dirty="0"/>
          </a:p>
        </p:txBody>
      </p:sp>
      <p:sp>
        <p:nvSpPr>
          <p:cNvPr id="6" name="Text 3"/>
          <p:cNvSpPr txBox="1"/>
          <p:nvPr/>
        </p:nvSpPr>
        <p:spPr>
          <a:xfrm>
            <a:off x="457200" y="3224546"/>
            <a:ext cx="3532533" cy="884682"/>
          </a:xfrm>
          <a:prstGeom prst="rect">
            <a:avLst/>
          </a:prstGeom>
          <a:noFill/>
          <a:ln/>
        </p:spPr>
        <p:txBody>
          <a:bodyPr wrap="square" lIns="0" tIns="0" rIns="0" bIns="0" rtlCol="0" anchor="t"/>
          <a:lstStyle/>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The Manpower Board plans who goes where. The</a:t>
            </a:r>
            <a:endParaRPr lang="en-US" sz="1080" dirty="0"/>
          </a:p>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Inventory &amp; Quality System tracks tools, parts</a:t>
            </a:r>
            <a:endParaRPr lang="en-US" sz="1080" dirty="0"/>
          </a:p>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and consumables. Both run in the browser and on</a:t>
            </a:r>
            <a:endParaRPr lang="en-US" sz="1080" dirty="0"/>
          </a:p>
          <a:p>
            <a:pPr algn="l" indent="0" marL="0">
              <a:lnSpc>
                <a:spcPts val="1620"/>
              </a:lnSpc>
              <a:buNone/>
            </a:pPr>
            <a:r>
              <a:rPr lang="en-US" sz="1080" dirty="0">
                <a:solidFill>
                  <a:srgbClr val="9DB6D4"/>
                </a:solidFill>
                <a:latin typeface="Arial" pitchFamily="34" charset="0"/>
                <a:ea typeface="Arial" pitchFamily="34" charset="-122"/>
                <a:cs typeface="Arial" pitchFamily="34" charset="-120"/>
              </a:rPr>
              <a:t>your phone.</a:t>
            </a:r>
            <a:endParaRPr lang="en-US" sz="1080" dirty="0"/>
          </a:p>
        </p:txBody>
      </p:sp>
      <p:sp>
        <p:nvSpPr>
          <p:cNvPr id="7" name="Shape 4"/>
          <p:cNvSpPr/>
          <p:nvPr/>
        </p:nvSpPr>
        <p:spPr>
          <a:xfrm>
            <a:off x="457200" y="4230386"/>
            <a:ext cx="1190720" cy="283893"/>
          </a:xfrm>
          <a:prstGeom prst="roundRect">
            <a:avLst>
              <a:gd name="adj" fmla="val 50000"/>
            </a:avLst>
          </a:prstGeom>
          <a:solidFill>
            <a:srgbClr val="FFFFFF">
              <a:alpha val="10000"/>
            </a:srgbClr>
          </a:solidFill>
          <a:ln/>
        </p:spPr>
      </p:sp>
      <p:sp>
        <p:nvSpPr>
          <p:cNvPr id="8" name="Text 5"/>
          <p:cNvSpPr txBox="1"/>
          <p:nvPr/>
        </p:nvSpPr>
        <p:spPr>
          <a:xfrm>
            <a:off x="745379" y="4294394"/>
            <a:ext cx="895412" cy="155877"/>
          </a:xfrm>
          <a:prstGeom prst="rect">
            <a:avLst/>
          </a:prstGeom>
          <a:noFill/>
          <a:ln/>
        </p:spPr>
        <p:txBody>
          <a:bodyPr wrap="none" lIns="0" tIns="0" rIns="0" bIns="0" rtlCol="0" anchor="ctr"/>
          <a:lstStyle/>
          <a:p>
            <a:pPr algn="l" indent="0" marL="0">
              <a:lnSpc>
                <a:spcPts val="1230"/>
              </a:lnSpc>
              <a:buNone/>
            </a:pPr>
            <a:r>
              <a:rPr lang="en-US" sz="790" dirty="0">
                <a:solidFill>
                  <a:srgbClr val="FFFFFF"/>
                </a:solidFill>
                <a:latin typeface="Arial" pitchFamily="34" charset="0"/>
                <a:ea typeface="Arial" pitchFamily="34" charset="-122"/>
                <a:cs typeface="Arial" pitchFamily="34" charset="-120"/>
              </a:rPr>
              <a:t>Manpower Board</a:t>
            </a:r>
            <a:endParaRPr lang="en-US" sz="790" dirty="0"/>
          </a:p>
        </p:txBody>
      </p:sp>
      <p:pic>
        <p:nvPicPr>
          <p:cNvPr id="9" name="Image 1" descr="Icon: groups">    </p:cNvPr>
          <p:cNvPicPr>
            <a:picLocks noChangeAspect="1"/>
          </p:cNvPicPr>
          <p:nvPr/>
        </p:nvPicPr>
        <p:blipFill>
          <a:blip r:embed="rId3"/>
          <a:stretch>
            <a:fillRect/>
          </a:stretch>
        </p:blipFill>
        <p:spPr>
          <a:xfrm>
            <a:off x="562356" y="4308253"/>
            <a:ext cx="128159" cy="128016"/>
          </a:xfrm>
          <a:prstGeom prst="rect">
            <a:avLst/>
          </a:prstGeom>
        </p:spPr>
      </p:pic>
      <p:sp>
        <p:nvSpPr>
          <p:cNvPr id="10" name="Shape 6"/>
          <p:cNvSpPr/>
          <p:nvPr/>
        </p:nvSpPr>
        <p:spPr>
          <a:xfrm>
            <a:off x="1721072" y="4230386"/>
            <a:ext cx="1290447" cy="283893"/>
          </a:xfrm>
          <a:prstGeom prst="roundRect">
            <a:avLst>
              <a:gd name="adj" fmla="val 50000"/>
            </a:avLst>
          </a:prstGeom>
          <a:solidFill>
            <a:srgbClr val="FFFFFF">
              <a:alpha val="10000"/>
            </a:srgbClr>
          </a:solidFill>
          <a:ln/>
        </p:spPr>
      </p:sp>
      <p:sp>
        <p:nvSpPr>
          <p:cNvPr id="11" name="Text 7"/>
          <p:cNvSpPr txBox="1"/>
          <p:nvPr/>
        </p:nvSpPr>
        <p:spPr>
          <a:xfrm>
            <a:off x="2009251" y="4294394"/>
            <a:ext cx="1005111" cy="155877"/>
          </a:xfrm>
          <a:prstGeom prst="rect">
            <a:avLst/>
          </a:prstGeom>
          <a:noFill/>
          <a:ln/>
        </p:spPr>
        <p:txBody>
          <a:bodyPr wrap="none" lIns="0" tIns="0" rIns="0" bIns="0" rtlCol="0" anchor="ctr"/>
          <a:lstStyle/>
          <a:p>
            <a:pPr algn="l" indent="0" marL="0">
              <a:lnSpc>
                <a:spcPts val="1230"/>
              </a:lnSpc>
              <a:buNone/>
            </a:pPr>
            <a:r>
              <a:rPr lang="en-US" sz="790" dirty="0">
                <a:solidFill>
                  <a:srgbClr val="FFFFFF"/>
                </a:solidFill>
                <a:latin typeface="Arial" pitchFamily="34" charset="0"/>
                <a:ea typeface="Arial" pitchFamily="34" charset="-122"/>
                <a:cs typeface="Arial" pitchFamily="34" charset="-120"/>
              </a:rPr>
              <a:t>Inventory &amp; Quality</a:t>
            </a:r>
            <a:endParaRPr lang="en-US" sz="790" dirty="0"/>
          </a:p>
        </p:txBody>
      </p:sp>
      <p:pic>
        <p:nvPicPr>
          <p:cNvPr id="12" name="Image 2" descr="Icon: inventory 2">    </p:cNvPr>
          <p:cNvPicPr>
            <a:picLocks noChangeAspect="1"/>
          </p:cNvPicPr>
          <p:nvPr/>
        </p:nvPicPr>
        <p:blipFill>
          <a:blip r:embed="rId4"/>
          <a:stretch>
            <a:fillRect/>
          </a:stretch>
        </p:blipFill>
        <p:spPr>
          <a:xfrm>
            <a:off x="1826228" y="4308253"/>
            <a:ext cx="128159" cy="128016"/>
          </a:xfrm>
          <a:prstGeom prst="rect">
            <a:avLst/>
          </a:prstGeom>
        </p:spPr>
      </p:pic>
      <p:sp>
        <p:nvSpPr>
          <p:cNvPr id="13" name="Shape 8"/>
          <p:cNvSpPr/>
          <p:nvPr/>
        </p:nvSpPr>
        <p:spPr>
          <a:xfrm>
            <a:off x="3084671" y="4230386"/>
            <a:ext cx="1083278" cy="283893"/>
          </a:xfrm>
          <a:prstGeom prst="roundRect">
            <a:avLst>
              <a:gd name="adj" fmla="val 50000"/>
            </a:avLst>
          </a:prstGeom>
          <a:solidFill>
            <a:srgbClr val="FFFFFF">
              <a:alpha val="10000"/>
            </a:srgbClr>
          </a:solidFill>
          <a:ln/>
        </p:spPr>
      </p:sp>
      <p:sp>
        <p:nvSpPr>
          <p:cNvPr id="14" name="Text 9"/>
          <p:cNvSpPr txBox="1"/>
          <p:nvPr/>
        </p:nvSpPr>
        <p:spPr>
          <a:xfrm>
            <a:off x="3372850" y="4294394"/>
            <a:ext cx="777226" cy="155877"/>
          </a:xfrm>
          <a:prstGeom prst="rect">
            <a:avLst/>
          </a:prstGeom>
          <a:noFill/>
          <a:ln/>
        </p:spPr>
        <p:txBody>
          <a:bodyPr wrap="none" lIns="0" tIns="0" rIns="0" bIns="0" rtlCol="0" anchor="ctr"/>
          <a:lstStyle/>
          <a:p>
            <a:pPr algn="l" indent="0" marL="0">
              <a:lnSpc>
                <a:spcPts val="1230"/>
              </a:lnSpc>
              <a:buNone/>
            </a:pPr>
            <a:r>
              <a:rPr lang="en-US" sz="790" dirty="0">
                <a:solidFill>
                  <a:srgbClr val="FFFFFF"/>
                </a:solidFill>
                <a:latin typeface="Arial" pitchFamily="34" charset="0"/>
                <a:ea typeface="Arial" pitchFamily="34" charset="-122"/>
                <a:cs typeface="Arial" pitchFamily="34" charset="-120"/>
              </a:rPr>
              <a:t>On your phone</a:t>
            </a:r>
            <a:endParaRPr lang="en-US" sz="790" dirty="0"/>
          </a:p>
        </p:txBody>
      </p:sp>
      <p:pic>
        <p:nvPicPr>
          <p:cNvPr id="15" name="Image 3" descr="Icon: smartphone">    </p:cNvPr>
          <p:cNvPicPr>
            <a:picLocks noChangeAspect="1"/>
          </p:cNvPicPr>
          <p:nvPr/>
        </p:nvPicPr>
        <p:blipFill>
          <a:blip r:embed="rId5"/>
          <a:stretch>
            <a:fillRect/>
          </a:stretch>
        </p:blipFill>
        <p:spPr>
          <a:xfrm>
            <a:off x="3189827" y="4308253"/>
            <a:ext cx="128159" cy="128016"/>
          </a:xfrm>
          <a:prstGeom prst="rect">
            <a:avLst/>
          </a:prstGeom>
        </p:spPr>
      </p:pic>
      <p:sp>
        <p:nvSpPr>
          <p:cNvPr id="16" name="Shape 10"/>
          <p:cNvSpPr/>
          <p:nvPr/>
        </p:nvSpPr>
        <p:spPr>
          <a:xfrm>
            <a:off x="4572000" y="1143000"/>
            <a:ext cx="3749040" cy="2583752"/>
          </a:xfrm>
          <a:prstGeom prst="roundRect">
            <a:avLst>
              <a:gd name="adj" fmla="val 4247"/>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17" name="Shape 11"/>
          <p:cNvSpPr/>
          <p:nvPr/>
        </p:nvSpPr>
        <p:spPr>
          <a:xfrm>
            <a:off x="4572000" y="1143000"/>
            <a:ext cx="3749040" cy="173736"/>
          </a:xfrm>
          <a:prstGeom prst="rect">
            <a:avLst/>
          </a:prstGeom>
          <a:solidFill>
            <a:srgbClr val="F4F7FA"/>
          </a:solidFill>
          <a:ln/>
        </p:spPr>
      </p:sp>
      <p:sp>
        <p:nvSpPr>
          <p:cNvPr id="18" name="Shape 12"/>
          <p:cNvSpPr/>
          <p:nvPr/>
        </p:nvSpPr>
        <p:spPr>
          <a:xfrm>
            <a:off x="4572000" y="1312164"/>
            <a:ext cx="3749040" cy="0"/>
          </a:xfrm>
          <a:prstGeom prst="line">
            <a:avLst/>
          </a:prstGeom>
          <a:noFill/>
          <a:ln w="9144">
            <a:solidFill>
              <a:srgbClr val="071A33">
                <a:alpha val="10000"/>
              </a:srgbClr>
            </a:solidFill>
            <a:prstDash val="solid"/>
          </a:ln>
        </p:spPr>
      </p:sp>
      <p:sp>
        <p:nvSpPr>
          <p:cNvPr id="19" name="Shape 13"/>
          <p:cNvSpPr/>
          <p:nvPr/>
        </p:nvSpPr>
        <p:spPr>
          <a:xfrm>
            <a:off x="4672584" y="1197007"/>
            <a:ext cx="56579" cy="56579"/>
          </a:xfrm>
          <a:prstGeom prst="ellipse">
            <a:avLst/>
          </a:prstGeom>
          <a:solidFill>
            <a:srgbClr val="D3DCE4"/>
          </a:solidFill>
          <a:ln/>
        </p:spPr>
      </p:sp>
      <p:sp>
        <p:nvSpPr>
          <p:cNvPr id="20" name="Shape 14"/>
          <p:cNvSpPr/>
          <p:nvPr/>
        </p:nvSpPr>
        <p:spPr>
          <a:xfrm>
            <a:off x="4774883" y="1197007"/>
            <a:ext cx="56579" cy="56579"/>
          </a:xfrm>
          <a:prstGeom prst="ellipse">
            <a:avLst/>
          </a:prstGeom>
          <a:solidFill>
            <a:srgbClr val="D3DCE4"/>
          </a:solidFill>
          <a:ln/>
        </p:spPr>
      </p:sp>
      <p:sp>
        <p:nvSpPr>
          <p:cNvPr id="21" name="Shape 15"/>
          <p:cNvSpPr/>
          <p:nvPr/>
        </p:nvSpPr>
        <p:spPr>
          <a:xfrm>
            <a:off x="4877181" y="1197007"/>
            <a:ext cx="56579" cy="56579"/>
          </a:xfrm>
          <a:prstGeom prst="ellipse">
            <a:avLst/>
          </a:prstGeom>
          <a:solidFill>
            <a:srgbClr val="D3DCE4"/>
          </a:solidFill>
          <a:ln/>
        </p:spPr>
      </p:sp>
      <p:pic>
        <p:nvPicPr>
          <p:cNvPr id="22" name="Image 4" descr="Inventory and Quality dashboard">    </p:cNvPr>
          <p:cNvPicPr>
            <a:picLocks noChangeAspect="1"/>
          </p:cNvPicPr>
          <p:nvPr/>
        </p:nvPicPr>
        <p:blipFill>
          <a:blip r:embed="rId6"/>
          <a:stretch>
            <a:fillRect/>
          </a:stretch>
        </p:blipFill>
        <p:spPr>
          <a:xfrm>
            <a:off x="4572000" y="1316736"/>
            <a:ext cx="3749040" cy="2410016"/>
          </a:xfrm>
          <a:prstGeom prst="rect">
            <a:avLst/>
          </a:prstGeom>
        </p:spPr>
      </p:pic>
      <p:sp>
        <p:nvSpPr>
          <p:cNvPr id="23" name="Shape 16"/>
          <p:cNvSpPr/>
          <p:nvPr/>
        </p:nvSpPr>
        <p:spPr>
          <a:xfrm>
            <a:off x="5349240" y="2743200"/>
            <a:ext cx="3337560" cy="2319290"/>
          </a:xfrm>
          <a:prstGeom prst="roundRect">
            <a:avLst>
              <a:gd name="adj" fmla="val 4731"/>
            </a:avLst>
          </a:prstGeom>
          <a:solidFill>
            <a:srgbClr val="FFFFFF"/>
          </a:solidFill>
          <a:ln w="36576">
            <a:solidFill>
              <a:srgbClr val="FFFFFF"/>
            </a:solidFill>
            <a:prstDash val="solid"/>
          </a:ln>
          <a:effectLst>
            <a:outerShdw sx="100000" sy="100000" kx="0" ky="0" algn="bl" rotWithShape="0" blurRad="508000" dist="310896" dir="5400000">
              <a:srgbClr val="071A33">
                <a:alpha val="36000"/>
              </a:srgbClr>
            </a:outerShdw>
          </a:effectLst>
        </p:spPr>
      </p:sp>
      <p:sp>
        <p:nvSpPr>
          <p:cNvPr id="24" name="Shape 17"/>
          <p:cNvSpPr/>
          <p:nvPr/>
        </p:nvSpPr>
        <p:spPr>
          <a:xfrm>
            <a:off x="5349240" y="2743200"/>
            <a:ext cx="3337560" cy="173736"/>
          </a:xfrm>
          <a:prstGeom prst="rect">
            <a:avLst/>
          </a:prstGeom>
          <a:solidFill>
            <a:srgbClr val="F4F7FA"/>
          </a:solidFill>
          <a:ln/>
        </p:spPr>
      </p:sp>
      <p:sp>
        <p:nvSpPr>
          <p:cNvPr id="25" name="Shape 18"/>
          <p:cNvSpPr/>
          <p:nvPr/>
        </p:nvSpPr>
        <p:spPr>
          <a:xfrm>
            <a:off x="5349240" y="2912364"/>
            <a:ext cx="3337560" cy="0"/>
          </a:xfrm>
          <a:prstGeom prst="line">
            <a:avLst/>
          </a:prstGeom>
          <a:noFill/>
          <a:ln w="9144">
            <a:solidFill>
              <a:srgbClr val="071A33">
                <a:alpha val="10000"/>
              </a:srgbClr>
            </a:solidFill>
            <a:prstDash val="solid"/>
          </a:ln>
        </p:spPr>
      </p:sp>
      <p:sp>
        <p:nvSpPr>
          <p:cNvPr id="26" name="Shape 19"/>
          <p:cNvSpPr/>
          <p:nvPr/>
        </p:nvSpPr>
        <p:spPr>
          <a:xfrm>
            <a:off x="5449824" y="2797207"/>
            <a:ext cx="56579" cy="56579"/>
          </a:xfrm>
          <a:prstGeom prst="ellipse">
            <a:avLst/>
          </a:prstGeom>
          <a:solidFill>
            <a:srgbClr val="D3DCE4"/>
          </a:solidFill>
          <a:ln/>
        </p:spPr>
      </p:sp>
      <p:sp>
        <p:nvSpPr>
          <p:cNvPr id="27" name="Shape 20"/>
          <p:cNvSpPr/>
          <p:nvPr/>
        </p:nvSpPr>
        <p:spPr>
          <a:xfrm>
            <a:off x="5552123" y="2797207"/>
            <a:ext cx="56579" cy="56579"/>
          </a:xfrm>
          <a:prstGeom prst="ellipse">
            <a:avLst/>
          </a:prstGeom>
          <a:solidFill>
            <a:srgbClr val="D3DCE4"/>
          </a:solidFill>
          <a:ln/>
        </p:spPr>
      </p:sp>
      <p:sp>
        <p:nvSpPr>
          <p:cNvPr id="28" name="Shape 21"/>
          <p:cNvSpPr/>
          <p:nvPr/>
        </p:nvSpPr>
        <p:spPr>
          <a:xfrm>
            <a:off x="5654421" y="2797207"/>
            <a:ext cx="56579" cy="56579"/>
          </a:xfrm>
          <a:prstGeom prst="ellipse">
            <a:avLst/>
          </a:prstGeom>
          <a:solidFill>
            <a:srgbClr val="D3DCE4"/>
          </a:solidFill>
          <a:ln/>
        </p:spPr>
      </p:sp>
      <p:pic>
        <p:nvPicPr>
          <p:cNvPr id="29" name="Image 5" descr="Manpower Board for one day">    </p:cNvPr>
          <p:cNvPicPr>
            <a:picLocks noChangeAspect="1"/>
          </p:cNvPicPr>
          <p:nvPr/>
        </p:nvPicPr>
        <p:blipFill>
          <a:blip r:embed="rId7"/>
          <a:stretch>
            <a:fillRect/>
          </a:stretch>
        </p:blipFill>
        <p:spPr>
          <a:xfrm>
            <a:off x="5349240" y="2916936"/>
            <a:ext cx="3337560" cy="2145554"/>
          </a:xfrm>
          <a:prstGeom prst="rect">
            <a:avLst/>
          </a:prstGeom>
        </p:spPr>
      </p:pic>
    </p:spTree>
  </p:cSld>
  <p:clrMapOvr>
    <a:masterClrMapping/>
  </p:clrMapOvr>
  <p:transition spd="med">
    <p:push dir="r"/>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pic>
        <p:nvPicPr>
          <p:cNvPr id="3" name="Picture" descr="Manpower Board app icon">    </p:cNvPr>
          <p:cNvPicPr>
            <a:picLocks noChangeAspect="1"/>
          </p:cNvPicPr>
          <p:nvPr/>
        </p:nvPicPr>
        <p:blipFill>
          <a:blip r:embed="rId3"/>
          <a:stretch>
            <a:fillRect/>
          </a:stretch>
        </p:blipFill>
        <p:spPr>
          <a:xfrm>
            <a:off x="457200" y="1051560"/>
            <a:ext cx="420624" cy="420624"/>
          </a:xfrm>
          <a:prstGeom prst="roundRect">
            <a:avLst>
              <a:gd name="adj" fmla="val 23913"/>
            </a:avLst>
          </a:prstGeom>
        </p:spPr>
      </p:pic>
      <p:sp>
        <p:nvSpPr>
          <p:cNvPr id="4" name="Text 0"/>
          <p:cNvSpPr txBox="1"/>
          <p:nvPr/>
        </p:nvSpPr>
        <p:spPr>
          <a:xfrm>
            <a:off x="978408" y="1081992"/>
            <a:ext cx="1515575" cy="259678"/>
          </a:xfrm>
          <a:prstGeom prst="rect">
            <a:avLst/>
          </a:prstGeom>
          <a:noFill/>
          <a:ln/>
        </p:spPr>
        <p:txBody>
          <a:bodyPr wrap="none" lIns="0" tIns="0" rIns="0" bIns="0" rtlCol="0" anchor="t"/>
          <a:lstStyle/>
          <a:p>
            <a:pPr algn="l" indent="0" marL="0">
              <a:lnSpc>
                <a:spcPts val="1570"/>
              </a:lnSpc>
              <a:buNone/>
            </a:pPr>
            <a:r>
              <a:rPr lang="en-US" sz="1370" b="1" spc="-27" kern="0" dirty="0">
                <a:solidFill>
                  <a:srgbClr val="071A33"/>
                </a:solidFill>
                <a:latin typeface="Arial" pitchFamily="34" charset="0"/>
                <a:ea typeface="Arial" pitchFamily="34" charset="-122"/>
                <a:cs typeface="Arial" pitchFamily="34" charset="-120"/>
              </a:rPr>
              <a:t>Manpower Board</a:t>
            </a:r>
            <a:endParaRPr lang="en-US" sz="1370" dirty="0"/>
          </a:p>
        </p:txBody>
      </p:sp>
      <p:sp>
        <p:nvSpPr>
          <p:cNvPr id="5" name="Text 1"/>
          <p:cNvSpPr txBox="1"/>
          <p:nvPr/>
        </p:nvSpPr>
        <p:spPr>
          <a:xfrm>
            <a:off x="978408" y="1300020"/>
            <a:ext cx="644266"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04 · App 1 of 2</a:t>
            </a:r>
            <a:endParaRPr lang="en-US" sz="720" dirty="0"/>
          </a:p>
        </p:txBody>
      </p:sp>
      <p:sp>
        <p:nvSpPr>
          <p:cNvPr id="6" name="Text 2"/>
          <p:cNvSpPr txBox="1"/>
          <p:nvPr/>
        </p:nvSpPr>
        <p:spPr>
          <a:xfrm>
            <a:off x="457200" y="1618488"/>
            <a:ext cx="2289778" cy="1149960"/>
          </a:xfrm>
          <a:prstGeom prst="rect">
            <a:avLst/>
          </a:prstGeom>
          <a:noFill/>
          <a:ln/>
        </p:spPr>
        <p:txBody>
          <a:bodyPr wrap="square" lIns="0" tIns="0" rIns="0" bIns="0" rtlCol="0" anchor="t"/>
          <a:lstStyle/>
          <a:p>
            <a:pPr algn="l" indent="0" marL="0">
              <a:lnSpc>
                <a:spcPts val="2740"/>
              </a:lnSpc>
              <a:buNone/>
            </a:pPr>
            <a:r>
              <a:rPr lang="en-US" sz="2660" b="1" spc="-133" kern="0" dirty="0">
                <a:solidFill>
                  <a:srgbClr val="071A33"/>
                </a:solidFill>
                <a:latin typeface="Arial" pitchFamily="34" charset="0"/>
                <a:ea typeface="Arial" pitchFamily="34" charset="-122"/>
                <a:cs typeface="Arial" pitchFamily="34" charset="-120"/>
              </a:rPr>
              <a:t>Tomorrow's</a:t>
            </a:r>
            <a:endParaRPr lang="en-US" sz="2660" dirty="0"/>
          </a:p>
          <a:p>
            <a:pPr algn="l" indent="0" marL="0">
              <a:lnSpc>
                <a:spcPts val="2740"/>
              </a:lnSpc>
              <a:buNone/>
            </a:pPr>
            <a:r>
              <a:rPr lang="en-US" sz="2660" b="1" spc="-133" kern="0" dirty="0">
                <a:solidFill>
                  <a:srgbClr val="071A33"/>
                </a:solidFill>
                <a:latin typeface="Arial" pitchFamily="34" charset="0"/>
                <a:ea typeface="Arial" pitchFamily="34" charset="-122"/>
                <a:cs typeface="Arial" pitchFamily="34" charset="-120"/>
              </a:rPr>
              <a:t>crew, planned</a:t>
            </a:r>
            <a:endParaRPr lang="en-US" sz="2660" dirty="0"/>
          </a:p>
          <a:p>
            <a:pPr algn="l" indent="0" marL="0">
              <a:lnSpc>
                <a:spcPts val="2740"/>
              </a:lnSpc>
              <a:buNone/>
            </a:pPr>
            <a:r>
              <a:rPr lang="en-US" sz="2660" b="1" spc="-133" kern="0" dirty="0">
                <a:solidFill>
                  <a:srgbClr val="071A33"/>
                </a:solidFill>
                <a:latin typeface="Arial" pitchFamily="34" charset="0"/>
                <a:ea typeface="Arial" pitchFamily="34" charset="-122"/>
                <a:cs typeface="Arial" pitchFamily="34" charset="-120"/>
              </a:rPr>
              <a:t>on one board.</a:t>
            </a:r>
            <a:endParaRPr lang="en-US" sz="2660" dirty="0"/>
          </a:p>
        </p:txBody>
      </p:sp>
      <p:sp>
        <p:nvSpPr>
          <p:cNvPr id="7" name="Text 3"/>
          <p:cNvSpPr txBox="1"/>
          <p:nvPr/>
        </p:nvSpPr>
        <p:spPr>
          <a:xfrm>
            <a:off x="457200" y="2810208"/>
            <a:ext cx="3134297" cy="588416"/>
          </a:xfrm>
          <a:prstGeom prst="rect">
            <a:avLst/>
          </a:prstGeom>
          <a:noFill/>
          <a:ln/>
        </p:spPr>
        <p:txBody>
          <a:bodyPr wrap="square" lIns="0" tIns="0" rIns="0" bIns="0" rtlCol="0" anchor="t"/>
          <a:lstStyle/>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The magnet board, made digital. Drag people onto</a:t>
            </a:r>
            <a:endParaRPr lang="en-US" sz="940" dirty="0"/>
          </a:p>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missions, leave or standby, and everyone sees the</a:t>
            </a:r>
            <a:endParaRPr lang="en-US" sz="940" dirty="0"/>
          </a:p>
          <a:p>
            <a:pPr algn="l" indent="0" marL="0">
              <a:lnSpc>
                <a:spcPts val="1400"/>
              </a:lnSpc>
              <a:buNone/>
            </a:pPr>
            <a:r>
              <a:rPr lang="en-US" sz="940" dirty="0">
                <a:solidFill>
                  <a:srgbClr val="4D6585"/>
                </a:solidFill>
                <a:latin typeface="Arial" pitchFamily="34" charset="0"/>
                <a:ea typeface="Arial" pitchFamily="34" charset="-122"/>
                <a:cs typeface="Arial" pitchFamily="34" charset="-120"/>
              </a:rPr>
              <a:t>same plan, live.</a:t>
            </a:r>
            <a:endParaRPr lang="en-US" sz="940" dirty="0"/>
          </a:p>
        </p:txBody>
      </p:sp>
      <p:sp>
        <p:nvSpPr>
          <p:cNvPr id="8" name="Shape 4"/>
          <p:cNvSpPr/>
          <p:nvPr/>
        </p:nvSpPr>
        <p:spPr>
          <a:xfrm>
            <a:off x="457200" y="3528012"/>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9" name="Image 2" descr="Icon: drag pan">    </p:cNvPr>
          <p:cNvPicPr>
            <a:picLocks noChangeAspect="1"/>
          </p:cNvPicPr>
          <p:nvPr/>
        </p:nvPicPr>
        <p:blipFill>
          <a:blip r:embed="rId4"/>
          <a:stretch>
            <a:fillRect/>
          </a:stretch>
        </p:blipFill>
        <p:spPr>
          <a:xfrm>
            <a:off x="457200" y="3528012"/>
            <a:ext cx="310896" cy="310896"/>
          </a:xfrm>
          <a:prstGeom prst="rect">
            <a:avLst/>
          </a:prstGeom>
        </p:spPr>
      </p:pic>
      <p:sp>
        <p:nvSpPr>
          <p:cNvPr id="10" name="Text 5"/>
          <p:cNvSpPr txBox="1"/>
          <p:nvPr/>
        </p:nvSpPr>
        <p:spPr>
          <a:xfrm>
            <a:off x="877824" y="3529155"/>
            <a:ext cx="1520290"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Drag and drop planning</a:t>
            </a:r>
            <a:endParaRPr lang="en-US" sz="990" dirty="0"/>
          </a:p>
        </p:txBody>
      </p:sp>
      <p:sp>
        <p:nvSpPr>
          <p:cNvPr id="11" name="Text 6"/>
          <p:cNvSpPr txBox="1"/>
          <p:nvPr/>
        </p:nvSpPr>
        <p:spPr>
          <a:xfrm>
            <a:off x="877824" y="3693033"/>
            <a:ext cx="2059672"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One board per site, one card per person</a:t>
            </a:r>
            <a:endParaRPr lang="en-US" sz="810" dirty="0"/>
          </a:p>
        </p:txBody>
      </p:sp>
      <p:sp>
        <p:nvSpPr>
          <p:cNvPr id="12" name="Shape 7"/>
          <p:cNvSpPr/>
          <p:nvPr/>
        </p:nvSpPr>
        <p:spPr>
          <a:xfrm>
            <a:off x="457200" y="4024217"/>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3" name="Image 3" descr="Icon: location on">    </p:cNvPr>
          <p:cNvPicPr>
            <a:picLocks noChangeAspect="1"/>
          </p:cNvPicPr>
          <p:nvPr/>
        </p:nvPicPr>
        <p:blipFill>
          <a:blip r:embed="rId5"/>
          <a:stretch>
            <a:fillRect/>
          </a:stretch>
        </p:blipFill>
        <p:spPr>
          <a:xfrm>
            <a:off x="457200" y="4024217"/>
            <a:ext cx="310896" cy="310896"/>
          </a:xfrm>
          <a:prstGeom prst="rect">
            <a:avLst/>
          </a:prstGeom>
        </p:spPr>
      </p:pic>
      <p:sp>
        <p:nvSpPr>
          <p:cNvPr id="14" name="Text 8"/>
          <p:cNvSpPr txBox="1"/>
          <p:nvPr/>
        </p:nvSpPr>
        <p:spPr>
          <a:xfrm>
            <a:off x="877824" y="3953208"/>
            <a:ext cx="1683582"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Where to go, what to wear</a:t>
            </a:r>
            <a:endParaRPr lang="en-US" sz="990" dirty="0"/>
          </a:p>
        </p:txBody>
      </p:sp>
      <p:sp>
        <p:nvSpPr>
          <p:cNvPr id="15" name="Text 9"/>
          <p:cNvSpPr txBox="1"/>
          <p:nvPr/>
        </p:nvSpPr>
        <p:spPr>
          <a:xfrm>
            <a:off x="877824" y="4117086"/>
            <a:ext cx="2677263" cy="332576"/>
          </a:xfrm>
          <a:prstGeom prst="rect">
            <a:avLst/>
          </a:prstGeom>
          <a:noFill/>
          <a:ln/>
        </p:spPr>
        <p:txBody>
          <a:bodyPr wrap="squar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The host name opens Google Maps; PPE is on the</a:t>
            </a:r>
            <a:endParaRPr lang="en-US" sz="810" dirty="0"/>
          </a:p>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card</a:t>
            </a:r>
            <a:endParaRPr lang="en-US" sz="810" dirty="0"/>
          </a:p>
        </p:txBody>
      </p:sp>
      <p:sp>
        <p:nvSpPr>
          <p:cNvPr id="16" name="Shape 10"/>
          <p:cNvSpPr/>
          <p:nvPr/>
        </p:nvSpPr>
        <p:spPr>
          <a:xfrm>
            <a:off x="457200" y="4520565"/>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7" name="Image 4" descr="Icon: lock">    </p:cNvPr>
          <p:cNvPicPr>
            <a:picLocks noChangeAspect="1"/>
          </p:cNvPicPr>
          <p:nvPr/>
        </p:nvPicPr>
        <p:blipFill>
          <a:blip r:embed="rId6"/>
          <a:stretch>
            <a:fillRect/>
          </a:stretch>
        </p:blipFill>
        <p:spPr>
          <a:xfrm>
            <a:off x="457200" y="4520565"/>
            <a:ext cx="310896" cy="310896"/>
          </a:xfrm>
          <a:prstGeom prst="rect">
            <a:avLst/>
          </a:prstGeom>
        </p:spPr>
      </p:pic>
      <p:sp>
        <p:nvSpPr>
          <p:cNvPr id="18" name="Text 11"/>
          <p:cNvSpPr txBox="1"/>
          <p:nvPr/>
        </p:nvSpPr>
        <p:spPr>
          <a:xfrm>
            <a:off x="877824" y="4521708"/>
            <a:ext cx="1272445"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Lock a finished plan</a:t>
            </a:r>
            <a:endParaRPr lang="en-US" sz="990" dirty="0"/>
          </a:p>
        </p:txBody>
      </p:sp>
      <p:sp>
        <p:nvSpPr>
          <p:cNvPr id="19" name="Text 12"/>
          <p:cNvSpPr txBox="1"/>
          <p:nvPr/>
        </p:nvSpPr>
        <p:spPr>
          <a:xfrm>
            <a:off x="877824" y="4685586"/>
            <a:ext cx="1532706"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Nobody bumps it by accident</a:t>
            </a:r>
            <a:endParaRPr lang="en-US" sz="810" dirty="0"/>
          </a:p>
        </p:txBody>
      </p:sp>
      <p:sp>
        <p:nvSpPr>
          <p:cNvPr id="20" name="Shape 13"/>
          <p:cNvSpPr/>
          <p:nvPr/>
        </p:nvSpPr>
        <p:spPr>
          <a:xfrm>
            <a:off x="4389120" y="1234440"/>
            <a:ext cx="4297680" cy="2936510"/>
          </a:xfrm>
          <a:prstGeom prst="roundRect">
            <a:avLst>
              <a:gd name="adj" fmla="val 3737"/>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21" name="Shape 14"/>
          <p:cNvSpPr/>
          <p:nvPr/>
        </p:nvSpPr>
        <p:spPr>
          <a:xfrm>
            <a:off x="4389120" y="1234440"/>
            <a:ext cx="4297680" cy="173736"/>
          </a:xfrm>
          <a:prstGeom prst="rect">
            <a:avLst/>
          </a:prstGeom>
          <a:solidFill>
            <a:srgbClr val="F4F7FA"/>
          </a:solidFill>
          <a:ln/>
        </p:spPr>
      </p:sp>
      <p:sp>
        <p:nvSpPr>
          <p:cNvPr id="22" name="Shape 15"/>
          <p:cNvSpPr/>
          <p:nvPr/>
        </p:nvSpPr>
        <p:spPr>
          <a:xfrm>
            <a:off x="4389120" y="1403604"/>
            <a:ext cx="4297680" cy="0"/>
          </a:xfrm>
          <a:prstGeom prst="line">
            <a:avLst/>
          </a:prstGeom>
          <a:noFill/>
          <a:ln w="9144">
            <a:solidFill>
              <a:srgbClr val="071A33">
                <a:alpha val="10000"/>
              </a:srgbClr>
            </a:solidFill>
            <a:prstDash val="solid"/>
          </a:ln>
        </p:spPr>
      </p:sp>
      <p:sp>
        <p:nvSpPr>
          <p:cNvPr id="23" name="Shape 16"/>
          <p:cNvSpPr/>
          <p:nvPr/>
        </p:nvSpPr>
        <p:spPr>
          <a:xfrm>
            <a:off x="4489704" y="1288447"/>
            <a:ext cx="56579" cy="56579"/>
          </a:xfrm>
          <a:prstGeom prst="ellipse">
            <a:avLst/>
          </a:prstGeom>
          <a:solidFill>
            <a:srgbClr val="D3DCE4"/>
          </a:solidFill>
          <a:ln/>
        </p:spPr>
      </p:sp>
      <p:sp>
        <p:nvSpPr>
          <p:cNvPr id="24" name="Shape 17"/>
          <p:cNvSpPr/>
          <p:nvPr/>
        </p:nvSpPr>
        <p:spPr>
          <a:xfrm>
            <a:off x="4592003" y="1288447"/>
            <a:ext cx="56579" cy="56579"/>
          </a:xfrm>
          <a:prstGeom prst="ellipse">
            <a:avLst/>
          </a:prstGeom>
          <a:solidFill>
            <a:srgbClr val="D3DCE4"/>
          </a:solidFill>
          <a:ln/>
        </p:spPr>
      </p:sp>
      <p:sp>
        <p:nvSpPr>
          <p:cNvPr id="25" name="Shape 18"/>
          <p:cNvSpPr/>
          <p:nvPr/>
        </p:nvSpPr>
        <p:spPr>
          <a:xfrm>
            <a:off x="4694301" y="1288447"/>
            <a:ext cx="56579" cy="56579"/>
          </a:xfrm>
          <a:prstGeom prst="ellipse">
            <a:avLst/>
          </a:prstGeom>
          <a:solidFill>
            <a:srgbClr val="D3DCE4"/>
          </a:solidFill>
          <a:ln/>
        </p:spPr>
      </p:sp>
      <p:pic>
        <p:nvPicPr>
          <p:cNvPr id="26" name="Image 5" descr="Manpower Board with missions, leave and the standby pool">    </p:cNvPr>
          <p:cNvPicPr>
            <a:picLocks noChangeAspect="1"/>
          </p:cNvPicPr>
          <p:nvPr/>
        </p:nvPicPr>
        <p:blipFill>
          <a:blip r:embed="rId7"/>
          <a:stretch>
            <a:fillRect/>
          </a:stretch>
        </p:blipFill>
        <p:spPr>
          <a:xfrm>
            <a:off x="4389120" y="1408176"/>
            <a:ext cx="4297680" cy="2762774"/>
          </a:xfrm>
          <a:prstGeom prst="rect">
            <a:avLst/>
          </a:prstGeom>
        </p:spPr>
      </p:pic>
      <p:sp>
        <p:nvSpPr>
          <p:cNvPr id="27" name="Gradient shape"/>
          <p:cNvSpPr/>
          <p:nvPr/>
        </p:nvSpPr>
        <p:spPr>
          <a:xfrm>
            <a:off x="3749040" y="1920240"/>
            <a:ext cx="1188720" cy="2572464"/>
          </a:xfrm>
          <a:prstGeom prst="roundRect">
            <a:avLst>
              <a:gd name="adj" fmla="val 20000"/>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71A33">
                <a:alpha val="36000"/>
              </a:srgbClr>
            </a:outerShdw>
          </a:effectLst>
        </p:spPr>
      </p:sp>
      <p:pic>
        <p:nvPicPr>
          <p:cNvPr id="28" name="Picture" descr="Merging a forecast day on a phone, one clash at a time">    </p:cNvPr>
          <p:cNvPicPr>
            <a:picLocks noChangeAspect="1"/>
          </p:cNvPicPr>
          <p:nvPr/>
        </p:nvPicPr>
        <p:blipFill>
          <a:blip r:embed="rId8"/>
          <a:stretch>
            <a:fillRect/>
          </a:stretch>
        </p:blipFill>
        <p:spPr>
          <a:xfrm>
            <a:off x="3790188" y="1961388"/>
            <a:ext cx="1106424" cy="2490168"/>
          </a:xfrm>
          <a:prstGeom prst="roundRect">
            <a:avLst>
              <a:gd name="adj" fmla="val 18181"/>
            </a:avLst>
          </a:prstGeom>
        </p:spPr>
      </p:pic>
    </p:spTree>
  </p:cSld>
  <p:clrMapOvr>
    <a:masterClrMapping/>
  </p:clrMapOvr>
  <p:transition spd="med">
    <p:push dir="r"/>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43000"/>
            <a:ext cx="1100566" cy="201168"/>
          </a:xfrm>
          <a:prstGeom prst="roundRect">
            <a:avLst>
              <a:gd name="adj" fmla="val 50000"/>
            </a:avLst>
          </a:prstGeom>
          <a:solidFill>
            <a:srgbClr val="E1EEFF"/>
          </a:solidFill>
          <a:ln/>
        </p:spPr>
      </p:sp>
      <p:sp>
        <p:nvSpPr>
          <p:cNvPr id="4" name="Text 1"/>
          <p:cNvSpPr txBox="1"/>
          <p:nvPr/>
        </p:nvSpPr>
        <p:spPr>
          <a:xfrm>
            <a:off x="557784" y="1188720"/>
            <a:ext cx="1007626"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Manpower Board</a:t>
            </a:r>
            <a:endParaRPr lang="en-US" sz="720" dirty="0"/>
          </a:p>
        </p:txBody>
      </p:sp>
      <p:sp>
        <p:nvSpPr>
          <p:cNvPr id="5" name="Text 2"/>
          <p:cNvSpPr txBox="1"/>
          <p:nvPr/>
        </p:nvSpPr>
        <p:spPr>
          <a:xfrm>
            <a:off x="457200" y="1490472"/>
            <a:ext cx="2937053" cy="779803"/>
          </a:xfrm>
          <a:prstGeom prst="rect">
            <a:avLst/>
          </a:prstGeom>
          <a:noFill/>
          <a:ln/>
        </p:spPr>
        <p:txBody>
          <a:bodyPr wrap="square" lIns="0" tIns="0" rIns="0" bIns="0" rtlCol="0" anchor="t"/>
          <a:lstStyle/>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Plan weeks ahead,</a:t>
            </a:r>
            <a:endParaRPr lang="en-US" sz="2590" dirty="0"/>
          </a:p>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not just tomorrow.</a:t>
            </a:r>
            <a:endParaRPr lang="en-US" sz="2590" dirty="0"/>
          </a:p>
        </p:txBody>
      </p:sp>
      <p:sp>
        <p:nvSpPr>
          <p:cNvPr id="6" name="Shape 3"/>
          <p:cNvSpPr/>
          <p:nvPr/>
        </p:nvSpPr>
        <p:spPr>
          <a:xfrm>
            <a:off x="457200" y="2351437"/>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7" name="Image 1" descr="Icon: redo">    </p:cNvPr>
          <p:cNvPicPr>
            <a:picLocks noChangeAspect="1"/>
          </p:cNvPicPr>
          <p:nvPr/>
        </p:nvPicPr>
        <p:blipFill>
          <a:blip r:embed="rId3"/>
          <a:stretch>
            <a:fillRect/>
          </a:stretch>
        </p:blipFill>
        <p:spPr>
          <a:xfrm>
            <a:off x="457200" y="2351437"/>
            <a:ext cx="310896" cy="310896"/>
          </a:xfrm>
          <a:prstGeom prst="rect">
            <a:avLst/>
          </a:prstGeom>
        </p:spPr>
      </p:pic>
      <p:sp>
        <p:nvSpPr>
          <p:cNvPr id="8" name="Text 4"/>
          <p:cNvSpPr txBox="1"/>
          <p:nvPr/>
        </p:nvSpPr>
        <p:spPr>
          <a:xfrm>
            <a:off x="877824" y="2352580"/>
            <a:ext cx="1979205"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Carry over the last working day</a:t>
            </a:r>
            <a:endParaRPr lang="en-US" sz="990" dirty="0"/>
          </a:p>
        </p:txBody>
      </p:sp>
      <p:sp>
        <p:nvSpPr>
          <p:cNvPr id="9" name="Text 5"/>
          <p:cNvSpPr txBox="1"/>
          <p:nvPr/>
        </p:nvSpPr>
        <p:spPr>
          <a:xfrm>
            <a:off x="877824" y="2516457"/>
            <a:ext cx="2110121"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One click, then change only what moved</a:t>
            </a:r>
            <a:endParaRPr lang="en-US" sz="810" dirty="0"/>
          </a:p>
        </p:txBody>
      </p:sp>
      <p:sp>
        <p:nvSpPr>
          <p:cNvPr id="10" name="Shape 6"/>
          <p:cNvSpPr/>
          <p:nvPr/>
        </p:nvSpPr>
        <p:spPr>
          <a:xfrm>
            <a:off x="457200" y="2776633"/>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1" name="Image 2" descr="Icon: event upcoming">    </p:cNvPr>
          <p:cNvPicPr>
            <a:picLocks noChangeAspect="1"/>
          </p:cNvPicPr>
          <p:nvPr/>
        </p:nvPicPr>
        <p:blipFill>
          <a:blip r:embed="rId4"/>
          <a:stretch>
            <a:fillRect/>
          </a:stretch>
        </p:blipFill>
        <p:spPr>
          <a:xfrm>
            <a:off x="457200" y="2776633"/>
            <a:ext cx="310896" cy="310896"/>
          </a:xfrm>
          <a:prstGeom prst="rect">
            <a:avLst/>
          </a:prstGeom>
        </p:spPr>
      </p:pic>
      <p:sp>
        <p:nvSpPr>
          <p:cNvPr id="12" name="Text 7"/>
          <p:cNvSpPr txBox="1"/>
          <p:nvPr/>
        </p:nvSpPr>
        <p:spPr>
          <a:xfrm>
            <a:off x="877824" y="2777776"/>
            <a:ext cx="89918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Forecast days</a:t>
            </a:r>
            <a:endParaRPr lang="en-US" sz="990" dirty="0"/>
          </a:p>
        </p:txBody>
      </p:sp>
      <p:sp>
        <p:nvSpPr>
          <p:cNvPr id="13" name="Text 8"/>
          <p:cNvSpPr txBox="1"/>
          <p:nvPr/>
        </p:nvSpPr>
        <p:spPr>
          <a:xfrm>
            <a:off x="877824" y="2941653"/>
            <a:ext cx="3192342"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Tentative plans kept apart, merged with a side-by-side review</a:t>
            </a:r>
            <a:endParaRPr lang="en-US" sz="810" dirty="0"/>
          </a:p>
        </p:txBody>
      </p:sp>
      <p:sp>
        <p:nvSpPr>
          <p:cNvPr id="14" name="Shape 9"/>
          <p:cNvSpPr/>
          <p:nvPr/>
        </p:nvSpPr>
        <p:spPr>
          <a:xfrm>
            <a:off x="457200" y="3201829"/>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5" name="Image 3" descr="Icon: back hand">    </p:cNvPr>
          <p:cNvPicPr>
            <a:picLocks noChangeAspect="1"/>
          </p:cNvPicPr>
          <p:nvPr/>
        </p:nvPicPr>
        <p:blipFill>
          <a:blip r:embed="rId5"/>
          <a:stretch>
            <a:fillRect/>
          </a:stretch>
        </p:blipFill>
        <p:spPr>
          <a:xfrm>
            <a:off x="457200" y="3201829"/>
            <a:ext cx="310896" cy="310896"/>
          </a:xfrm>
          <a:prstGeom prst="rect">
            <a:avLst/>
          </a:prstGeom>
        </p:spPr>
      </p:pic>
      <p:sp>
        <p:nvSpPr>
          <p:cNvPr id="16" name="Text 10"/>
          <p:cNvSpPr txBox="1"/>
          <p:nvPr/>
        </p:nvSpPr>
        <p:spPr>
          <a:xfrm>
            <a:off x="877824" y="3202972"/>
            <a:ext cx="38573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Holds</a:t>
            </a:r>
            <a:endParaRPr lang="en-US" sz="990" dirty="0"/>
          </a:p>
        </p:txBody>
      </p:sp>
      <p:sp>
        <p:nvSpPr>
          <p:cNvPr id="17" name="Text 11"/>
          <p:cNvSpPr txBox="1"/>
          <p:nvPr/>
        </p:nvSpPr>
        <p:spPr>
          <a:xfrm>
            <a:off x="877824" y="3366849"/>
            <a:ext cx="3038165"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Take someone another engineer planned and they are told</a:t>
            </a:r>
            <a:endParaRPr lang="en-US" sz="810" dirty="0"/>
          </a:p>
        </p:txBody>
      </p:sp>
      <p:sp>
        <p:nvSpPr>
          <p:cNvPr id="18" name="Shape 12"/>
          <p:cNvSpPr/>
          <p:nvPr/>
        </p:nvSpPr>
        <p:spPr>
          <a:xfrm>
            <a:off x="457200" y="3627025"/>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9" name="Image 4" descr="Icon: ios share">    </p:cNvPr>
          <p:cNvPicPr>
            <a:picLocks noChangeAspect="1"/>
          </p:cNvPicPr>
          <p:nvPr/>
        </p:nvPicPr>
        <p:blipFill>
          <a:blip r:embed="rId6"/>
          <a:stretch>
            <a:fillRect/>
          </a:stretch>
        </p:blipFill>
        <p:spPr>
          <a:xfrm>
            <a:off x="457200" y="3627025"/>
            <a:ext cx="310896" cy="310896"/>
          </a:xfrm>
          <a:prstGeom prst="rect">
            <a:avLst/>
          </a:prstGeom>
        </p:spPr>
      </p:pic>
      <p:sp>
        <p:nvSpPr>
          <p:cNvPr id="20" name="Text 13"/>
          <p:cNvSpPr txBox="1"/>
          <p:nvPr/>
        </p:nvSpPr>
        <p:spPr>
          <a:xfrm>
            <a:off x="877824" y="3628168"/>
            <a:ext cx="45802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Export</a:t>
            </a:r>
            <a:endParaRPr lang="en-US" sz="990" dirty="0"/>
          </a:p>
        </p:txBody>
      </p:sp>
      <p:sp>
        <p:nvSpPr>
          <p:cNvPr id="21" name="Text 14"/>
          <p:cNvSpPr txBox="1"/>
          <p:nvPr/>
        </p:nvSpPr>
        <p:spPr>
          <a:xfrm>
            <a:off x="877824" y="3792045"/>
            <a:ext cx="2753544"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JPG, PDF and Excel, plus the org chart as PowerPoint</a:t>
            </a:r>
            <a:endParaRPr lang="en-US" sz="810" dirty="0"/>
          </a:p>
        </p:txBody>
      </p:sp>
      <p:sp>
        <p:nvSpPr>
          <p:cNvPr id="22" name="Shape 15"/>
          <p:cNvSpPr/>
          <p:nvPr/>
        </p:nvSpPr>
        <p:spPr>
          <a:xfrm>
            <a:off x="4389120" y="1143000"/>
            <a:ext cx="4297680" cy="2936510"/>
          </a:xfrm>
          <a:prstGeom prst="roundRect">
            <a:avLst>
              <a:gd name="adj" fmla="val 3737"/>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23" name="Shape 16"/>
          <p:cNvSpPr/>
          <p:nvPr/>
        </p:nvSpPr>
        <p:spPr>
          <a:xfrm>
            <a:off x="4389120" y="1143000"/>
            <a:ext cx="4297680" cy="173736"/>
          </a:xfrm>
          <a:prstGeom prst="rect">
            <a:avLst/>
          </a:prstGeom>
          <a:solidFill>
            <a:srgbClr val="F4F7FA"/>
          </a:solidFill>
          <a:ln/>
        </p:spPr>
      </p:sp>
      <p:sp>
        <p:nvSpPr>
          <p:cNvPr id="24" name="Shape 17"/>
          <p:cNvSpPr/>
          <p:nvPr/>
        </p:nvSpPr>
        <p:spPr>
          <a:xfrm>
            <a:off x="4389120" y="1312164"/>
            <a:ext cx="4297680" cy="0"/>
          </a:xfrm>
          <a:prstGeom prst="line">
            <a:avLst/>
          </a:prstGeom>
          <a:noFill/>
          <a:ln w="9144">
            <a:solidFill>
              <a:srgbClr val="071A33">
                <a:alpha val="10000"/>
              </a:srgbClr>
            </a:solidFill>
            <a:prstDash val="solid"/>
          </a:ln>
        </p:spPr>
      </p:sp>
      <p:sp>
        <p:nvSpPr>
          <p:cNvPr id="25" name="Shape 18"/>
          <p:cNvSpPr/>
          <p:nvPr/>
        </p:nvSpPr>
        <p:spPr>
          <a:xfrm>
            <a:off x="4489704" y="1197007"/>
            <a:ext cx="56579" cy="56579"/>
          </a:xfrm>
          <a:prstGeom prst="ellipse">
            <a:avLst/>
          </a:prstGeom>
          <a:solidFill>
            <a:srgbClr val="D3DCE4"/>
          </a:solidFill>
          <a:ln/>
        </p:spPr>
      </p:sp>
      <p:sp>
        <p:nvSpPr>
          <p:cNvPr id="26" name="Shape 19"/>
          <p:cNvSpPr/>
          <p:nvPr/>
        </p:nvSpPr>
        <p:spPr>
          <a:xfrm>
            <a:off x="4592003" y="1197007"/>
            <a:ext cx="56579" cy="56579"/>
          </a:xfrm>
          <a:prstGeom prst="ellipse">
            <a:avLst/>
          </a:prstGeom>
          <a:solidFill>
            <a:srgbClr val="D3DCE4"/>
          </a:solidFill>
          <a:ln/>
        </p:spPr>
      </p:sp>
      <p:sp>
        <p:nvSpPr>
          <p:cNvPr id="27" name="Shape 20"/>
          <p:cNvSpPr/>
          <p:nvPr/>
        </p:nvSpPr>
        <p:spPr>
          <a:xfrm>
            <a:off x="4694301" y="1197007"/>
            <a:ext cx="56579" cy="56579"/>
          </a:xfrm>
          <a:prstGeom prst="ellipse">
            <a:avLst/>
          </a:prstGeom>
          <a:solidFill>
            <a:srgbClr val="D3DCE4"/>
          </a:solidFill>
          <a:ln/>
        </p:spPr>
      </p:sp>
      <p:pic>
        <p:nvPicPr>
          <p:cNvPr id="28" name="Image 5" descr="Capacity grid showing demand against available people, with two short days">    </p:cNvPr>
          <p:cNvPicPr>
            <a:picLocks noChangeAspect="1"/>
          </p:cNvPicPr>
          <p:nvPr/>
        </p:nvPicPr>
        <p:blipFill>
          <a:blip r:embed="rId7"/>
          <a:stretch>
            <a:fillRect/>
          </a:stretch>
        </p:blipFill>
        <p:spPr>
          <a:xfrm>
            <a:off x="4389120" y="1316736"/>
            <a:ext cx="4297680" cy="2762774"/>
          </a:xfrm>
          <a:prstGeom prst="rect">
            <a:avLst/>
          </a:prstGeom>
        </p:spPr>
      </p:pic>
      <p:sp>
        <p:nvSpPr>
          <p:cNvPr id="29" name="Shape 21"/>
          <p:cNvSpPr/>
          <p:nvPr/>
        </p:nvSpPr>
        <p:spPr>
          <a:xfrm>
            <a:off x="4389120" y="4119372"/>
            <a:ext cx="2048256" cy="0"/>
          </a:xfrm>
          <a:prstGeom prst="line">
            <a:avLst/>
          </a:prstGeom>
          <a:noFill/>
          <a:ln w="9144">
            <a:solidFill>
              <a:srgbClr val="C9DCF5"/>
            </a:solidFill>
            <a:prstDash val="solid"/>
          </a:ln>
        </p:spPr>
      </p:sp>
      <p:sp>
        <p:nvSpPr>
          <p:cNvPr id="30" name="Text 22"/>
          <p:cNvSpPr txBox="1"/>
          <p:nvPr/>
        </p:nvSpPr>
        <p:spPr>
          <a:xfrm>
            <a:off x="4389120" y="4215384"/>
            <a:ext cx="868694" cy="174982"/>
          </a:xfrm>
          <a:prstGeom prst="rect">
            <a:avLst/>
          </a:prstGeom>
          <a:noFill/>
          <a:ln/>
        </p:spPr>
        <p:txBody>
          <a:bodyPr wrap="none" lIns="0" tIns="0" rIns="0" bIns="0" rtlCol="0" anchor="t"/>
          <a:lstStyle/>
          <a:p>
            <a:pPr algn="l" indent="0" marL="0">
              <a:lnSpc>
                <a:spcPts val="1060"/>
              </a:lnSpc>
              <a:buNone/>
            </a:pPr>
            <a:r>
              <a:rPr lang="en-US" sz="680" b="1" spc="55" kern="0" dirty="0">
                <a:solidFill>
                  <a:srgbClr val="0B4FBF"/>
                </a:solidFill>
                <a:latin typeface="Arial" pitchFamily="34" charset="0"/>
                <a:ea typeface="Arial" pitchFamily="34" charset="-122"/>
                <a:cs typeface="Arial" pitchFamily="34" charset="-120"/>
              </a:rPr>
              <a:t>FOR ENGINEERS</a:t>
            </a:r>
            <a:endParaRPr lang="en-US" sz="680" dirty="0"/>
          </a:p>
        </p:txBody>
      </p:sp>
      <p:sp>
        <p:nvSpPr>
          <p:cNvPr id="31" name="Text 23"/>
          <p:cNvSpPr txBox="1"/>
          <p:nvPr/>
        </p:nvSpPr>
        <p:spPr>
          <a:xfrm>
            <a:off x="4389120" y="4404836"/>
            <a:ext cx="2301993" cy="520522"/>
          </a:xfrm>
          <a:prstGeom prst="rect">
            <a:avLst/>
          </a:prstGeom>
          <a:noFill/>
          <a:ln/>
        </p:spPr>
        <p:txBody>
          <a:bodyPr wrap="square" lIns="0" tIns="0" rIns="0" bIns="0" rtlCol="0" anchor="t"/>
          <a:lstStyle/>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Enter the people each host needs per day.</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The grid shows every short day as you</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type.</a:t>
            </a:r>
            <a:endParaRPr lang="en-US" sz="830" dirty="0"/>
          </a:p>
        </p:txBody>
      </p:sp>
      <p:sp>
        <p:nvSpPr>
          <p:cNvPr id="32" name="Shape 24"/>
          <p:cNvSpPr/>
          <p:nvPr/>
        </p:nvSpPr>
        <p:spPr>
          <a:xfrm>
            <a:off x="6638544" y="4119372"/>
            <a:ext cx="2048256" cy="0"/>
          </a:xfrm>
          <a:prstGeom prst="line">
            <a:avLst/>
          </a:prstGeom>
          <a:noFill/>
          <a:ln w="9144">
            <a:solidFill>
              <a:srgbClr val="C9DCF5"/>
            </a:solidFill>
            <a:prstDash val="solid"/>
          </a:ln>
        </p:spPr>
      </p:sp>
      <p:sp>
        <p:nvSpPr>
          <p:cNvPr id="33" name="Text 25"/>
          <p:cNvSpPr txBox="1"/>
          <p:nvPr/>
        </p:nvSpPr>
        <p:spPr>
          <a:xfrm>
            <a:off x="6638544" y="4215384"/>
            <a:ext cx="1039844" cy="174982"/>
          </a:xfrm>
          <a:prstGeom prst="rect">
            <a:avLst/>
          </a:prstGeom>
          <a:noFill/>
          <a:ln/>
        </p:spPr>
        <p:txBody>
          <a:bodyPr wrap="none" lIns="0" tIns="0" rIns="0" bIns="0" rtlCol="0" anchor="t"/>
          <a:lstStyle/>
          <a:p>
            <a:pPr algn="l" indent="0" marL="0">
              <a:lnSpc>
                <a:spcPts val="1060"/>
              </a:lnSpc>
              <a:buNone/>
            </a:pPr>
            <a:r>
              <a:rPr lang="en-US" sz="680" b="1" spc="55" kern="0" dirty="0">
                <a:solidFill>
                  <a:srgbClr val="0B4FBF"/>
                </a:solidFill>
                <a:latin typeface="Arial" pitchFamily="34" charset="0"/>
                <a:ea typeface="Arial" pitchFamily="34" charset="-122"/>
                <a:cs typeface="Arial" pitchFamily="34" charset="-120"/>
              </a:rPr>
              <a:t>FOR MANAGEMENT</a:t>
            </a:r>
            <a:endParaRPr lang="en-US" sz="680" dirty="0"/>
          </a:p>
        </p:txBody>
      </p:sp>
      <p:sp>
        <p:nvSpPr>
          <p:cNvPr id="34" name="Text 26"/>
          <p:cNvSpPr txBox="1"/>
          <p:nvPr/>
        </p:nvSpPr>
        <p:spPr>
          <a:xfrm>
            <a:off x="6638544" y="4404836"/>
            <a:ext cx="2267789" cy="520522"/>
          </a:xfrm>
          <a:prstGeom prst="rect">
            <a:avLst/>
          </a:prstGeom>
          <a:noFill/>
          <a:ln/>
        </p:spPr>
        <p:txBody>
          <a:bodyPr wrap="square" lIns="0" tIns="0" rIns="0" bIns="0" rtlCol="0" anchor="t"/>
          <a:lstStyle/>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Short days show in red weeks before they</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happen, with the worst day and peak</a:t>
            </a:r>
            <a:endParaRPr lang="en-US" sz="830" dirty="0"/>
          </a:p>
          <a:p>
            <a:pPr algn="l" indent="0" marL="0">
              <a:lnSpc>
                <a:spcPts val="1240"/>
              </a:lnSpc>
              <a:buNone/>
            </a:pPr>
            <a:r>
              <a:rPr lang="en-US" sz="830" dirty="0">
                <a:solidFill>
                  <a:srgbClr val="4D6585"/>
                </a:solidFill>
                <a:latin typeface="Arial" pitchFamily="34" charset="0"/>
                <a:ea typeface="Arial" pitchFamily="34" charset="-122"/>
                <a:cs typeface="Arial" pitchFamily="34" charset="-120"/>
              </a:rPr>
              <a:t>demand on top.</a:t>
            </a:r>
            <a:endParaRPr lang="en-US" sz="830" dirty="0"/>
          </a:p>
        </p:txBody>
      </p:sp>
    </p:spTree>
  </p:cSld>
  <p:clrMapOvr>
    <a:masterClrMapping/>
  </p:clrMapOvr>
  <p:transition spd="med">
    <p:push dir="r"/>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43000"/>
            <a:ext cx="1100566" cy="201168"/>
          </a:xfrm>
          <a:prstGeom prst="roundRect">
            <a:avLst>
              <a:gd name="adj" fmla="val 50000"/>
            </a:avLst>
          </a:prstGeom>
          <a:solidFill>
            <a:srgbClr val="E1EEFF"/>
          </a:solidFill>
          <a:ln/>
        </p:spPr>
      </p:sp>
      <p:sp>
        <p:nvSpPr>
          <p:cNvPr id="4" name="Text 1"/>
          <p:cNvSpPr txBox="1"/>
          <p:nvPr/>
        </p:nvSpPr>
        <p:spPr>
          <a:xfrm>
            <a:off x="557784" y="1188720"/>
            <a:ext cx="1007626"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Manpower Board</a:t>
            </a:r>
            <a:endParaRPr lang="en-US" sz="720" dirty="0"/>
          </a:p>
        </p:txBody>
      </p:sp>
      <p:sp>
        <p:nvSpPr>
          <p:cNvPr id="5" name="Text 2"/>
          <p:cNvSpPr txBox="1"/>
          <p:nvPr/>
        </p:nvSpPr>
        <p:spPr>
          <a:xfrm>
            <a:off x="457200" y="1490472"/>
            <a:ext cx="2518621" cy="779803"/>
          </a:xfrm>
          <a:prstGeom prst="rect">
            <a:avLst/>
          </a:prstGeom>
          <a:noFill/>
          <a:ln/>
        </p:spPr>
        <p:txBody>
          <a:bodyPr wrap="square" lIns="0" tIns="0" rIns="0" bIns="0" rtlCol="0" anchor="t"/>
          <a:lstStyle/>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The whole crew</a:t>
            </a:r>
            <a:endParaRPr lang="en-US" sz="2590" dirty="0"/>
          </a:p>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in one view.</a:t>
            </a:r>
            <a:endParaRPr lang="en-US" sz="2590" dirty="0"/>
          </a:p>
        </p:txBody>
      </p:sp>
      <p:sp>
        <p:nvSpPr>
          <p:cNvPr id="6" name="Shape 3"/>
          <p:cNvSpPr/>
          <p:nvPr/>
        </p:nvSpPr>
        <p:spPr>
          <a:xfrm>
            <a:off x="457200" y="2351437"/>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7" name="Image 1" descr="Icon: speed">    </p:cNvPr>
          <p:cNvPicPr>
            <a:picLocks noChangeAspect="1"/>
          </p:cNvPicPr>
          <p:nvPr/>
        </p:nvPicPr>
        <p:blipFill>
          <a:blip r:embed="rId3"/>
          <a:stretch>
            <a:fillRect/>
          </a:stretch>
        </p:blipFill>
        <p:spPr>
          <a:xfrm>
            <a:off x="457200" y="2351437"/>
            <a:ext cx="310896" cy="310896"/>
          </a:xfrm>
          <a:prstGeom prst="rect">
            <a:avLst/>
          </a:prstGeom>
        </p:spPr>
      </p:pic>
      <p:sp>
        <p:nvSpPr>
          <p:cNvPr id="8" name="Text 4"/>
          <p:cNvSpPr txBox="1"/>
          <p:nvPr/>
        </p:nvSpPr>
        <p:spPr>
          <a:xfrm>
            <a:off x="877824" y="2352580"/>
            <a:ext cx="151981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Utilization you can trust</a:t>
            </a:r>
            <a:endParaRPr lang="en-US" sz="990" dirty="0"/>
          </a:p>
        </p:txBody>
      </p:sp>
      <p:sp>
        <p:nvSpPr>
          <p:cNvPr id="9" name="Text 5"/>
          <p:cNvSpPr txBox="1"/>
          <p:nvPr/>
        </p:nvSpPr>
        <p:spPr>
          <a:xfrm>
            <a:off x="877824" y="2516457"/>
            <a:ext cx="2805565"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On-call staff who were not called stay out of the figure</a:t>
            </a:r>
            <a:endParaRPr lang="en-US" sz="810" dirty="0"/>
          </a:p>
        </p:txBody>
      </p:sp>
      <p:sp>
        <p:nvSpPr>
          <p:cNvPr id="10" name="Shape 6"/>
          <p:cNvSpPr/>
          <p:nvPr/>
        </p:nvSpPr>
        <p:spPr>
          <a:xfrm>
            <a:off x="457200" y="2776633"/>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1" name="Image 2" descr="Icon: person alert">    </p:cNvPr>
          <p:cNvPicPr>
            <a:picLocks noChangeAspect="1"/>
          </p:cNvPicPr>
          <p:nvPr/>
        </p:nvPicPr>
        <p:blipFill>
          <a:blip r:embed="rId4"/>
          <a:stretch>
            <a:fillRect/>
          </a:stretch>
        </p:blipFill>
        <p:spPr>
          <a:xfrm>
            <a:off x="457200" y="2776633"/>
            <a:ext cx="310896" cy="310896"/>
          </a:xfrm>
          <a:prstGeom prst="rect">
            <a:avLst/>
          </a:prstGeom>
        </p:spPr>
      </p:pic>
      <p:sp>
        <p:nvSpPr>
          <p:cNvPr id="12" name="Text 7"/>
          <p:cNvSpPr txBox="1"/>
          <p:nvPr/>
        </p:nvSpPr>
        <p:spPr>
          <a:xfrm>
            <a:off x="877824" y="2777776"/>
            <a:ext cx="1045502"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Idle staff named</a:t>
            </a:r>
            <a:endParaRPr lang="en-US" sz="990" dirty="0"/>
          </a:p>
        </p:txBody>
      </p:sp>
      <p:sp>
        <p:nvSpPr>
          <p:cNvPr id="13" name="Text 8"/>
          <p:cNvSpPr txBox="1"/>
          <p:nvPr/>
        </p:nvSpPr>
        <p:spPr>
          <a:xfrm>
            <a:off x="877824" y="2941653"/>
            <a:ext cx="2500984"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Permanent staff with no mission, listed by board</a:t>
            </a:r>
            <a:endParaRPr lang="en-US" sz="810" dirty="0"/>
          </a:p>
        </p:txBody>
      </p:sp>
      <p:sp>
        <p:nvSpPr>
          <p:cNvPr id="14" name="Shape 9"/>
          <p:cNvSpPr/>
          <p:nvPr/>
        </p:nvSpPr>
        <p:spPr>
          <a:xfrm>
            <a:off x="457200" y="3201829"/>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5" name="Image 3" descr="Icon: table rows">    </p:cNvPr>
          <p:cNvPicPr>
            <a:picLocks noChangeAspect="1"/>
          </p:cNvPicPr>
          <p:nvPr/>
        </p:nvPicPr>
        <p:blipFill>
          <a:blip r:embed="rId5"/>
          <a:stretch>
            <a:fillRect/>
          </a:stretch>
        </p:blipFill>
        <p:spPr>
          <a:xfrm>
            <a:off x="457200" y="3201829"/>
            <a:ext cx="310896" cy="310896"/>
          </a:xfrm>
          <a:prstGeom prst="rect">
            <a:avLst/>
          </a:prstGeom>
        </p:spPr>
      </p:pic>
      <p:sp>
        <p:nvSpPr>
          <p:cNvPr id="16" name="Text 10"/>
          <p:cNvSpPr txBox="1"/>
          <p:nvPr/>
        </p:nvSpPr>
        <p:spPr>
          <a:xfrm>
            <a:off x="877824" y="3202972"/>
            <a:ext cx="583130"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By board</a:t>
            </a:r>
            <a:endParaRPr lang="en-US" sz="990" dirty="0"/>
          </a:p>
        </p:txBody>
      </p:sp>
      <p:sp>
        <p:nvSpPr>
          <p:cNvPr id="17" name="Text 11"/>
          <p:cNvSpPr txBox="1"/>
          <p:nvPr/>
        </p:nvSpPr>
        <p:spPr>
          <a:xfrm>
            <a:off x="877824" y="3366849"/>
            <a:ext cx="2462008"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Missions, headcount, leave and idle side by side</a:t>
            </a:r>
            <a:endParaRPr lang="en-US" sz="810" dirty="0"/>
          </a:p>
        </p:txBody>
      </p:sp>
      <p:sp>
        <p:nvSpPr>
          <p:cNvPr id="18" name="Shape 12"/>
          <p:cNvSpPr/>
          <p:nvPr/>
        </p:nvSpPr>
        <p:spPr>
          <a:xfrm>
            <a:off x="457200" y="3627025"/>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9" name="Image 4" descr="Icon: trending up">    </p:cNvPr>
          <p:cNvPicPr>
            <a:picLocks noChangeAspect="1"/>
          </p:cNvPicPr>
          <p:nvPr/>
        </p:nvPicPr>
        <p:blipFill>
          <a:blip r:embed="rId6"/>
          <a:stretch>
            <a:fillRect/>
          </a:stretch>
        </p:blipFill>
        <p:spPr>
          <a:xfrm>
            <a:off x="457200" y="3627025"/>
            <a:ext cx="310896" cy="310896"/>
          </a:xfrm>
          <a:prstGeom prst="rect">
            <a:avLst/>
          </a:prstGeom>
        </p:spPr>
      </p:pic>
      <p:sp>
        <p:nvSpPr>
          <p:cNvPr id="20" name="Text 13"/>
          <p:cNvSpPr txBox="1"/>
          <p:nvPr/>
        </p:nvSpPr>
        <p:spPr>
          <a:xfrm>
            <a:off x="877824" y="3628168"/>
            <a:ext cx="1369571"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History and workload</a:t>
            </a:r>
            <a:endParaRPr lang="en-US" sz="990" dirty="0"/>
          </a:p>
        </p:txBody>
      </p:sp>
      <p:sp>
        <p:nvSpPr>
          <p:cNvPr id="21" name="Text 14"/>
          <p:cNvSpPr txBox="1"/>
          <p:nvPr/>
        </p:nvSpPr>
        <p:spPr>
          <a:xfrm>
            <a:off x="877824" y="3792045"/>
            <a:ext cx="2441577"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Utilization over time and missions per engineer</a:t>
            </a:r>
            <a:endParaRPr lang="en-US" sz="810" dirty="0"/>
          </a:p>
        </p:txBody>
      </p:sp>
      <p:sp>
        <p:nvSpPr>
          <p:cNvPr id="22" name="Shape 15"/>
          <p:cNvSpPr/>
          <p:nvPr/>
        </p:nvSpPr>
        <p:spPr>
          <a:xfrm>
            <a:off x="3931920" y="1188720"/>
            <a:ext cx="4754880" cy="3230404"/>
          </a:xfrm>
          <a:prstGeom prst="roundRect">
            <a:avLst>
              <a:gd name="adj" fmla="val 3397"/>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23" name="Shape 16"/>
          <p:cNvSpPr/>
          <p:nvPr/>
        </p:nvSpPr>
        <p:spPr>
          <a:xfrm>
            <a:off x="3931920" y="1188720"/>
            <a:ext cx="4754880" cy="173736"/>
          </a:xfrm>
          <a:prstGeom prst="rect">
            <a:avLst/>
          </a:prstGeom>
          <a:solidFill>
            <a:srgbClr val="F4F7FA"/>
          </a:solidFill>
          <a:ln/>
        </p:spPr>
      </p:sp>
      <p:sp>
        <p:nvSpPr>
          <p:cNvPr id="24" name="Shape 17"/>
          <p:cNvSpPr/>
          <p:nvPr/>
        </p:nvSpPr>
        <p:spPr>
          <a:xfrm>
            <a:off x="3931920" y="1357884"/>
            <a:ext cx="4754880" cy="0"/>
          </a:xfrm>
          <a:prstGeom prst="line">
            <a:avLst/>
          </a:prstGeom>
          <a:noFill/>
          <a:ln w="9144">
            <a:solidFill>
              <a:srgbClr val="071A33">
                <a:alpha val="10000"/>
              </a:srgbClr>
            </a:solidFill>
            <a:prstDash val="solid"/>
          </a:ln>
        </p:spPr>
      </p:sp>
      <p:sp>
        <p:nvSpPr>
          <p:cNvPr id="25" name="Shape 18"/>
          <p:cNvSpPr/>
          <p:nvPr/>
        </p:nvSpPr>
        <p:spPr>
          <a:xfrm>
            <a:off x="4032504" y="1242727"/>
            <a:ext cx="56579" cy="56579"/>
          </a:xfrm>
          <a:prstGeom prst="ellipse">
            <a:avLst/>
          </a:prstGeom>
          <a:solidFill>
            <a:srgbClr val="D3DCE4"/>
          </a:solidFill>
          <a:ln/>
        </p:spPr>
      </p:sp>
      <p:sp>
        <p:nvSpPr>
          <p:cNvPr id="26" name="Shape 19"/>
          <p:cNvSpPr/>
          <p:nvPr/>
        </p:nvSpPr>
        <p:spPr>
          <a:xfrm>
            <a:off x="4134803" y="1242727"/>
            <a:ext cx="56579" cy="56579"/>
          </a:xfrm>
          <a:prstGeom prst="ellipse">
            <a:avLst/>
          </a:prstGeom>
          <a:solidFill>
            <a:srgbClr val="D3DCE4"/>
          </a:solidFill>
          <a:ln/>
        </p:spPr>
      </p:sp>
      <p:sp>
        <p:nvSpPr>
          <p:cNvPr id="27" name="Shape 20"/>
          <p:cNvSpPr/>
          <p:nvPr/>
        </p:nvSpPr>
        <p:spPr>
          <a:xfrm>
            <a:off x="4237101" y="1242727"/>
            <a:ext cx="56579" cy="56579"/>
          </a:xfrm>
          <a:prstGeom prst="ellipse">
            <a:avLst/>
          </a:prstGeom>
          <a:solidFill>
            <a:srgbClr val="D3DCE4"/>
          </a:solidFill>
          <a:ln/>
        </p:spPr>
      </p:sp>
      <p:pic>
        <p:nvPicPr>
          <p:cNvPr id="28" name="Image 5" descr="Overview dashboard with utilization, deployment and by-board table">    </p:cNvPr>
          <p:cNvPicPr>
            <a:picLocks noChangeAspect="1"/>
          </p:cNvPicPr>
          <p:nvPr/>
        </p:nvPicPr>
        <p:blipFill>
          <a:blip r:embed="rId7"/>
          <a:stretch>
            <a:fillRect/>
          </a:stretch>
        </p:blipFill>
        <p:spPr>
          <a:xfrm>
            <a:off x="3931920" y="1362456"/>
            <a:ext cx="4754880" cy="3056668"/>
          </a:xfrm>
          <a:prstGeom prst="rect">
            <a:avLst/>
          </a:prstGeom>
        </p:spPr>
      </p:pic>
    </p:spTree>
  </p:cSld>
  <p:clrMapOvr>
    <a:masterClrMapping/>
  </p:clrMapOvr>
  <p:transition spd="med">
    <p:push dir="r"/>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88720"/>
            <a:ext cx="4206240" cy="2877645"/>
          </a:xfrm>
          <a:prstGeom prst="roundRect">
            <a:avLst>
              <a:gd name="adj" fmla="val 3813"/>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4" name="Shape 1"/>
          <p:cNvSpPr/>
          <p:nvPr/>
        </p:nvSpPr>
        <p:spPr>
          <a:xfrm>
            <a:off x="457200" y="1188720"/>
            <a:ext cx="4206240" cy="173736"/>
          </a:xfrm>
          <a:prstGeom prst="rect">
            <a:avLst/>
          </a:prstGeom>
          <a:solidFill>
            <a:srgbClr val="F4F7FA"/>
          </a:solidFill>
          <a:ln/>
        </p:spPr>
      </p:sp>
      <p:sp>
        <p:nvSpPr>
          <p:cNvPr id="5" name="Shape 2"/>
          <p:cNvSpPr/>
          <p:nvPr/>
        </p:nvSpPr>
        <p:spPr>
          <a:xfrm>
            <a:off x="457200" y="1357884"/>
            <a:ext cx="4206240" cy="0"/>
          </a:xfrm>
          <a:prstGeom prst="line">
            <a:avLst/>
          </a:prstGeom>
          <a:noFill/>
          <a:ln w="9144">
            <a:solidFill>
              <a:srgbClr val="071A33">
                <a:alpha val="10000"/>
              </a:srgbClr>
            </a:solidFill>
            <a:prstDash val="solid"/>
          </a:ln>
        </p:spPr>
      </p:sp>
      <p:sp>
        <p:nvSpPr>
          <p:cNvPr id="6" name="Shape 3"/>
          <p:cNvSpPr/>
          <p:nvPr/>
        </p:nvSpPr>
        <p:spPr>
          <a:xfrm>
            <a:off x="557784" y="1242727"/>
            <a:ext cx="56579" cy="56579"/>
          </a:xfrm>
          <a:prstGeom prst="ellipse">
            <a:avLst/>
          </a:prstGeom>
          <a:solidFill>
            <a:srgbClr val="D3DCE4"/>
          </a:solidFill>
          <a:ln/>
        </p:spPr>
      </p:sp>
      <p:sp>
        <p:nvSpPr>
          <p:cNvPr id="7" name="Shape 4"/>
          <p:cNvSpPr/>
          <p:nvPr/>
        </p:nvSpPr>
        <p:spPr>
          <a:xfrm>
            <a:off x="660083" y="1242727"/>
            <a:ext cx="56579" cy="56579"/>
          </a:xfrm>
          <a:prstGeom prst="ellipse">
            <a:avLst/>
          </a:prstGeom>
          <a:solidFill>
            <a:srgbClr val="D3DCE4"/>
          </a:solidFill>
          <a:ln/>
        </p:spPr>
      </p:sp>
      <p:sp>
        <p:nvSpPr>
          <p:cNvPr id="8" name="Shape 5"/>
          <p:cNvSpPr/>
          <p:nvPr/>
        </p:nvSpPr>
        <p:spPr>
          <a:xfrm>
            <a:off x="762381" y="1242727"/>
            <a:ext cx="56579" cy="56579"/>
          </a:xfrm>
          <a:prstGeom prst="ellipse">
            <a:avLst/>
          </a:prstGeom>
          <a:solidFill>
            <a:srgbClr val="D3DCE4"/>
          </a:solidFill>
          <a:ln/>
        </p:spPr>
      </p:sp>
      <p:pic>
        <p:nvPicPr>
          <p:cNvPr id="9" name="Image 1" descr="Inventory and Quality dashboard">    </p:cNvPr>
          <p:cNvPicPr>
            <a:picLocks noChangeAspect="1"/>
          </p:cNvPicPr>
          <p:nvPr/>
        </p:nvPicPr>
        <p:blipFill>
          <a:blip r:embed="rId3"/>
          <a:stretch>
            <a:fillRect/>
          </a:stretch>
        </p:blipFill>
        <p:spPr>
          <a:xfrm>
            <a:off x="457200" y="1362456"/>
            <a:ext cx="4206240" cy="2703909"/>
          </a:xfrm>
          <a:prstGeom prst="rect">
            <a:avLst/>
          </a:prstGeom>
        </p:spPr>
      </p:pic>
      <p:sp>
        <p:nvSpPr>
          <p:cNvPr id="10" name="Gradient shape"/>
          <p:cNvSpPr/>
          <p:nvPr/>
        </p:nvSpPr>
        <p:spPr>
          <a:xfrm>
            <a:off x="3749040" y="2286000"/>
            <a:ext cx="1280160" cy="2770346"/>
          </a:xfrm>
          <a:prstGeom prst="roundRect">
            <a:avLst>
              <a:gd name="adj" fmla="val 18571"/>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71A33">
                <a:alpha val="36000"/>
              </a:srgbClr>
            </a:outerShdw>
          </a:effectLst>
        </p:spPr>
      </p:sp>
      <p:pic>
        <p:nvPicPr>
          <p:cNvPr id="11" name="Picture" descr="The cart on a phone with the consumables listed, ready to check out">    </p:cNvPr>
          <p:cNvPicPr>
            <a:picLocks noChangeAspect="1"/>
          </p:cNvPicPr>
          <p:nvPr/>
        </p:nvPicPr>
        <p:blipFill>
          <a:blip r:embed="rId4"/>
          <a:stretch>
            <a:fillRect/>
          </a:stretch>
        </p:blipFill>
        <p:spPr>
          <a:xfrm>
            <a:off x="3790188" y="2327148"/>
            <a:ext cx="1197864" cy="2688050"/>
          </a:xfrm>
          <a:prstGeom prst="roundRect">
            <a:avLst>
              <a:gd name="adj" fmla="val 16793"/>
            </a:avLst>
          </a:prstGeom>
        </p:spPr>
      </p:pic>
      <p:sp>
        <p:nvSpPr>
          <p:cNvPr id="12" name="Shape 7"/>
          <p:cNvSpPr/>
          <p:nvPr/>
        </p:nvSpPr>
        <p:spPr>
          <a:xfrm>
            <a:off x="457200" y="4251960"/>
            <a:ext cx="883110" cy="283893"/>
          </a:xfrm>
          <a:prstGeom prst="roundRect">
            <a:avLst>
              <a:gd name="adj" fmla="val 50000"/>
            </a:avLst>
          </a:prstGeom>
          <a:solidFill>
            <a:srgbClr val="FFFFFF"/>
          </a:solidFill>
          <a:ln w="9144">
            <a:solidFill>
              <a:srgbClr val="1E5AC8">
                <a:alpha val="16000"/>
              </a:srgbClr>
            </a:solidFill>
            <a:prstDash val="solid"/>
          </a:ln>
        </p:spPr>
      </p:sp>
      <p:sp>
        <p:nvSpPr>
          <p:cNvPr id="13" name="Text 8"/>
          <p:cNvSpPr txBox="1"/>
          <p:nvPr/>
        </p:nvSpPr>
        <p:spPr>
          <a:xfrm>
            <a:off x="745379" y="4315968"/>
            <a:ext cx="557041" cy="155877"/>
          </a:xfrm>
          <a:prstGeom prst="rect">
            <a:avLst/>
          </a:prstGeom>
          <a:noFill/>
          <a:ln/>
        </p:spPr>
        <p:txBody>
          <a:bodyPr wrap="none" lIns="0" tIns="0" rIns="0" bIns="0" rtlCol="0" anchor="ctr"/>
          <a:lstStyle/>
          <a:p>
            <a:pPr algn="l" indent="0" marL="0">
              <a:lnSpc>
                <a:spcPts val="1230"/>
              </a:lnSpc>
              <a:buNone/>
            </a:pPr>
            <a:r>
              <a:rPr lang="en-US" sz="790" b="1" dirty="0">
                <a:solidFill>
                  <a:srgbClr val="071A33"/>
                </a:solidFill>
                <a:latin typeface="Arial" pitchFamily="34" charset="0"/>
                <a:ea typeface="Arial" pitchFamily="34" charset="-122"/>
                <a:cs typeface="Arial" pitchFamily="34" charset="-120"/>
              </a:rPr>
              <a:t>Pick items</a:t>
            </a:r>
            <a:endParaRPr lang="en-US" sz="790" dirty="0"/>
          </a:p>
        </p:txBody>
      </p:sp>
      <p:pic>
        <p:nvPicPr>
          <p:cNvPr id="14" name="Image 3" descr="Icon: touch app">    </p:cNvPr>
          <p:cNvPicPr>
            <a:picLocks noChangeAspect="1"/>
          </p:cNvPicPr>
          <p:nvPr/>
        </p:nvPicPr>
        <p:blipFill>
          <a:blip r:embed="rId5"/>
          <a:stretch>
            <a:fillRect/>
          </a:stretch>
        </p:blipFill>
        <p:spPr>
          <a:xfrm>
            <a:off x="562356" y="4329827"/>
            <a:ext cx="128159" cy="128016"/>
          </a:xfrm>
          <a:prstGeom prst="rect">
            <a:avLst/>
          </a:prstGeom>
        </p:spPr>
      </p:pic>
      <p:pic>
        <p:nvPicPr>
          <p:cNvPr id="15" name="Image 4" descr="Icon: arrow forward">    </p:cNvPr>
          <p:cNvPicPr>
            <a:picLocks noChangeAspect="1"/>
          </p:cNvPicPr>
          <p:nvPr/>
        </p:nvPicPr>
        <p:blipFill>
          <a:blip r:embed="rId6"/>
          <a:stretch>
            <a:fillRect/>
          </a:stretch>
        </p:blipFill>
        <p:spPr>
          <a:xfrm>
            <a:off x="1404318" y="4338971"/>
            <a:ext cx="109871" cy="109728"/>
          </a:xfrm>
          <a:prstGeom prst="rect">
            <a:avLst/>
          </a:prstGeom>
        </p:spPr>
      </p:pic>
      <p:sp>
        <p:nvSpPr>
          <p:cNvPr id="16" name="Shape 9"/>
          <p:cNvSpPr/>
          <p:nvPr/>
        </p:nvSpPr>
        <p:spPr>
          <a:xfrm>
            <a:off x="1578197" y="4251960"/>
            <a:ext cx="919686" cy="283893"/>
          </a:xfrm>
          <a:prstGeom prst="roundRect">
            <a:avLst>
              <a:gd name="adj" fmla="val 50000"/>
            </a:avLst>
          </a:prstGeom>
          <a:solidFill>
            <a:srgbClr val="FFFFFF"/>
          </a:solidFill>
          <a:ln w="9144">
            <a:solidFill>
              <a:srgbClr val="1E5AC8">
                <a:alpha val="16000"/>
              </a:srgbClr>
            </a:solidFill>
            <a:prstDash val="solid"/>
          </a:ln>
        </p:spPr>
      </p:sp>
      <p:sp>
        <p:nvSpPr>
          <p:cNvPr id="17" name="Text 10"/>
          <p:cNvSpPr txBox="1"/>
          <p:nvPr/>
        </p:nvSpPr>
        <p:spPr>
          <a:xfrm>
            <a:off x="1866376" y="4315968"/>
            <a:ext cx="597275" cy="155877"/>
          </a:xfrm>
          <a:prstGeom prst="rect">
            <a:avLst/>
          </a:prstGeom>
          <a:noFill/>
          <a:ln/>
        </p:spPr>
        <p:txBody>
          <a:bodyPr wrap="none" lIns="0" tIns="0" rIns="0" bIns="0" rtlCol="0" anchor="ctr"/>
          <a:lstStyle/>
          <a:p>
            <a:pPr algn="l" indent="0" marL="0">
              <a:lnSpc>
                <a:spcPts val="1230"/>
              </a:lnSpc>
              <a:buNone/>
            </a:pPr>
            <a:r>
              <a:rPr lang="en-US" sz="790" b="1" dirty="0">
                <a:solidFill>
                  <a:srgbClr val="071A33"/>
                </a:solidFill>
                <a:latin typeface="Arial" pitchFamily="34" charset="0"/>
                <a:ea typeface="Arial" pitchFamily="34" charset="-122"/>
                <a:cs typeface="Arial" pitchFamily="34" charset="-120"/>
              </a:rPr>
              <a:t>Add to cart</a:t>
            </a:r>
            <a:endParaRPr lang="en-US" sz="790" dirty="0"/>
          </a:p>
        </p:txBody>
      </p:sp>
      <p:pic>
        <p:nvPicPr>
          <p:cNvPr id="18" name="Image 5" descr="Icon: shopping cart">    </p:cNvPr>
          <p:cNvPicPr>
            <a:picLocks noChangeAspect="1"/>
          </p:cNvPicPr>
          <p:nvPr/>
        </p:nvPicPr>
        <p:blipFill>
          <a:blip r:embed="rId7"/>
          <a:stretch>
            <a:fillRect/>
          </a:stretch>
        </p:blipFill>
        <p:spPr>
          <a:xfrm>
            <a:off x="1683353" y="4329827"/>
            <a:ext cx="128159" cy="128016"/>
          </a:xfrm>
          <a:prstGeom prst="rect">
            <a:avLst/>
          </a:prstGeom>
        </p:spPr>
      </p:pic>
      <p:pic>
        <p:nvPicPr>
          <p:cNvPr id="19" name="Image 6" descr="Icon: arrow forward">    </p:cNvPr>
          <p:cNvPicPr>
            <a:picLocks noChangeAspect="1"/>
          </p:cNvPicPr>
          <p:nvPr/>
        </p:nvPicPr>
        <p:blipFill>
          <a:blip r:embed="rId8"/>
          <a:stretch>
            <a:fillRect/>
          </a:stretch>
        </p:blipFill>
        <p:spPr>
          <a:xfrm>
            <a:off x="2561892" y="4338971"/>
            <a:ext cx="109871" cy="109728"/>
          </a:xfrm>
          <a:prstGeom prst="rect">
            <a:avLst/>
          </a:prstGeom>
        </p:spPr>
      </p:pic>
      <p:sp>
        <p:nvSpPr>
          <p:cNvPr id="20" name="Shape 11"/>
          <p:cNvSpPr/>
          <p:nvPr/>
        </p:nvSpPr>
        <p:spPr>
          <a:xfrm>
            <a:off x="2735771" y="4251960"/>
            <a:ext cx="880110" cy="283893"/>
          </a:xfrm>
          <a:prstGeom prst="roundRect">
            <a:avLst>
              <a:gd name="adj" fmla="val 50000"/>
            </a:avLst>
          </a:prstGeom>
          <a:solidFill>
            <a:srgbClr val="FFFFFF"/>
          </a:solidFill>
          <a:ln w="9144">
            <a:solidFill>
              <a:srgbClr val="1E5AC8">
                <a:alpha val="16000"/>
              </a:srgbClr>
            </a:solidFill>
            <a:prstDash val="solid"/>
          </a:ln>
        </p:spPr>
      </p:sp>
      <p:sp>
        <p:nvSpPr>
          <p:cNvPr id="21" name="Text 12"/>
          <p:cNvSpPr txBox="1"/>
          <p:nvPr/>
        </p:nvSpPr>
        <p:spPr>
          <a:xfrm>
            <a:off x="3023949" y="4315968"/>
            <a:ext cx="553741" cy="155877"/>
          </a:xfrm>
          <a:prstGeom prst="rect">
            <a:avLst/>
          </a:prstGeom>
          <a:noFill/>
          <a:ln/>
        </p:spPr>
        <p:txBody>
          <a:bodyPr wrap="none" lIns="0" tIns="0" rIns="0" bIns="0" rtlCol="0" anchor="ctr"/>
          <a:lstStyle/>
          <a:p>
            <a:pPr algn="l" indent="0" marL="0">
              <a:lnSpc>
                <a:spcPts val="1230"/>
              </a:lnSpc>
              <a:buNone/>
            </a:pPr>
            <a:r>
              <a:rPr lang="en-US" sz="790" b="1" dirty="0">
                <a:solidFill>
                  <a:srgbClr val="071A33"/>
                </a:solidFill>
                <a:latin typeface="Arial" pitchFamily="34" charset="0"/>
                <a:ea typeface="Arial" pitchFamily="34" charset="-122"/>
                <a:cs typeface="Arial" pitchFamily="34" charset="-120"/>
              </a:rPr>
              <a:t>Check out</a:t>
            </a:r>
            <a:endParaRPr lang="en-US" sz="790" dirty="0"/>
          </a:p>
        </p:txBody>
      </p:sp>
      <p:pic>
        <p:nvPicPr>
          <p:cNvPr id="22" name="Image 7" descr="Icon: shopping cart checkout">    </p:cNvPr>
          <p:cNvPicPr>
            <a:picLocks noChangeAspect="1"/>
          </p:cNvPicPr>
          <p:nvPr/>
        </p:nvPicPr>
        <p:blipFill>
          <a:blip r:embed="rId9"/>
          <a:stretch>
            <a:fillRect/>
          </a:stretch>
        </p:blipFill>
        <p:spPr>
          <a:xfrm>
            <a:off x="2840927" y="4329827"/>
            <a:ext cx="128159" cy="128016"/>
          </a:xfrm>
          <a:prstGeom prst="rect">
            <a:avLst/>
          </a:prstGeom>
        </p:spPr>
      </p:pic>
      <p:pic>
        <p:nvPicPr>
          <p:cNvPr id="23" name="Picture" descr="Inventory and Quality app icon">    </p:cNvPr>
          <p:cNvPicPr>
            <a:picLocks noChangeAspect="1"/>
          </p:cNvPicPr>
          <p:nvPr/>
        </p:nvPicPr>
        <p:blipFill>
          <a:blip r:embed="rId10"/>
          <a:stretch>
            <a:fillRect/>
          </a:stretch>
        </p:blipFill>
        <p:spPr>
          <a:xfrm>
            <a:off x="5486400" y="1051560"/>
            <a:ext cx="420624" cy="420624"/>
          </a:xfrm>
          <a:prstGeom prst="roundRect">
            <a:avLst>
              <a:gd name="adj" fmla="val 23913"/>
            </a:avLst>
          </a:prstGeom>
        </p:spPr>
      </p:pic>
      <p:sp>
        <p:nvSpPr>
          <p:cNvPr id="24" name="Text 13"/>
          <p:cNvSpPr txBox="1"/>
          <p:nvPr/>
        </p:nvSpPr>
        <p:spPr>
          <a:xfrm>
            <a:off x="6007608" y="1081992"/>
            <a:ext cx="2392542" cy="259678"/>
          </a:xfrm>
          <a:prstGeom prst="rect">
            <a:avLst/>
          </a:prstGeom>
          <a:noFill/>
          <a:ln/>
        </p:spPr>
        <p:txBody>
          <a:bodyPr wrap="none" lIns="0" tIns="0" rIns="0" bIns="0" rtlCol="0" anchor="t"/>
          <a:lstStyle/>
          <a:p>
            <a:pPr algn="l" indent="0" marL="0">
              <a:lnSpc>
                <a:spcPts val="1570"/>
              </a:lnSpc>
              <a:buNone/>
            </a:pPr>
            <a:r>
              <a:rPr lang="en-US" sz="1370" b="1" spc="-27" kern="0" dirty="0">
                <a:solidFill>
                  <a:srgbClr val="071A33"/>
                </a:solidFill>
                <a:latin typeface="Arial" pitchFamily="34" charset="0"/>
                <a:ea typeface="Arial" pitchFamily="34" charset="-122"/>
                <a:cs typeface="Arial" pitchFamily="34" charset="-120"/>
              </a:rPr>
              <a:t>Inventory &amp; Quality System</a:t>
            </a:r>
            <a:endParaRPr lang="en-US" sz="1370" dirty="0"/>
          </a:p>
        </p:txBody>
      </p:sp>
      <p:sp>
        <p:nvSpPr>
          <p:cNvPr id="25" name="Text 14"/>
          <p:cNvSpPr txBox="1"/>
          <p:nvPr/>
        </p:nvSpPr>
        <p:spPr>
          <a:xfrm>
            <a:off x="6007608" y="1300020"/>
            <a:ext cx="660611" cy="184252"/>
          </a:xfrm>
          <a:prstGeom prst="rect">
            <a:avLst/>
          </a:prstGeom>
          <a:noFill/>
          <a:ln/>
        </p:spPr>
        <p:txBody>
          <a:bodyPr wrap="none" lIns="0" tIns="0" rIns="0" bIns="0" rtlCol="0" anchor="t"/>
          <a:lstStyle/>
          <a:p>
            <a:pPr algn="l" indent="0" marL="0">
              <a:lnSpc>
                <a:spcPts val="1120"/>
              </a:lnSpc>
              <a:buNone/>
            </a:pPr>
            <a:r>
              <a:rPr lang="en-US" sz="720" dirty="0">
                <a:solidFill>
                  <a:srgbClr val="4D6585"/>
                </a:solidFill>
                <a:latin typeface="Arial" pitchFamily="34" charset="0"/>
                <a:ea typeface="Arial" pitchFamily="34" charset="-122"/>
                <a:cs typeface="Arial" pitchFamily="34" charset="-120"/>
              </a:rPr>
              <a:t>04 · App 2 of 2</a:t>
            </a:r>
            <a:endParaRPr lang="en-US" sz="720" dirty="0"/>
          </a:p>
        </p:txBody>
      </p:sp>
      <p:sp>
        <p:nvSpPr>
          <p:cNvPr id="26" name="Text 15"/>
          <p:cNvSpPr txBox="1"/>
          <p:nvPr/>
        </p:nvSpPr>
        <p:spPr>
          <a:xfrm>
            <a:off x="5486400" y="1618488"/>
            <a:ext cx="2671074" cy="1087730"/>
          </a:xfrm>
          <a:prstGeom prst="rect">
            <a:avLst/>
          </a:prstGeom>
          <a:noFill/>
          <a:ln/>
        </p:spPr>
        <p:txBody>
          <a:bodyPr wrap="square" lIns="0" tIns="0" rIns="0" bIns="0" rtlCol="0" anchor="t"/>
          <a:lstStyle/>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Every tool, part</a:t>
            </a:r>
            <a:endParaRPr lang="en-US" sz="2520" dirty="0"/>
          </a:p>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and consumable,</a:t>
            </a:r>
            <a:endParaRPr lang="en-US" sz="2520" dirty="0"/>
          </a:p>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accounted for.</a:t>
            </a:r>
            <a:endParaRPr lang="en-US" sz="2520" dirty="0"/>
          </a:p>
        </p:txBody>
      </p:sp>
      <p:sp>
        <p:nvSpPr>
          <p:cNvPr id="27" name="Shape 16"/>
          <p:cNvSpPr/>
          <p:nvPr/>
        </p:nvSpPr>
        <p:spPr>
          <a:xfrm>
            <a:off x="5486400" y="2790206"/>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28" name="Image 9" descr="Icon: inventory 2">    </p:cNvPr>
          <p:cNvPicPr>
            <a:picLocks noChangeAspect="1"/>
          </p:cNvPicPr>
          <p:nvPr/>
        </p:nvPicPr>
        <p:blipFill>
          <a:blip r:embed="rId11"/>
          <a:stretch>
            <a:fillRect/>
          </a:stretch>
        </p:blipFill>
        <p:spPr>
          <a:xfrm>
            <a:off x="5486400" y="2790206"/>
            <a:ext cx="310896" cy="310896"/>
          </a:xfrm>
          <a:prstGeom prst="rect">
            <a:avLst/>
          </a:prstGeom>
        </p:spPr>
      </p:pic>
      <p:sp>
        <p:nvSpPr>
          <p:cNvPr id="29" name="Text 17"/>
          <p:cNvSpPr txBox="1"/>
          <p:nvPr/>
        </p:nvSpPr>
        <p:spPr>
          <a:xfrm>
            <a:off x="5907024" y="2791349"/>
            <a:ext cx="904056"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Consumables</a:t>
            </a:r>
            <a:endParaRPr lang="en-US" sz="990" dirty="0"/>
          </a:p>
        </p:txBody>
      </p:sp>
      <p:sp>
        <p:nvSpPr>
          <p:cNvPr id="30" name="Text 18"/>
          <p:cNvSpPr txBox="1"/>
          <p:nvPr/>
        </p:nvSpPr>
        <p:spPr>
          <a:xfrm>
            <a:off x="5907024" y="2955227"/>
            <a:ext cx="2264454"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Stock per warehouse against its safety level</a:t>
            </a:r>
            <a:endParaRPr lang="en-US" sz="810" dirty="0"/>
          </a:p>
        </p:txBody>
      </p:sp>
      <p:sp>
        <p:nvSpPr>
          <p:cNvPr id="31" name="Shape 19"/>
          <p:cNvSpPr/>
          <p:nvPr/>
        </p:nvSpPr>
        <p:spPr>
          <a:xfrm>
            <a:off x="5486400" y="3215402"/>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32" name="Image 10" descr="Icon: straighten">    </p:cNvPr>
          <p:cNvPicPr>
            <a:picLocks noChangeAspect="1"/>
          </p:cNvPicPr>
          <p:nvPr/>
        </p:nvPicPr>
        <p:blipFill>
          <a:blip r:embed="rId12"/>
          <a:stretch>
            <a:fillRect/>
          </a:stretch>
        </p:blipFill>
        <p:spPr>
          <a:xfrm>
            <a:off x="5486400" y="3215402"/>
            <a:ext cx="310896" cy="310896"/>
          </a:xfrm>
          <a:prstGeom prst="rect">
            <a:avLst/>
          </a:prstGeom>
        </p:spPr>
      </p:pic>
      <p:sp>
        <p:nvSpPr>
          <p:cNvPr id="33" name="Text 20"/>
          <p:cNvSpPr txBox="1"/>
          <p:nvPr/>
        </p:nvSpPr>
        <p:spPr>
          <a:xfrm>
            <a:off x="5907024" y="3216545"/>
            <a:ext cx="122042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Tools &amp; Calibration</a:t>
            </a:r>
            <a:endParaRPr lang="en-US" sz="990" dirty="0"/>
          </a:p>
        </p:txBody>
      </p:sp>
      <p:sp>
        <p:nvSpPr>
          <p:cNvPr id="34" name="Text 21"/>
          <p:cNvSpPr txBox="1"/>
          <p:nvPr/>
        </p:nvSpPr>
        <p:spPr>
          <a:xfrm>
            <a:off x="5907024" y="3380423"/>
            <a:ext cx="2085289"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Borrow, return and calibration due dates</a:t>
            </a:r>
            <a:endParaRPr lang="en-US" sz="810" dirty="0"/>
          </a:p>
        </p:txBody>
      </p:sp>
      <p:sp>
        <p:nvSpPr>
          <p:cNvPr id="35" name="Shape 22"/>
          <p:cNvSpPr/>
          <p:nvPr/>
        </p:nvSpPr>
        <p:spPr>
          <a:xfrm>
            <a:off x="5486400" y="3640598"/>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36" name="Image 11" descr="Icon: fact check">    </p:cNvPr>
          <p:cNvPicPr>
            <a:picLocks noChangeAspect="1"/>
          </p:cNvPicPr>
          <p:nvPr/>
        </p:nvPicPr>
        <p:blipFill>
          <a:blip r:embed="rId13"/>
          <a:stretch>
            <a:fillRect/>
          </a:stretch>
        </p:blipFill>
        <p:spPr>
          <a:xfrm>
            <a:off x="5486400" y="3640598"/>
            <a:ext cx="310896" cy="310896"/>
          </a:xfrm>
          <a:prstGeom prst="rect">
            <a:avLst/>
          </a:prstGeom>
        </p:spPr>
      </p:pic>
      <p:sp>
        <p:nvSpPr>
          <p:cNvPr id="37" name="Text 23"/>
          <p:cNvSpPr txBox="1"/>
          <p:nvPr/>
        </p:nvSpPr>
        <p:spPr>
          <a:xfrm>
            <a:off x="5907024" y="3641741"/>
            <a:ext cx="1025700"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Customer Parts</a:t>
            </a:r>
            <a:endParaRPr lang="en-US" sz="990" dirty="0"/>
          </a:p>
        </p:txBody>
      </p:sp>
      <p:sp>
        <p:nvSpPr>
          <p:cNvPr id="38" name="Text 24"/>
          <p:cNvSpPr txBox="1"/>
          <p:nvPr/>
        </p:nvSpPr>
        <p:spPr>
          <a:xfrm>
            <a:off x="5907024" y="3805619"/>
            <a:ext cx="168295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OK, NG, Sorting and Hold per lot</a:t>
            </a:r>
            <a:endParaRPr lang="en-US" sz="810" dirty="0"/>
          </a:p>
        </p:txBody>
      </p:sp>
      <p:sp>
        <p:nvSpPr>
          <p:cNvPr id="39" name="Shape 25"/>
          <p:cNvSpPr/>
          <p:nvPr/>
        </p:nvSpPr>
        <p:spPr>
          <a:xfrm>
            <a:off x="5486400" y="4065794"/>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40" name="Image 12" descr="Icon: task alt">    </p:cNvPr>
          <p:cNvPicPr>
            <a:picLocks noChangeAspect="1"/>
          </p:cNvPicPr>
          <p:nvPr/>
        </p:nvPicPr>
        <p:blipFill>
          <a:blip r:embed="rId14"/>
          <a:stretch>
            <a:fillRect/>
          </a:stretch>
        </p:blipFill>
        <p:spPr>
          <a:xfrm>
            <a:off x="5486400" y="4065794"/>
            <a:ext cx="310896" cy="310896"/>
          </a:xfrm>
          <a:prstGeom prst="rect">
            <a:avLst/>
          </a:prstGeom>
        </p:spPr>
      </p:pic>
      <p:sp>
        <p:nvSpPr>
          <p:cNvPr id="41" name="Text 26"/>
          <p:cNvSpPr txBox="1"/>
          <p:nvPr/>
        </p:nvSpPr>
        <p:spPr>
          <a:xfrm>
            <a:off x="5907024" y="4066937"/>
            <a:ext cx="136422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To-Do and Audit Trail</a:t>
            </a:r>
            <a:endParaRPr lang="en-US" sz="990" dirty="0"/>
          </a:p>
        </p:txBody>
      </p:sp>
      <p:sp>
        <p:nvSpPr>
          <p:cNvPr id="42" name="Text 27"/>
          <p:cNvSpPr txBox="1"/>
          <p:nvPr/>
        </p:nvSpPr>
        <p:spPr>
          <a:xfrm>
            <a:off x="5907024" y="4230815"/>
            <a:ext cx="2504756"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Approvals in one queue, every change on record</a:t>
            </a:r>
            <a:endParaRPr lang="en-US" sz="810" dirty="0"/>
          </a:p>
        </p:txBody>
      </p:sp>
    </p:spTree>
  </p:cSld>
  <p:clrMapOvr>
    <a:masterClrMapping/>
  </p:clrMapOvr>
  <p:transition spd="med">
    <p:push dir="r"/>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43000"/>
            <a:ext cx="960977" cy="201168"/>
          </a:xfrm>
          <a:prstGeom prst="roundRect">
            <a:avLst>
              <a:gd name="adj" fmla="val 50000"/>
            </a:avLst>
          </a:prstGeom>
          <a:solidFill>
            <a:srgbClr val="E1EEFF"/>
          </a:solidFill>
          <a:ln/>
        </p:spPr>
      </p:sp>
      <p:sp>
        <p:nvSpPr>
          <p:cNvPr id="4" name="Text 1"/>
          <p:cNvSpPr txBox="1"/>
          <p:nvPr/>
        </p:nvSpPr>
        <p:spPr>
          <a:xfrm>
            <a:off x="557784" y="1188720"/>
            <a:ext cx="854078"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Consumables</a:t>
            </a:r>
            <a:endParaRPr lang="en-US" sz="720" dirty="0"/>
          </a:p>
        </p:txBody>
      </p:sp>
      <p:sp>
        <p:nvSpPr>
          <p:cNvPr id="5" name="Text 2"/>
          <p:cNvSpPr txBox="1"/>
          <p:nvPr/>
        </p:nvSpPr>
        <p:spPr>
          <a:xfrm>
            <a:off x="457200" y="1490472"/>
            <a:ext cx="2639150" cy="1056615"/>
          </a:xfrm>
          <a:prstGeom prst="rect">
            <a:avLst/>
          </a:prstGeom>
          <a:noFill/>
          <a:ln/>
        </p:spPr>
        <p:txBody>
          <a:bodyPr wrap="square" lIns="0" tIns="0" rIns="0" bIns="0" rtlCol="0" anchor="t"/>
          <a:lstStyle/>
          <a:p>
            <a:pPr algn="l" indent="0" marL="0">
              <a:lnSpc>
                <a:spcPts val="2520"/>
              </a:lnSpc>
              <a:buNone/>
            </a:pPr>
            <a:r>
              <a:rPr lang="en-US" sz="2450" b="1" spc="-122" kern="0" dirty="0">
                <a:solidFill>
                  <a:srgbClr val="071A33"/>
                </a:solidFill>
                <a:latin typeface="Arial" pitchFamily="34" charset="0"/>
                <a:ea typeface="Arial" pitchFamily="34" charset="-122"/>
                <a:cs typeface="Arial" pitchFamily="34" charset="-120"/>
              </a:rPr>
              <a:t>Stay above</a:t>
            </a:r>
            <a:endParaRPr lang="en-US" sz="2450" dirty="0"/>
          </a:p>
          <a:p>
            <a:pPr algn="l" indent="0" marL="0">
              <a:lnSpc>
                <a:spcPts val="2520"/>
              </a:lnSpc>
              <a:buNone/>
            </a:pPr>
            <a:r>
              <a:rPr lang="en-US" sz="2450" b="1" spc="-122" kern="0" dirty="0">
                <a:solidFill>
                  <a:srgbClr val="071A33"/>
                </a:solidFill>
                <a:latin typeface="Arial" pitchFamily="34" charset="0"/>
                <a:ea typeface="Arial" pitchFamily="34" charset="-122"/>
                <a:cs typeface="Arial" pitchFamily="34" charset="-120"/>
              </a:rPr>
              <a:t>safety stock in</a:t>
            </a:r>
            <a:endParaRPr lang="en-US" sz="2450" dirty="0"/>
          </a:p>
          <a:p>
            <a:pPr algn="l" indent="0" marL="0">
              <a:lnSpc>
                <a:spcPts val="2520"/>
              </a:lnSpc>
              <a:buNone/>
            </a:pPr>
            <a:r>
              <a:rPr lang="en-US" sz="2450" b="1" spc="-122" kern="0" dirty="0">
                <a:solidFill>
                  <a:srgbClr val="071A33"/>
                </a:solidFill>
                <a:latin typeface="Arial" pitchFamily="34" charset="0"/>
                <a:ea typeface="Arial" pitchFamily="34" charset="-122"/>
                <a:cs typeface="Arial" pitchFamily="34" charset="-120"/>
              </a:rPr>
              <a:t>every warehouse.</a:t>
            </a:r>
            <a:endParaRPr lang="en-US" sz="2450" dirty="0"/>
          </a:p>
        </p:txBody>
      </p:sp>
      <p:sp>
        <p:nvSpPr>
          <p:cNvPr id="6" name="Shape 3"/>
          <p:cNvSpPr/>
          <p:nvPr/>
        </p:nvSpPr>
        <p:spPr>
          <a:xfrm>
            <a:off x="457200" y="2633901"/>
            <a:ext cx="310896" cy="310896"/>
          </a:xfrm>
          <a:prstGeom prst="roundRect">
            <a:avLst>
              <a:gd name="adj" fmla="val 29412"/>
            </a:avLst>
          </a:prstGeom>
          <a:solidFill>
            <a:srgbClr val="52AEFF"/>
          </a:solidFill>
          <a:ln w="22860">
            <a:solidFill>
              <a:srgbClr val="FFFFFF"/>
            </a:solidFill>
            <a:prstDash val="solid"/>
          </a:ln>
          <a:effectLst>
            <a:outerShdw sx="100000" sy="100000" kx="0" ky="0" algn="bl" rotWithShape="0" blurRad="109728" dist="36576" dir="5400000">
              <a:srgbClr val="1E5AC8">
                <a:alpha val="30000"/>
              </a:srgbClr>
            </a:outerShdw>
          </a:effectLst>
        </p:spPr>
      </p:sp>
      <p:sp>
        <p:nvSpPr>
          <p:cNvPr id="7" name="Text 4"/>
          <p:cNvSpPr txBox="1"/>
          <p:nvPr/>
        </p:nvSpPr>
        <p:spPr>
          <a:xfrm>
            <a:off x="588645" y="2633901"/>
            <a:ext cx="70937" cy="310896"/>
          </a:xfrm>
          <a:prstGeom prst="rect">
            <a:avLst/>
          </a:prstGeom>
          <a:noFill/>
          <a:ln/>
        </p:spPr>
        <p:txBody>
          <a:bodyPr wrap="none" lIns="0" tIns="0" rIns="0" bIns="0" rtlCol="0" anchor="ctr"/>
          <a:lstStyle/>
          <a:p>
            <a:pPr algn="l" indent="0" marL="0">
              <a:lnSpc>
                <a:spcPts val="970"/>
              </a:lnSpc>
              <a:buNone/>
            </a:pPr>
            <a:r>
              <a:rPr lang="en-US" sz="970" b="1" dirty="0">
                <a:solidFill>
                  <a:srgbClr val="071A33"/>
                </a:solidFill>
                <a:latin typeface="Arial" pitchFamily="34" charset="0"/>
                <a:ea typeface="Arial" pitchFamily="34" charset="-122"/>
                <a:cs typeface="Arial" pitchFamily="34" charset="-120"/>
              </a:rPr>
              <a:t>1</a:t>
            </a:r>
            <a:endParaRPr lang="en-US" sz="970" dirty="0"/>
          </a:p>
        </p:txBody>
      </p:sp>
      <p:sp>
        <p:nvSpPr>
          <p:cNvPr id="8" name="Text 5"/>
          <p:cNvSpPr txBox="1"/>
          <p:nvPr/>
        </p:nvSpPr>
        <p:spPr>
          <a:xfrm>
            <a:off x="877824" y="2635044"/>
            <a:ext cx="17802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Safety stock per warehouse</a:t>
            </a:r>
            <a:endParaRPr lang="en-US" sz="990" dirty="0"/>
          </a:p>
        </p:txBody>
      </p:sp>
      <p:sp>
        <p:nvSpPr>
          <p:cNvPr id="9" name="Text 6"/>
          <p:cNvSpPr txBox="1"/>
          <p:nvPr/>
        </p:nvSpPr>
        <p:spPr>
          <a:xfrm>
            <a:off x="877824" y="2798921"/>
            <a:ext cx="2381855"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On hand against the safety level, with a gauge</a:t>
            </a:r>
            <a:endParaRPr lang="en-US" sz="810" dirty="0"/>
          </a:p>
        </p:txBody>
      </p:sp>
      <p:sp>
        <p:nvSpPr>
          <p:cNvPr id="10" name="Shape 7"/>
          <p:cNvSpPr/>
          <p:nvPr/>
        </p:nvSpPr>
        <p:spPr>
          <a:xfrm>
            <a:off x="457200" y="3059097"/>
            <a:ext cx="310896" cy="310896"/>
          </a:xfrm>
          <a:prstGeom prst="roundRect">
            <a:avLst>
              <a:gd name="adj" fmla="val 29412"/>
            </a:avLst>
          </a:prstGeom>
          <a:solidFill>
            <a:srgbClr val="52AEFF"/>
          </a:solidFill>
          <a:ln w="22860">
            <a:solidFill>
              <a:srgbClr val="FFFFFF"/>
            </a:solidFill>
            <a:prstDash val="solid"/>
          </a:ln>
          <a:effectLst>
            <a:outerShdw sx="100000" sy="100000" kx="0" ky="0" algn="bl" rotWithShape="0" blurRad="109728" dist="36576" dir="5400000">
              <a:srgbClr val="1E5AC8">
                <a:alpha val="30000"/>
              </a:srgbClr>
            </a:outerShdw>
          </a:effectLst>
        </p:spPr>
      </p:sp>
      <p:sp>
        <p:nvSpPr>
          <p:cNvPr id="11" name="Text 8"/>
          <p:cNvSpPr txBox="1"/>
          <p:nvPr/>
        </p:nvSpPr>
        <p:spPr>
          <a:xfrm>
            <a:off x="578215" y="3059097"/>
            <a:ext cx="94040" cy="310896"/>
          </a:xfrm>
          <a:prstGeom prst="rect">
            <a:avLst/>
          </a:prstGeom>
          <a:noFill/>
          <a:ln/>
        </p:spPr>
        <p:txBody>
          <a:bodyPr wrap="none" lIns="0" tIns="0" rIns="0" bIns="0" rtlCol="0" anchor="ctr"/>
          <a:lstStyle/>
          <a:p>
            <a:pPr algn="l" indent="0" marL="0">
              <a:lnSpc>
                <a:spcPts val="970"/>
              </a:lnSpc>
              <a:buNone/>
            </a:pPr>
            <a:r>
              <a:rPr lang="en-US" sz="970" b="1" dirty="0">
                <a:solidFill>
                  <a:srgbClr val="071A33"/>
                </a:solidFill>
                <a:latin typeface="Arial" pitchFamily="34" charset="0"/>
                <a:ea typeface="Arial" pitchFamily="34" charset="-122"/>
                <a:cs typeface="Arial" pitchFamily="34" charset="-120"/>
              </a:rPr>
              <a:t>2</a:t>
            </a:r>
            <a:endParaRPr lang="en-US" sz="970" dirty="0"/>
          </a:p>
        </p:txBody>
      </p:sp>
      <p:sp>
        <p:nvSpPr>
          <p:cNvPr id="12" name="Text 9"/>
          <p:cNvSpPr txBox="1"/>
          <p:nvPr/>
        </p:nvSpPr>
        <p:spPr>
          <a:xfrm>
            <a:off x="877824" y="3060240"/>
            <a:ext cx="115975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Clear stock status</a:t>
            </a:r>
            <a:endParaRPr lang="en-US" sz="990" dirty="0"/>
          </a:p>
        </p:txBody>
      </p:sp>
      <p:sp>
        <p:nvSpPr>
          <p:cNvPr id="13" name="Text 10"/>
          <p:cNvSpPr txBox="1"/>
          <p:nvPr/>
        </p:nvSpPr>
        <p:spPr>
          <a:xfrm>
            <a:off x="877824" y="3224117"/>
            <a:ext cx="248055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Out of stock, Low or In stock, warehouse named</a:t>
            </a:r>
            <a:endParaRPr lang="en-US" sz="810" dirty="0"/>
          </a:p>
        </p:txBody>
      </p:sp>
      <p:sp>
        <p:nvSpPr>
          <p:cNvPr id="14" name="Shape 11"/>
          <p:cNvSpPr/>
          <p:nvPr/>
        </p:nvSpPr>
        <p:spPr>
          <a:xfrm>
            <a:off x="457200" y="3484293"/>
            <a:ext cx="310896" cy="310896"/>
          </a:xfrm>
          <a:prstGeom prst="roundRect">
            <a:avLst>
              <a:gd name="adj" fmla="val 29412"/>
            </a:avLst>
          </a:prstGeom>
          <a:solidFill>
            <a:srgbClr val="52AEFF"/>
          </a:solidFill>
          <a:ln w="22860">
            <a:solidFill>
              <a:srgbClr val="FFFFFF"/>
            </a:solidFill>
            <a:prstDash val="solid"/>
          </a:ln>
          <a:effectLst>
            <a:outerShdw sx="100000" sy="100000" kx="0" ky="0" algn="bl" rotWithShape="0" blurRad="109728" dist="36576" dir="5400000">
              <a:srgbClr val="1E5AC8">
                <a:alpha val="30000"/>
              </a:srgbClr>
            </a:outerShdw>
          </a:effectLst>
        </p:spPr>
      </p:sp>
      <p:sp>
        <p:nvSpPr>
          <p:cNvPr id="15" name="Text 12"/>
          <p:cNvSpPr txBox="1"/>
          <p:nvPr/>
        </p:nvSpPr>
        <p:spPr>
          <a:xfrm>
            <a:off x="576786" y="3484293"/>
            <a:ext cx="97026" cy="310896"/>
          </a:xfrm>
          <a:prstGeom prst="rect">
            <a:avLst/>
          </a:prstGeom>
          <a:noFill/>
          <a:ln/>
        </p:spPr>
        <p:txBody>
          <a:bodyPr wrap="none" lIns="0" tIns="0" rIns="0" bIns="0" rtlCol="0" anchor="ctr"/>
          <a:lstStyle/>
          <a:p>
            <a:pPr algn="l" indent="0" marL="0">
              <a:lnSpc>
                <a:spcPts val="970"/>
              </a:lnSpc>
              <a:buNone/>
            </a:pPr>
            <a:r>
              <a:rPr lang="en-US" sz="970" b="1" dirty="0">
                <a:solidFill>
                  <a:srgbClr val="071A33"/>
                </a:solidFill>
                <a:latin typeface="Arial" pitchFamily="34" charset="0"/>
                <a:ea typeface="Arial" pitchFamily="34" charset="-122"/>
                <a:cs typeface="Arial" pitchFamily="34" charset="-120"/>
              </a:rPr>
              <a:t>3</a:t>
            </a:r>
            <a:endParaRPr lang="en-US" sz="970" dirty="0"/>
          </a:p>
        </p:txBody>
      </p:sp>
      <p:sp>
        <p:nvSpPr>
          <p:cNvPr id="16" name="Text 13"/>
          <p:cNvSpPr txBox="1"/>
          <p:nvPr/>
        </p:nvSpPr>
        <p:spPr>
          <a:xfrm>
            <a:off x="877824" y="3485436"/>
            <a:ext cx="186714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Predicted run-out and spikes</a:t>
            </a:r>
            <a:endParaRPr lang="en-US" sz="990" dirty="0"/>
          </a:p>
        </p:txBody>
      </p:sp>
      <p:sp>
        <p:nvSpPr>
          <p:cNvPr id="17" name="Text 14"/>
          <p:cNvSpPr txBox="1"/>
          <p:nvPr/>
        </p:nvSpPr>
        <p:spPr>
          <a:xfrm>
            <a:off x="877824" y="3649313"/>
            <a:ext cx="2277185"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Days left and demand spikes, before it hurts</a:t>
            </a:r>
            <a:endParaRPr lang="en-US" sz="810" dirty="0"/>
          </a:p>
        </p:txBody>
      </p:sp>
      <p:sp>
        <p:nvSpPr>
          <p:cNvPr id="18" name="Shape 15"/>
          <p:cNvSpPr/>
          <p:nvPr/>
        </p:nvSpPr>
        <p:spPr>
          <a:xfrm>
            <a:off x="457200" y="3909489"/>
            <a:ext cx="310896" cy="310896"/>
          </a:xfrm>
          <a:prstGeom prst="roundRect">
            <a:avLst>
              <a:gd name="adj" fmla="val 29412"/>
            </a:avLst>
          </a:prstGeom>
          <a:solidFill>
            <a:srgbClr val="52AEFF"/>
          </a:solidFill>
          <a:ln w="22860">
            <a:solidFill>
              <a:srgbClr val="FFFFFF"/>
            </a:solidFill>
            <a:prstDash val="solid"/>
          </a:ln>
          <a:effectLst>
            <a:outerShdw sx="100000" sy="100000" kx="0" ky="0" algn="bl" rotWithShape="0" blurRad="109728" dist="36576" dir="5400000">
              <a:srgbClr val="1E5AC8">
                <a:alpha val="30000"/>
              </a:srgbClr>
            </a:outerShdw>
          </a:effectLst>
        </p:spPr>
      </p:sp>
      <p:sp>
        <p:nvSpPr>
          <p:cNvPr id="19" name="Text 16"/>
          <p:cNvSpPr txBox="1"/>
          <p:nvPr/>
        </p:nvSpPr>
        <p:spPr>
          <a:xfrm>
            <a:off x="574643" y="3909489"/>
            <a:ext cx="101898" cy="310896"/>
          </a:xfrm>
          <a:prstGeom prst="rect">
            <a:avLst/>
          </a:prstGeom>
          <a:noFill/>
          <a:ln/>
        </p:spPr>
        <p:txBody>
          <a:bodyPr wrap="none" lIns="0" tIns="0" rIns="0" bIns="0" rtlCol="0" anchor="ctr"/>
          <a:lstStyle/>
          <a:p>
            <a:pPr algn="l" indent="0" marL="0">
              <a:lnSpc>
                <a:spcPts val="970"/>
              </a:lnSpc>
              <a:buNone/>
            </a:pPr>
            <a:r>
              <a:rPr lang="en-US" sz="970" b="1" dirty="0">
                <a:solidFill>
                  <a:srgbClr val="071A33"/>
                </a:solidFill>
                <a:latin typeface="Arial" pitchFamily="34" charset="0"/>
                <a:ea typeface="Arial" pitchFamily="34" charset="-122"/>
                <a:cs typeface="Arial" pitchFamily="34" charset="-120"/>
              </a:rPr>
              <a:t>4</a:t>
            </a:r>
            <a:endParaRPr lang="en-US" sz="970" dirty="0"/>
          </a:p>
        </p:txBody>
      </p:sp>
      <p:sp>
        <p:nvSpPr>
          <p:cNvPr id="20" name="Text 17"/>
          <p:cNvSpPr txBox="1"/>
          <p:nvPr/>
        </p:nvSpPr>
        <p:spPr>
          <a:xfrm>
            <a:off x="877824" y="3910632"/>
            <a:ext cx="124321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Cart for every issue</a:t>
            </a:r>
            <a:endParaRPr lang="en-US" sz="990" dirty="0"/>
          </a:p>
        </p:txBody>
      </p:sp>
      <p:sp>
        <p:nvSpPr>
          <p:cNvPr id="21" name="Text 18"/>
          <p:cNvSpPr txBox="1"/>
          <p:nvPr/>
        </p:nvSpPr>
        <p:spPr>
          <a:xfrm>
            <a:off x="877824" y="4074509"/>
            <a:ext cx="2368025"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Add items; nothing is sent until you check out</a:t>
            </a:r>
            <a:endParaRPr lang="en-US" sz="810" dirty="0"/>
          </a:p>
        </p:txBody>
      </p:sp>
      <p:sp>
        <p:nvSpPr>
          <p:cNvPr id="22" name="Shape 19"/>
          <p:cNvSpPr/>
          <p:nvPr/>
        </p:nvSpPr>
        <p:spPr>
          <a:xfrm>
            <a:off x="457200" y="4526280"/>
            <a:ext cx="1052132" cy="251460"/>
          </a:xfrm>
          <a:prstGeom prst="roundRect">
            <a:avLst>
              <a:gd name="adj" fmla="val 50000"/>
            </a:avLst>
          </a:prstGeom>
          <a:solidFill>
            <a:srgbClr val="FFFFFF"/>
          </a:solidFill>
          <a:ln w="9144">
            <a:solidFill>
              <a:srgbClr val="1E5AC8">
                <a:alpha val="16000"/>
              </a:srgbClr>
            </a:solidFill>
            <a:prstDash val="solid"/>
          </a:ln>
        </p:spPr>
      </p:sp>
      <p:sp>
        <p:nvSpPr>
          <p:cNvPr id="23" name="Text 20"/>
          <p:cNvSpPr txBox="1"/>
          <p:nvPr/>
        </p:nvSpPr>
        <p:spPr>
          <a:xfrm>
            <a:off x="731663" y="4581144"/>
            <a:ext cx="773139" cy="141732"/>
          </a:xfrm>
          <a:prstGeom prst="rect">
            <a:avLst/>
          </a:prstGeom>
          <a:noFill/>
          <a:ln/>
        </p:spPr>
        <p:txBody>
          <a:bodyPr wrap="none" lIns="0" tIns="0" rIns="0" bIns="0" rtlCol="0" anchor="ctr"/>
          <a:lstStyle/>
          <a:p>
            <a:pPr algn="l" indent="0" marL="0">
              <a:lnSpc>
                <a:spcPts val="1120"/>
              </a:lnSpc>
              <a:buNone/>
            </a:pPr>
            <a:r>
              <a:rPr lang="en-US" sz="720" dirty="0">
                <a:solidFill>
                  <a:srgbClr val="071A33"/>
                </a:solidFill>
                <a:latin typeface="Arial" pitchFamily="34" charset="0"/>
                <a:ea typeface="Arial" pitchFamily="34" charset="-122"/>
                <a:cs typeface="Arial" pitchFamily="34" charset="-120"/>
              </a:rPr>
              <a:t>Receive delivery</a:t>
            </a:r>
            <a:endParaRPr lang="en-US" sz="720" dirty="0"/>
          </a:p>
        </p:txBody>
      </p:sp>
      <p:pic>
        <p:nvPicPr>
          <p:cNvPr id="24" name="Image 1" descr="Icon: local shipping">    </p:cNvPr>
          <p:cNvPicPr>
            <a:picLocks noChangeAspect="1"/>
          </p:cNvPicPr>
          <p:nvPr/>
        </p:nvPicPr>
        <p:blipFill>
          <a:blip r:embed="rId3"/>
          <a:stretch>
            <a:fillRect/>
          </a:stretch>
        </p:blipFill>
        <p:spPr>
          <a:xfrm>
            <a:off x="548640" y="4588002"/>
            <a:ext cx="128159" cy="128016"/>
          </a:xfrm>
          <a:prstGeom prst="rect">
            <a:avLst/>
          </a:prstGeom>
        </p:spPr>
      </p:pic>
      <p:sp>
        <p:nvSpPr>
          <p:cNvPr id="25" name="Shape 21"/>
          <p:cNvSpPr/>
          <p:nvPr/>
        </p:nvSpPr>
        <p:spPr>
          <a:xfrm>
            <a:off x="1573340" y="4526280"/>
            <a:ext cx="882396" cy="251460"/>
          </a:xfrm>
          <a:prstGeom prst="roundRect">
            <a:avLst>
              <a:gd name="adj" fmla="val 50000"/>
            </a:avLst>
          </a:prstGeom>
          <a:solidFill>
            <a:srgbClr val="FFFFFF"/>
          </a:solidFill>
          <a:ln w="9144">
            <a:solidFill>
              <a:srgbClr val="1E5AC8">
                <a:alpha val="16000"/>
              </a:srgbClr>
            </a:solidFill>
            <a:prstDash val="solid"/>
          </a:ln>
        </p:spPr>
      </p:sp>
      <p:sp>
        <p:nvSpPr>
          <p:cNvPr id="26" name="Text 22"/>
          <p:cNvSpPr txBox="1"/>
          <p:nvPr/>
        </p:nvSpPr>
        <p:spPr>
          <a:xfrm>
            <a:off x="1847802" y="4581144"/>
            <a:ext cx="586430" cy="141732"/>
          </a:xfrm>
          <a:prstGeom prst="rect">
            <a:avLst/>
          </a:prstGeom>
          <a:noFill/>
          <a:ln/>
        </p:spPr>
        <p:txBody>
          <a:bodyPr wrap="none" lIns="0" tIns="0" rIns="0" bIns="0" rtlCol="0" anchor="ctr"/>
          <a:lstStyle/>
          <a:p>
            <a:pPr algn="l" indent="0" marL="0">
              <a:lnSpc>
                <a:spcPts val="1120"/>
              </a:lnSpc>
              <a:buNone/>
            </a:pPr>
            <a:r>
              <a:rPr lang="en-US" sz="720" dirty="0">
                <a:solidFill>
                  <a:srgbClr val="071A33"/>
                </a:solidFill>
                <a:latin typeface="Arial" pitchFamily="34" charset="0"/>
                <a:ea typeface="Arial" pitchFamily="34" charset="-122"/>
                <a:cs typeface="Arial" pitchFamily="34" charset="-120"/>
              </a:rPr>
              <a:t>Count stock</a:t>
            </a:r>
            <a:endParaRPr lang="en-US" sz="720" dirty="0"/>
          </a:p>
        </p:txBody>
      </p:sp>
      <p:pic>
        <p:nvPicPr>
          <p:cNvPr id="27" name="Image 2" descr="Icon: fact check">    </p:cNvPr>
          <p:cNvPicPr>
            <a:picLocks noChangeAspect="1"/>
          </p:cNvPicPr>
          <p:nvPr/>
        </p:nvPicPr>
        <p:blipFill>
          <a:blip r:embed="rId4"/>
          <a:stretch>
            <a:fillRect/>
          </a:stretch>
        </p:blipFill>
        <p:spPr>
          <a:xfrm>
            <a:off x="1664780" y="4588002"/>
            <a:ext cx="128159" cy="128016"/>
          </a:xfrm>
          <a:prstGeom prst="rect">
            <a:avLst/>
          </a:prstGeom>
        </p:spPr>
      </p:pic>
      <p:sp>
        <p:nvSpPr>
          <p:cNvPr id="28" name="Shape 23"/>
          <p:cNvSpPr/>
          <p:nvPr/>
        </p:nvSpPr>
        <p:spPr>
          <a:xfrm>
            <a:off x="2519744" y="4526280"/>
            <a:ext cx="871538" cy="251460"/>
          </a:xfrm>
          <a:prstGeom prst="roundRect">
            <a:avLst>
              <a:gd name="adj" fmla="val 50000"/>
            </a:avLst>
          </a:prstGeom>
          <a:solidFill>
            <a:srgbClr val="FFFFFF"/>
          </a:solidFill>
          <a:ln w="9144">
            <a:solidFill>
              <a:srgbClr val="1E5AC8">
                <a:alpha val="16000"/>
              </a:srgbClr>
            </a:solidFill>
            <a:prstDash val="solid"/>
          </a:ln>
        </p:spPr>
      </p:sp>
      <p:sp>
        <p:nvSpPr>
          <p:cNvPr id="29" name="Text 24"/>
          <p:cNvSpPr txBox="1"/>
          <p:nvPr/>
        </p:nvSpPr>
        <p:spPr>
          <a:xfrm>
            <a:off x="2794206" y="4581144"/>
            <a:ext cx="574486" cy="141732"/>
          </a:xfrm>
          <a:prstGeom prst="rect">
            <a:avLst/>
          </a:prstGeom>
          <a:noFill/>
          <a:ln/>
        </p:spPr>
        <p:txBody>
          <a:bodyPr wrap="none" lIns="0" tIns="0" rIns="0" bIns="0" rtlCol="0" anchor="ctr"/>
          <a:lstStyle/>
          <a:p>
            <a:pPr algn="l" indent="0" marL="0">
              <a:lnSpc>
                <a:spcPts val="1120"/>
              </a:lnSpc>
              <a:buNone/>
            </a:pPr>
            <a:r>
              <a:rPr lang="en-US" sz="720" dirty="0">
                <a:solidFill>
                  <a:srgbClr val="071A33"/>
                </a:solidFill>
                <a:latin typeface="Arial" pitchFamily="34" charset="0"/>
                <a:ea typeface="Arial" pitchFamily="34" charset="-122"/>
                <a:cs typeface="Arial" pitchFamily="34" charset="-120"/>
              </a:rPr>
              <a:t>Stock filters</a:t>
            </a:r>
            <a:endParaRPr lang="en-US" sz="720" dirty="0"/>
          </a:p>
        </p:txBody>
      </p:sp>
      <p:pic>
        <p:nvPicPr>
          <p:cNvPr id="30" name="Image 3" descr="Icon: filter alt">    </p:cNvPr>
          <p:cNvPicPr>
            <a:picLocks noChangeAspect="1"/>
          </p:cNvPicPr>
          <p:nvPr/>
        </p:nvPicPr>
        <p:blipFill>
          <a:blip r:embed="rId5"/>
          <a:stretch>
            <a:fillRect/>
          </a:stretch>
        </p:blipFill>
        <p:spPr>
          <a:xfrm>
            <a:off x="2611184" y="4588002"/>
            <a:ext cx="128159" cy="128016"/>
          </a:xfrm>
          <a:prstGeom prst="rect">
            <a:avLst/>
          </a:prstGeom>
        </p:spPr>
      </p:pic>
      <p:sp>
        <p:nvSpPr>
          <p:cNvPr id="31" name="Shape 25"/>
          <p:cNvSpPr/>
          <p:nvPr/>
        </p:nvSpPr>
        <p:spPr>
          <a:xfrm>
            <a:off x="4114800" y="1143000"/>
            <a:ext cx="4572000" cy="2459736"/>
          </a:xfrm>
          <a:prstGeom prst="roundRect">
            <a:avLst>
              <a:gd name="adj" fmla="val 4461"/>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32" name="Shape 26"/>
          <p:cNvSpPr/>
          <p:nvPr/>
        </p:nvSpPr>
        <p:spPr>
          <a:xfrm>
            <a:off x="4114800" y="1143000"/>
            <a:ext cx="4572000" cy="173736"/>
          </a:xfrm>
          <a:prstGeom prst="rect">
            <a:avLst/>
          </a:prstGeom>
          <a:solidFill>
            <a:srgbClr val="F4F7FA"/>
          </a:solidFill>
          <a:ln/>
        </p:spPr>
      </p:sp>
      <p:sp>
        <p:nvSpPr>
          <p:cNvPr id="33" name="Shape 27"/>
          <p:cNvSpPr/>
          <p:nvPr/>
        </p:nvSpPr>
        <p:spPr>
          <a:xfrm>
            <a:off x="4114800" y="1312164"/>
            <a:ext cx="4572000" cy="0"/>
          </a:xfrm>
          <a:prstGeom prst="line">
            <a:avLst/>
          </a:prstGeom>
          <a:noFill/>
          <a:ln w="9144">
            <a:solidFill>
              <a:srgbClr val="071A33">
                <a:alpha val="10000"/>
              </a:srgbClr>
            </a:solidFill>
            <a:prstDash val="solid"/>
          </a:ln>
        </p:spPr>
      </p:sp>
      <p:sp>
        <p:nvSpPr>
          <p:cNvPr id="34" name="Shape 28"/>
          <p:cNvSpPr/>
          <p:nvPr/>
        </p:nvSpPr>
        <p:spPr>
          <a:xfrm>
            <a:off x="4215384" y="1197007"/>
            <a:ext cx="56579" cy="56579"/>
          </a:xfrm>
          <a:prstGeom prst="ellipse">
            <a:avLst/>
          </a:prstGeom>
          <a:solidFill>
            <a:srgbClr val="D3DCE4"/>
          </a:solidFill>
          <a:ln/>
        </p:spPr>
      </p:sp>
      <p:sp>
        <p:nvSpPr>
          <p:cNvPr id="35" name="Shape 29"/>
          <p:cNvSpPr/>
          <p:nvPr/>
        </p:nvSpPr>
        <p:spPr>
          <a:xfrm>
            <a:off x="4317683" y="1197007"/>
            <a:ext cx="56579" cy="56579"/>
          </a:xfrm>
          <a:prstGeom prst="ellipse">
            <a:avLst/>
          </a:prstGeom>
          <a:solidFill>
            <a:srgbClr val="D3DCE4"/>
          </a:solidFill>
          <a:ln/>
        </p:spPr>
      </p:sp>
      <p:sp>
        <p:nvSpPr>
          <p:cNvPr id="36" name="Shape 30"/>
          <p:cNvSpPr/>
          <p:nvPr/>
        </p:nvSpPr>
        <p:spPr>
          <a:xfrm>
            <a:off x="4419981" y="1197007"/>
            <a:ext cx="56579" cy="56579"/>
          </a:xfrm>
          <a:prstGeom prst="ellipse">
            <a:avLst/>
          </a:prstGeom>
          <a:solidFill>
            <a:srgbClr val="D3DCE4"/>
          </a:solidFill>
          <a:ln/>
        </p:spPr>
      </p:sp>
      <p:pic>
        <p:nvPicPr>
          <p:cNvPr id="37" name="Image 4" descr="Consumables table with on hand against safety stock per warehouse, status, predicted run-out and a cart button on every row">    </p:cNvPr>
          <p:cNvPicPr>
            <a:picLocks noChangeAspect="1"/>
          </p:cNvPicPr>
          <p:nvPr/>
        </p:nvPicPr>
        <p:blipFill>
          <a:blip r:embed="rId6"/>
          <a:stretch>
            <a:fillRect/>
          </a:stretch>
        </p:blipFill>
        <p:spPr>
          <a:xfrm>
            <a:off x="4114800" y="1316736"/>
            <a:ext cx="4572000" cy="2286000"/>
          </a:xfrm>
          <a:prstGeom prst="rect">
            <a:avLst/>
          </a:prstGeom>
        </p:spPr>
      </p:pic>
      <p:sp>
        <p:nvSpPr>
          <p:cNvPr id="38" name="Shape 31"/>
          <p:cNvSpPr/>
          <p:nvPr/>
        </p:nvSpPr>
        <p:spPr>
          <a:xfrm>
            <a:off x="6277356" y="1901952"/>
            <a:ext cx="182880" cy="182880"/>
          </a:xfrm>
          <a:prstGeom prst="ellipse">
            <a:avLst/>
          </a:prstGeom>
          <a:solidFill>
            <a:srgbClr val="52AEFF"/>
          </a:solidFill>
          <a:ln w="22860">
            <a:solidFill>
              <a:srgbClr val="FFFFFF"/>
            </a:solidFill>
            <a:prstDash val="solid"/>
          </a:ln>
          <a:effectLst>
            <a:outerShdw sx="100000" sy="100000" kx="0" ky="0" algn="bl" rotWithShape="0" blurRad="91440" dist="36576" dir="5400000">
              <a:srgbClr val="071A33">
                <a:alpha val="42000"/>
              </a:srgbClr>
            </a:outerShdw>
          </a:effectLst>
        </p:spPr>
      </p:sp>
      <p:sp>
        <p:nvSpPr>
          <p:cNvPr id="39" name="Text 32"/>
          <p:cNvSpPr txBox="1"/>
          <p:nvPr/>
        </p:nvSpPr>
        <p:spPr>
          <a:xfrm>
            <a:off x="6347651" y="1901952"/>
            <a:ext cx="64808" cy="182880"/>
          </a:xfrm>
          <a:prstGeom prst="rect">
            <a:avLst/>
          </a:prstGeom>
          <a:noFill/>
          <a:ln/>
        </p:spPr>
        <p:txBody>
          <a:bodyPr wrap="none" lIns="0" tIns="0" rIns="0" bIns="0" rtlCol="0" anchor="ctr"/>
          <a:lstStyle/>
          <a:p>
            <a:pPr algn="l" indent="0" marL="0">
              <a:lnSpc>
                <a:spcPts val="860"/>
              </a:lnSpc>
              <a:buNone/>
            </a:pPr>
            <a:r>
              <a:rPr lang="en-US" sz="860" b="1" dirty="0">
                <a:solidFill>
                  <a:srgbClr val="071A33"/>
                </a:solidFill>
                <a:latin typeface="Arial" pitchFamily="34" charset="0"/>
                <a:ea typeface="Arial" pitchFamily="34" charset="-122"/>
                <a:cs typeface="Arial" pitchFamily="34" charset="-120"/>
              </a:rPr>
              <a:t>1</a:t>
            </a:r>
            <a:endParaRPr lang="en-US" sz="860" dirty="0"/>
          </a:p>
        </p:txBody>
      </p:sp>
      <p:sp>
        <p:nvSpPr>
          <p:cNvPr id="40" name="Shape 33"/>
          <p:cNvSpPr/>
          <p:nvPr/>
        </p:nvSpPr>
        <p:spPr>
          <a:xfrm>
            <a:off x="7018020" y="1901952"/>
            <a:ext cx="182880" cy="182880"/>
          </a:xfrm>
          <a:prstGeom prst="ellipse">
            <a:avLst/>
          </a:prstGeom>
          <a:solidFill>
            <a:srgbClr val="52AEFF"/>
          </a:solidFill>
          <a:ln w="22860">
            <a:solidFill>
              <a:srgbClr val="FFFFFF"/>
            </a:solidFill>
            <a:prstDash val="solid"/>
          </a:ln>
          <a:effectLst>
            <a:outerShdw sx="100000" sy="100000" kx="0" ky="0" algn="bl" rotWithShape="0" blurRad="91440" dist="36576" dir="5400000">
              <a:srgbClr val="071A33">
                <a:alpha val="42000"/>
              </a:srgbClr>
            </a:outerShdw>
          </a:effectLst>
        </p:spPr>
      </p:sp>
      <p:sp>
        <p:nvSpPr>
          <p:cNvPr id="41" name="Text 34"/>
          <p:cNvSpPr txBox="1"/>
          <p:nvPr/>
        </p:nvSpPr>
        <p:spPr>
          <a:xfrm>
            <a:off x="7078456" y="1901952"/>
            <a:ext cx="86339" cy="182880"/>
          </a:xfrm>
          <a:prstGeom prst="rect">
            <a:avLst/>
          </a:prstGeom>
          <a:noFill/>
          <a:ln/>
        </p:spPr>
        <p:txBody>
          <a:bodyPr wrap="none" lIns="0" tIns="0" rIns="0" bIns="0" rtlCol="0" anchor="ctr"/>
          <a:lstStyle/>
          <a:p>
            <a:pPr algn="l" indent="0" marL="0">
              <a:lnSpc>
                <a:spcPts val="860"/>
              </a:lnSpc>
              <a:buNone/>
            </a:pPr>
            <a:r>
              <a:rPr lang="en-US" sz="860" b="1" dirty="0">
                <a:solidFill>
                  <a:srgbClr val="071A33"/>
                </a:solidFill>
                <a:latin typeface="Arial" pitchFamily="34" charset="0"/>
                <a:ea typeface="Arial" pitchFamily="34" charset="-122"/>
                <a:cs typeface="Arial" pitchFamily="34" charset="-120"/>
              </a:rPr>
              <a:t>2</a:t>
            </a:r>
            <a:endParaRPr lang="en-US" sz="860" dirty="0"/>
          </a:p>
        </p:txBody>
      </p:sp>
      <p:sp>
        <p:nvSpPr>
          <p:cNvPr id="42" name="Shape 35"/>
          <p:cNvSpPr/>
          <p:nvPr/>
        </p:nvSpPr>
        <p:spPr>
          <a:xfrm>
            <a:off x="7708392" y="1901952"/>
            <a:ext cx="182880" cy="182880"/>
          </a:xfrm>
          <a:prstGeom prst="ellipse">
            <a:avLst/>
          </a:prstGeom>
          <a:solidFill>
            <a:srgbClr val="52AEFF"/>
          </a:solidFill>
          <a:ln w="22860">
            <a:solidFill>
              <a:srgbClr val="FFFFFF"/>
            </a:solidFill>
            <a:prstDash val="solid"/>
          </a:ln>
          <a:effectLst>
            <a:outerShdw sx="100000" sy="100000" kx="0" ky="0" algn="bl" rotWithShape="0" blurRad="91440" dist="36576" dir="5400000">
              <a:srgbClr val="071A33">
                <a:alpha val="42000"/>
              </a:srgbClr>
            </a:outerShdw>
          </a:effectLst>
        </p:spPr>
      </p:sp>
      <p:sp>
        <p:nvSpPr>
          <p:cNvPr id="43" name="Text 36"/>
          <p:cNvSpPr txBox="1"/>
          <p:nvPr/>
        </p:nvSpPr>
        <p:spPr>
          <a:xfrm>
            <a:off x="7767828" y="1901952"/>
            <a:ext cx="88540" cy="182880"/>
          </a:xfrm>
          <a:prstGeom prst="rect">
            <a:avLst/>
          </a:prstGeom>
          <a:noFill/>
          <a:ln/>
        </p:spPr>
        <p:txBody>
          <a:bodyPr wrap="none" lIns="0" tIns="0" rIns="0" bIns="0" rtlCol="0" anchor="ctr"/>
          <a:lstStyle/>
          <a:p>
            <a:pPr algn="l" indent="0" marL="0">
              <a:lnSpc>
                <a:spcPts val="860"/>
              </a:lnSpc>
              <a:buNone/>
            </a:pPr>
            <a:r>
              <a:rPr lang="en-US" sz="860" b="1" dirty="0">
                <a:solidFill>
                  <a:srgbClr val="071A33"/>
                </a:solidFill>
                <a:latin typeface="Arial" pitchFamily="34" charset="0"/>
                <a:ea typeface="Arial" pitchFamily="34" charset="-122"/>
                <a:cs typeface="Arial" pitchFamily="34" charset="-120"/>
              </a:rPr>
              <a:t>3</a:t>
            </a:r>
            <a:endParaRPr lang="en-US" sz="860" dirty="0"/>
          </a:p>
        </p:txBody>
      </p:sp>
      <p:sp>
        <p:nvSpPr>
          <p:cNvPr id="44" name="Shape 37"/>
          <p:cNvSpPr/>
          <p:nvPr/>
        </p:nvSpPr>
        <p:spPr>
          <a:xfrm>
            <a:off x="8179308" y="1901952"/>
            <a:ext cx="182880" cy="182880"/>
          </a:xfrm>
          <a:prstGeom prst="ellipse">
            <a:avLst/>
          </a:prstGeom>
          <a:solidFill>
            <a:srgbClr val="52AEFF"/>
          </a:solidFill>
          <a:ln w="22860">
            <a:solidFill>
              <a:srgbClr val="FFFFFF"/>
            </a:solidFill>
            <a:prstDash val="solid"/>
          </a:ln>
          <a:effectLst>
            <a:outerShdw sx="100000" sy="100000" kx="0" ky="0" algn="bl" rotWithShape="0" blurRad="91440" dist="36576" dir="5400000">
              <a:srgbClr val="071A33">
                <a:alpha val="42000"/>
              </a:srgbClr>
            </a:outerShdw>
          </a:effectLst>
        </p:spPr>
      </p:sp>
      <p:sp>
        <p:nvSpPr>
          <p:cNvPr id="45" name="Text 38"/>
          <p:cNvSpPr txBox="1"/>
          <p:nvPr/>
        </p:nvSpPr>
        <p:spPr>
          <a:xfrm>
            <a:off x="8236601" y="1901952"/>
            <a:ext cx="93412" cy="182880"/>
          </a:xfrm>
          <a:prstGeom prst="rect">
            <a:avLst/>
          </a:prstGeom>
          <a:noFill/>
          <a:ln/>
        </p:spPr>
        <p:txBody>
          <a:bodyPr wrap="none" lIns="0" tIns="0" rIns="0" bIns="0" rtlCol="0" anchor="ctr"/>
          <a:lstStyle/>
          <a:p>
            <a:pPr algn="l" indent="0" marL="0">
              <a:lnSpc>
                <a:spcPts val="860"/>
              </a:lnSpc>
              <a:buNone/>
            </a:pPr>
            <a:r>
              <a:rPr lang="en-US" sz="860" b="1" dirty="0">
                <a:solidFill>
                  <a:srgbClr val="071A33"/>
                </a:solidFill>
                <a:latin typeface="Arial" pitchFamily="34" charset="0"/>
                <a:ea typeface="Arial" pitchFamily="34" charset="-122"/>
                <a:cs typeface="Arial" pitchFamily="34" charset="-120"/>
              </a:rPr>
              <a:t>4</a:t>
            </a:r>
            <a:endParaRPr lang="en-US" sz="860" dirty="0"/>
          </a:p>
        </p:txBody>
      </p:sp>
      <p:sp>
        <p:nvSpPr>
          <p:cNvPr id="46" name="Gradient shape"/>
          <p:cNvSpPr/>
          <p:nvPr/>
        </p:nvSpPr>
        <p:spPr>
          <a:xfrm>
            <a:off x="3547872" y="2560320"/>
            <a:ext cx="1097280" cy="2374583"/>
          </a:xfrm>
          <a:prstGeom prst="roundRect">
            <a:avLst>
              <a:gd name="adj" fmla="val 21667"/>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71A33">
                <a:alpha val="36000"/>
              </a:srgbClr>
            </a:outerShdw>
          </a:effectLst>
        </p:spPr>
      </p:sp>
      <p:pic>
        <p:nvPicPr>
          <p:cNvPr id="47" name="Picture" descr="The cart on a phone, with consumables ready to issue">    </p:cNvPr>
          <p:cNvPicPr>
            <a:picLocks noChangeAspect="1"/>
          </p:cNvPicPr>
          <p:nvPr/>
        </p:nvPicPr>
        <p:blipFill>
          <a:blip r:embed="rId7"/>
          <a:stretch>
            <a:fillRect/>
          </a:stretch>
        </p:blipFill>
        <p:spPr>
          <a:xfrm>
            <a:off x="3589020" y="2601468"/>
            <a:ext cx="1014984" cy="2292287"/>
          </a:xfrm>
          <a:prstGeom prst="roundRect">
            <a:avLst>
              <a:gd name="adj" fmla="val 19819"/>
            </a:avLst>
          </a:prstGeom>
        </p:spPr>
      </p:pic>
    </p:spTree>
  </p:cSld>
  <p:clrMapOvr>
    <a:masterClrMapping/>
  </p:clrMapOvr>
  <p:transition spd="med">
    <p:push dir="r"/>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43000"/>
            <a:ext cx="1192721" cy="201168"/>
          </a:xfrm>
          <a:prstGeom prst="roundRect">
            <a:avLst>
              <a:gd name="adj" fmla="val 50000"/>
            </a:avLst>
          </a:prstGeom>
          <a:solidFill>
            <a:srgbClr val="E1EEFF"/>
          </a:solidFill>
          <a:ln/>
        </p:spPr>
      </p:sp>
      <p:sp>
        <p:nvSpPr>
          <p:cNvPr id="4" name="Text 1"/>
          <p:cNvSpPr txBox="1"/>
          <p:nvPr/>
        </p:nvSpPr>
        <p:spPr>
          <a:xfrm>
            <a:off x="557784" y="1188720"/>
            <a:ext cx="1108996"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Inventory &amp; Quality</a:t>
            </a:r>
            <a:endParaRPr lang="en-US" sz="720" dirty="0"/>
          </a:p>
        </p:txBody>
      </p:sp>
      <p:sp>
        <p:nvSpPr>
          <p:cNvPr id="5" name="Text 2"/>
          <p:cNvSpPr txBox="1"/>
          <p:nvPr/>
        </p:nvSpPr>
        <p:spPr>
          <a:xfrm>
            <a:off x="457200" y="1490472"/>
            <a:ext cx="2096931" cy="779803"/>
          </a:xfrm>
          <a:prstGeom prst="rect">
            <a:avLst/>
          </a:prstGeom>
          <a:noFill/>
          <a:ln/>
        </p:spPr>
        <p:txBody>
          <a:bodyPr wrap="square" lIns="0" tIns="0" rIns="0" bIns="0" rtlCol="0" anchor="t"/>
          <a:lstStyle/>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Borrow a tool</a:t>
            </a:r>
            <a:endParaRPr lang="en-US" sz="2590" dirty="0"/>
          </a:p>
          <a:p>
            <a:pPr algn="l" indent="0" marL="0">
              <a:lnSpc>
                <a:spcPts val="2670"/>
              </a:lnSpc>
              <a:buNone/>
            </a:pPr>
            <a:r>
              <a:rPr lang="en-US" sz="2590" b="1" spc="-130" kern="0" dirty="0">
                <a:solidFill>
                  <a:srgbClr val="071A33"/>
                </a:solidFill>
                <a:latin typeface="Arial" pitchFamily="34" charset="0"/>
                <a:ea typeface="Arial" pitchFamily="34" charset="-122"/>
                <a:cs typeface="Arial" pitchFamily="34" charset="-120"/>
              </a:rPr>
              <a:t>in a minute.</a:t>
            </a:r>
            <a:endParaRPr lang="en-US" sz="2590" dirty="0"/>
          </a:p>
        </p:txBody>
      </p:sp>
      <p:sp>
        <p:nvSpPr>
          <p:cNvPr id="6" name="Shape 3"/>
          <p:cNvSpPr/>
          <p:nvPr/>
        </p:nvSpPr>
        <p:spPr>
          <a:xfrm>
            <a:off x="457200" y="2351437"/>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sp>
        <p:nvSpPr>
          <p:cNvPr id="7" name="Text 4"/>
          <p:cNvSpPr txBox="1"/>
          <p:nvPr/>
        </p:nvSpPr>
        <p:spPr>
          <a:xfrm>
            <a:off x="588645" y="2351437"/>
            <a:ext cx="70937" cy="310896"/>
          </a:xfrm>
          <a:prstGeom prst="rect">
            <a:avLst/>
          </a:prstGeom>
          <a:noFill/>
          <a:ln/>
        </p:spPr>
        <p:txBody>
          <a:bodyPr wrap="none" lIns="0" tIns="0" rIns="0" bIns="0" rtlCol="0" anchor="ctr"/>
          <a:lstStyle/>
          <a:p>
            <a:pPr algn="l" indent="0" marL="0">
              <a:lnSpc>
                <a:spcPts val="970"/>
              </a:lnSpc>
              <a:buNone/>
            </a:pPr>
            <a:r>
              <a:rPr lang="en-US" sz="970" b="1" dirty="0">
                <a:solidFill>
                  <a:srgbClr val="0B4FBF"/>
                </a:solidFill>
                <a:latin typeface="Arial" pitchFamily="34" charset="0"/>
                <a:ea typeface="Arial" pitchFamily="34" charset="-122"/>
                <a:cs typeface="Arial" pitchFamily="34" charset="-120"/>
              </a:rPr>
              <a:t>1</a:t>
            </a:r>
            <a:endParaRPr lang="en-US" sz="970" dirty="0"/>
          </a:p>
        </p:txBody>
      </p:sp>
      <p:sp>
        <p:nvSpPr>
          <p:cNvPr id="8" name="Text 5"/>
          <p:cNvSpPr txBox="1"/>
          <p:nvPr/>
        </p:nvSpPr>
        <p:spPr>
          <a:xfrm>
            <a:off x="877824" y="2352580"/>
            <a:ext cx="415123"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Find it</a:t>
            </a:r>
            <a:endParaRPr lang="en-US" sz="990" dirty="0"/>
          </a:p>
        </p:txBody>
      </p:sp>
      <p:sp>
        <p:nvSpPr>
          <p:cNvPr id="9" name="Text 6"/>
          <p:cNvSpPr txBox="1"/>
          <p:nvPr/>
        </p:nvSpPr>
        <p:spPr>
          <a:xfrm>
            <a:off x="877824" y="2516457"/>
            <a:ext cx="2731070"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Search, or scan the barcode with your phone camera</a:t>
            </a:r>
            <a:endParaRPr lang="en-US" sz="810" dirty="0"/>
          </a:p>
        </p:txBody>
      </p:sp>
      <p:sp>
        <p:nvSpPr>
          <p:cNvPr id="10" name="Shape 7"/>
          <p:cNvSpPr/>
          <p:nvPr/>
        </p:nvSpPr>
        <p:spPr>
          <a:xfrm>
            <a:off x="457200" y="2776633"/>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sp>
        <p:nvSpPr>
          <p:cNvPr id="11" name="Text 8"/>
          <p:cNvSpPr txBox="1"/>
          <p:nvPr/>
        </p:nvSpPr>
        <p:spPr>
          <a:xfrm>
            <a:off x="578215" y="2776633"/>
            <a:ext cx="94040" cy="310896"/>
          </a:xfrm>
          <a:prstGeom prst="rect">
            <a:avLst/>
          </a:prstGeom>
          <a:noFill/>
          <a:ln/>
        </p:spPr>
        <p:txBody>
          <a:bodyPr wrap="none" lIns="0" tIns="0" rIns="0" bIns="0" rtlCol="0" anchor="ctr"/>
          <a:lstStyle/>
          <a:p>
            <a:pPr algn="l" indent="0" marL="0">
              <a:lnSpc>
                <a:spcPts val="970"/>
              </a:lnSpc>
              <a:buNone/>
            </a:pPr>
            <a:r>
              <a:rPr lang="en-US" sz="970" b="1" dirty="0">
                <a:solidFill>
                  <a:srgbClr val="0B4FBF"/>
                </a:solidFill>
                <a:latin typeface="Arial" pitchFamily="34" charset="0"/>
                <a:ea typeface="Arial" pitchFamily="34" charset="-122"/>
                <a:cs typeface="Arial" pitchFamily="34" charset="-120"/>
              </a:rPr>
              <a:t>2</a:t>
            </a:r>
            <a:endParaRPr lang="en-US" sz="970" dirty="0"/>
          </a:p>
        </p:txBody>
      </p:sp>
      <p:sp>
        <p:nvSpPr>
          <p:cNvPr id="12" name="Text 9"/>
          <p:cNvSpPr txBox="1"/>
          <p:nvPr/>
        </p:nvSpPr>
        <p:spPr>
          <a:xfrm>
            <a:off x="877824" y="2777776"/>
            <a:ext cx="54839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Check it</a:t>
            </a:r>
            <a:endParaRPr lang="en-US" sz="990" dirty="0"/>
          </a:p>
        </p:txBody>
      </p:sp>
      <p:sp>
        <p:nvSpPr>
          <p:cNvPr id="13" name="Text 10"/>
          <p:cNvSpPr txBox="1"/>
          <p:nvPr/>
        </p:nvSpPr>
        <p:spPr>
          <a:xfrm>
            <a:off x="877824" y="2941653"/>
            <a:ext cx="286937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Calibration valid-to date and usable range on every tool</a:t>
            </a:r>
            <a:endParaRPr lang="en-US" sz="810" dirty="0"/>
          </a:p>
        </p:txBody>
      </p:sp>
      <p:sp>
        <p:nvSpPr>
          <p:cNvPr id="14" name="Shape 11"/>
          <p:cNvSpPr/>
          <p:nvPr/>
        </p:nvSpPr>
        <p:spPr>
          <a:xfrm>
            <a:off x="457200" y="3201829"/>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sp>
        <p:nvSpPr>
          <p:cNvPr id="15" name="Text 12"/>
          <p:cNvSpPr txBox="1"/>
          <p:nvPr/>
        </p:nvSpPr>
        <p:spPr>
          <a:xfrm>
            <a:off x="576786" y="3201829"/>
            <a:ext cx="97026" cy="310896"/>
          </a:xfrm>
          <a:prstGeom prst="rect">
            <a:avLst/>
          </a:prstGeom>
          <a:noFill/>
          <a:ln/>
        </p:spPr>
        <p:txBody>
          <a:bodyPr wrap="none" lIns="0" tIns="0" rIns="0" bIns="0" rtlCol="0" anchor="ctr"/>
          <a:lstStyle/>
          <a:p>
            <a:pPr algn="l" indent="0" marL="0">
              <a:lnSpc>
                <a:spcPts val="970"/>
              </a:lnSpc>
              <a:buNone/>
            </a:pPr>
            <a:r>
              <a:rPr lang="en-US" sz="970" b="1" dirty="0">
                <a:solidFill>
                  <a:srgbClr val="0B4FBF"/>
                </a:solidFill>
                <a:latin typeface="Arial" pitchFamily="34" charset="0"/>
                <a:ea typeface="Arial" pitchFamily="34" charset="-122"/>
                <a:cs typeface="Arial" pitchFamily="34" charset="-120"/>
              </a:rPr>
              <a:t>3</a:t>
            </a:r>
            <a:endParaRPr lang="en-US" sz="970" dirty="0"/>
          </a:p>
        </p:txBody>
      </p:sp>
      <p:sp>
        <p:nvSpPr>
          <p:cNvPr id="16" name="Text 13"/>
          <p:cNvSpPr txBox="1"/>
          <p:nvPr/>
        </p:nvSpPr>
        <p:spPr>
          <a:xfrm>
            <a:off x="877824" y="3202972"/>
            <a:ext cx="664855"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Request it</a:t>
            </a:r>
            <a:endParaRPr lang="en-US" sz="990" dirty="0"/>
          </a:p>
        </p:txBody>
      </p:sp>
      <p:sp>
        <p:nvSpPr>
          <p:cNvPr id="17" name="Text 14"/>
          <p:cNvSpPr txBox="1"/>
          <p:nvPr/>
        </p:nvSpPr>
        <p:spPr>
          <a:xfrm>
            <a:off x="877824" y="3366849"/>
            <a:ext cx="1939285"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Add to the cart and send one request</a:t>
            </a:r>
            <a:endParaRPr lang="en-US" sz="810" dirty="0"/>
          </a:p>
        </p:txBody>
      </p:sp>
      <p:sp>
        <p:nvSpPr>
          <p:cNvPr id="18" name="Shape 15"/>
          <p:cNvSpPr/>
          <p:nvPr/>
        </p:nvSpPr>
        <p:spPr>
          <a:xfrm>
            <a:off x="457200" y="3627025"/>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sp>
        <p:nvSpPr>
          <p:cNvPr id="19" name="Text 16"/>
          <p:cNvSpPr txBox="1"/>
          <p:nvPr/>
        </p:nvSpPr>
        <p:spPr>
          <a:xfrm>
            <a:off x="574643" y="3627025"/>
            <a:ext cx="101898" cy="310896"/>
          </a:xfrm>
          <a:prstGeom prst="rect">
            <a:avLst/>
          </a:prstGeom>
          <a:noFill/>
          <a:ln/>
        </p:spPr>
        <p:txBody>
          <a:bodyPr wrap="none" lIns="0" tIns="0" rIns="0" bIns="0" rtlCol="0" anchor="ctr"/>
          <a:lstStyle/>
          <a:p>
            <a:pPr algn="l" indent="0" marL="0">
              <a:lnSpc>
                <a:spcPts val="970"/>
              </a:lnSpc>
              <a:buNone/>
            </a:pPr>
            <a:r>
              <a:rPr lang="en-US" sz="970" b="1" dirty="0">
                <a:solidFill>
                  <a:srgbClr val="0B4FBF"/>
                </a:solidFill>
                <a:latin typeface="Arial" pitchFamily="34" charset="0"/>
                <a:ea typeface="Arial" pitchFamily="34" charset="-122"/>
                <a:cs typeface="Arial" pitchFamily="34" charset="-120"/>
              </a:rPr>
              <a:t>4</a:t>
            </a:r>
            <a:endParaRPr lang="en-US" sz="970" dirty="0"/>
          </a:p>
        </p:txBody>
      </p:sp>
      <p:sp>
        <p:nvSpPr>
          <p:cNvPr id="20" name="Text 17"/>
          <p:cNvSpPr txBox="1"/>
          <p:nvPr/>
        </p:nvSpPr>
        <p:spPr>
          <a:xfrm>
            <a:off x="877824" y="3628168"/>
            <a:ext cx="567728"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Return it</a:t>
            </a:r>
            <a:endParaRPr lang="en-US" sz="990" dirty="0"/>
          </a:p>
        </p:txBody>
      </p:sp>
      <p:sp>
        <p:nvSpPr>
          <p:cNvPr id="21" name="Text 18"/>
          <p:cNvSpPr txBox="1"/>
          <p:nvPr/>
        </p:nvSpPr>
        <p:spPr>
          <a:xfrm>
            <a:off x="877824" y="3792045"/>
            <a:ext cx="2789692"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Overdue returns are flagged, so nothing goes missing</a:t>
            </a:r>
            <a:endParaRPr lang="en-US" sz="810" dirty="0"/>
          </a:p>
        </p:txBody>
      </p:sp>
      <p:sp>
        <p:nvSpPr>
          <p:cNvPr id="22" name="Shape 19"/>
          <p:cNvSpPr/>
          <p:nvPr/>
        </p:nvSpPr>
        <p:spPr>
          <a:xfrm>
            <a:off x="4480560" y="1234440"/>
            <a:ext cx="4206240" cy="2877645"/>
          </a:xfrm>
          <a:prstGeom prst="roundRect">
            <a:avLst>
              <a:gd name="adj" fmla="val 3813"/>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23" name="Shape 20"/>
          <p:cNvSpPr/>
          <p:nvPr/>
        </p:nvSpPr>
        <p:spPr>
          <a:xfrm>
            <a:off x="4480560" y="1234440"/>
            <a:ext cx="4206240" cy="173736"/>
          </a:xfrm>
          <a:prstGeom prst="rect">
            <a:avLst/>
          </a:prstGeom>
          <a:solidFill>
            <a:srgbClr val="F4F7FA"/>
          </a:solidFill>
          <a:ln/>
        </p:spPr>
      </p:sp>
      <p:sp>
        <p:nvSpPr>
          <p:cNvPr id="24" name="Shape 21"/>
          <p:cNvSpPr/>
          <p:nvPr/>
        </p:nvSpPr>
        <p:spPr>
          <a:xfrm>
            <a:off x="4480560" y="1403604"/>
            <a:ext cx="4206240" cy="0"/>
          </a:xfrm>
          <a:prstGeom prst="line">
            <a:avLst/>
          </a:prstGeom>
          <a:noFill/>
          <a:ln w="9144">
            <a:solidFill>
              <a:srgbClr val="071A33">
                <a:alpha val="10000"/>
              </a:srgbClr>
            </a:solidFill>
            <a:prstDash val="solid"/>
          </a:ln>
        </p:spPr>
      </p:sp>
      <p:sp>
        <p:nvSpPr>
          <p:cNvPr id="25" name="Shape 22"/>
          <p:cNvSpPr/>
          <p:nvPr/>
        </p:nvSpPr>
        <p:spPr>
          <a:xfrm>
            <a:off x="4581144" y="1288447"/>
            <a:ext cx="56579" cy="56579"/>
          </a:xfrm>
          <a:prstGeom prst="ellipse">
            <a:avLst/>
          </a:prstGeom>
          <a:solidFill>
            <a:srgbClr val="D3DCE4"/>
          </a:solidFill>
          <a:ln/>
        </p:spPr>
      </p:sp>
      <p:sp>
        <p:nvSpPr>
          <p:cNvPr id="26" name="Shape 23"/>
          <p:cNvSpPr/>
          <p:nvPr/>
        </p:nvSpPr>
        <p:spPr>
          <a:xfrm>
            <a:off x="4683443" y="1288447"/>
            <a:ext cx="56579" cy="56579"/>
          </a:xfrm>
          <a:prstGeom prst="ellipse">
            <a:avLst/>
          </a:prstGeom>
          <a:solidFill>
            <a:srgbClr val="D3DCE4"/>
          </a:solidFill>
          <a:ln/>
        </p:spPr>
      </p:sp>
      <p:sp>
        <p:nvSpPr>
          <p:cNvPr id="27" name="Shape 24"/>
          <p:cNvSpPr/>
          <p:nvPr/>
        </p:nvSpPr>
        <p:spPr>
          <a:xfrm>
            <a:off x="4785741" y="1288447"/>
            <a:ext cx="56579" cy="56579"/>
          </a:xfrm>
          <a:prstGeom prst="ellipse">
            <a:avLst/>
          </a:prstGeom>
          <a:solidFill>
            <a:srgbClr val="D3DCE4"/>
          </a:solidFill>
          <a:ln/>
        </p:spPr>
      </p:sp>
      <p:pic>
        <p:nvPicPr>
          <p:cNvPr id="28" name="Image 1" descr="Tools and Calibration list with availability and calibration status">    </p:cNvPr>
          <p:cNvPicPr>
            <a:picLocks noChangeAspect="1"/>
          </p:cNvPicPr>
          <p:nvPr/>
        </p:nvPicPr>
        <p:blipFill>
          <a:blip r:embed="rId3"/>
          <a:stretch>
            <a:fillRect/>
          </a:stretch>
        </p:blipFill>
        <p:spPr>
          <a:xfrm>
            <a:off x="4480560" y="1408176"/>
            <a:ext cx="4206240" cy="2703909"/>
          </a:xfrm>
          <a:prstGeom prst="rect">
            <a:avLst/>
          </a:prstGeom>
        </p:spPr>
      </p:pic>
      <p:sp>
        <p:nvSpPr>
          <p:cNvPr id="29" name="Gradient shape"/>
          <p:cNvSpPr/>
          <p:nvPr/>
        </p:nvSpPr>
        <p:spPr>
          <a:xfrm>
            <a:off x="3931920" y="1920240"/>
            <a:ext cx="1188720" cy="2572464"/>
          </a:xfrm>
          <a:prstGeom prst="roundRect">
            <a:avLst>
              <a:gd name="adj" fmla="val 20000"/>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71A33">
                <a:alpha val="36000"/>
              </a:srgbClr>
            </a:outerShdw>
          </a:effectLst>
        </p:spPr>
      </p:sp>
      <p:pic>
        <p:nvPicPr>
          <p:cNvPr id="30" name="Picture" descr="Tools list on a phone">    </p:cNvPr>
          <p:cNvPicPr>
            <a:picLocks noChangeAspect="1"/>
          </p:cNvPicPr>
          <p:nvPr/>
        </p:nvPicPr>
        <p:blipFill>
          <a:blip r:embed="rId4"/>
          <a:stretch>
            <a:fillRect/>
          </a:stretch>
        </p:blipFill>
        <p:spPr>
          <a:xfrm>
            <a:off x="3973068" y="1961388"/>
            <a:ext cx="1106424" cy="2490168"/>
          </a:xfrm>
          <a:prstGeom prst="roundRect">
            <a:avLst>
              <a:gd name="adj" fmla="val 18181"/>
            </a:avLst>
          </a:prstGeom>
        </p:spPr>
      </p:pic>
    </p:spTree>
  </p:cSld>
  <p:clrMapOvr>
    <a:masterClrMapping/>
  </p:clrMapOvr>
  <p:transition spd="med">
    <p:push dir="r"/>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371600"/>
            <a:ext cx="4297680" cy="2083689"/>
          </a:xfrm>
          <a:prstGeom prst="roundRect">
            <a:avLst>
              <a:gd name="adj" fmla="val 5266"/>
            </a:avLst>
          </a:prstGeom>
          <a:solidFill>
            <a:srgbClr val="FFFFFF"/>
          </a:solidFill>
          <a:ln w="9144">
            <a:solidFill>
              <a:srgbClr val="1E5AC8">
                <a:alpha val="12000"/>
              </a:srgbClr>
            </a:solidFill>
            <a:prstDash val="solid"/>
          </a:ln>
          <a:effectLst>
            <a:outerShdw sx="100000" sy="100000" kx="0" ky="0" algn="bl" rotWithShape="0" blurRad="457200" dist="182880" dir="5400000">
              <a:srgbClr val="1E5AC8">
                <a:alpha val="24000"/>
              </a:srgbClr>
            </a:outerShdw>
          </a:effectLst>
        </p:spPr>
      </p:sp>
      <p:sp>
        <p:nvSpPr>
          <p:cNvPr id="4" name="Shape 1"/>
          <p:cNvSpPr/>
          <p:nvPr/>
        </p:nvSpPr>
        <p:spPr>
          <a:xfrm>
            <a:off x="457200" y="1371600"/>
            <a:ext cx="4297680" cy="173736"/>
          </a:xfrm>
          <a:prstGeom prst="rect">
            <a:avLst/>
          </a:prstGeom>
          <a:solidFill>
            <a:srgbClr val="F4F7FA"/>
          </a:solidFill>
          <a:ln/>
        </p:spPr>
      </p:sp>
      <p:sp>
        <p:nvSpPr>
          <p:cNvPr id="5" name="Shape 2"/>
          <p:cNvSpPr/>
          <p:nvPr/>
        </p:nvSpPr>
        <p:spPr>
          <a:xfrm>
            <a:off x="457200" y="1540764"/>
            <a:ext cx="4297680" cy="0"/>
          </a:xfrm>
          <a:prstGeom prst="line">
            <a:avLst/>
          </a:prstGeom>
          <a:noFill/>
          <a:ln w="9144">
            <a:solidFill>
              <a:srgbClr val="071A33">
                <a:alpha val="10000"/>
              </a:srgbClr>
            </a:solidFill>
            <a:prstDash val="solid"/>
          </a:ln>
        </p:spPr>
      </p:sp>
      <p:sp>
        <p:nvSpPr>
          <p:cNvPr id="6" name="Shape 3"/>
          <p:cNvSpPr/>
          <p:nvPr/>
        </p:nvSpPr>
        <p:spPr>
          <a:xfrm>
            <a:off x="557784" y="1425607"/>
            <a:ext cx="56579" cy="56579"/>
          </a:xfrm>
          <a:prstGeom prst="ellipse">
            <a:avLst/>
          </a:prstGeom>
          <a:solidFill>
            <a:srgbClr val="D3DCE4"/>
          </a:solidFill>
          <a:ln/>
        </p:spPr>
      </p:sp>
      <p:sp>
        <p:nvSpPr>
          <p:cNvPr id="7" name="Shape 4"/>
          <p:cNvSpPr/>
          <p:nvPr/>
        </p:nvSpPr>
        <p:spPr>
          <a:xfrm>
            <a:off x="660083" y="1425607"/>
            <a:ext cx="56579" cy="56579"/>
          </a:xfrm>
          <a:prstGeom prst="ellipse">
            <a:avLst/>
          </a:prstGeom>
          <a:solidFill>
            <a:srgbClr val="D3DCE4"/>
          </a:solidFill>
          <a:ln/>
        </p:spPr>
      </p:sp>
      <p:sp>
        <p:nvSpPr>
          <p:cNvPr id="8" name="Shape 5"/>
          <p:cNvSpPr/>
          <p:nvPr/>
        </p:nvSpPr>
        <p:spPr>
          <a:xfrm>
            <a:off x="762381" y="1425607"/>
            <a:ext cx="56579" cy="56579"/>
          </a:xfrm>
          <a:prstGeom prst="ellipse">
            <a:avLst/>
          </a:prstGeom>
          <a:solidFill>
            <a:srgbClr val="D3DCE4"/>
          </a:solidFill>
          <a:ln/>
        </p:spPr>
      </p:sp>
      <p:pic>
        <p:nvPicPr>
          <p:cNvPr id="9" name="Image 1" descr="Customer Parts list with OK, NG, Sorting and Hold per part">    </p:cNvPr>
          <p:cNvPicPr>
            <a:picLocks noChangeAspect="1"/>
          </p:cNvPicPr>
          <p:nvPr/>
        </p:nvPicPr>
        <p:blipFill>
          <a:blip r:embed="rId3"/>
          <a:stretch>
            <a:fillRect/>
          </a:stretch>
        </p:blipFill>
        <p:spPr>
          <a:xfrm>
            <a:off x="457200" y="1545336"/>
            <a:ext cx="4297680" cy="1909953"/>
          </a:xfrm>
          <a:prstGeom prst="rect">
            <a:avLst/>
          </a:prstGeom>
        </p:spPr>
      </p:pic>
      <p:sp>
        <p:nvSpPr>
          <p:cNvPr id="10" name="Gradient shape"/>
          <p:cNvSpPr/>
          <p:nvPr/>
        </p:nvSpPr>
        <p:spPr>
          <a:xfrm>
            <a:off x="4023360" y="1828800"/>
            <a:ext cx="1188720" cy="2572464"/>
          </a:xfrm>
          <a:prstGeom prst="roundRect">
            <a:avLst>
              <a:gd name="adj" fmla="val 20000"/>
            </a:avLst>
          </a:prstGeom>
          <a:gradFill rotWithShape="1">
            <a:gsLst>
              <a:gs pos="0">
                <a:srgbClr val="1B3448"/>
              </a:gs>
              <a:gs pos="100000">
                <a:srgbClr val="0A1C2A"/>
              </a:gs>
            </a:gsLst>
            <a:lin ang="4200000" scaled="0"/>
          </a:gradFill>
          <a:ln/>
          <a:effectLst>
            <a:outerShdw sx="100000" sy="100000" kx="0" ky="0" algn="bl" rotWithShape="0" blurRad="457200" dist="219456" dir="5400000">
              <a:srgbClr val="071A33">
                <a:alpha val="36000"/>
              </a:srgbClr>
            </a:outerShdw>
          </a:effectLst>
        </p:spPr>
      </p:sp>
      <p:pic>
        <p:nvPicPr>
          <p:cNvPr id="11" name="Picture" descr="An inbound delivery waiting to be confirmed, on a phone">    </p:cNvPr>
          <p:cNvPicPr>
            <a:picLocks noChangeAspect="1"/>
          </p:cNvPicPr>
          <p:nvPr/>
        </p:nvPicPr>
        <p:blipFill>
          <a:blip r:embed="rId4"/>
          <a:stretch>
            <a:fillRect/>
          </a:stretch>
        </p:blipFill>
        <p:spPr>
          <a:xfrm>
            <a:off x="4064508" y="1869948"/>
            <a:ext cx="1106424" cy="2490168"/>
          </a:xfrm>
          <a:prstGeom prst="roundRect">
            <a:avLst>
              <a:gd name="adj" fmla="val 18181"/>
            </a:avLst>
          </a:prstGeom>
        </p:spPr>
      </p:pic>
      <p:sp>
        <p:nvSpPr>
          <p:cNvPr id="12" name="Shape 7"/>
          <p:cNvSpPr/>
          <p:nvPr/>
        </p:nvSpPr>
        <p:spPr>
          <a:xfrm>
            <a:off x="5486400" y="1143000"/>
            <a:ext cx="1192721" cy="201168"/>
          </a:xfrm>
          <a:prstGeom prst="roundRect">
            <a:avLst>
              <a:gd name="adj" fmla="val 50000"/>
            </a:avLst>
          </a:prstGeom>
          <a:solidFill>
            <a:srgbClr val="E1EEFF"/>
          </a:solidFill>
          <a:ln/>
        </p:spPr>
      </p:sp>
      <p:sp>
        <p:nvSpPr>
          <p:cNvPr id="13" name="Text 8"/>
          <p:cNvSpPr txBox="1"/>
          <p:nvPr/>
        </p:nvSpPr>
        <p:spPr>
          <a:xfrm>
            <a:off x="5586984" y="1188720"/>
            <a:ext cx="1108996"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Inventory &amp; Quality</a:t>
            </a:r>
            <a:endParaRPr lang="en-US" sz="720" dirty="0"/>
          </a:p>
        </p:txBody>
      </p:sp>
      <p:sp>
        <p:nvSpPr>
          <p:cNvPr id="14" name="Text 9"/>
          <p:cNvSpPr txBox="1"/>
          <p:nvPr/>
        </p:nvSpPr>
        <p:spPr>
          <a:xfrm>
            <a:off x="5486400" y="1490472"/>
            <a:ext cx="2322516" cy="758118"/>
          </a:xfrm>
          <a:prstGeom prst="rect">
            <a:avLst/>
          </a:prstGeom>
          <a:noFill/>
          <a:ln/>
        </p:spPr>
        <p:txBody>
          <a:bodyPr wrap="square" lIns="0" tIns="0" rIns="0" bIns="0" rtlCol="0" anchor="t"/>
          <a:lstStyle/>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Customer</a:t>
            </a:r>
            <a:endParaRPr lang="en-US" sz="2520" dirty="0"/>
          </a:p>
          <a:p>
            <a:pPr algn="l" indent="0" marL="0">
              <a:lnSpc>
                <a:spcPts val="2600"/>
              </a:lnSpc>
              <a:buNone/>
            </a:pPr>
            <a:r>
              <a:rPr lang="en-US" sz="2520" b="1" spc="-126" kern="0" dirty="0">
                <a:solidFill>
                  <a:srgbClr val="071A33"/>
                </a:solidFill>
                <a:latin typeface="Arial" pitchFamily="34" charset="0"/>
                <a:ea typeface="Arial" pitchFamily="34" charset="-122"/>
                <a:cs typeface="Arial" pitchFamily="34" charset="-120"/>
              </a:rPr>
              <a:t>parts, lot by lot.</a:t>
            </a:r>
            <a:endParaRPr lang="en-US" sz="2520" dirty="0"/>
          </a:p>
        </p:txBody>
      </p:sp>
      <p:sp>
        <p:nvSpPr>
          <p:cNvPr id="15" name="Shape 10"/>
          <p:cNvSpPr/>
          <p:nvPr/>
        </p:nvSpPr>
        <p:spPr>
          <a:xfrm>
            <a:off x="5486400" y="2332577"/>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16" name="Image 3" descr="Icon: fact check">    </p:cNvPr>
          <p:cNvPicPr>
            <a:picLocks noChangeAspect="1"/>
          </p:cNvPicPr>
          <p:nvPr/>
        </p:nvPicPr>
        <p:blipFill>
          <a:blip r:embed="rId5"/>
          <a:stretch>
            <a:fillRect/>
          </a:stretch>
        </p:blipFill>
        <p:spPr>
          <a:xfrm>
            <a:off x="5486400" y="2332577"/>
            <a:ext cx="310896" cy="310896"/>
          </a:xfrm>
          <a:prstGeom prst="rect">
            <a:avLst/>
          </a:prstGeom>
        </p:spPr>
      </p:pic>
      <p:sp>
        <p:nvSpPr>
          <p:cNvPr id="17" name="Text 11"/>
          <p:cNvSpPr txBox="1"/>
          <p:nvPr/>
        </p:nvSpPr>
        <p:spPr>
          <a:xfrm>
            <a:off x="5907024" y="2333720"/>
            <a:ext cx="1553137"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Inspection status per lot</a:t>
            </a:r>
            <a:endParaRPr lang="en-US" sz="990" dirty="0"/>
          </a:p>
        </p:txBody>
      </p:sp>
      <p:sp>
        <p:nvSpPr>
          <p:cNvPr id="18" name="Text 12"/>
          <p:cNvSpPr txBox="1"/>
          <p:nvPr/>
        </p:nvSpPr>
        <p:spPr>
          <a:xfrm>
            <a:off x="5907024" y="2497598"/>
            <a:ext cx="269099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OK, NG, Sorting and Hold, with the total and the lots</a:t>
            </a:r>
            <a:endParaRPr lang="en-US" sz="810" dirty="0"/>
          </a:p>
        </p:txBody>
      </p:sp>
      <p:sp>
        <p:nvSpPr>
          <p:cNvPr id="19" name="Shape 13"/>
          <p:cNvSpPr/>
          <p:nvPr/>
        </p:nvSpPr>
        <p:spPr>
          <a:xfrm>
            <a:off x="5486400" y="2757773"/>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20" name="Image 4" descr="Icon: hourglass bottom">    </p:cNvPr>
          <p:cNvPicPr>
            <a:picLocks noChangeAspect="1"/>
          </p:cNvPicPr>
          <p:nvPr/>
        </p:nvPicPr>
        <p:blipFill>
          <a:blip r:embed="rId6"/>
          <a:stretch>
            <a:fillRect/>
          </a:stretch>
        </p:blipFill>
        <p:spPr>
          <a:xfrm>
            <a:off x="5486400" y="2757773"/>
            <a:ext cx="310896" cy="310896"/>
          </a:xfrm>
          <a:prstGeom prst="rect">
            <a:avLst/>
          </a:prstGeom>
        </p:spPr>
      </p:pic>
      <p:sp>
        <p:nvSpPr>
          <p:cNvPr id="21" name="Text 14"/>
          <p:cNvSpPr txBox="1"/>
          <p:nvPr/>
        </p:nvSpPr>
        <p:spPr>
          <a:xfrm>
            <a:off x="5907024" y="2758916"/>
            <a:ext cx="1243841"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Aged parts flagged</a:t>
            </a:r>
            <a:endParaRPr lang="en-US" sz="990" dirty="0"/>
          </a:p>
        </p:txBody>
      </p:sp>
      <p:sp>
        <p:nvSpPr>
          <p:cNvPr id="22" name="Text 15"/>
          <p:cNvSpPr txBox="1"/>
          <p:nvPr/>
        </p:nvSpPr>
        <p:spPr>
          <a:xfrm>
            <a:off x="5907024" y="2922794"/>
            <a:ext cx="2506013"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Amber past the aged threshold, red past twice it</a:t>
            </a:r>
            <a:endParaRPr lang="en-US" sz="810" dirty="0"/>
          </a:p>
        </p:txBody>
      </p:sp>
      <p:sp>
        <p:nvSpPr>
          <p:cNvPr id="23" name="Shape 16"/>
          <p:cNvSpPr/>
          <p:nvPr/>
        </p:nvSpPr>
        <p:spPr>
          <a:xfrm>
            <a:off x="5486400" y="3253978"/>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24" name="Image 5" descr="Icon: local shipping">    </p:cNvPr>
          <p:cNvPicPr>
            <a:picLocks noChangeAspect="1"/>
          </p:cNvPicPr>
          <p:nvPr/>
        </p:nvPicPr>
        <p:blipFill>
          <a:blip r:embed="rId7"/>
          <a:stretch>
            <a:fillRect/>
          </a:stretch>
        </p:blipFill>
        <p:spPr>
          <a:xfrm>
            <a:off x="5486400" y="3253978"/>
            <a:ext cx="310896" cy="310896"/>
          </a:xfrm>
          <a:prstGeom prst="rect">
            <a:avLst/>
          </a:prstGeom>
        </p:spPr>
      </p:pic>
      <p:sp>
        <p:nvSpPr>
          <p:cNvPr id="25" name="Text 17"/>
          <p:cNvSpPr txBox="1"/>
          <p:nvPr/>
        </p:nvSpPr>
        <p:spPr>
          <a:xfrm>
            <a:off x="5907024" y="3182969"/>
            <a:ext cx="1304349"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Deliveries in and out</a:t>
            </a:r>
            <a:endParaRPr lang="en-US" sz="990" dirty="0"/>
          </a:p>
        </p:txBody>
      </p:sp>
      <p:sp>
        <p:nvSpPr>
          <p:cNvPr id="26" name="Text 18"/>
          <p:cNvSpPr txBox="1"/>
          <p:nvPr/>
        </p:nvSpPr>
        <p:spPr>
          <a:xfrm>
            <a:off x="5907024" y="3346847"/>
            <a:ext cx="3014420" cy="332576"/>
          </a:xfrm>
          <a:prstGeom prst="rect">
            <a:avLst/>
          </a:prstGeom>
          <a:noFill/>
          <a:ln/>
        </p:spPr>
        <p:txBody>
          <a:bodyPr wrap="squar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Several parts on one Asset In-Out Form; booked stock is</a:t>
            </a:r>
            <a:endParaRPr lang="en-US" sz="810" dirty="0"/>
          </a:p>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reserved</a:t>
            </a:r>
            <a:endParaRPr lang="en-US" sz="810" dirty="0"/>
          </a:p>
        </p:txBody>
      </p:sp>
      <p:sp>
        <p:nvSpPr>
          <p:cNvPr id="27" name="Shape 19"/>
          <p:cNvSpPr/>
          <p:nvPr/>
        </p:nvSpPr>
        <p:spPr>
          <a:xfrm>
            <a:off x="5486400" y="3750326"/>
            <a:ext cx="310896" cy="310896"/>
          </a:xfrm>
          <a:prstGeom prst="roundRect">
            <a:avLst>
              <a:gd name="adj" fmla="val 29412"/>
            </a:avLst>
          </a:prstGeom>
          <a:solidFill>
            <a:srgbClr val="FFFFFF"/>
          </a:solidFill>
          <a:ln/>
          <a:effectLst>
            <a:outerShdw sx="100000" sy="100000" kx="0" ky="0" algn="bl" rotWithShape="0" blurRad="109728" dist="36576" dir="5400000">
              <a:srgbClr val="1E5AC8">
                <a:alpha val="19200"/>
              </a:srgbClr>
            </a:outerShdw>
          </a:effectLst>
        </p:spPr>
      </p:sp>
      <p:pic>
        <p:nvPicPr>
          <p:cNvPr id="28" name="Image 6" descr="Icon: done all">    </p:cNvPr>
          <p:cNvPicPr>
            <a:picLocks noChangeAspect="1"/>
          </p:cNvPicPr>
          <p:nvPr/>
        </p:nvPicPr>
        <p:blipFill>
          <a:blip r:embed="rId8"/>
          <a:stretch>
            <a:fillRect/>
          </a:stretch>
        </p:blipFill>
        <p:spPr>
          <a:xfrm>
            <a:off x="5486400" y="3750326"/>
            <a:ext cx="310896" cy="310896"/>
          </a:xfrm>
          <a:prstGeom prst="rect">
            <a:avLst/>
          </a:prstGeom>
        </p:spPr>
      </p:pic>
      <p:sp>
        <p:nvSpPr>
          <p:cNvPr id="29" name="Text 20"/>
          <p:cNvSpPr txBox="1"/>
          <p:nvPr/>
        </p:nvSpPr>
        <p:spPr>
          <a:xfrm>
            <a:off x="5907024" y="3751469"/>
            <a:ext cx="1738274" cy="213091"/>
          </a:xfrm>
          <a:prstGeom prst="rect">
            <a:avLst/>
          </a:prstGeom>
          <a:noFill/>
          <a:ln/>
        </p:spPr>
        <p:txBody>
          <a:bodyPr wrap="none" lIns="0" tIns="0" rIns="0" bIns="0" rtlCol="0" anchor="t"/>
          <a:lstStyle/>
          <a:p>
            <a:pPr algn="l" indent="0" marL="0">
              <a:lnSpc>
                <a:spcPts val="1290"/>
              </a:lnSpc>
              <a:buNone/>
            </a:pPr>
            <a:r>
              <a:rPr lang="en-US" sz="990" b="1" spc="-10" kern="0" dirty="0">
                <a:solidFill>
                  <a:srgbClr val="071A33"/>
                </a:solidFill>
                <a:latin typeface="Arial" pitchFamily="34" charset="0"/>
                <a:ea typeface="Arial" pitchFamily="34" charset="-122"/>
                <a:cs typeface="Arial" pitchFamily="34" charset="-120"/>
              </a:rPr>
              <a:t>Confirm what really arrived</a:t>
            </a:r>
            <a:endParaRPr lang="en-US" sz="990" dirty="0"/>
          </a:p>
        </p:txBody>
      </p:sp>
      <p:sp>
        <p:nvSpPr>
          <p:cNvPr id="30" name="Text 21"/>
          <p:cNvSpPr txBox="1"/>
          <p:nvPr/>
        </p:nvSpPr>
        <p:spPr>
          <a:xfrm>
            <a:off x="5907024" y="3915347"/>
            <a:ext cx="2876131" cy="187987"/>
          </a:xfrm>
          <a:prstGeom prst="rect">
            <a:avLst/>
          </a:prstGeom>
          <a:noFill/>
          <a:ln/>
        </p:spPr>
        <p:txBody>
          <a:bodyPr wrap="none" lIns="0" tIns="0" rIns="0" bIns="0" rtlCol="0" anchor="t"/>
          <a:lstStyle/>
          <a:p>
            <a:pPr algn="l" indent="0" marL="0">
              <a:lnSpc>
                <a:spcPts val="1140"/>
              </a:lnSpc>
              <a:buNone/>
            </a:pPr>
            <a:r>
              <a:rPr lang="en-US" sz="810" dirty="0">
                <a:solidFill>
                  <a:srgbClr val="4D6585"/>
                </a:solidFill>
                <a:latin typeface="Arial" pitchFamily="34" charset="0"/>
                <a:ea typeface="Arial" pitchFamily="34" charset="-122"/>
                <a:cs typeface="Arial" pitchFamily="34" charset="-120"/>
              </a:rPr>
              <a:t>Actual quantities per line; any difference goes in the log</a:t>
            </a:r>
            <a:endParaRPr lang="en-US" sz="810" dirty="0"/>
          </a:p>
        </p:txBody>
      </p:sp>
    </p:spTree>
  </p:cSld>
  <p:clrMapOvr>
    <a:masterClrMapping/>
  </p:clrMapOvr>
  <p:transition spd="med">
    <p:push dir="r"/>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RIGO">    </p:cNvPr>
          <p:cNvPicPr>
            <a:picLocks noChangeAspect="1"/>
          </p:cNvPicPr>
          <p:nvPr/>
        </p:nvPicPr>
        <p:blipFill>
          <a:blip r:embed="rId2"/>
          <a:stretch>
            <a:fillRect/>
          </a:stretch>
        </p:blipFill>
        <p:spPr>
          <a:xfrm>
            <a:off x="457200" y="310896"/>
            <a:ext cx="1097994" cy="402336"/>
          </a:xfrm>
          <a:prstGeom prst="rect">
            <a:avLst/>
          </a:prstGeom>
        </p:spPr>
      </p:pic>
      <p:sp>
        <p:nvSpPr>
          <p:cNvPr id="3" name="Shape 0"/>
          <p:cNvSpPr/>
          <p:nvPr/>
        </p:nvSpPr>
        <p:spPr>
          <a:xfrm>
            <a:off x="457200" y="1143000"/>
            <a:ext cx="999839" cy="201168"/>
          </a:xfrm>
          <a:prstGeom prst="roundRect">
            <a:avLst>
              <a:gd name="adj" fmla="val 50000"/>
            </a:avLst>
          </a:prstGeom>
          <a:solidFill>
            <a:srgbClr val="E1EEFF"/>
          </a:solidFill>
          <a:ln/>
        </p:spPr>
      </p:sp>
      <p:sp>
        <p:nvSpPr>
          <p:cNvPr id="4" name="Text 1"/>
          <p:cNvSpPr txBox="1"/>
          <p:nvPr/>
        </p:nvSpPr>
        <p:spPr>
          <a:xfrm>
            <a:off x="557784" y="1188720"/>
            <a:ext cx="896826" cy="109728"/>
          </a:xfrm>
          <a:prstGeom prst="rect">
            <a:avLst/>
          </a:prstGeom>
          <a:noFill/>
          <a:ln/>
        </p:spPr>
        <p:txBody>
          <a:bodyPr wrap="none" lIns="0" tIns="0" rIns="0" bIns="0" rtlCol="0" anchor="ctr"/>
          <a:lstStyle/>
          <a:p>
            <a:pPr algn="l" indent="0" marL="0">
              <a:lnSpc>
                <a:spcPts val="860"/>
              </a:lnSpc>
              <a:buNone/>
            </a:pPr>
            <a:r>
              <a:rPr lang="en-US" sz="720" b="1" dirty="0">
                <a:solidFill>
                  <a:srgbClr val="0B4FBF"/>
                </a:solidFill>
                <a:latin typeface="Arial" pitchFamily="34" charset="0"/>
                <a:ea typeface="Arial" pitchFamily="34" charset="-122"/>
                <a:cs typeface="Arial" pitchFamily="34" charset="-120"/>
              </a:rPr>
              <a:t>04 · On your phone</a:t>
            </a:r>
            <a:endParaRPr lang="en-US" sz="720" dirty="0"/>
          </a:p>
        </p:txBody>
      </p:sp>
      <p:sp>
        <p:nvSpPr>
          <p:cNvPr id="5" name="Text 2"/>
          <p:cNvSpPr txBox="1"/>
          <p:nvPr/>
        </p:nvSpPr>
        <p:spPr>
          <a:xfrm>
            <a:off x="457200" y="1508760"/>
            <a:ext cx="2836069" cy="952997"/>
          </a:xfrm>
          <a:prstGeom prst="rect">
            <a:avLst/>
          </a:prstGeom>
          <a:noFill/>
          <a:ln/>
        </p:spPr>
        <p:txBody>
          <a:bodyPr wrap="square" lIns="0" tIns="0" rIns="0" bIns="0" rtlCol="0" anchor="t"/>
          <a:lstStyle/>
          <a:p>
            <a:pPr algn="l" indent="0" marL="0">
              <a:lnSpc>
                <a:spcPts val="3260"/>
              </a:lnSpc>
              <a:buNone/>
            </a:pPr>
            <a:r>
              <a:rPr lang="en-US" sz="3170" b="1" spc="-158" kern="0" dirty="0">
                <a:solidFill>
                  <a:srgbClr val="071A33"/>
                </a:solidFill>
                <a:latin typeface="Arial" pitchFamily="34" charset="0"/>
                <a:ea typeface="Arial" pitchFamily="34" charset="-122"/>
                <a:cs typeface="Arial" pitchFamily="34" charset="-120"/>
              </a:rPr>
              <a:t>Both apps fit</a:t>
            </a:r>
            <a:endParaRPr lang="en-US" sz="3170" dirty="0"/>
          </a:p>
          <a:p>
            <a:pPr algn="l" indent="0" marL="0">
              <a:lnSpc>
                <a:spcPts val="3260"/>
              </a:lnSpc>
              <a:buNone/>
            </a:pPr>
            <a:r>
              <a:rPr lang="en-US" sz="3170" b="1" spc="-158" kern="0" dirty="0">
                <a:solidFill>
                  <a:srgbClr val="071A33"/>
                </a:solidFill>
                <a:latin typeface="Arial" pitchFamily="34" charset="0"/>
                <a:ea typeface="Arial" pitchFamily="34" charset="-122"/>
                <a:cs typeface="Arial" pitchFamily="34" charset="-120"/>
              </a:rPr>
              <a:t>in your pocket.</a:t>
            </a:r>
            <a:endParaRPr lang="en-US" sz="3170" dirty="0"/>
          </a:p>
        </p:txBody>
      </p:sp>
      <p:sp>
        <p:nvSpPr>
          <p:cNvPr id="6" name="Text 3"/>
          <p:cNvSpPr txBox="1"/>
          <p:nvPr/>
        </p:nvSpPr>
        <p:spPr>
          <a:xfrm>
            <a:off x="457200" y="2502027"/>
            <a:ext cx="3288217" cy="678942"/>
          </a:xfrm>
          <a:prstGeom prst="rect">
            <a:avLst/>
          </a:prstGeom>
          <a:noFill/>
          <a:ln/>
        </p:spPr>
        <p:txBody>
          <a:bodyPr wrap="square" lIns="0" tIns="0" rIns="0" bIns="0" rtlCol="0" anchor="t"/>
          <a:lstStyle/>
          <a:p>
            <a:pPr algn="l" indent="0" marL="0">
              <a:lnSpc>
                <a:spcPts val="1620"/>
              </a:lnSpc>
              <a:buNone/>
            </a:pPr>
            <a:r>
              <a:rPr lang="en-US" sz="1080" dirty="0">
                <a:solidFill>
                  <a:srgbClr val="4D6585"/>
                </a:solidFill>
                <a:latin typeface="Arial" pitchFamily="34" charset="0"/>
                <a:ea typeface="Arial" pitchFamily="34" charset="-122"/>
                <a:cs typeface="Arial" pitchFamily="34" charset="-120"/>
              </a:rPr>
              <a:t>Each app has its own phone layout and installs</a:t>
            </a:r>
            <a:endParaRPr lang="en-US" sz="1080" dirty="0"/>
          </a:p>
          <a:p>
            <a:pPr algn="l" indent="0" marL="0">
              <a:lnSpc>
                <a:spcPts val="1620"/>
              </a:lnSpc>
              <a:buNone/>
            </a:pPr>
            <a:r>
              <a:rPr lang="en-US" sz="1080" dirty="0">
                <a:solidFill>
                  <a:srgbClr val="4D6585"/>
                </a:solidFill>
                <a:latin typeface="Arial" pitchFamily="34" charset="0"/>
                <a:ea typeface="Arial" pitchFamily="34" charset="-122"/>
                <a:cs typeface="Arial" pitchFamily="34" charset="-120"/>
              </a:rPr>
              <a:t>from the browser like a native app. No app</a:t>
            </a:r>
            <a:endParaRPr lang="en-US" sz="1080" dirty="0"/>
          </a:p>
          <a:p>
            <a:pPr algn="l" indent="0" marL="0">
              <a:lnSpc>
                <a:spcPts val="1620"/>
              </a:lnSpc>
              <a:buNone/>
            </a:pPr>
            <a:r>
              <a:rPr lang="en-US" sz="1080" dirty="0">
                <a:solidFill>
                  <a:srgbClr val="4D6585"/>
                </a:solidFill>
                <a:latin typeface="Arial" pitchFamily="34" charset="0"/>
                <a:ea typeface="Arial" pitchFamily="34" charset="-122"/>
                <a:cs typeface="Arial" pitchFamily="34" charset="-120"/>
              </a:rPr>
              <a:t>store needed.</a:t>
            </a:r>
            <a:endParaRPr lang="en-US" sz="1080" dirty="0"/>
          </a:p>
        </p:txBody>
      </p:sp>
      <p:sp>
        <p:nvSpPr>
          <p:cNvPr id="7" name="Text 4"/>
          <p:cNvSpPr txBox="1"/>
          <p:nvPr/>
        </p:nvSpPr>
        <p:spPr>
          <a:xfrm>
            <a:off x="457200" y="3320415"/>
            <a:ext cx="210812"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A62D6"/>
                </a:solidFill>
                <a:latin typeface="Arial" pitchFamily="34" charset="0"/>
                <a:ea typeface="Arial" pitchFamily="34" charset="-122"/>
                <a:cs typeface="Arial" pitchFamily="34" charset="-120"/>
              </a:rPr>
              <a:t>01</a:t>
            </a:r>
            <a:endParaRPr lang="en-US" sz="1370" dirty="0"/>
          </a:p>
        </p:txBody>
      </p:sp>
      <p:sp>
        <p:nvSpPr>
          <p:cNvPr id="8" name="Text 5"/>
          <p:cNvSpPr txBox="1"/>
          <p:nvPr/>
        </p:nvSpPr>
        <p:spPr>
          <a:xfrm>
            <a:off x="868680" y="3347847"/>
            <a:ext cx="3113938" cy="365771"/>
          </a:xfrm>
          <a:prstGeom prst="rect">
            <a:avLst/>
          </a:prstGeom>
          <a:noFill/>
          <a:ln/>
        </p:spPr>
        <p:txBody>
          <a:bodyPr wrap="square" lIns="0" tIns="0" rIns="0" bIns="0" rtlCol="0" anchor="t"/>
          <a:lstStyle/>
          <a:p>
            <a:pPr algn="l" indent="0" marL="0">
              <a:lnSpc>
                <a:spcPts val="1250"/>
              </a:lnSpc>
              <a:buNone/>
            </a:pPr>
            <a:r>
              <a:rPr lang="en-US" sz="860" b="1" dirty="0">
                <a:solidFill>
                  <a:srgbClr val="071A33"/>
                </a:solidFill>
                <a:latin typeface="Arial" pitchFamily="34" charset="0"/>
                <a:ea typeface="Arial" pitchFamily="34" charset="-122"/>
                <a:cs typeface="Arial" pitchFamily="34" charset="-120"/>
              </a:rPr>
              <a:t>Scan</a:t>
            </a:r>
            <a:pPr algn="l" indent="0" marL="0">
              <a:lnSpc>
                <a:spcPts val="1250"/>
              </a:lnSpc>
              <a:buNone/>
            </a:pPr>
            <a:r>
              <a:rPr lang="en-US" sz="860" dirty="0">
                <a:solidFill>
                  <a:srgbClr val="4D6585"/>
                </a:solidFill>
                <a:latin typeface="Arial" pitchFamily="34" charset="0"/>
                <a:ea typeface="Arial" pitchFamily="34" charset="-122"/>
                <a:cs typeface="Arial" pitchFamily="34" charset="-120"/>
              </a:rPr>
              <a:t> the code and sign in with your @trigo-group.com</a:t>
            </a:r>
            <a:endParaRPr lang="en-US" sz="860" dirty="0"/>
          </a:p>
          <a:p>
            <a:pPr algn="l" indent="0" marL="0">
              <a:lnSpc>
                <a:spcPts val="1250"/>
              </a:lnSpc>
              <a:buNone/>
            </a:pPr>
            <a:r>
              <a:rPr lang="en-US" sz="860" dirty="0">
                <a:solidFill>
                  <a:srgbClr val="4D6585"/>
                </a:solidFill>
                <a:latin typeface="Arial" pitchFamily="34" charset="0"/>
                <a:ea typeface="Arial" pitchFamily="34" charset="-122"/>
                <a:cs typeface="Arial" pitchFamily="34" charset="-120"/>
              </a:rPr>
              <a:t>email.</a:t>
            </a:r>
            <a:endParaRPr lang="en-US" sz="860" dirty="0"/>
          </a:p>
        </p:txBody>
      </p:sp>
      <p:sp>
        <p:nvSpPr>
          <p:cNvPr id="9" name="Text 6"/>
          <p:cNvSpPr txBox="1"/>
          <p:nvPr/>
        </p:nvSpPr>
        <p:spPr>
          <a:xfrm>
            <a:off x="457200" y="3793903"/>
            <a:ext cx="243502"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A62D6"/>
                </a:solidFill>
                <a:latin typeface="Arial" pitchFamily="34" charset="0"/>
                <a:ea typeface="Arial" pitchFamily="34" charset="-122"/>
                <a:cs typeface="Arial" pitchFamily="34" charset="-120"/>
              </a:rPr>
              <a:t>02</a:t>
            </a:r>
            <a:endParaRPr lang="en-US" sz="1370" dirty="0"/>
          </a:p>
        </p:txBody>
      </p:sp>
      <p:sp>
        <p:nvSpPr>
          <p:cNvPr id="10" name="Text 7"/>
          <p:cNvSpPr txBox="1"/>
          <p:nvPr/>
        </p:nvSpPr>
        <p:spPr>
          <a:xfrm>
            <a:off x="868680" y="3821335"/>
            <a:ext cx="2969957" cy="206752"/>
          </a:xfrm>
          <a:prstGeom prst="rect">
            <a:avLst/>
          </a:prstGeom>
          <a:noFill/>
          <a:ln/>
        </p:spPr>
        <p:txBody>
          <a:bodyPr wrap="none" lIns="0" tIns="0" rIns="0" bIns="0" rtlCol="0" anchor="t"/>
          <a:lstStyle/>
          <a:p>
            <a:pPr algn="l" indent="0" marL="0">
              <a:lnSpc>
                <a:spcPts val="1250"/>
              </a:lnSpc>
              <a:buNone/>
            </a:pPr>
            <a:r>
              <a:rPr lang="en-US" sz="860" b="1" dirty="0">
                <a:solidFill>
                  <a:srgbClr val="071A33"/>
                </a:solidFill>
                <a:latin typeface="Arial" pitchFamily="34" charset="0"/>
                <a:ea typeface="Arial" pitchFamily="34" charset="-122"/>
                <a:cs typeface="Arial" pitchFamily="34" charset="-120"/>
              </a:rPr>
              <a:t>iPhone:</a:t>
            </a:r>
            <a:pPr algn="l" indent="0" marL="0">
              <a:lnSpc>
                <a:spcPts val="1250"/>
              </a:lnSpc>
              <a:buNone/>
            </a:pPr>
            <a:r>
              <a:rPr lang="en-US" sz="860" dirty="0">
                <a:solidFill>
                  <a:srgbClr val="4D6585"/>
                </a:solidFill>
                <a:latin typeface="Arial" pitchFamily="34" charset="0"/>
                <a:ea typeface="Arial" pitchFamily="34" charset="-122"/>
                <a:cs typeface="Arial" pitchFamily="34" charset="-120"/>
              </a:rPr>
              <a:t> in Safari tap Share, then Add to Home Screen.</a:t>
            </a:r>
            <a:endParaRPr lang="en-US" sz="860" dirty="0"/>
          </a:p>
        </p:txBody>
      </p:sp>
      <p:sp>
        <p:nvSpPr>
          <p:cNvPr id="11" name="Text 8"/>
          <p:cNvSpPr txBox="1"/>
          <p:nvPr/>
        </p:nvSpPr>
        <p:spPr>
          <a:xfrm>
            <a:off x="457200" y="4108371"/>
            <a:ext cx="247274" cy="225857"/>
          </a:xfrm>
          <a:prstGeom prst="rect">
            <a:avLst/>
          </a:prstGeom>
          <a:noFill/>
          <a:ln/>
        </p:spPr>
        <p:txBody>
          <a:bodyPr wrap="none" lIns="0" tIns="0" rIns="0" bIns="0" rtlCol="0" anchor="t"/>
          <a:lstStyle/>
          <a:p>
            <a:pPr algn="l" indent="0" marL="0">
              <a:lnSpc>
                <a:spcPts val="1370"/>
              </a:lnSpc>
              <a:buNone/>
            </a:pPr>
            <a:r>
              <a:rPr lang="en-US" sz="1370" b="1" spc="-41" kern="0" dirty="0">
                <a:solidFill>
                  <a:srgbClr val="1A62D6"/>
                </a:solidFill>
                <a:latin typeface="Arial" pitchFamily="34" charset="0"/>
                <a:ea typeface="Arial" pitchFamily="34" charset="-122"/>
                <a:cs typeface="Arial" pitchFamily="34" charset="-120"/>
              </a:rPr>
              <a:t>03</a:t>
            </a:r>
            <a:endParaRPr lang="en-US" sz="1370" dirty="0"/>
          </a:p>
        </p:txBody>
      </p:sp>
      <p:sp>
        <p:nvSpPr>
          <p:cNvPr id="12" name="Text 9"/>
          <p:cNvSpPr txBox="1"/>
          <p:nvPr/>
        </p:nvSpPr>
        <p:spPr>
          <a:xfrm>
            <a:off x="868680" y="4135803"/>
            <a:ext cx="2803365" cy="206752"/>
          </a:xfrm>
          <a:prstGeom prst="rect">
            <a:avLst/>
          </a:prstGeom>
          <a:noFill/>
          <a:ln/>
        </p:spPr>
        <p:txBody>
          <a:bodyPr wrap="none" lIns="0" tIns="0" rIns="0" bIns="0" rtlCol="0" anchor="t"/>
          <a:lstStyle/>
          <a:p>
            <a:pPr algn="l" indent="0" marL="0">
              <a:lnSpc>
                <a:spcPts val="1250"/>
              </a:lnSpc>
              <a:buNone/>
            </a:pPr>
            <a:r>
              <a:rPr lang="en-US" sz="860" b="1" dirty="0">
                <a:solidFill>
                  <a:srgbClr val="071A33"/>
                </a:solidFill>
                <a:latin typeface="Arial" pitchFamily="34" charset="0"/>
                <a:ea typeface="Arial" pitchFamily="34" charset="-122"/>
                <a:cs typeface="Arial" pitchFamily="34" charset="-120"/>
              </a:rPr>
              <a:t>Android:</a:t>
            </a:r>
            <a:pPr algn="l" indent="0" marL="0">
              <a:lnSpc>
                <a:spcPts val="1250"/>
              </a:lnSpc>
              <a:buNone/>
            </a:pPr>
            <a:r>
              <a:rPr lang="en-US" sz="860" dirty="0">
                <a:solidFill>
                  <a:srgbClr val="4D6585"/>
                </a:solidFill>
                <a:latin typeface="Arial" pitchFamily="34" charset="0"/>
                <a:ea typeface="Arial" pitchFamily="34" charset="-122"/>
                <a:cs typeface="Arial" pitchFamily="34" charset="-120"/>
              </a:rPr>
              <a:t> in Chrome tap the menu, then Install app.</a:t>
            </a:r>
            <a:endParaRPr lang="en-US" sz="860" dirty="0"/>
          </a:p>
        </p:txBody>
      </p:sp>
      <p:sp>
        <p:nvSpPr>
          <p:cNvPr id="13" name="Shape 10"/>
          <p:cNvSpPr/>
          <p:nvPr/>
        </p:nvSpPr>
        <p:spPr>
          <a:xfrm>
            <a:off x="4023360" y="1143000"/>
            <a:ext cx="2231136" cy="3029807"/>
          </a:xfrm>
          <a:prstGeom prst="roundRect">
            <a:avLst>
              <a:gd name="adj" fmla="val 8197"/>
            </a:avLst>
          </a:prstGeom>
          <a:solidFill>
            <a:srgbClr val="FFFFFF"/>
          </a:solidFill>
          <a:ln w="9144">
            <a:solidFill>
              <a:srgbClr val="D6E6FA"/>
            </a:solidFill>
            <a:prstDash val="solid"/>
          </a:ln>
          <a:effectLst>
            <a:outerShdw sx="100000" sy="100000" kx="0" ky="0" algn="bl" rotWithShape="0" blurRad="457200" dist="182880" dir="5400000">
              <a:srgbClr val="1E5AC8">
                <a:alpha val="14400"/>
              </a:srgbClr>
            </a:outerShdw>
          </a:effectLst>
        </p:spPr>
      </p:sp>
      <p:pic>
        <p:nvPicPr>
          <p:cNvPr id="14" name="Picture" descr="Manpower Board app icon">    </p:cNvPr>
          <p:cNvPicPr>
            <a:picLocks noChangeAspect="1"/>
          </p:cNvPicPr>
          <p:nvPr/>
        </p:nvPicPr>
        <p:blipFill>
          <a:blip r:embed="rId3"/>
          <a:stretch>
            <a:fillRect/>
          </a:stretch>
        </p:blipFill>
        <p:spPr>
          <a:xfrm>
            <a:off x="4919472" y="1344168"/>
            <a:ext cx="438912" cy="438912"/>
          </a:xfrm>
          <a:prstGeom prst="roundRect">
            <a:avLst>
              <a:gd name="adj" fmla="val 23958"/>
            </a:avLst>
          </a:prstGeom>
        </p:spPr>
      </p:pic>
      <p:sp>
        <p:nvSpPr>
          <p:cNvPr id="15" name="Text 11"/>
          <p:cNvSpPr txBox="1"/>
          <p:nvPr/>
        </p:nvSpPr>
        <p:spPr>
          <a:xfrm>
            <a:off x="4542854" y="1865376"/>
            <a:ext cx="1329652" cy="313171"/>
          </a:xfrm>
          <a:prstGeom prst="rect">
            <a:avLst/>
          </a:prstGeom>
          <a:noFill/>
          <a:ln/>
        </p:spPr>
        <p:txBody>
          <a:bodyPr wrap="none" lIns="0" tIns="0" rIns="0" bIns="0" rtlCol="0" anchor="t"/>
          <a:lstStyle/>
          <a:p>
            <a:pPr algn="l" indent="0" marL="0">
              <a:lnSpc>
                <a:spcPts val="1900"/>
              </a:lnSpc>
              <a:buNone/>
            </a:pPr>
            <a:r>
              <a:rPr lang="en-US" sz="1220" b="1" spc="-31" kern="0" dirty="0">
                <a:solidFill>
                  <a:srgbClr val="071A33"/>
                </a:solidFill>
                <a:latin typeface="Arial" pitchFamily="34" charset="0"/>
                <a:ea typeface="Arial" pitchFamily="34" charset="-122"/>
                <a:cs typeface="Arial" pitchFamily="34" charset="-120"/>
              </a:rPr>
              <a:t>Manpower Board</a:t>
            </a:r>
            <a:endParaRPr lang="en-US" sz="1220" dirty="0"/>
          </a:p>
        </p:txBody>
      </p:sp>
      <p:sp>
        <p:nvSpPr>
          <p:cNvPr id="16" name="Shape 12"/>
          <p:cNvSpPr/>
          <p:nvPr/>
        </p:nvSpPr>
        <p:spPr>
          <a:xfrm>
            <a:off x="4430268" y="2225135"/>
            <a:ext cx="1417320" cy="1417320"/>
          </a:xfrm>
          <a:prstGeom prst="roundRect">
            <a:avLst>
              <a:gd name="adj" fmla="val 8387"/>
            </a:avLst>
          </a:prstGeom>
          <a:solidFill>
            <a:srgbClr val="FFFFFF"/>
          </a:solidFill>
          <a:ln w="9144">
            <a:solidFill>
              <a:srgbClr val="D6E6FA"/>
            </a:solidFill>
            <a:prstDash val="solid"/>
          </a:ln>
        </p:spPr>
      </p:sp>
      <p:pic>
        <p:nvPicPr>
          <p:cNvPr id="17" name="Image 2" descr="QR code for the Manpower Board">    </p:cNvPr>
          <p:cNvPicPr>
            <a:picLocks noChangeAspect="1"/>
          </p:cNvPicPr>
          <p:nvPr/>
        </p:nvPicPr>
        <p:blipFill>
          <a:blip r:embed="rId4"/>
          <a:stretch>
            <a:fillRect/>
          </a:stretch>
        </p:blipFill>
        <p:spPr>
          <a:xfrm>
            <a:off x="4539996" y="2334863"/>
            <a:ext cx="1197864" cy="1197864"/>
          </a:xfrm>
          <a:prstGeom prst="rect">
            <a:avLst/>
          </a:prstGeom>
        </p:spPr>
      </p:pic>
      <p:sp>
        <p:nvSpPr>
          <p:cNvPr id="18" name="Shape 13"/>
          <p:cNvSpPr/>
          <p:nvPr/>
        </p:nvSpPr>
        <p:spPr>
          <a:xfrm>
            <a:off x="4282964" y="3761327"/>
            <a:ext cx="1711928" cy="228600"/>
          </a:xfrm>
          <a:prstGeom prst="roundRect">
            <a:avLst>
              <a:gd name="adj" fmla="val 50000"/>
            </a:avLst>
          </a:prstGeom>
          <a:solidFill>
            <a:srgbClr val="E8F2FF"/>
          </a:solidFill>
          <a:ln/>
        </p:spPr>
      </p:sp>
      <p:sp>
        <p:nvSpPr>
          <p:cNvPr id="19" name="Text 14"/>
          <p:cNvSpPr txBox="1"/>
          <p:nvPr/>
        </p:nvSpPr>
        <p:spPr>
          <a:xfrm>
            <a:off x="4383548" y="3829907"/>
            <a:ext cx="1680124" cy="91440"/>
          </a:xfrm>
          <a:prstGeom prst="rect">
            <a:avLst/>
          </a:prstGeom>
          <a:noFill/>
          <a:ln/>
        </p:spPr>
        <p:txBody>
          <a:bodyPr wrap="none" lIns="0" tIns="0" rIns="0" bIns="0" rtlCol="0" anchor="ctr"/>
          <a:lstStyle/>
          <a:p>
            <a:pPr algn="l" indent="0" marL="0">
              <a:lnSpc>
                <a:spcPts val="720"/>
              </a:lnSpc>
              <a:buNone/>
            </a:pPr>
            <a:r>
              <a:rPr lang="en-US" sz="720" dirty="0">
                <a:solidFill>
                  <a:srgbClr val="0B4FBF"/>
                </a:solidFill>
                <a:latin typeface="Arial" pitchFamily="34" charset="0"/>
                <a:ea typeface="Arial" pitchFamily="34" charset="-122"/>
                <a:cs typeface="Arial" pitchFamily="34" charset="-120"/>
              </a:rPr>
              <a:t>trigoth-manpowerboard.netlify.app</a:t>
            </a:r>
            <a:endParaRPr lang="en-US" sz="720" dirty="0"/>
          </a:p>
        </p:txBody>
      </p:sp>
      <p:sp>
        <p:nvSpPr>
          <p:cNvPr id="20" name="Shape 15"/>
          <p:cNvSpPr/>
          <p:nvPr/>
        </p:nvSpPr>
        <p:spPr>
          <a:xfrm>
            <a:off x="6455664" y="1143000"/>
            <a:ext cx="2231136" cy="3029807"/>
          </a:xfrm>
          <a:prstGeom prst="roundRect">
            <a:avLst>
              <a:gd name="adj" fmla="val 8197"/>
            </a:avLst>
          </a:prstGeom>
          <a:solidFill>
            <a:srgbClr val="FFFFFF"/>
          </a:solidFill>
          <a:ln w="9144">
            <a:solidFill>
              <a:srgbClr val="D6E6FA"/>
            </a:solidFill>
            <a:prstDash val="solid"/>
          </a:ln>
          <a:effectLst>
            <a:outerShdw sx="100000" sy="100000" kx="0" ky="0" algn="bl" rotWithShape="0" blurRad="457200" dist="182880" dir="5400000">
              <a:srgbClr val="1E5AC8">
                <a:alpha val="14400"/>
              </a:srgbClr>
            </a:outerShdw>
          </a:effectLst>
        </p:spPr>
      </p:sp>
      <p:pic>
        <p:nvPicPr>
          <p:cNvPr id="21" name="Picture" descr="Inventory and Quality app icon">    </p:cNvPr>
          <p:cNvPicPr>
            <a:picLocks noChangeAspect="1"/>
          </p:cNvPicPr>
          <p:nvPr/>
        </p:nvPicPr>
        <p:blipFill>
          <a:blip r:embed="rId5"/>
          <a:stretch>
            <a:fillRect/>
          </a:stretch>
        </p:blipFill>
        <p:spPr>
          <a:xfrm>
            <a:off x="7351633" y="1344168"/>
            <a:ext cx="438912" cy="438912"/>
          </a:xfrm>
          <a:prstGeom prst="roundRect">
            <a:avLst>
              <a:gd name="adj" fmla="val 23958"/>
            </a:avLst>
          </a:prstGeom>
        </p:spPr>
      </p:pic>
      <p:sp>
        <p:nvSpPr>
          <p:cNvPr id="22" name="Text 16"/>
          <p:cNvSpPr txBox="1"/>
          <p:nvPr/>
        </p:nvSpPr>
        <p:spPr>
          <a:xfrm>
            <a:off x="6906435" y="1865376"/>
            <a:ext cx="1480685" cy="313171"/>
          </a:xfrm>
          <a:prstGeom prst="rect">
            <a:avLst/>
          </a:prstGeom>
          <a:noFill/>
          <a:ln/>
        </p:spPr>
        <p:txBody>
          <a:bodyPr wrap="none" lIns="0" tIns="0" rIns="0" bIns="0" rtlCol="0" anchor="t"/>
          <a:lstStyle/>
          <a:p>
            <a:pPr algn="l" indent="0" marL="0">
              <a:lnSpc>
                <a:spcPts val="1900"/>
              </a:lnSpc>
              <a:buNone/>
            </a:pPr>
            <a:r>
              <a:rPr lang="en-US" sz="1220" b="1" spc="-31" kern="0" dirty="0">
                <a:solidFill>
                  <a:srgbClr val="071A33"/>
                </a:solidFill>
                <a:latin typeface="Arial" pitchFamily="34" charset="0"/>
                <a:ea typeface="Arial" pitchFamily="34" charset="-122"/>
                <a:cs typeface="Arial" pitchFamily="34" charset="-120"/>
              </a:rPr>
              <a:t>Inventory &amp; Quality</a:t>
            </a:r>
            <a:endParaRPr lang="en-US" sz="1220" dirty="0"/>
          </a:p>
        </p:txBody>
      </p:sp>
      <p:sp>
        <p:nvSpPr>
          <p:cNvPr id="23" name="Shape 17"/>
          <p:cNvSpPr/>
          <p:nvPr/>
        </p:nvSpPr>
        <p:spPr>
          <a:xfrm>
            <a:off x="6862572" y="2225135"/>
            <a:ext cx="1417320" cy="1417320"/>
          </a:xfrm>
          <a:prstGeom prst="roundRect">
            <a:avLst>
              <a:gd name="adj" fmla="val 8387"/>
            </a:avLst>
          </a:prstGeom>
          <a:solidFill>
            <a:srgbClr val="FFFFFF"/>
          </a:solidFill>
          <a:ln w="9144">
            <a:solidFill>
              <a:srgbClr val="D6E6FA"/>
            </a:solidFill>
            <a:prstDash val="solid"/>
          </a:ln>
        </p:spPr>
      </p:sp>
      <p:pic>
        <p:nvPicPr>
          <p:cNvPr id="24" name="Image 4" descr="QR code for the Inventory and Quality System">    </p:cNvPr>
          <p:cNvPicPr>
            <a:picLocks noChangeAspect="1"/>
          </p:cNvPicPr>
          <p:nvPr/>
        </p:nvPicPr>
        <p:blipFill>
          <a:blip r:embed="rId6"/>
          <a:stretch>
            <a:fillRect/>
          </a:stretch>
        </p:blipFill>
        <p:spPr>
          <a:xfrm>
            <a:off x="6972300" y="2334863"/>
            <a:ext cx="1197864" cy="1197864"/>
          </a:xfrm>
          <a:prstGeom prst="rect">
            <a:avLst/>
          </a:prstGeom>
        </p:spPr>
      </p:pic>
      <p:sp>
        <p:nvSpPr>
          <p:cNvPr id="25" name="Shape 18"/>
          <p:cNvSpPr/>
          <p:nvPr/>
        </p:nvSpPr>
        <p:spPr>
          <a:xfrm>
            <a:off x="6880431" y="3761327"/>
            <a:ext cx="1381458" cy="228600"/>
          </a:xfrm>
          <a:prstGeom prst="roundRect">
            <a:avLst>
              <a:gd name="adj" fmla="val 50000"/>
            </a:avLst>
          </a:prstGeom>
          <a:solidFill>
            <a:srgbClr val="E8F2FF"/>
          </a:solidFill>
          <a:ln/>
        </p:spPr>
      </p:sp>
      <p:sp>
        <p:nvSpPr>
          <p:cNvPr id="26" name="Text 19"/>
          <p:cNvSpPr txBox="1"/>
          <p:nvPr/>
        </p:nvSpPr>
        <p:spPr>
          <a:xfrm>
            <a:off x="6981015" y="3829907"/>
            <a:ext cx="1316607" cy="91440"/>
          </a:xfrm>
          <a:prstGeom prst="rect">
            <a:avLst/>
          </a:prstGeom>
          <a:noFill/>
          <a:ln/>
        </p:spPr>
        <p:txBody>
          <a:bodyPr wrap="none" lIns="0" tIns="0" rIns="0" bIns="0" rtlCol="0" anchor="ctr"/>
          <a:lstStyle/>
          <a:p>
            <a:pPr algn="l" indent="0" marL="0">
              <a:lnSpc>
                <a:spcPts val="720"/>
              </a:lnSpc>
              <a:buNone/>
            </a:pPr>
            <a:r>
              <a:rPr lang="en-US" sz="720" dirty="0">
                <a:solidFill>
                  <a:srgbClr val="0B4FBF"/>
                </a:solidFill>
                <a:latin typeface="Arial" pitchFamily="34" charset="0"/>
                <a:ea typeface="Arial" pitchFamily="34" charset="-122"/>
                <a:cs typeface="Arial" pitchFamily="34" charset="-120"/>
              </a:rPr>
              <a:t>trigoth-inventory.pages.dev</a:t>
            </a:r>
            <a:endParaRPr lang="en-US" sz="720" dirty="0"/>
          </a:p>
        </p:txBody>
      </p:sp>
      <p:sp>
        <p:nvSpPr>
          <p:cNvPr id="27" name="Shape 20"/>
          <p:cNvSpPr/>
          <p:nvPr/>
        </p:nvSpPr>
        <p:spPr>
          <a:xfrm>
            <a:off x="5113068" y="4389120"/>
            <a:ext cx="1405176" cy="283893"/>
          </a:xfrm>
          <a:prstGeom prst="roundRect">
            <a:avLst>
              <a:gd name="adj" fmla="val 50000"/>
            </a:avLst>
          </a:prstGeom>
          <a:solidFill>
            <a:srgbClr val="FFFFFF"/>
          </a:solidFill>
          <a:ln w="9144">
            <a:solidFill>
              <a:srgbClr val="1E5AC8">
                <a:alpha val="16000"/>
              </a:srgbClr>
            </a:solidFill>
            <a:prstDash val="solid"/>
          </a:ln>
        </p:spPr>
      </p:sp>
      <p:sp>
        <p:nvSpPr>
          <p:cNvPr id="28" name="Text 21"/>
          <p:cNvSpPr txBox="1"/>
          <p:nvPr/>
        </p:nvSpPr>
        <p:spPr>
          <a:xfrm>
            <a:off x="5401247" y="4453128"/>
            <a:ext cx="1131313" cy="155877"/>
          </a:xfrm>
          <a:prstGeom prst="rect">
            <a:avLst/>
          </a:prstGeom>
          <a:noFill/>
          <a:ln/>
        </p:spPr>
        <p:txBody>
          <a:bodyPr wrap="none" lIns="0" tIns="0" rIns="0" bIns="0" rtlCol="0" anchor="ctr"/>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Installable app (PWA)</a:t>
            </a:r>
            <a:endParaRPr lang="en-US" sz="790" dirty="0"/>
          </a:p>
        </p:txBody>
      </p:sp>
      <p:pic>
        <p:nvPicPr>
          <p:cNvPr id="29" name="Image 5" descr="Icon: install mobile">    </p:cNvPr>
          <p:cNvPicPr>
            <a:picLocks noChangeAspect="1"/>
          </p:cNvPicPr>
          <p:nvPr/>
        </p:nvPicPr>
        <p:blipFill>
          <a:blip r:embed="rId7"/>
          <a:stretch>
            <a:fillRect/>
          </a:stretch>
        </p:blipFill>
        <p:spPr>
          <a:xfrm>
            <a:off x="5218224" y="4466987"/>
            <a:ext cx="128159" cy="128016"/>
          </a:xfrm>
          <a:prstGeom prst="rect">
            <a:avLst/>
          </a:prstGeom>
        </p:spPr>
      </p:pic>
      <p:sp>
        <p:nvSpPr>
          <p:cNvPr id="30" name="Shape 22"/>
          <p:cNvSpPr/>
          <p:nvPr/>
        </p:nvSpPr>
        <p:spPr>
          <a:xfrm>
            <a:off x="6591395" y="4389120"/>
            <a:ext cx="1005697" cy="283893"/>
          </a:xfrm>
          <a:prstGeom prst="roundRect">
            <a:avLst>
              <a:gd name="adj" fmla="val 50000"/>
            </a:avLst>
          </a:prstGeom>
          <a:solidFill>
            <a:srgbClr val="FFFFFF"/>
          </a:solidFill>
          <a:ln w="9144">
            <a:solidFill>
              <a:srgbClr val="1E5AC8">
                <a:alpha val="16000"/>
              </a:srgbClr>
            </a:solidFill>
            <a:prstDash val="solid"/>
          </a:ln>
        </p:spPr>
      </p:sp>
      <p:sp>
        <p:nvSpPr>
          <p:cNvPr id="31" name="Text 23"/>
          <p:cNvSpPr txBox="1"/>
          <p:nvPr/>
        </p:nvSpPr>
        <p:spPr>
          <a:xfrm>
            <a:off x="6879574" y="4453128"/>
            <a:ext cx="691886" cy="155877"/>
          </a:xfrm>
          <a:prstGeom prst="rect">
            <a:avLst/>
          </a:prstGeom>
          <a:noFill/>
          <a:ln/>
        </p:spPr>
        <p:txBody>
          <a:bodyPr wrap="none" lIns="0" tIns="0" rIns="0" bIns="0" rtlCol="0" anchor="ctr"/>
          <a:lstStyle/>
          <a:p>
            <a:pPr algn="l" indent="0" marL="0">
              <a:lnSpc>
                <a:spcPts val="1230"/>
              </a:lnSpc>
              <a:buNone/>
            </a:pPr>
            <a:r>
              <a:rPr lang="en-US" sz="790" dirty="0">
                <a:solidFill>
                  <a:srgbClr val="071A33"/>
                </a:solidFill>
                <a:latin typeface="Arial" pitchFamily="34" charset="0"/>
                <a:ea typeface="Arial" pitchFamily="34" charset="-122"/>
                <a:cs typeface="Arial" pitchFamily="34" charset="-120"/>
              </a:rPr>
              <a:t>Phone layout</a:t>
            </a:r>
            <a:endParaRPr lang="en-US" sz="790" dirty="0"/>
          </a:p>
        </p:txBody>
      </p:sp>
      <p:pic>
        <p:nvPicPr>
          <p:cNvPr id="32" name="Image 6" descr="Icon: smartphone">    </p:cNvPr>
          <p:cNvPicPr>
            <a:picLocks noChangeAspect="1"/>
          </p:cNvPicPr>
          <p:nvPr/>
        </p:nvPicPr>
        <p:blipFill>
          <a:blip r:embed="rId8"/>
          <a:stretch>
            <a:fillRect/>
          </a:stretch>
        </p:blipFill>
        <p:spPr>
          <a:xfrm>
            <a:off x="6696551" y="4466987"/>
            <a:ext cx="128159" cy="128016"/>
          </a:xfrm>
          <a:prstGeom prst="rect">
            <a:avLst/>
          </a:prstGeom>
        </p:spPr>
      </p:pic>
    </p:spTree>
  </p:cSld>
  <p:clrMapOvr>
    <a:masterClrMapping/>
  </p:clrMapOvr>
  <p:transition spd="med">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Non-Rayong overview 2026</dc:title>
  <dc:subject>PptxGenJS Presentation</dc:subject>
  <dc:creator>TRIGO Quality Services Thailand</dc:creator>
  <cp:lastModifiedBy>TRIGO Quality Services Thailand</cp:lastModifiedBy>
  <cp:revision>1</cp:revision>
  <dcterms:created xsi:type="dcterms:W3CDTF">2026-10-21T03:58:19Z</dcterms:created>
  <dcterms:modified xsi:type="dcterms:W3CDTF">2026-10-21T03:58:19Z</dcterms:modified>
</cp:coreProperties>
</file>